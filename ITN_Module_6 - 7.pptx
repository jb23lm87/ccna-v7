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4.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5.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ags/tag6.xml" ContentType="application/vnd.openxmlformats-officedocument.presentationml.tags+xml"/>
  <Override PartName="/ppt/notesSlides/notesSlide21.xml" ContentType="application/vnd.openxmlformats-officedocument.presentationml.notesSlide+xml"/>
  <Override PartName="/ppt/tags/tag7.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tags/tag8.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9.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ags/tag10.xml" ContentType="application/vnd.openxmlformats-officedocument.presentationml.tags+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tags/tag11.xml" ContentType="application/vnd.openxmlformats-officedocument.presentationml.tags+xml"/>
  <Override PartName="/ppt/notesSlides/notesSlide4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49"/>
  </p:notesMasterIdLst>
  <p:sldIdLst>
    <p:sldId id="876" r:id="rId2"/>
    <p:sldId id="759" r:id="rId3"/>
    <p:sldId id="1054" r:id="rId4"/>
    <p:sldId id="1090" r:id="rId5"/>
    <p:sldId id="1091" r:id="rId6"/>
    <p:sldId id="1092" r:id="rId7"/>
    <p:sldId id="1056" r:id="rId8"/>
    <p:sldId id="1057" r:id="rId9"/>
    <p:sldId id="1093" r:id="rId10"/>
    <p:sldId id="1094" r:id="rId11"/>
    <p:sldId id="1095" r:id="rId12"/>
    <p:sldId id="1096" r:id="rId13"/>
    <p:sldId id="1097" r:id="rId14"/>
    <p:sldId id="1098" r:id="rId15"/>
    <p:sldId id="1099" r:id="rId16"/>
    <p:sldId id="1063" r:id="rId17"/>
    <p:sldId id="1064" r:id="rId18"/>
    <p:sldId id="1100" r:id="rId19"/>
    <p:sldId id="1101" r:id="rId20"/>
    <p:sldId id="1102" r:id="rId21"/>
    <p:sldId id="1103" r:id="rId22"/>
    <p:sldId id="1105" r:id="rId23"/>
    <p:sldId id="1106" r:id="rId24"/>
    <p:sldId id="1107" r:id="rId25"/>
    <p:sldId id="1108" r:id="rId26"/>
    <p:sldId id="1128" r:id="rId27"/>
    <p:sldId id="1109" r:id="rId28"/>
    <p:sldId id="1129" r:id="rId29"/>
    <p:sldId id="1130" r:id="rId30"/>
    <p:sldId id="1110" r:id="rId31"/>
    <p:sldId id="1111" r:id="rId32"/>
    <p:sldId id="1112" r:id="rId33"/>
    <p:sldId id="1113" r:id="rId34"/>
    <p:sldId id="1114" r:id="rId35"/>
    <p:sldId id="1131" r:id="rId36"/>
    <p:sldId id="1115" r:id="rId37"/>
    <p:sldId id="1116" r:id="rId38"/>
    <p:sldId id="1132" r:id="rId39"/>
    <p:sldId id="1117" r:id="rId40"/>
    <p:sldId id="1133" r:id="rId41"/>
    <p:sldId id="1118" r:id="rId42"/>
    <p:sldId id="1119" r:id="rId43"/>
    <p:sldId id="1120" r:id="rId44"/>
    <p:sldId id="1121" r:id="rId45"/>
    <p:sldId id="1134" r:id="rId46"/>
    <p:sldId id="1122" r:id="rId47"/>
    <p:sldId id="1139" r:id="rId48"/>
  </p:sldIdLst>
  <p:sldSz cx="9144000" cy="5143500" type="screen16x9"/>
  <p:notesSz cx="6858000" cy="9144000"/>
  <p:custDataLst>
    <p:tags r:id="rId50"/>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29"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6155" autoAdjust="0"/>
    <p:restoredTop sz="96291" autoAdjust="0"/>
  </p:normalViewPr>
  <p:slideViewPr>
    <p:cSldViewPr snapToGrid="0" showGuides="1">
      <p:cViewPr varScale="1">
        <p:scale>
          <a:sx n="223" d="100"/>
          <a:sy n="223" d="100"/>
        </p:scale>
        <p:origin x="608" y="184"/>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11" d="100"/>
        <a:sy n="111"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ags" Target="tags/tag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3E9DB731-F485-2E42-8959-FCC77CF1512F}"/>
    <pc:docChg chg="modSld">
      <pc:chgData name="Baráth, Július" userId="aebde9b9-dccc-4475-a9ac-c05e78323d7a" providerId="ADAL" clId="{3E9DB731-F485-2E42-8959-FCC77CF1512F}" dt="2023-03-21T06:10:35.635" v="8" actId="20577"/>
      <pc:docMkLst>
        <pc:docMk/>
      </pc:docMkLst>
      <pc:sldChg chg="modSp mod">
        <pc:chgData name="Baráth, Július" userId="aebde9b9-dccc-4475-a9ac-c05e78323d7a" providerId="ADAL" clId="{3E9DB731-F485-2E42-8959-FCC77CF1512F}" dt="2023-03-21T06:10:35.635" v="8" actId="20577"/>
        <pc:sldMkLst>
          <pc:docMk/>
          <pc:sldMk cId="1060275143" sldId="1091"/>
        </pc:sldMkLst>
      </pc:sldChg>
    </pc:docChg>
  </pc:docChgLst>
  <pc:docChgLst>
    <pc:chgData name="Július Baráth" userId="e650c4ab-697e-4750-bd58-c1531aabce95" providerId="ADAL" clId="{224C7222-0FFC-4E4D-8F8F-67FF4A45E017}"/>
    <pc:docChg chg="addSld delSld modSld">
      <pc:chgData name="Július Baráth" userId="e650c4ab-697e-4750-bd58-c1531aabce95" providerId="ADAL" clId="{224C7222-0FFC-4E4D-8F8F-67FF4A45E017}" dt="2020-01-20T10:53:48.686" v="16" actId="2696"/>
      <pc:docMkLst>
        <pc:docMk/>
      </pc:docMkLst>
      <pc:sldChg chg="del">
        <pc:chgData name="Július Baráth" userId="e650c4ab-697e-4750-bd58-c1531aabce95" providerId="ADAL" clId="{224C7222-0FFC-4E4D-8F8F-67FF4A45E017}" dt="2020-01-20T10:52:25.140" v="5" actId="2696"/>
        <pc:sldMkLst>
          <pc:docMk/>
          <pc:sldMk cId="4190828277" sldId="291"/>
        </pc:sldMkLst>
      </pc:sldChg>
      <pc:sldChg chg="del">
        <pc:chgData name="Július Baráth" userId="e650c4ab-697e-4750-bd58-c1531aabce95" providerId="ADAL" clId="{224C7222-0FFC-4E4D-8F8F-67FF4A45E017}" dt="2020-01-20T10:51:21.364" v="1" actId="2696"/>
        <pc:sldMkLst>
          <pc:docMk/>
          <pc:sldMk cId="111192384" sldId="860"/>
        </pc:sldMkLst>
      </pc:sldChg>
      <pc:sldChg chg="del">
        <pc:chgData name="Július Baráth" userId="e650c4ab-697e-4750-bd58-c1531aabce95" providerId="ADAL" clId="{224C7222-0FFC-4E4D-8F8F-67FF4A45E017}" dt="2020-01-20T10:52:23.757" v="4" actId="2696"/>
        <pc:sldMkLst>
          <pc:docMk/>
          <pc:sldMk cId="3271745509" sldId="874"/>
        </pc:sldMkLst>
      </pc:sldChg>
      <pc:sldChg chg="del">
        <pc:chgData name="Július Baráth" userId="e650c4ab-697e-4750-bd58-c1531aabce95" providerId="ADAL" clId="{224C7222-0FFC-4E4D-8F8F-67FF4A45E017}" dt="2020-01-20T10:52:19.910" v="2" actId="2696"/>
        <pc:sldMkLst>
          <pc:docMk/>
          <pc:sldMk cId="410599242" sldId="957"/>
        </pc:sldMkLst>
      </pc:sldChg>
      <pc:sldChg chg="del">
        <pc:chgData name="Július Baráth" userId="e650c4ab-697e-4750-bd58-c1531aabce95" providerId="ADAL" clId="{224C7222-0FFC-4E4D-8F8F-67FF4A45E017}" dt="2020-01-20T10:52:21.710" v="3" actId="2696"/>
        <pc:sldMkLst>
          <pc:docMk/>
          <pc:sldMk cId="2548999575" sldId="958"/>
        </pc:sldMkLst>
      </pc:sldChg>
      <pc:sldChg chg="add">
        <pc:chgData name="Július Baráth" userId="e650c4ab-697e-4750-bd58-c1531aabce95" providerId="ADAL" clId="{224C7222-0FFC-4E4D-8F8F-67FF4A45E017}" dt="2020-01-20T10:51:14.245" v="0"/>
        <pc:sldMkLst>
          <pc:docMk/>
          <pc:sldMk cId="4248406921" sldId="1103"/>
        </pc:sldMkLst>
      </pc:sldChg>
      <pc:sldChg chg="add del">
        <pc:chgData name="Július Baráth" userId="e650c4ab-697e-4750-bd58-c1531aabce95" providerId="ADAL" clId="{224C7222-0FFC-4E4D-8F8F-67FF4A45E017}" dt="2020-01-20T10:52:27.406" v="6" actId="2696"/>
        <pc:sldMkLst>
          <pc:docMk/>
          <pc:sldMk cId="3381725916" sldId="1104"/>
        </pc:sldMkLst>
      </pc:sldChg>
      <pc:sldChg chg="add">
        <pc:chgData name="Július Baráth" userId="e650c4ab-697e-4750-bd58-c1531aabce95" providerId="ADAL" clId="{224C7222-0FFC-4E4D-8F8F-67FF4A45E017}" dt="2020-01-20T10:51:14.245" v="0"/>
        <pc:sldMkLst>
          <pc:docMk/>
          <pc:sldMk cId="2294941180" sldId="1105"/>
        </pc:sldMkLst>
      </pc:sldChg>
      <pc:sldChg chg="add">
        <pc:chgData name="Július Baráth" userId="e650c4ab-697e-4750-bd58-c1531aabce95" providerId="ADAL" clId="{224C7222-0FFC-4E4D-8F8F-67FF4A45E017}" dt="2020-01-20T10:51:14.245" v="0"/>
        <pc:sldMkLst>
          <pc:docMk/>
          <pc:sldMk cId="878001765" sldId="1106"/>
        </pc:sldMkLst>
      </pc:sldChg>
      <pc:sldChg chg="add">
        <pc:chgData name="Július Baráth" userId="e650c4ab-697e-4750-bd58-c1531aabce95" providerId="ADAL" clId="{224C7222-0FFC-4E4D-8F8F-67FF4A45E017}" dt="2020-01-20T10:51:14.245" v="0"/>
        <pc:sldMkLst>
          <pc:docMk/>
          <pc:sldMk cId="875630627" sldId="1107"/>
        </pc:sldMkLst>
      </pc:sldChg>
      <pc:sldChg chg="add">
        <pc:chgData name="Július Baráth" userId="e650c4ab-697e-4750-bd58-c1531aabce95" providerId="ADAL" clId="{224C7222-0FFC-4E4D-8F8F-67FF4A45E017}" dt="2020-01-20T10:51:14.245" v="0"/>
        <pc:sldMkLst>
          <pc:docMk/>
          <pc:sldMk cId="3855208254" sldId="1108"/>
        </pc:sldMkLst>
      </pc:sldChg>
      <pc:sldChg chg="add">
        <pc:chgData name="Július Baráth" userId="e650c4ab-697e-4750-bd58-c1531aabce95" providerId="ADAL" clId="{224C7222-0FFC-4E4D-8F8F-67FF4A45E017}" dt="2020-01-20T10:51:14.245" v="0"/>
        <pc:sldMkLst>
          <pc:docMk/>
          <pc:sldMk cId="3014441826" sldId="1109"/>
        </pc:sldMkLst>
      </pc:sldChg>
      <pc:sldChg chg="add">
        <pc:chgData name="Július Baráth" userId="e650c4ab-697e-4750-bd58-c1531aabce95" providerId="ADAL" clId="{224C7222-0FFC-4E4D-8F8F-67FF4A45E017}" dt="2020-01-20T10:51:14.245" v="0"/>
        <pc:sldMkLst>
          <pc:docMk/>
          <pc:sldMk cId="3452850491" sldId="1110"/>
        </pc:sldMkLst>
      </pc:sldChg>
      <pc:sldChg chg="add">
        <pc:chgData name="Július Baráth" userId="e650c4ab-697e-4750-bd58-c1531aabce95" providerId="ADAL" clId="{224C7222-0FFC-4E4D-8F8F-67FF4A45E017}" dt="2020-01-20T10:51:14.245" v="0"/>
        <pc:sldMkLst>
          <pc:docMk/>
          <pc:sldMk cId="1171550552" sldId="1111"/>
        </pc:sldMkLst>
      </pc:sldChg>
      <pc:sldChg chg="add">
        <pc:chgData name="Július Baráth" userId="e650c4ab-697e-4750-bd58-c1531aabce95" providerId="ADAL" clId="{224C7222-0FFC-4E4D-8F8F-67FF4A45E017}" dt="2020-01-20T10:51:14.245" v="0"/>
        <pc:sldMkLst>
          <pc:docMk/>
          <pc:sldMk cId="2283387875" sldId="1112"/>
        </pc:sldMkLst>
      </pc:sldChg>
      <pc:sldChg chg="add">
        <pc:chgData name="Július Baráth" userId="e650c4ab-697e-4750-bd58-c1531aabce95" providerId="ADAL" clId="{224C7222-0FFC-4E4D-8F8F-67FF4A45E017}" dt="2020-01-20T10:51:14.245" v="0"/>
        <pc:sldMkLst>
          <pc:docMk/>
          <pc:sldMk cId="3812914703" sldId="1113"/>
        </pc:sldMkLst>
      </pc:sldChg>
      <pc:sldChg chg="add">
        <pc:chgData name="Július Baráth" userId="e650c4ab-697e-4750-bd58-c1531aabce95" providerId="ADAL" clId="{224C7222-0FFC-4E4D-8F8F-67FF4A45E017}" dt="2020-01-20T10:51:14.245" v="0"/>
        <pc:sldMkLst>
          <pc:docMk/>
          <pc:sldMk cId="1837327114" sldId="1114"/>
        </pc:sldMkLst>
      </pc:sldChg>
      <pc:sldChg chg="add">
        <pc:chgData name="Július Baráth" userId="e650c4ab-697e-4750-bd58-c1531aabce95" providerId="ADAL" clId="{224C7222-0FFC-4E4D-8F8F-67FF4A45E017}" dt="2020-01-20T10:51:14.245" v="0"/>
        <pc:sldMkLst>
          <pc:docMk/>
          <pc:sldMk cId="211396067" sldId="1115"/>
        </pc:sldMkLst>
      </pc:sldChg>
      <pc:sldChg chg="add">
        <pc:chgData name="Július Baráth" userId="e650c4ab-697e-4750-bd58-c1531aabce95" providerId="ADAL" clId="{224C7222-0FFC-4E4D-8F8F-67FF4A45E017}" dt="2020-01-20T10:51:14.245" v="0"/>
        <pc:sldMkLst>
          <pc:docMk/>
          <pc:sldMk cId="4124895431" sldId="1116"/>
        </pc:sldMkLst>
      </pc:sldChg>
      <pc:sldChg chg="add">
        <pc:chgData name="Július Baráth" userId="e650c4ab-697e-4750-bd58-c1531aabce95" providerId="ADAL" clId="{224C7222-0FFC-4E4D-8F8F-67FF4A45E017}" dt="2020-01-20T10:51:14.245" v="0"/>
        <pc:sldMkLst>
          <pc:docMk/>
          <pc:sldMk cId="4138779883" sldId="1117"/>
        </pc:sldMkLst>
      </pc:sldChg>
      <pc:sldChg chg="add">
        <pc:chgData name="Július Baráth" userId="e650c4ab-697e-4750-bd58-c1531aabce95" providerId="ADAL" clId="{224C7222-0FFC-4E4D-8F8F-67FF4A45E017}" dt="2020-01-20T10:51:14.245" v="0"/>
        <pc:sldMkLst>
          <pc:docMk/>
          <pc:sldMk cId="671932030" sldId="1118"/>
        </pc:sldMkLst>
      </pc:sldChg>
      <pc:sldChg chg="add">
        <pc:chgData name="Július Baráth" userId="e650c4ab-697e-4750-bd58-c1531aabce95" providerId="ADAL" clId="{224C7222-0FFC-4E4D-8F8F-67FF4A45E017}" dt="2020-01-20T10:51:14.245" v="0"/>
        <pc:sldMkLst>
          <pc:docMk/>
          <pc:sldMk cId="20216327" sldId="1119"/>
        </pc:sldMkLst>
      </pc:sldChg>
      <pc:sldChg chg="add">
        <pc:chgData name="Július Baráth" userId="e650c4ab-697e-4750-bd58-c1531aabce95" providerId="ADAL" clId="{224C7222-0FFC-4E4D-8F8F-67FF4A45E017}" dt="2020-01-20T10:51:14.245" v="0"/>
        <pc:sldMkLst>
          <pc:docMk/>
          <pc:sldMk cId="3574884029" sldId="1120"/>
        </pc:sldMkLst>
      </pc:sldChg>
      <pc:sldChg chg="add">
        <pc:chgData name="Július Baráth" userId="e650c4ab-697e-4750-bd58-c1531aabce95" providerId="ADAL" clId="{224C7222-0FFC-4E4D-8F8F-67FF4A45E017}" dt="2020-01-20T10:51:14.245" v="0"/>
        <pc:sldMkLst>
          <pc:docMk/>
          <pc:sldMk cId="491299049" sldId="1121"/>
        </pc:sldMkLst>
      </pc:sldChg>
      <pc:sldChg chg="add">
        <pc:chgData name="Július Baráth" userId="e650c4ab-697e-4750-bd58-c1531aabce95" providerId="ADAL" clId="{224C7222-0FFC-4E4D-8F8F-67FF4A45E017}" dt="2020-01-20T10:51:14.245" v="0"/>
        <pc:sldMkLst>
          <pc:docMk/>
          <pc:sldMk cId="3539145390" sldId="1122"/>
        </pc:sldMkLst>
      </pc:sldChg>
      <pc:sldChg chg="add del">
        <pc:chgData name="Július Baráth" userId="e650c4ab-697e-4750-bd58-c1531aabce95" providerId="ADAL" clId="{224C7222-0FFC-4E4D-8F8F-67FF4A45E017}" dt="2020-01-20T10:52:54.527" v="7" actId="2696"/>
        <pc:sldMkLst>
          <pc:docMk/>
          <pc:sldMk cId="62423040" sldId="1123"/>
        </pc:sldMkLst>
      </pc:sldChg>
      <pc:sldChg chg="add del">
        <pc:chgData name="Július Baráth" userId="e650c4ab-697e-4750-bd58-c1531aabce95" providerId="ADAL" clId="{224C7222-0FFC-4E4D-8F8F-67FF4A45E017}" dt="2020-01-20T10:53:05.133" v="8" actId="2696"/>
        <pc:sldMkLst>
          <pc:docMk/>
          <pc:sldMk cId="129243892" sldId="1124"/>
        </pc:sldMkLst>
      </pc:sldChg>
      <pc:sldChg chg="add del">
        <pc:chgData name="Július Baráth" userId="e650c4ab-697e-4750-bd58-c1531aabce95" providerId="ADAL" clId="{224C7222-0FFC-4E4D-8F8F-67FF4A45E017}" dt="2020-01-20T10:53:25.980" v="11" actId="2696"/>
        <pc:sldMkLst>
          <pc:docMk/>
          <pc:sldMk cId="440715370" sldId="1125"/>
        </pc:sldMkLst>
      </pc:sldChg>
      <pc:sldChg chg="add del">
        <pc:chgData name="Július Baráth" userId="e650c4ab-697e-4750-bd58-c1531aabce95" providerId="ADAL" clId="{224C7222-0FFC-4E4D-8F8F-67FF4A45E017}" dt="2020-01-20T10:53:24.205" v="9" actId="2696"/>
        <pc:sldMkLst>
          <pc:docMk/>
          <pc:sldMk cId="2268759550" sldId="1126"/>
        </pc:sldMkLst>
      </pc:sldChg>
      <pc:sldChg chg="add del">
        <pc:chgData name="Július Baráth" userId="e650c4ab-697e-4750-bd58-c1531aabce95" providerId="ADAL" clId="{224C7222-0FFC-4E4D-8F8F-67FF4A45E017}" dt="2020-01-20T10:53:25.104" v="10" actId="2696"/>
        <pc:sldMkLst>
          <pc:docMk/>
          <pc:sldMk cId="1044991381" sldId="1127"/>
        </pc:sldMkLst>
      </pc:sldChg>
      <pc:sldChg chg="add">
        <pc:chgData name="Július Baráth" userId="e650c4ab-697e-4750-bd58-c1531aabce95" providerId="ADAL" clId="{224C7222-0FFC-4E4D-8F8F-67FF4A45E017}" dt="2020-01-20T10:51:14.245" v="0"/>
        <pc:sldMkLst>
          <pc:docMk/>
          <pc:sldMk cId="791866242" sldId="1128"/>
        </pc:sldMkLst>
      </pc:sldChg>
      <pc:sldChg chg="add">
        <pc:chgData name="Július Baráth" userId="e650c4ab-697e-4750-bd58-c1531aabce95" providerId="ADAL" clId="{224C7222-0FFC-4E4D-8F8F-67FF4A45E017}" dt="2020-01-20T10:51:14.245" v="0"/>
        <pc:sldMkLst>
          <pc:docMk/>
          <pc:sldMk cId="1801216291" sldId="1129"/>
        </pc:sldMkLst>
      </pc:sldChg>
      <pc:sldChg chg="add">
        <pc:chgData name="Július Baráth" userId="e650c4ab-697e-4750-bd58-c1531aabce95" providerId="ADAL" clId="{224C7222-0FFC-4E4D-8F8F-67FF4A45E017}" dt="2020-01-20T10:51:14.245" v="0"/>
        <pc:sldMkLst>
          <pc:docMk/>
          <pc:sldMk cId="3298082407" sldId="1130"/>
        </pc:sldMkLst>
      </pc:sldChg>
      <pc:sldChg chg="add">
        <pc:chgData name="Július Baráth" userId="e650c4ab-697e-4750-bd58-c1531aabce95" providerId="ADAL" clId="{224C7222-0FFC-4E4D-8F8F-67FF4A45E017}" dt="2020-01-20T10:51:14.245" v="0"/>
        <pc:sldMkLst>
          <pc:docMk/>
          <pc:sldMk cId="3946480745" sldId="1131"/>
        </pc:sldMkLst>
      </pc:sldChg>
      <pc:sldChg chg="add">
        <pc:chgData name="Július Baráth" userId="e650c4ab-697e-4750-bd58-c1531aabce95" providerId="ADAL" clId="{224C7222-0FFC-4E4D-8F8F-67FF4A45E017}" dt="2020-01-20T10:51:14.245" v="0"/>
        <pc:sldMkLst>
          <pc:docMk/>
          <pc:sldMk cId="2826984039" sldId="1132"/>
        </pc:sldMkLst>
      </pc:sldChg>
      <pc:sldChg chg="add">
        <pc:chgData name="Július Baráth" userId="e650c4ab-697e-4750-bd58-c1531aabce95" providerId="ADAL" clId="{224C7222-0FFC-4E4D-8F8F-67FF4A45E017}" dt="2020-01-20T10:51:14.245" v="0"/>
        <pc:sldMkLst>
          <pc:docMk/>
          <pc:sldMk cId="1865120625" sldId="1133"/>
        </pc:sldMkLst>
      </pc:sldChg>
      <pc:sldChg chg="add">
        <pc:chgData name="Július Baráth" userId="e650c4ab-697e-4750-bd58-c1531aabce95" providerId="ADAL" clId="{224C7222-0FFC-4E4D-8F8F-67FF4A45E017}" dt="2020-01-20T10:51:14.245" v="0"/>
        <pc:sldMkLst>
          <pc:docMk/>
          <pc:sldMk cId="773546262" sldId="1134"/>
        </pc:sldMkLst>
      </pc:sldChg>
      <pc:sldChg chg="add del">
        <pc:chgData name="Július Baráth" userId="e650c4ab-697e-4750-bd58-c1531aabce95" providerId="ADAL" clId="{224C7222-0FFC-4E4D-8F8F-67FF4A45E017}" dt="2020-01-20T10:53:46.153" v="12" actId="2696"/>
        <pc:sldMkLst>
          <pc:docMk/>
          <pc:sldMk cId="1048334215" sldId="1135"/>
        </pc:sldMkLst>
      </pc:sldChg>
      <pc:sldChg chg="add del">
        <pc:chgData name="Július Baráth" userId="e650c4ab-697e-4750-bd58-c1531aabce95" providerId="ADAL" clId="{224C7222-0FFC-4E4D-8F8F-67FF4A45E017}" dt="2020-01-20T10:53:47.154" v="13" actId="2696"/>
        <pc:sldMkLst>
          <pc:docMk/>
          <pc:sldMk cId="712119327" sldId="1136"/>
        </pc:sldMkLst>
      </pc:sldChg>
      <pc:sldChg chg="add del">
        <pc:chgData name="Július Baráth" userId="e650c4ab-697e-4750-bd58-c1531aabce95" providerId="ADAL" clId="{224C7222-0FFC-4E4D-8F8F-67FF4A45E017}" dt="2020-01-20T10:53:47.771" v="14" actId="2696"/>
        <pc:sldMkLst>
          <pc:docMk/>
          <pc:sldMk cId="2752077252" sldId="1137"/>
        </pc:sldMkLst>
      </pc:sldChg>
      <pc:sldChg chg="add del">
        <pc:chgData name="Július Baráth" userId="e650c4ab-697e-4750-bd58-c1531aabce95" providerId="ADAL" clId="{224C7222-0FFC-4E4D-8F8F-67FF4A45E017}" dt="2020-01-20T10:53:48.682" v="15" actId="2696"/>
        <pc:sldMkLst>
          <pc:docMk/>
          <pc:sldMk cId="1619174534" sldId="1138"/>
        </pc:sldMkLst>
      </pc:sldChg>
      <pc:sldChg chg="add">
        <pc:chgData name="Július Baráth" userId="e650c4ab-697e-4750-bd58-c1531aabce95" providerId="ADAL" clId="{224C7222-0FFC-4E4D-8F8F-67FF4A45E017}" dt="2020-01-20T10:51:14.245" v="0"/>
        <pc:sldMkLst>
          <pc:docMk/>
          <pc:sldMk cId="937940204" sldId="1139"/>
        </pc:sldMkLst>
      </pc:sldChg>
      <pc:sldMasterChg chg="delSldLayout">
        <pc:chgData name="Július Baráth" userId="e650c4ab-697e-4750-bd58-c1531aabce95" providerId="ADAL" clId="{224C7222-0FFC-4E4D-8F8F-67FF4A45E017}" dt="2020-01-20T10:53:48.686" v="16" actId="2696"/>
        <pc:sldMasterMkLst>
          <pc:docMk/>
          <pc:sldMasterMk cId="0" sldId="2147483700"/>
        </pc:sldMasterMkLst>
        <pc:sldLayoutChg chg="del">
          <pc:chgData name="Július Baráth" userId="e650c4ab-697e-4750-bd58-c1531aabce95" providerId="ADAL" clId="{224C7222-0FFC-4E4D-8F8F-67FF4A45E017}" dt="2020-01-20T10:53:48.686" v="16" actId="2696"/>
          <pc:sldLayoutMkLst>
            <pc:docMk/>
            <pc:sldMasterMk cId="0" sldId="2147483700"/>
            <pc:sldLayoutMk cId="2257996623" sldId="2147484029"/>
          </pc:sldLayoutMkLst>
        </pc:sldLayoutChg>
      </pc:sldMasterChg>
    </pc:docChg>
  </pc:docChgLst>
  <pc:docChgLst>
    <pc:chgData name="Baráth, Július" userId="aebde9b9-dccc-4475-a9ac-c05e78323d7a" providerId="ADAL" clId="{63132ABF-E993-C44D-915F-4EFE91262F55}"/>
    <pc:docChg chg="modSld">
      <pc:chgData name="Baráth, Július" userId="aebde9b9-dccc-4475-a9ac-c05e78323d7a" providerId="ADAL" clId="{63132ABF-E993-C44D-915F-4EFE91262F55}" dt="2025-03-05T09:31:45.803" v="1" actId="113"/>
      <pc:docMkLst>
        <pc:docMk/>
      </pc:docMkLst>
      <pc:sldChg chg="modSp mod">
        <pc:chgData name="Baráth, Július" userId="aebde9b9-dccc-4475-a9ac-c05e78323d7a" providerId="ADAL" clId="{63132ABF-E993-C44D-915F-4EFE91262F55}" dt="2025-03-05T09:31:45.803" v="1" actId="113"/>
        <pc:sldMkLst>
          <pc:docMk/>
          <pc:sldMk cId="2283387875" sldId="1112"/>
        </pc:sldMkLst>
        <pc:spChg chg="mod">
          <ac:chgData name="Baráth, Július" userId="aebde9b9-dccc-4475-a9ac-c05e78323d7a" providerId="ADAL" clId="{63132ABF-E993-C44D-915F-4EFE91262F55}" dt="2025-03-05T09:31:45.803" v="1" actId="113"/>
          <ac:spMkLst>
            <pc:docMk/>
            <pc:sldMk cId="2283387875" sldId="1112"/>
            <ac:spMk id="4" creationId="{1F3CA7BB-7E7C-7149-9859-4AA0DDEC8CC4}"/>
          </ac:spMkLst>
        </pc:spChg>
      </pc:sldChg>
    </pc:docChg>
  </pc:docChgLst>
  <pc:docChgLst>
    <pc:chgData name="Július Baráth" userId="e650c4ab-697e-4750-bd58-c1531aabce95" providerId="ADAL" clId="{A3D54BE7-A4A0-F541-A34B-9C7BC6316D37}"/>
    <pc:docChg chg="modSld">
      <pc:chgData name="Július Baráth" userId="e650c4ab-697e-4750-bd58-c1531aabce95" providerId="ADAL" clId="{A3D54BE7-A4A0-F541-A34B-9C7BC6316D37}" dt="2022-03-14T06:43:26.403" v="0" actId="113"/>
      <pc:docMkLst>
        <pc:docMk/>
      </pc:docMkLst>
      <pc:sldChg chg="modSp mod">
        <pc:chgData name="Július Baráth" userId="e650c4ab-697e-4750-bd58-c1531aabce95" providerId="ADAL" clId="{A3D54BE7-A4A0-F541-A34B-9C7BC6316D37}" dt="2022-03-14T06:43:26.403" v="0" actId="113"/>
        <pc:sldMkLst>
          <pc:docMk/>
          <pc:sldMk cId="1594353498" sldId="1099"/>
        </pc:sldMkLst>
      </pc:sldChg>
    </pc:docChg>
  </pc:docChgLst>
  <pc:docChgLst>
    <pc:chgData name="Baráth, Július" userId="aebde9b9-dccc-4475-a9ac-c05e78323d7a" providerId="ADAL" clId="{1CEEBEB2-B292-7147-93C8-8948D4D04987}"/>
    <pc:docChg chg="modSld">
      <pc:chgData name="Baráth, Július" userId="aebde9b9-dccc-4475-a9ac-c05e78323d7a" providerId="ADAL" clId="{1CEEBEB2-B292-7147-93C8-8948D4D04987}" dt="2024-02-19T17:48:44.139" v="3" actId="14100"/>
      <pc:docMkLst>
        <pc:docMk/>
      </pc:docMkLst>
      <pc:sldChg chg="addSp modSp">
        <pc:chgData name="Baráth, Július" userId="aebde9b9-dccc-4475-a9ac-c05e78323d7a" providerId="ADAL" clId="{1CEEBEB2-B292-7147-93C8-8948D4D04987}" dt="2024-02-19T17:48:44.139" v="3" actId="14100"/>
        <pc:sldMkLst>
          <pc:docMk/>
          <pc:sldMk cId="3014441826" sldId="1109"/>
        </pc:sldMkLst>
      </pc:sldChg>
    </pc:docChg>
  </pc:docChgLst>
  <pc:docChgLst>
    <pc:chgData name="Július Baráth" userId="e650c4ab-697e-4750-bd58-c1531aabce95" providerId="ADAL" clId="{4046092A-DB14-45C0-A200-4B28B4E4E625}"/>
    <pc:docChg chg="custSel modSld">
      <pc:chgData name="Július Baráth" userId="e650c4ab-697e-4750-bd58-c1531aabce95" providerId="ADAL" clId="{4046092A-DB14-45C0-A200-4B28B4E4E625}" dt="2021-02-18T09:20:33.376" v="105" actId="113"/>
      <pc:docMkLst>
        <pc:docMk/>
      </pc:docMkLst>
      <pc:sldChg chg="addSp modSp mod modNotesTx">
        <pc:chgData name="Július Baráth" userId="e650c4ab-697e-4750-bd58-c1531aabce95" providerId="ADAL" clId="{4046092A-DB14-45C0-A200-4B28B4E4E625}" dt="2021-02-18T09:09:28.256" v="97" actId="20577"/>
        <pc:sldMkLst>
          <pc:docMk/>
          <pc:sldMk cId="3014441826" sldId="1109"/>
        </pc:sldMkLst>
      </pc:sldChg>
      <pc:sldChg chg="modSp mod">
        <pc:chgData name="Július Baráth" userId="e650c4ab-697e-4750-bd58-c1531aabce95" providerId="ADAL" clId="{4046092A-DB14-45C0-A200-4B28B4E4E625}" dt="2021-02-18T09:13:59.785" v="100"/>
        <pc:sldMkLst>
          <pc:docMk/>
          <pc:sldMk cId="1171550552" sldId="1111"/>
        </pc:sldMkLst>
      </pc:sldChg>
      <pc:sldChg chg="modSp mod">
        <pc:chgData name="Július Baráth" userId="e650c4ab-697e-4750-bd58-c1531aabce95" providerId="ADAL" clId="{4046092A-DB14-45C0-A200-4B28B4E4E625}" dt="2021-02-18T09:15:49.107" v="102" actId="113"/>
        <pc:sldMkLst>
          <pc:docMk/>
          <pc:sldMk cId="1837327114" sldId="1114"/>
        </pc:sldMkLst>
      </pc:sldChg>
      <pc:sldChg chg="modSp mod">
        <pc:chgData name="Július Baráth" userId="e650c4ab-697e-4750-bd58-c1531aabce95" providerId="ADAL" clId="{4046092A-DB14-45C0-A200-4B28B4E4E625}" dt="2021-02-18T09:20:33.376" v="105" actId="113"/>
        <pc:sldMkLst>
          <pc:docMk/>
          <pc:sldMk cId="20216327" sldId="1119"/>
        </pc:sldMkLst>
      </pc:sldChg>
    </pc:docChg>
  </pc:docChgLst>
  <pc:docChgLst>
    <pc:chgData name="Július Baráth" userId="e650c4ab-697e-4750-bd58-c1531aabce95" providerId="ADAL" clId="{82D776A6-C835-734F-A830-5B8D5EA28FB6}"/>
    <pc:docChg chg="custSel modSld">
      <pc:chgData name="Július Baráth" userId="e650c4ab-697e-4750-bd58-c1531aabce95" providerId="ADAL" clId="{82D776A6-C835-734F-A830-5B8D5EA28FB6}" dt="2020-03-02T08:21:05.412" v="2"/>
      <pc:docMkLst>
        <pc:docMk/>
      </pc:docMkLst>
      <pc:sldChg chg="modSp">
        <pc:chgData name="Július Baráth" userId="e650c4ab-697e-4750-bd58-c1531aabce95" providerId="ADAL" clId="{82D776A6-C835-734F-A830-5B8D5EA28FB6}" dt="2020-03-02T08:09:11.422" v="0" actId="113"/>
        <pc:sldMkLst>
          <pc:docMk/>
          <pc:sldMk cId="4106652241" sldId="1093"/>
        </pc:sldMkLst>
      </pc:sldChg>
      <pc:sldChg chg="addSp modSp">
        <pc:chgData name="Július Baráth" userId="e650c4ab-697e-4750-bd58-c1531aabce95" providerId="ADAL" clId="{82D776A6-C835-734F-A830-5B8D5EA28FB6}" dt="2020-03-02T08:21:05.412" v="2"/>
        <pc:sldMkLst>
          <pc:docMk/>
          <pc:sldMk cId="3452850491" sldId="1110"/>
        </pc:sldMkLst>
      </pc:sldChg>
      <pc:sldChg chg="modSp">
        <pc:chgData name="Július Baráth" userId="e650c4ab-697e-4750-bd58-c1531aabce95" providerId="ADAL" clId="{82D776A6-C835-734F-A830-5B8D5EA28FB6}" dt="2020-03-02T08:20:32.404" v="1" actId="33524"/>
        <pc:sldMkLst>
          <pc:docMk/>
          <pc:sldMk cId="3298082407" sldId="1130"/>
        </pc:sldMkLst>
      </pc:sldChg>
    </pc:docChg>
  </pc:docChgLst>
  <pc:docChgLst>
    <pc:chgData name="Július Baráth" userId="e650c4ab-697e-4750-bd58-c1531aabce95" providerId="ADAL" clId="{875DAC7F-5417-4972-8E3D-90101A19B3AF}"/>
    <pc:docChg chg="modSld">
      <pc:chgData name="Július Baráth" userId="e650c4ab-697e-4750-bd58-c1531aabce95" providerId="ADAL" clId="{875DAC7F-5417-4972-8E3D-90101A19B3AF}" dt="2021-02-19T09:19:20.113" v="2" actId="1076"/>
      <pc:docMkLst>
        <pc:docMk/>
      </pc:docMkLst>
      <pc:sldChg chg="modSp mod">
        <pc:chgData name="Július Baráth" userId="e650c4ab-697e-4750-bd58-c1531aabce95" providerId="ADAL" clId="{875DAC7F-5417-4972-8E3D-90101A19B3AF}" dt="2021-02-19T09:19:20.113" v="2" actId="1076"/>
        <pc:sldMkLst>
          <pc:docMk/>
          <pc:sldMk cId="3014441826" sldId="110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3/5/25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networkengineering.stackexchange.com/questions/34189/minimum-ethernet-frame-is-64-bytes-why-the-payload-must-be-padded-to-at-least-4/34191"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Cisco Networking Academy Program</a:t>
            </a:r>
          </a:p>
          <a:p>
            <a:r>
              <a:rPr lang="en-US" dirty="0"/>
              <a:t>Introduction to Networks v7.0 (ITN)</a:t>
            </a:r>
          </a:p>
          <a:p>
            <a:r>
              <a:rPr lang="en-US" dirty="0"/>
              <a:t>Module 6: Data Link Layer</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6.1 - Purpose of the Data Link Layer</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6.1 – Purpose of the Data Link Layer</a:t>
            </a:r>
          </a:p>
          <a:p>
            <a:r>
              <a:rPr lang="en-US" dirty="0"/>
              <a:t>6.1.1 – The Data Link Layer</a:t>
            </a:r>
          </a:p>
        </p:txBody>
      </p:sp>
      <p:sp>
        <p:nvSpPr>
          <p:cNvPr id="4" name="Slide Number Placeholder 3"/>
          <p:cNvSpPr>
            <a:spLocks noGrp="1"/>
          </p:cNvSpPr>
          <p:nvPr>
            <p:ph type="sldNum" sz="quarter" idx="5"/>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3092312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6.1 – Purpose of the Data Link Layer</a:t>
            </a:r>
          </a:p>
          <a:p>
            <a:r>
              <a:rPr lang="en-US" dirty="0"/>
              <a:t>6.1.2 – IEEE 802 LAN/MAN Data Link Sublayers</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1460928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6.1 – Purpose of the Data Link Layer</a:t>
            </a:r>
          </a:p>
          <a:p>
            <a:r>
              <a:rPr lang="en-US" dirty="0"/>
              <a:t>6.1.3 – Providing Access to Media</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28581375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6.1 – Purpose of the Data Link Layer</a:t>
            </a:r>
          </a:p>
          <a:p>
            <a:r>
              <a:rPr lang="en-US" dirty="0"/>
              <a:t>6.1.4 – Data Link Layer Standards</a:t>
            </a:r>
          </a:p>
          <a:p>
            <a:r>
              <a:rPr lang="en-US" dirty="0"/>
              <a:t>6.1.5 – Check Your Understanding – Purpose of Data Link Layer</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38354598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6.2.1 – Physical and Logical Topologies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25521254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6.2.2 – WAN Topologies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36943519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6.2.3– Point-to-Point WAN Topology</a:t>
            </a: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32963211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6.2.4 – LAN Topologies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3437944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6.2.5 – Half and Full Duplex Communication</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12490157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6.2.6 – Access Control Methods</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9450684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6.2.7 – Contention-Based Access – CSMA/CD</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42337287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6.2 – Topologies</a:t>
            </a:r>
          </a:p>
          <a:p>
            <a:r>
              <a:rPr lang="en-US" dirty="0"/>
              <a:t>6.2.8 – Contention-Based Access – CSMA/CA</a:t>
            </a:r>
          </a:p>
          <a:p>
            <a:r>
              <a:rPr lang="en-US" dirty="0"/>
              <a:t>6.2.9 – Check Your Understanding - Topologies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234876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6.3 -  Data Link Frame</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9777554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6.3 – Data Link Frame</a:t>
            </a:r>
          </a:p>
          <a:p>
            <a:r>
              <a:rPr lang="en-US" dirty="0"/>
              <a:t>6.3.1 – The Frame</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33155708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6.3 – Data Link Frame</a:t>
            </a:r>
          </a:p>
          <a:p>
            <a:r>
              <a:rPr lang="en-US" dirty="0"/>
              <a:t>6.3.2 – Frame Fields</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17411424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6.3 – Data Link Frame</a:t>
            </a:r>
          </a:p>
          <a:p>
            <a:r>
              <a:rPr lang="en-US" dirty="0"/>
              <a:t>6.3.3 – Layer 2 Address</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8827210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Data Link Layer</a:t>
            </a:r>
          </a:p>
          <a:p>
            <a:r>
              <a:rPr lang="en-US" dirty="0"/>
              <a:t>6.3 – Data Link Frame</a:t>
            </a:r>
          </a:p>
          <a:p>
            <a:r>
              <a:rPr lang="en-US" dirty="0"/>
              <a:t>6.3.4 – LAN and WAN Frames</a:t>
            </a:r>
          </a:p>
          <a:p>
            <a:r>
              <a:rPr lang="en-US" dirty="0"/>
              <a:t>6.3.5 – Check Your Understanding – Data Link Frame</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38412898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Cisco Networking Academy Program</a:t>
            </a:r>
          </a:p>
          <a:p>
            <a:r>
              <a:rPr lang="en-US" dirty="0"/>
              <a:t>Introduction to Networks v7.0 (ITN)</a:t>
            </a:r>
          </a:p>
          <a:p>
            <a:r>
              <a:rPr lang="en-US" dirty="0"/>
              <a:t>Module 7: Ethernet Switching</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36087109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7 - Ethernet Switching</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7.1 Ethernet frames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15871141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7.1 – Ethernet Frames</a:t>
            </a:r>
          </a:p>
          <a:p>
            <a:r>
              <a:rPr lang="en-US" dirty="0"/>
              <a:t>7.1.1 – Ethernet Encapsulation</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11504869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7.1 – Ethernet Frames</a:t>
            </a:r>
          </a:p>
          <a:p>
            <a:r>
              <a:rPr lang="en-US" dirty="0"/>
              <a:t>7.1.2 - Data Link Sublayers</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40193643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7.1 – Ethernet Frames</a:t>
            </a:r>
          </a:p>
          <a:p>
            <a:r>
              <a:rPr lang="en-US" dirty="0"/>
              <a:t>7.1.3 – MAC Sublayer</a:t>
            </a:r>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10684403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7.1 – Ethernet Frames</a:t>
            </a:r>
          </a:p>
          <a:p>
            <a:r>
              <a:rPr lang="en-US" dirty="0"/>
              <a:t>7.1.3 – MAC Sublayer</a:t>
            </a:r>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6322872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7.1 – Ethernet Frames</a:t>
            </a:r>
          </a:p>
          <a:p>
            <a:r>
              <a:rPr lang="en-US" dirty="0"/>
              <a:t>7.1.4 – Ethernet Frame Fields</a:t>
            </a:r>
          </a:p>
          <a:p>
            <a:r>
              <a:rPr lang="en-US" dirty="0"/>
              <a:t>7.1.5 – Check Your Understanding – Ethernet Switching</a:t>
            </a:r>
            <a:endParaRPr lang="sk-SK" dirty="0"/>
          </a:p>
          <a:p>
            <a:r>
              <a:rPr lang="sk-SK" dirty="0"/>
              <a:t>Zdroj: </a:t>
            </a:r>
            <a:r>
              <a:rPr lang="en-US" dirty="0">
                <a:hlinkClick r:id="rId3"/>
              </a:rPr>
              <a:t>layer1 - Minimum ethernet frame is 64 bytes, Why the payload must be padded to at least 46 bytes - Network Engineering Stack Exchange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41711670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7 - Ethernet Switching</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7.2 - Ethernet MAC Address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583808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7.2 – Ethernet MAC Address</a:t>
            </a:r>
          </a:p>
          <a:p>
            <a:r>
              <a:rPr lang="en-US" dirty="0"/>
              <a:t>7.2.1 – MAC Address and Hexadecimal</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dirty="0"/>
          </a:p>
        </p:txBody>
      </p:sp>
    </p:spTree>
    <p:extLst>
      <p:ext uri="{BB962C8B-B14F-4D97-AF65-F5344CB8AC3E}">
        <p14:creationId xmlns:p14="http://schemas.microsoft.com/office/powerpoint/2010/main" val="4178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7.2 – Ethernet MAC Address</a:t>
            </a:r>
          </a:p>
          <a:p>
            <a:r>
              <a:rPr lang="en-US" dirty="0"/>
              <a:t>7.2.2 – Ethernet MAC Address</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37193050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7.2 – Ethernet MAC Address</a:t>
            </a:r>
          </a:p>
          <a:p>
            <a:r>
              <a:rPr lang="en-US" dirty="0"/>
              <a:t>7.2.3 – Frame Processing</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39766448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7.2 – Ethernet MAC Address</a:t>
            </a:r>
          </a:p>
          <a:p>
            <a:r>
              <a:rPr lang="en-US" dirty="0"/>
              <a:t>7.2.4 – Unicast MAC Address</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12490208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7.2 – Ethernet MAC Address</a:t>
            </a:r>
          </a:p>
          <a:p>
            <a:r>
              <a:rPr lang="en-US" dirty="0"/>
              <a:t>7.2.5 - Broadcast MAC Address</a:t>
            </a:r>
          </a:p>
        </p:txBody>
      </p:sp>
      <p:sp>
        <p:nvSpPr>
          <p:cNvPr id="4" name="Slide Number Placeholder 3"/>
          <p:cNvSpPr>
            <a:spLocks noGrp="1"/>
          </p:cNvSpPr>
          <p:nvPr>
            <p:ph type="sldNum" sz="quarter" idx="5"/>
          </p:nvPr>
        </p:nvSpPr>
        <p:spPr/>
        <p:txBody>
          <a:bodyPr/>
          <a:lstStyle/>
          <a:p>
            <a:fld id="{5641018C-6CAF-B84E-B92C-ECB119457FBA}" type="slidenum">
              <a:rPr lang="en-US" smtClean="0"/>
              <a:t>33</a:t>
            </a:fld>
            <a:endParaRPr lang="en-US" dirty="0"/>
          </a:p>
        </p:txBody>
      </p:sp>
    </p:spTree>
    <p:extLst>
      <p:ext uri="{BB962C8B-B14F-4D97-AF65-F5344CB8AC3E}">
        <p14:creationId xmlns:p14="http://schemas.microsoft.com/office/powerpoint/2010/main" val="24312911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7.2 – Ethernet MAC Address</a:t>
            </a:r>
          </a:p>
          <a:p>
            <a:r>
              <a:rPr lang="en-US" dirty="0"/>
              <a:t>7.2.6 - Multicast MAC Address</a:t>
            </a:r>
          </a:p>
        </p:txBody>
      </p:sp>
      <p:sp>
        <p:nvSpPr>
          <p:cNvPr id="4" name="Slide Number Placeholder 3"/>
          <p:cNvSpPr>
            <a:spLocks noGrp="1"/>
          </p:cNvSpPr>
          <p:nvPr>
            <p:ph type="sldNum" sz="quarter" idx="5"/>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39975712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7 -Ethernet Switching</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7.3 - The MAC Address Table</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197435193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7.3 – The MAC Address Table</a:t>
            </a:r>
          </a:p>
          <a:p>
            <a:r>
              <a:rPr lang="en-US" dirty="0"/>
              <a:t>7.3.1 - Switch Fundamentals</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35311910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7.3 – The MAC Address Table</a:t>
            </a:r>
          </a:p>
          <a:p>
            <a:r>
              <a:rPr lang="en-US" dirty="0"/>
              <a:t>7.3.2 - Switch Learning and Forwarding</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26217398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7.3 – The MAC Address Table</a:t>
            </a:r>
          </a:p>
          <a:p>
            <a:r>
              <a:rPr lang="en-US" dirty="0"/>
              <a:t>7.3.2 - Switch Learning and Forwarding</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36786674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7.3 – The MAC Address Table</a:t>
            </a:r>
          </a:p>
          <a:p>
            <a:r>
              <a:rPr lang="en-US" dirty="0"/>
              <a:t>7.3.3 - Filtering Frames</a:t>
            </a:r>
          </a:p>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10256916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7 -  Ethernet Switching</a:t>
            </a: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7.4  - Switch Speeds and Forwarding Methods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13038846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7.4 – Switch Speeds and Forwarding Methods</a:t>
            </a:r>
          </a:p>
          <a:p>
            <a:r>
              <a:rPr lang="en-US" dirty="0"/>
              <a:t>7.4.1 – Frame Forwarding Methods on Cisco Switches</a:t>
            </a:r>
          </a:p>
        </p:txBody>
      </p:sp>
      <p:sp>
        <p:nvSpPr>
          <p:cNvPr id="4" name="Slide Number Placeholder 3"/>
          <p:cNvSpPr>
            <a:spLocks noGrp="1"/>
          </p:cNvSpPr>
          <p:nvPr>
            <p:ph type="sldNum" sz="quarter" idx="5"/>
          </p:nvPr>
        </p:nvSpPr>
        <p:spPr/>
        <p:txBody>
          <a:bodyPr/>
          <a:lstStyle/>
          <a:p>
            <a:fld id="{5641018C-6CAF-B84E-B92C-ECB119457FBA}" type="slidenum">
              <a:rPr lang="en-US" smtClean="0"/>
              <a:t>41</a:t>
            </a:fld>
            <a:endParaRPr lang="en-US" dirty="0"/>
          </a:p>
        </p:txBody>
      </p:sp>
    </p:spTree>
    <p:extLst>
      <p:ext uri="{BB962C8B-B14F-4D97-AF65-F5344CB8AC3E}">
        <p14:creationId xmlns:p14="http://schemas.microsoft.com/office/powerpoint/2010/main" val="2860232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7.4 – Switch Speeds and Forwarding Methods</a:t>
            </a:r>
          </a:p>
          <a:p>
            <a:r>
              <a:rPr lang="en-US" dirty="0"/>
              <a:t>7.4.2 – Cut-Through Switching</a:t>
            </a:r>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24634596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7.4 – Switch Speeds and Forwarding Methods</a:t>
            </a:r>
          </a:p>
          <a:p>
            <a:r>
              <a:rPr lang="en-US" dirty="0"/>
              <a:t>7.4.3 – Memory Buffering on Switches</a:t>
            </a:r>
          </a:p>
        </p:txBody>
      </p:sp>
      <p:sp>
        <p:nvSpPr>
          <p:cNvPr id="4" name="Slide Number Placeholder 3"/>
          <p:cNvSpPr>
            <a:spLocks noGrp="1"/>
          </p:cNvSpPr>
          <p:nvPr>
            <p:ph type="sldNum" sz="quarter" idx="5"/>
          </p:nvPr>
        </p:nvSpPr>
        <p:spPr/>
        <p:txBody>
          <a:bodyPr/>
          <a:lstStyle/>
          <a:p>
            <a:fld id="{5641018C-6CAF-B84E-B92C-ECB119457FBA}" type="slidenum">
              <a:rPr lang="en-US" smtClean="0"/>
              <a:t>43</a:t>
            </a:fld>
            <a:endParaRPr lang="en-US" dirty="0"/>
          </a:p>
        </p:txBody>
      </p:sp>
    </p:spTree>
    <p:extLst>
      <p:ext uri="{BB962C8B-B14F-4D97-AF65-F5344CB8AC3E}">
        <p14:creationId xmlns:p14="http://schemas.microsoft.com/office/powerpoint/2010/main" val="17132315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7.4 – Switch Speeds and Forwarding Methods</a:t>
            </a:r>
          </a:p>
          <a:p>
            <a:r>
              <a:rPr lang="en-US" dirty="0"/>
              <a:t>7.4.4 – Duplex and Speed Settings</a:t>
            </a:r>
          </a:p>
        </p:txBody>
      </p:sp>
      <p:sp>
        <p:nvSpPr>
          <p:cNvPr id="4" name="Slide Number Placeholder 3"/>
          <p:cNvSpPr>
            <a:spLocks noGrp="1"/>
          </p:cNvSpPr>
          <p:nvPr>
            <p:ph type="sldNum" sz="quarter" idx="5"/>
          </p:nvPr>
        </p:nvSpPr>
        <p:spPr/>
        <p:txBody>
          <a:bodyPr/>
          <a:lstStyle/>
          <a:p>
            <a:fld id="{5641018C-6CAF-B84E-B92C-ECB119457FBA}" type="slidenum">
              <a:rPr lang="en-US" smtClean="0"/>
              <a:t>44</a:t>
            </a:fld>
            <a:endParaRPr lang="en-US" dirty="0"/>
          </a:p>
        </p:txBody>
      </p:sp>
    </p:spTree>
    <p:extLst>
      <p:ext uri="{BB962C8B-B14F-4D97-AF65-F5344CB8AC3E}">
        <p14:creationId xmlns:p14="http://schemas.microsoft.com/office/powerpoint/2010/main" val="29856429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7.4 – Switch Speeds and Forwarding Methods</a:t>
            </a:r>
          </a:p>
          <a:p>
            <a:r>
              <a:rPr lang="en-US" dirty="0"/>
              <a:t>7.4.4 – Duplex and Speed Settings</a:t>
            </a:r>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dirty="0"/>
          </a:p>
        </p:txBody>
      </p:sp>
    </p:spTree>
    <p:extLst>
      <p:ext uri="{BB962C8B-B14F-4D97-AF65-F5344CB8AC3E}">
        <p14:creationId xmlns:p14="http://schemas.microsoft.com/office/powerpoint/2010/main" val="2228817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Ethernet Switching</a:t>
            </a:r>
          </a:p>
          <a:p>
            <a:r>
              <a:rPr lang="en-US" dirty="0"/>
              <a:t>7.4 – Switch Speeds and Forwarding Methods</a:t>
            </a:r>
          </a:p>
          <a:p>
            <a:r>
              <a:rPr lang="en-US" dirty="0"/>
              <a:t>7.4.5 – Auto-MDIX</a:t>
            </a:r>
          </a:p>
          <a:p>
            <a:r>
              <a:rPr lang="en-US" dirty="0"/>
              <a:t>7.4.6 – Check Your Understanding – Switch Speeds and Forwarding Methods</a:t>
            </a:r>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dirty="0"/>
          </a:p>
        </p:txBody>
      </p:sp>
    </p:spTree>
    <p:extLst>
      <p:ext uri="{BB962C8B-B14F-4D97-AF65-F5344CB8AC3E}">
        <p14:creationId xmlns:p14="http://schemas.microsoft.com/office/powerpoint/2010/main" val="3683632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47</a:t>
            </a:fld>
            <a:endParaRPr lang="en-US" dirty="0"/>
          </a:p>
        </p:txBody>
      </p:sp>
    </p:spTree>
    <p:extLst>
      <p:ext uri="{BB962C8B-B14F-4D97-AF65-F5344CB8AC3E}">
        <p14:creationId xmlns:p14="http://schemas.microsoft.com/office/powerpoint/2010/main" val="37260224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31" r:id="rId13"/>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ags" Target="../tags/tag6.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5.emf"/></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10.xml"/><Relationship Id="rId1" Type="http://schemas.openxmlformats.org/officeDocument/2006/relationships/tags" Target="../tags/tag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6: Data Link Layer</a:t>
            </a:r>
          </a:p>
        </p:txBody>
      </p:sp>
      <p:sp>
        <p:nvSpPr>
          <p:cNvPr id="7" name="Subtitle 6"/>
          <p:cNvSpPr>
            <a:spLocks noGrp="1"/>
          </p:cNvSpPr>
          <p:nvPr>
            <p:ph type="subTitle" idx="1"/>
          </p:nvPr>
        </p:nvSpPr>
        <p:spPr>
          <a:xfrm>
            <a:off x="469497" y="3809526"/>
            <a:ext cx="2368954" cy="902174"/>
          </a:xfrm>
        </p:spPr>
        <p:txBody>
          <a:bodyPr/>
          <a:lstStyle/>
          <a:p>
            <a:r>
              <a:rPr lang="en-US" dirty="0">
                <a:solidFill>
                  <a:schemeClr val="accent5">
                    <a:lumMod val="40000"/>
                    <a:lumOff val="60000"/>
                  </a:schemeClr>
                </a:solidFill>
              </a:rPr>
              <a:t>Introduction to Networks v7.0 (ITN)</a:t>
            </a:r>
          </a:p>
          <a:p>
            <a:endParaRPr lang="en-US" dirty="0"/>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244338"/>
            <a:ext cx="7598042" cy="1473462"/>
          </a:xfrm>
        </p:spPr>
        <p:txBody>
          <a:bodyPr/>
          <a:lstStyle/>
          <a:p>
            <a:r>
              <a:rPr lang="en-US" dirty="0">
                <a:solidFill>
                  <a:schemeClr val="accent5">
                    <a:lumMod val="40000"/>
                    <a:lumOff val="60000"/>
                  </a:schemeClr>
                </a:solidFill>
              </a:rPr>
              <a:t>6.1 Purpose of the Data Link Layer</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Purpose of the Data Link Layer</a:t>
            </a:r>
            <a:br>
              <a:rPr lang="en-US" dirty="0"/>
            </a:br>
            <a:r>
              <a:rPr lang="en-US" sz="2400" dirty="0"/>
              <a:t>The Data Link Layer</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4140028" cy="3073946"/>
          </a:xfrm>
        </p:spPr>
        <p:txBody>
          <a:bodyPr/>
          <a:lstStyle/>
          <a:p>
            <a:pPr marL="342900" indent="-342900" algn="l">
              <a:buFont typeface="Arial" panose="020B0604020202020204" pitchFamily="34" charset="0"/>
              <a:buChar char="•"/>
            </a:pPr>
            <a:r>
              <a:rPr lang="en-US" sz="1600" dirty="0">
                <a:solidFill>
                  <a:srgbClr val="000000"/>
                </a:solidFill>
              </a:rPr>
              <a:t>The Data Link layer is responsible for communications between end-device network interface cards.</a:t>
            </a:r>
          </a:p>
          <a:p>
            <a:pPr marL="342900" indent="-342900" algn="l">
              <a:buFont typeface="Arial" panose="020B0604020202020204" pitchFamily="34" charset="0"/>
              <a:buChar char="•"/>
            </a:pPr>
            <a:r>
              <a:rPr lang="en-US" sz="1600" dirty="0">
                <a:solidFill>
                  <a:srgbClr val="000000"/>
                </a:solidFill>
              </a:rPr>
              <a:t>It allows upper layer protocols to access the physical layer media and encapsulates Layer 3 packets (IPv4 and IPv6) into Layer 2 Frames.</a:t>
            </a:r>
          </a:p>
          <a:p>
            <a:pPr marL="342900" indent="-342900" algn="l">
              <a:buFont typeface="Arial" panose="020B0604020202020204" pitchFamily="34" charset="0"/>
              <a:buChar char="•"/>
            </a:pPr>
            <a:r>
              <a:rPr lang="en-US" sz="1600" dirty="0">
                <a:solidFill>
                  <a:srgbClr val="000000"/>
                </a:solidFill>
              </a:rPr>
              <a:t>It also performs error detection and rejects corrupts frames.</a:t>
            </a: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6" name="Picture 5">
            <a:extLst>
              <a:ext uri="{FF2B5EF4-FFF2-40B4-BE49-F238E27FC236}">
                <a16:creationId xmlns:a16="http://schemas.microsoft.com/office/drawing/2014/main" id="{D6A2775E-EEA2-B340-AC65-D029824E8F00}"/>
              </a:ext>
            </a:extLst>
          </p:cNvPr>
          <p:cNvPicPr>
            <a:picLocks noChangeAspect="1"/>
          </p:cNvPicPr>
          <p:nvPr/>
        </p:nvPicPr>
        <p:blipFill>
          <a:blip r:embed="rId3"/>
          <a:stretch>
            <a:fillRect/>
          </a:stretch>
        </p:blipFill>
        <p:spPr>
          <a:xfrm>
            <a:off x="4769746" y="1046747"/>
            <a:ext cx="3823810" cy="2016626"/>
          </a:xfrm>
          <a:prstGeom prst="rect">
            <a:avLst/>
          </a:prstGeom>
        </p:spPr>
      </p:pic>
    </p:spTree>
    <p:extLst>
      <p:ext uri="{BB962C8B-B14F-4D97-AF65-F5344CB8AC3E}">
        <p14:creationId xmlns:p14="http://schemas.microsoft.com/office/powerpoint/2010/main" val="167106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Purpose of the Data Link Layer</a:t>
            </a:r>
            <a:br>
              <a:rPr lang="en-US" dirty="0"/>
            </a:br>
            <a:r>
              <a:rPr lang="en-US" sz="2400" dirty="0"/>
              <a:t>IEEE 802 LAN/MAN Data Link Sublayers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197964" y="855419"/>
            <a:ext cx="4305820" cy="3683530"/>
          </a:xfrm>
        </p:spPr>
        <p:txBody>
          <a:bodyPr/>
          <a:lstStyle/>
          <a:p>
            <a:pPr marL="0" indent="0" algn="l"/>
            <a:r>
              <a:rPr lang="en-US" sz="1600" dirty="0">
                <a:solidFill>
                  <a:srgbClr val="000000"/>
                </a:solidFill>
              </a:rPr>
              <a:t>IEEE 802 LAN/MAN standards are specific to the type of network (Ethernet, WLAN, WPAN, etc).</a:t>
            </a:r>
          </a:p>
          <a:p>
            <a:pPr marL="0" indent="0" algn="l"/>
            <a:endParaRPr lang="en-US" sz="1600" dirty="0">
              <a:solidFill>
                <a:srgbClr val="000000"/>
              </a:solidFill>
            </a:endParaRPr>
          </a:p>
          <a:p>
            <a:pPr marL="0" indent="0" algn="l"/>
            <a:r>
              <a:rPr lang="en-US" sz="1600" dirty="0">
                <a:solidFill>
                  <a:srgbClr val="000000"/>
                </a:solidFill>
              </a:rPr>
              <a:t>The Data Link Layer consists of two sublayers. </a:t>
            </a:r>
            <a:r>
              <a:rPr lang="en-US" sz="1600" b="1" dirty="0">
                <a:solidFill>
                  <a:srgbClr val="000000"/>
                </a:solidFill>
              </a:rPr>
              <a:t>Logical Link Control (LLC)</a:t>
            </a:r>
            <a:r>
              <a:rPr lang="en-US" sz="1600" dirty="0">
                <a:solidFill>
                  <a:srgbClr val="000000"/>
                </a:solidFill>
              </a:rPr>
              <a:t> and </a:t>
            </a:r>
            <a:r>
              <a:rPr lang="en-US" sz="1600" b="1" dirty="0">
                <a:solidFill>
                  <a:srgbClr val="000000"/>
                </a:solidFill>
              </a:rPr>
              <a:t>Media Access Control (MAC).</a:t>
            </a:r>
          </a:p>
          <a:p>
            <a:pPr marL="489010" lvl="2" indent="-342900">
              <a:buFont typeface="Arial" panose="020B0604020202020204" pitchFamily="34" charset="0"/>
              <a:buChar char="•"/>
            </a:pPr>
            <a:r>
              <a:rPr lang="en-US" sz="1600" dirty="0">
                <a:solidFill>
                  <a:srgbClr val="000000"/>
                </a:solidFill>
              </a:rPr>
              <a:t>The LLC sublayer communicates between the networking software at the upper layers and the device hardware at the lower layers.</a:t>
            </a:r>
          </a:p>
          <a:p>
            <a:pPr marL="489010" lvl="2" indent="-342900">
              <a:buFont typeface="Arial" panose="020B0604020202020204" pitchFamily="34" charset="0"/>
              <a:buChar char="•"/>
            </a:pPr>
            <a:r>
              <a:rPr lang="en-US" sz="1600" dirty="0">
                <a:solidFill>
                  <a:srgbClr val="000000"/>
                </a:solidFill>
              </a:rPr>
              <a:t>The MAC sublayer is responsible for data encapsulation and media access control.</a:t>
            </a: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6" name="Picture 5">
            <a:extLst>
              <a:ext uri="{FF2B5EF4-FFF2-40B4-BE49-F238E27FC236}">
                <a16:creationId xmlns:a16="http://schemas.microsoft.com/office/drawing/2014/main" id="{34482E20-85AC-4A71-B6F1-35D714F52EA3}"/>
              </a:ext>
            </a:extLst>
          </p:cNvPr>
          <p:cNvPicPr>
            <a:picLocks noChangeAspect="1"/>
          </p:cNvPicPr>
          <p:nvPr/>
        </p:nvPicPr>
        <p:blipFill>
          <a:blip r:embed="rId3"/>
          <a:stretch>
            <a:fillRect/>
          </a:stretch>
        </p:blipFill>
        <p:spPr>
          <a:xfrm>
            <a:off x="4503783" y="855419"/>
            <a:ext cx="4640217" cy="3683530"/>
          </a:xfrm>
          <a:prstGeom prst="rect">
            <a:avLst/>
          </a:prstGeom>
        </p:spPr>
      </p:pic>
    </p:spTree>
    <p:extLst>
      <p:ext uri="{BB962C8B-B14F-4D97-AF65-F5344CB8AC3E}">
        <p14:creationId xmlns:p14="http://schemas.microsoft.com/office/powerpoint/2010/main" val="26223354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Purpose of the Data Link Layer</a:t>
            </a:r>
            <a:br>
              <a:rPr lang="en-US" dirty="0"/>
            </a:br>
            <a:r>
              <a:rPr lang="en-US" sz="2400" dirty="0"/>
              <a:t>Providing Access to Media</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3073946"/>
          </a:xfrm>
        </p:spPr>
        <p:txBody>
          <a:bodyPr/>
          <a:lstStyle/>
          <a:p>
            <a:pPr marL="0" indent="0" algn="l"/>
            <a:r>
              <a:rPr lang="en-US" dirty="0">
                <a:solidFill>
                  <a:srgbClr val="000000"/>
                </a:solidFill>
              </a:rPr>
              <a:t>Packets exchanged between nodes may experience numerous data link layers and media transitions.</a:t>
            </a:r>
          </a:p>
          <a:p>
            <a:pPr marL="0" indent="0" algn="l"/>
            <a:endParaRPr lang="en-US" dirty="0">
              <a:solidFill>
                <a:srgbClr val="000000"/>
              </a:solidFill>
            </a:endParaRPr>
          </a:p>
          <a:p>
            <a:pPr marL="0" indent="0" algn="l"/>
            <a:r>
              <a:rPr lang="en-US" dirty="0">
                <a:solidFill>
                  <a:srgbClr val="000000"/>
                </a:solidFill>
              </a:rPr>
              <a:t>At each hop along the path, a router performs four basic Layer 2 functions:</a:t>
            </a:r>
          </a:p>
          <a:p>
            <a:pPr marL="415985" lvl="1" indent="-342900">
              <a:buFont typeface="Arial" panose="020B0604020202020204" pitchFamily="34" charset="0"/>
              <a:buChar char="•"/>
            </a:pPr>
            <a:r>
              <a:rPr lang="en-US" sz="1600" dirty="0">
                <a:solidFill>
                  <a:srgbClr val="000000"/>
                </a:solidFill>
              </a:rPr>
              <a:t>Accepts a frame from the network medium.</a:t>
            </a:r>
          </a:p>
          <a:p>
            <a:pPr marL="415985" lvl="1" indent="-342900">
              <a:buFont typeface="Arial" panose="020B0604020202020204" pitchFamily="34" charset="0"/>
              <a:buChar char="•"/>
            </a:pPr>
            <a:r>
              <a:rPr lang="en-US" sz="1600" dirty="0">
                <a:solidFill>
                  <a:srgbClr val="000000"/>
                </a:solidFill>
              </a:rPr>
              <a:t>De-encapsulates the frame to expose the encapsulated packet.</a:t>
            </a:r>
          </a:p>
          <a:p>
            <a:pPr marL="415985" lvl="1" indent="-342900"/>
            <a:r>
              <a:rPr lang="en-US" sz="1600" dirty="0">
                <a:solidFill>
                  <a:srgbClr val="000000"/>
                </a:solidFill>
              </a:rPr>
              <a:t>Re-encapsulates the packet into a new frame.</a:t>
            </a:r>
          </a:p>
          <a:p>
            <a:pPr marL="415985" lvl="1" indent="-342900"/>
            <a:r>
              <a:rPr lang="en-US" sz="1600" dirty="0">
                <a:solidFill>
                  <a:srgbClr val="000000"/>
                </a:solidFill>
              </a:rPr>
              <a:t>Forwards the new frame on the medium of the next network </a:t>
            </a:r>
            <a:r>
              <a:rPr lang="en-US" sz="1600">
                <a:solidFill>
                  <a:srgbClr val="000000"/>
                </a:solidFill>
              </a:rPr>
              <a:t>segment.</a:t>
            </a:r>
            <a:endParaRPr lang="en-US" sz="1600" dirty="0">
              <a:solidFill>
                <a:srgbClr val="000000"/>
              </a:solidFill>
            </a:endParaRPr>
          </a:p>
        </p:txBody>
      </p:sp>
    </p:spTree>
    <p:extLst>
      <p:ext uri="{BB962C8B-B14F-4D97-AF65-F5344CB8AC3E}">
        <p14:creationId xmlns:p14="http://schemas.microsoft.com/office/powerpoint/2010/main" val="10602751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3E1FC63F-1738-4F20-B656-0C076A42FFC9}"/>
              </a:ext>
            </a:extLst>
          </p:cNvPr>
          <p:cNvSpPr>
            <a:spLocks noGrp="1"/>
          </p:cNvSpPr>
          <p:nvPr>
            <p:ph type="title"/>
          </p:nvPr>
        </p:nvSpPr>
        <p:spPr>
          <a:xfrm>
            <a:off x="0" y="0"/>
            <a:ext cx="8345488" cy="731838"/>
          </a:xfrm>
        </p:spPr>
        <p:txBody>
          <a:bodyPr/>
          <a:lstStyle/>
          <a:p>
            <a:r>
              <a:rPr lang="en-US" sz="1600" dirty="0"/>
              <a:t>Purpose of the Data Link Layer</a:t>
            </a:r>
            <a:br>
              <a:rPr lang="en-US" dirty="0"/>
            </a:br>
            <a:r>
              <a:rPr lang="en-US" sz="2400" dirty="0"/>
              <a:t>Data Link Layer Standards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3746328" cy="3073946"/>
          </a:xfrm>
        </p:spPr>
        <p:txBody>
          <a:bodyPr/>
          <a:lstStyle/>
          <a:p>
            <a:pPr marL="0" indent="0" algn="l"/>
            <a:r>
              <a:rPr lang="en-US" dirty="0">
                <a:solidFill>
                  <a:srgbClr val="000000"/>
                </a:solidFill>
              </a:rPr>
              <a:t>Data link layer protocols are defined by engineering organizations:</a:t>
            </a:r>
          </a:p>
          <a:p>
            <a:pPr marL="415985" lvl="1" indent="-342900">
              <a:buFont typeface="Arial" panose="020B0604020202020204" pitchFamily="34" charset="0"/>
              <a:buChar char="•"/>
            </a:pPr>
            <a:r>
              <a:rPr lang="en-US" sz="1600" dirty="0">
                <a:solidFill>
                  <a:srgbClr val="000000"/>
                </a:solidFill>
              </a:rPr>
              <a:t>Institute for Electrical and Electronic Engineers (IEEE).</a:t>
            </a:r>
          </a:p>
          <a:p>
            <a:pPr marL="415985" lvl="1" indent="-342900">
              <a:buFont typeface="Arial" panose="020B0604020202020204" pitchFamily="34" charset="0"/>
              <a:buChar char="•"/>
            </a:pPr>
            <a:r>
              <a:rPr lang="en-US" sz="1600" dirty="0">
                <a:solidFill>
                  <a:srgbClr val="000000"/>
                </a:solidFill>
              </a:rPr>
              <a:t>International Telecommunications Union (ITU).</a:t>
            </a:r>
          </a:p>
          <a:p>
            <a:pPr marL="415985" lvl="1" indent="-342900">
              <a:buFont typeface="Arial" panose="020B0604020202020204" pitchFamily="34" charset="0"/>
              <a:buChar char="•"/>
            </a:pPr>
            <a:r>
              <a:rPr lang="en-US" sz="1600" dirty="0">
                <a:solidFill>
                  <a:srgbClr val="000000"/>
                </a:solidFill>
              </a:rPr>
              <a:t>International Organizations for Standardization (ISO).</a:t>
            </a:r>
          </a:p>
          <a:p>
            <a:pPr marL="415985" lvl="1" indent="-342900">
              <a:buFont typeface="Arial" panose="020B0604020202020204" pitchFamily="34" charset="0"/>
              <a:buChar char="•"/>
            </a:pPr>
            <a:r>
              <a:rPr lang="en-US" sz="1600" dirty="0">
                <a:solidFill>
                  <a:srgbClr val="000000"/>
                </a:solidFill>
              </a:rPr>
              <a:t>American National Standards Institute (ANSI).</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81E48A9C-7AC9-4385-99A6-E88DD132E6DB}"/>
              </a:ext>
            </a:extLst>
          </p:cNvPr>
          <p:cNvPicPr>
            <a:picLocks noChangeAspect="1"/>
          </p:cNvPicPr>
          <p:nvPr/>
        </p:nvPicPr>
        <p:blipFill>
          <a:blip r:embed="rId3"/>
          <a:stretch>
            <a:fillRect/>
          </a:stretch>
        </p:blipFill>
        <p:spPr>
          <a:xfrm>
            <a:off x="4572000" y="855419"/>
            <a:ext cx="4055062" cy="2768600"/>
          </a:xfrm>
          <a:prstGeom prst="rect">
            <a:avLst/>
          </a:prstGeom>
        </p:spPr>
      </p:pic>
    </p:spTree>
    <p:extLst>
      <p:ext uri="{BB962C8B-B14F-4D97-AF65-F5344CB8AC3E}">
        <p14:creationId xmlns:p14="http://schemas.microsoft.com/office/powerpoint/2010/main" val="122100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6.2 Topologies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Topologies</a:t>
            </a:r>
            <a:br>
              <a:rPr lang="en-US" dirty="0"/>
            </a:br>
            <a:r>
              <a:rPr lang="en-US" sz="2400" dirty="0"/>
              <a:t>Physical and Logical Topologies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a:r>
              <a:rPr lang="en-US" sz="1800" dirty="0">
                <a:solidFill>
                  <a:srgbClr val="000000"/>
                </a:solidFill>
              </a:rPr>
              <a:t>The topology of a network is the arrangement and relationship of the network devices and the interconnections between them.</a:t>
            </a:r>
          </a:p>
          <a:p>
            <a:pPr marL="0" indent="0" algn="l"/>
            <a:endParaRPr lang="en-US" sz="1800" dirty="0">
              <a:solidFill>
                <a:srgbClr val="000000"/>
              </a:solidFill>
            </a:endParaRPr>
          </a:p>
          <a:p>
            <a:pPr marL="0" indent="0" algn="l"/>
            <a:r>
              <a:rPr lang="en-US" sz="1800" dirty="0">
                <a:solidFill>
                  <a:srgbClr val="000000"/>
                </a:solidFill>
              </a:rPr>
              <a:t>There are two types of topologies used when describing networks:</a:t>
            </a:r>
          </a:p>
          <a:p>
            <a:pPr marL="415985" lvl="1" indent="-342900">
              <a:buFont typeface="Arial" panose="020B0604020202020204" pitchFamily="34" charset="0"/>
              <a:buChar char="•"/>
            </a:pPr>
            <a:r>
              <a:rPr lang="en-US" sz="1800" b="1" dirty="0">
                <a:solidFill>
                  <a:srgbClr val="000000"/>
                </a:solidFill>
              </a:rPr>
              <a:t>Physical topology </a:t>
            </a:r>
            <a:r>
              <a:rPr lang="en-US" sz="1800" dirty="0">
                <a:solidFill>
                  <a:srgbClr val="000000"/>
                </a:solidFill>
              </a:rPr>
              <a:t>– shows physical connections and how devices are interconnected.</a:t>
            </a:r>
          </a:p>
          <a:p>
            <a:pPr marL="415985" lvl="1" indent="-342900">
              <a:buFont typeface="Arial" panose="020B0604020202020204" pitchFamily="34" charset="0"/>
              <a:buChar char="•"/>
            </a:pPr>
            <a:r>
              <a:rPr lang="en-US" sz="1800" b="1" dirty="0">
                <a:solidFill>
                  <a:srgbClr val="000000"/>
                </a:solidFill>
              </a:rPr>
              <a:t>Logical topology </a:t>
            </a:r>
            <a:r>
              <a:rPr lang="en-US" sz="1800" dirty="0">
                <a:solidFill>
                  <a:srgbClr val="000000"/>
                </a:solidFill>
              </a:rPr>
              <a:t>– identifies the virtual connections between devices using device interfaces and IP addressing schemes.</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569503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Topologies</a:t>
            </a:r>
            <a:br>
              <a:rPr lang="en-US" dirty="0"/>
            </a:br>
            <a:r>
              <a:rPr lang="en-US" sz="2400" dirty="0"/>
              <a:t>WAN Topologies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943508"/>
            <a:ext cx="8280400" cy="2804664"/>
          </a:xfrm>
        </p:spPr>
        <p:txBody>
          <a:bodyPr/>
          <a:lstStyle/>
          <a:p>
            <a:pPr marL="0" indent="0" algn="l"/>
            <a:r>
              <a:rPr lang="en-US" sz="1800" dirty="0">
                <a:solidFill>
                  <a:srgbClr val="000000"/>
                </a:solidFill>
              </a:rPr>
              <a:t>There are three common </a:t>
            </a:r>
            <a:r>
              <a:rPr lang="en-US" sz="1800" b="1" dirty="0">
                <a:solidFill>
                  <a:srgbClr val="000000"/>
                </a:solidFill>
              </a:rPr>
              <a:t>physical</a:t>
            </a:r>
            <a:r>
              <a:rPr lang="en-US" sz="1800" dirty="0">
                <a:solidFill>
                  <a:srgbClr val="000000"/>
                </a:solidFill>
              </a:rPr>
              <a:t> WAN topologies: </a:t>
            </a:r>
          </a:p>
          <a:p>
            <a:pPr marL="415985" lvl="1" indent="-342900">
              <a:buFont typeface="Arial" panose="020B0604020202020204" pitchFamily="34" charset="0"/>
              <a:buChar char="•"/>
            </a:pPr>
            <a:r>
              <a:rPr lang="en-US" sz="1800" b="1" dirty="0">
                <a:solidFill>
                  <a:srgbClr val="000000"/>
                </a:solidFill>
              </a:rPr>
              <a:t>Point-to-point</a:t>
            </a:r>
            <a:r>
              <a:rPr lang="en-US" sz="1800" dirty="0">
                <a:solidFill>
                  <a:srgbClr val="000000"/>
                </a:solidFill>
              </a:rPr>
              <a:t> – the simplest and most common WAN topology. Consists of a permanent link between two endpoints.</a:t>
            </a:r>
          </a:p>
          <a:p>
            <a:pPr marL="415985" lvl="1" indent="-342900">
              <a:buFont typeface="Arial" panose="020B0604020202020204" pitchFamily="34" charset="0"/>
              <a:buChar char="•"/>
            </a:pPr>
            <a:r>
              <a:rPr lang="en-US" sz="1800" b="1" dirty="0">
                <a:solidFill>
                  <a:srgbClr val="000000"/>
                </a:solidFill>
              </a:rPr>
              <a:t>Hub and spoke </a:t>
            </a:r>
            <a:r>
              <a:rPr lang="en-US" sz="1800" dirty="0">
                <a:solidFill>
                  <a:srgbClr val="000000"/>
                </a:solidFill>
              </a:rPr>
              <a:t>– similar to a star topology where a central site interconnects branch sites through point-to-point links.</a:t>
            </a:r>
          </a:p>
          <a:p>
            <a:pPr marL="415985" lvl="1" indent="-342900">
              <a:buFont typeface="Arial" panose="020B0604020202020204" pitchFamily="34" charset="0"/>
              <a:buChar char="•"/>
            </a:pPr>
            <a:r>
              <a:rPr lang="en-US" sz="1800" b="1" dirty="0">
                <a:solidFill>
                  <a:srgbClr val="000000"/>
                </a:solidFill>
              </a:rPr>
              <a:t>Mesh</a:t>
            </a:r>
            <a:r>
              <a:rPr lang="en-US" sz="1800" dirty="0">
                <a:solidFill>
                  <a:srgbClr val="000000"/>
                </a:solidFill>
              </a:rPr>
              <a:t> – provides high availability but requires every end system to be connected to every other end system.</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4106652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Topologies</a:t>
            </a:r>
            <a:br>
              <a:rPr lang="en-US" dirty="0"/>
            </a:br>
            <a:r>
              <a:rPr lang="en-US" sz="2400" dirty="0"/>
              <a:t>Point-to-Point WAN Topology</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1536700"/>
          </a:xfrm>
        </p:spPr>
        <p:txBody>
          <a:bodyPr/>
          <a:lstStyle/>
          <a:p>
            <a:pPr marL="342900" indent="-342900" algn="l">
              <a:buFont typeface="Arial" panose="020B0604020202020204" pitchFamily="34" charset="0"/>
              <a:buChar char="•"/>
            </a:pPr>
            <a:r>
              <a:rPr lang="en-US" dirty="0">
                <a:solidFill>
                  <a:srgbClr val="000000"/>
                </a:solidFill>
              </a:rPr>
              <a:t>Physical point-to-point topologies directly connect two nodes.</a:t>
            </a:r>
          </a:p>
          <a:p>
            <a:pPr marL="342900" indent="-342900" algn="l">
              <a:buFont typeface="Arial" panose="020B0604020202020204" pitchFamily="34" charset="0"/>
              <a:buChar char="•"/>
            </a:pPr>
            <a:r>
              <a:rPr lang="en-US" dirty="0">
                <a:solidFill>
                  <a:srgbClr val="000000"/>
                </a:solidFill>
              </a:rPr>
              <a:t>The nodes may not share the media with other hosts.</a:t>
            </a:r>
          </a:p>
          <a:p>
            <a:pPr marL="342900" indent="-342900" algn="l">
              <a:buFont typeface="Arial" panose="020B0604020202020204" pitchFamily="34" charset="0"/>
              <a:buChar char="•"/>
            </a:pPr>
            <a:r>
              <a:rPr lang="en-US" dirty="0">
                <a:solidFill>
                  <a:srgbClr val="000000"/>
                </a:solidFill>
              </a:rPr>
              <a:t>Because all frames on the media can only travel to or from the two nodes, Point-to-Point WAN protocols can be very simple.</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0" indent="0" algn="l"/>
            <a:endParaRPr lang="en-US" sz="1600" dirty="0">
              <a:solidFill>
                <a:srgbClr val="000000"/>
              </a:solidFill>
            </a:endParaRPr>
          </a:p>
        </p:txBody>
      </p:sp>
      <p:pic>
        <p:nvPicPr>
          <p:cNvPr id="4" name="Picture 3">
            <a:extLst>
              <a:ext uri="{FF2B5EF4-FFF2-40B4-BE49-F238E27FC236}">
                <a16:creationId xmlns:a16="http://schemas.microsoft.com/office/drawing/2014/main" id="{5238DFB8-7E4C-49CD-931F-4C4AC96133F5}"/>
              </a:ext>
            </a:extLst>
          </p:cNvPr>
          <p:cNvPicPr>
            <a:picLocks noChangeAspect="1"/>
          </p:cNvPicPr>
          <p:nvPr/>
        </p:nvPicPr>
        <p:blipFill>
          <a:blip r:embed="rId3"/>
          <a:stretch>
            <a:fillRect/>
          </a:stretch>
        </p:blipFill>
        <p:spPr>
          <a:xfrm>
            <a:off x="839410" y="2874963"/>
            <a:ext cx="6666667" cy="1590476"/>
          </a:xfrm>
          <a:prstGeom prst="rect">
            <a:avLst/>
          </a:prstGeom>
        </p:spPr>
      </p:pic>
    </p:spTree>
    <p:extLst>
      <p:ext uri="{BB962C8B-B14F-4D97-AF65-F5344CB8AC3E}">
        <p14:creationId xmlns:p14="http://schemas.microsoft.com/office/powerpoint/2010/main" val="1876099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Topologies</a:t>
            </a:r>
            <a:br>
              <a:rPr lang="en-US" dirty="0"/>
            </a:br>
            <a:r>
              <a:rPr lang="en-US" sz="2400" dirty="0"/>
              <a:t>LAN Topologies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138440" y="826265"/>
            <a:ext cx="4047061" cy="3613533"/>
          </a:xfrm>
        </p:spPr>
        <p:txBody>
          <a:bodyPr/>
          <a:lstStyle/>
          <a:p>
            <a:pPr marL="0" indent="0" algn="l"/>
            <a:r>
              <a:rPr lang="en-US" sz="1600" dirty="0">
                <a:solidFill>
                  <a:srgbClr val="000000"/>
                </a:solidFill>
              </a:rPr>
              <a:t>End devices on LANs are typically interconnected using a star or extended star topology. Star and extended star topologies are easy to install, very scalable and easy to troubleshoot.</a:t>
            </a:r>
          </a:p>
          <a:p>
            <a:pPr marL="0" indent="0" algn="l"/>
            <a:endParaRPr lang="en-US" sz="1600" dirty="0">
              <a:solidFill>
                <a:srgbClr val="000000"/>
              </a:solidFill>
            </a:endParaRPr>
          </a:p>
          <a:p>
            <a:pPr marL="0" indent="0" algn="l"/>
            <a:r>
              <a:rPr lang="en-US" sz="1600" dirty="0">
                <a:solidFill>
                  <a:srgbClr val="000000"/>
                </a:solidFill>
              </a:rPr>
              <a:t>Early Ethernet and Legacy Token Ring technologies provide two additional topologies:</a:t>
            </a:r>
          </a:p>
          <a:p>
            <a:pPr marL="415985" lvl="1" indent="-342900">
              <a:buFont typeface="Arial" panose="020B0604020202020204" pitchFamily="34" charset="0"/>
              <a:buChar char="•"/>
            </a:pPr>
            <a:r>
              <a:rPr lang="en-US" sz="1600" b="1" dirty="0">
                <a:solidFill>
                  <a:srgbClr val="000000"/>
                </a:solidFill>
              </a:rPr>
              <a:t>Bus</a:t>
            </a:r>
            <a:r>
              <a:rPr lang="en-US" sz="1600" dirty="0">
                <a:solidFill>
                  <a:srgbClr val="000000"/>
                </a:solidFill>
              </a:rPr>
              <a:t> – All end systems chained together and terminated on each end.</a:t>
            </a:r>
          </a:p>
          <a:p>
            <a:pPr marL="415985" lvl="1" indent="-342900">
              <a:buFont typeface="Arial" panose="020B0604020202020204" pitchFamily="34" charset="0"/>
              <a:buChar char="•"/>
            </a:pPr>
            <a:r>
              <a:rPr lang="en-US" sz="1600" b="1" dirty="0">
                <a:solidFill>
                  <a:srgbClr val="000000"/>
                </a:solidFill>
              </a:rPr>
              <a:t>Ring </a:t>
            </a:r>
            <a:r>
              <a:rPr lang="en-US" sz="1600" dirty="0">
                <a:solidFill>
                  <a:srgbClr val="000000"/>
                </a:solidFill>
              </a:rPr>
              <a:t>– Each end system is connected to its respective neighbors to form a ring.</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4" name="Content Placeholder 3">
            <a:extLst>
              <a:ext uri="{FF2B5EF4-FFF2-40B4-BE49-F238E27FC236}">
                <a16:creationId xmlns:a16="http://schemas.microsoft.com/office/drawing/2014/main" id="{FF75D65E-B72F-4095-958C-B321F7C577A5}"/>
              </a:ext>
            </a:extLst>
          </p:cNvPr>
          <p:cNvPicPr>
            <a:picLocks noGrp="1" noChangeAspect="1"/>
          </p:cNvPicPr>
          <p:nvPr/>
        </p:nvPicPr>
        <p:blipFill>
          <a:blip r:embed="rId3"/>
          <a:stretch>
            <a:fillRect/>
          </a:stretch>
        </p:blipFill>
        <p:spPr>
          <a:xfrm>
            <a:off x="4185501" y="681400"/>
            <a:ext cx="4820059" cy="3781980"/>
          </a:xfrm>
          <a:prstGeom prst="rect">
            <a:avLst/>
          </a:prstGeom>
        </p:spPr>
      </p:pic>
    </p:spTree>
    <p:extLst>
      <p:ext uri="{BB962C8B-B14F-4D97-AF65-F5344CB8AC3E}">
        <p14:creationId xmlns:p14="http://schemas.microsoft.com/office/powerpoint/2010/main" val="3383700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B8166C4A-518E-4846-A274-363AAE5FF01D}"/>
              </a:ext>
            </a:extLst>
          </p:cNvPr>
          <p:cNvSpPr txBox="1">
            <a:spLocks/>
          </p:cNvSpPr>
          <p:nvPr/>
        </p:nvSpPr>
        <p:spPr bwMode="auto">
          <a:xfrm>
            <a:off x="0" y="0"/>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lvl1pPr algn="l" defTabSz="684213" rtl="0" eaLnBrk="1" fontAlgn="base" hangingPunct="1">
              <a:lnSpc>
                <a:spcPct val="80000"/>
              </a:lnSpc>
              <a:spcBef>
                <a:spcPct val="0"/>
              </a:spcBef>
              <a:spcAft>
                <a:spcPct val="0"/>
              </a:spcAft>
              <a:defRPr lang="en-US" sz="3200" kern="1200">
                <a:solidFill>
                  <a:srgbClr val="004C69"/>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a:lstStyle>
          <a:p>
            <a:r>
              <a:rPr lang="en-US" sz="1600" dirty="0"/>
              <a:t>Topologies</a:t>
            </a:r>
            <a:br>
              <a:rPr lang="en-US" dirty="0"/>
            </a:br>
            <a:r>
              <a:rPr lang="en-US" sz="2400" dirty="0"/>
              <a:t>Half and Full Duplex Communication</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a:r>
              <a:rPr lang="en-US" sz="1600" b="1" dirty="0">
                <a:solidFill>
                  <a:srgbClr val="000000"/>
                </a:solidFill>
              </a:rPr>
              <a:t>Half-duplex communication</a:t>
            </a:r>
          </a:p>
          <a:p>
            <a:pPr marL="415985" lvl="1" indent="-342900">
              <a:buFont typeface="Arial" panose="020B0604020202020204" pitchFamily="34" charset="0"/>
              <a:buChar char="•"/>
            </a:pPr>
            <a:r>
              <a:rPr lang="en-US" sz="1600" dirty="0">
                <a:solidFill>
                  <a:srgbClr val="000000"/>
                </a:solidFill>
              </a:rPr>
              <a:t>Only allows one device to send or receive at a time on a shared medium.</a:t>
            </a:r>
          </a:p>
          <a:p>
            <a:pPr marL="415985" lvl="1" indent="-342900">
              <a:buFont typeface="Arial" panose="020B0604020202020204" pitchFamily="34" charset="0"/>
              <a:buChar char="•"/>
            </a:pPr>
            <a:r>
              <a:rPr lang="en-US" sz="1600" dirty="0">
                <a:solidFill>
                  <a:srgbClr val="000000"/>
                </a:solidFill>
              </a:rPr>
              <a:t>Used on WLANs and legacy bus topologies with Ethernet hubs.</a:t>
            </a:r>
          </a:p>
          <a:p>
            <a:pPr marL="0" indent="0" algn="l"/>
            <a:endParaRPr lang="en-US" sz="1600" b="1" dirty="0">
              <a:solidFill>
                <a:srgbClr val="000000"/>
              </a:solidFill>
            </a:endParaRPr>
          </a:p>
          <a:p>
            <a:pPr marL="0" indent="0" algn="l"/>
            <a:r>
              <a:rPr lang="en-US" sz="1600" b="1" dirty="0">
                <a:solidFill>
                  <a:srgbClr val="000000"/>
                </a:solidFill>
              </a:rPr>
              <a:t>Full-duplex communication</a:t>
            </a:r>
          </a:p>
          <a:p>
            <a:pPr marL="415985" lvl="1" indent="-342900">
              <a:buFont typeface="Arial" panose="020B0604020202020204" pitchFamily="34" charset="0"/>
              <a:buChar char="•"/>
            </a:pPr>
            <a:r>
              <a:rPr lang="en-US" sz="1600" dirty="0">
                <a:solidFill>
                  <a:srgbClr val="000000"/>
                </a:solidFill>
              </a:rPr>
              <a:t>Allows both devices to simultaneously transmit and receive on a shared medium.</a:t>
            </a:r>
          </a:p>
          <a:p>
            <a:pPr marL="415985" lvl="1" indent="-342900">
              <a:buFont typeface="Arial" panose="020B0604020202020204" pitchFamily="34" charset="0"/>
              <a:buChar char="•"/>
            </a:pPr>
            <a:r>
              <a:rPr lang="en-US" sz="1600" dirty="0">
                <a:solidFill>
                  <a:srgbClr val="000000"/>
                </a:solidFill>
              </a:rPr>
              <a:t>Ethernet switches operate in full-duplex mode.</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535034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B8166C4A-518E-4846-A274-363AAE5FF01D}"/>
              </a:ext>
            </a:extLst>
          </p:cNvPr>
          <p:cNvSpPr txBox="1">
            <a:spLocks/>
          </p:cNvSpPr>
          <p:nvPr/>
        </p:nvSpPr>
        <p:spPr bwMode="auto">
          <a:xfrm>
            <a:off x="0" y="0"/>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lvl1pPr algn="l" defTabSz="684213" rtl="0" eaLnBrk="1" fontAlgn="base" hangingPunct="1">
              <a:lnSpc>
                <a:spcPct val="80000"/>
              </a:lnSpc>
              <a:spcBef>
                <a:spcPct val="0"/>
              </a:spcBef>
              <a:spcAft>
                <a:spcPct val="0"/>
              </a:spcAft>
              <a:defRPr lang="en-US" sz="3200" kern="1200">
                <a:solidFill>
                  <a:srgbClr val="004C69"/>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a:lstStyle>
          <a:p>
            <a:r>
              <a:rPr lang="en-US" sz="1600" dirty="0"/>
              <a:t>Topologies</a:t>
            </a:r>
            <a:br>
              <a:rPr lang="en-US" dirty="0"/>
            </a:br>
            <a:r>
              <a:rPr lang="en-US" sz="2400" dirty="0"/>
              <a:t>Access Control Methods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a:r>
              <a:rPr lang="en-US" sz="1600" b="1" dirty="0">
                <a:solidFill>
                  <a:srgbClr val="000000"/>
                </a:solidFill>
              </a:rPr>
              <a:t>Contention-based access</a:t>
            </a:r>
          </a:p>
          <a:p>
            <a:pPr marL="73085" lvl="1" indent="0">
              <a:buNone/>
            </a:pPr>
            <a:r>
              <a:rPr lang="en-US" sz="1600" dirty="0">
                <a:solidFill>
                  <a:srgbClr val="000000"/>
                </a:solidFill>
              </a:rPr>
              <a:t>All nodes operating in half-duplex, competing for use of the medium. Examples are:</a:t>
            </a:r>
          </a:p>
          <a:p>
            <a:pPr marL="489010" lvl="2" indent="-342900">
              <a:buFont typeface="Arial" panose="020B0604020202020204" pitchFamily="34" charset="0"/>
              <a:buChar char="•"/>
            </a:pPr>
            <a:r>
              <a:rPr lang="en-US" sz="1600" dirty="0">
                <a:solidFill>
                  <a:srgbClr val="000000"/>
                </a:solidFill>
              </a:rPr>
              <a:t>Carrier sense multiple access with collision detection (CSMA/CD) as used on legacy bus-topology Ethernet.</a:t>
            </a:r>
          </a:p>
          <a:p>
            <a:pPr marL="489010" lvl="2" indent="-342900">
              <a:buFont typeface="Arial" panose="020B0604020202020204" pitchFamily="34" charset="0"/>
              <a:buChar char="•"/>
            </a:pPr>
            <a:r>
              <a:rPr lang="en-US" sz="1600" dirty="0">
                <a:solidFill>
                  <a:srgbClr val="000000"/>
                </a:solidFill>
              </a:rPr>
              <a:t>Carrier sense multiple access with collision avoidance (CSMA/CA) as used on Wireless LANs.</a:t>
            </a:r>
          </a:p>
          <a:p>
            <a:pPr marL="146110" lvl="2" indent="0">
              <a:buNone/>
            </a:pPr>
            <a:endParaRPr lang="en-US" sz="1600" dirty="0">
              <a:solidFill>
                <a:srgbClr val="000000"/>
              </a:solidFill>
            </a:endParaRPr>
          </a:p>
          <a:p>
            <a:pPr marL="0" indent="0" algn="l"/>
            <a:r>
              <a:rPr lang="en-US" sz="1600" b="1" dirty="0">
                <a:solidFill>
                  <a:srgbClr val="000000"/>
                </a:solidFill>
              </a:rPr>
              <a:t>Controlled access</a:t>
            </a:r>
          </a:p>
          <a:p>
            <a:pPr marL="415985" lvl="1" indent="-342900">
              <a:buFont typeface="Arial" panose="020B0604020202020204" pitchFamily="34" charset="0"/>
              <a:buChar char="•"/>
            </a:pPr>
            <a:r>
              <a:rPr lang="en-US" sz="1600" dirty="0">
                <a:solidFill>
                  <a:srgbClr val="000000"/>
                </a:solidFill>
              </a:rPr>
              <a:t>Deterministic access where each node has its own time on the medium.</a:t>
            </a:r>
          </a:p>
          <a:p>
            <a:pPr marL="415985" lvl="1" indent="-342900">
              <a:buFont typeface="Arial" panose="020B0604020202020204" pitchFamily="34" charset="0"/>
              <a:buChar char="•"/>
            </a:pPr>
            <a:r>
              <a:rPr lang="en-US" sz="1600" dirty="0">
                <a:solidFill>
                  <a:srgbClr val="000000"/>
                </a:solidFill>
              </a:rPr>
              <a:t>Used on legacy networks such as Token Ring and ARCNET.</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59956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B8166C4A-518E-4846-A274-363AAE5FF01D}"/>
              </a:ext>
            </a:extLst>
          </p:cNvPr>
          <p:cNvSpPr txBox="1">
            <a:spLocks/>
          </p:cNvSpPr>
          <p:nvPr/>
        </p:nvSpPr>
        <p:spPr bwMode="auto">
          <a:xfrm>
            <a:off x="0" y="0"/>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lvl1pPr algn="l" defTabSz="684213" rtl="0" eaLnBrk="1" fontAlgn="base" hangingPunct="1">
              <a:lnSpc>
                <a:spcPct val="80000"/>
              </a:lnSpc>
              <a:spcBef>
                <a:spcPct val="0"/>
              </a:spcBef>
              <a:spcAft>
                <a:spcPct val="0"/>
              </a:spcAft>
              <a:defRPr lang="en-US" sz="3200" kern="1200">
                <a:solidFill>
                  <a:srgbClr val="004C69"/>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a:lstStyle>
          <a:p>
            <a:r>
              <a:rPr lang="en-US" sz="1600" dirty="0"/>
              <a:t>Topologies</a:t>
            </a:r>
            <a:br>
              <a:rPr lang="en-US" dirty="0"/>
            </a:br>
            <a:r>
              <a:rPr lang="en-US" sz="2400" dirty="0"/>
              <a:t>Contention-Based Access – CSMA/CD</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49"/>
            <a:ext cx="8280400" cy="3393731"/>
          </a:xfrm>
        </p:spPr>
        <p:txBody>
          <a:bodyPr/>
          <a:lstStyle/>
          <a:p>
            <a:pPr marL="0" indent="0" algn="l"/>
            <a:r>
              <a:rPr lang="en-US" sz="1600" b="1" dirty="0">
                <a:solidFill>
                  <a:srgbClr val="000000"/>
                </a:solidFill>
              </a:rPr>
              <a:t>CSMA/CD</a:t>
            </a:r>
          </a:p>
          <a:p>
            <a:pPr marL="415985" lvl="1" indent="-342900">
              <a:buFont typeface="Arial" panose="020B0604020202020204" pitchFamily="34" charset="0"/>
              <a:buChar char="•"/>
            </a:pPr>
            <a:r>
              <a:rPr lang="en-US" sz="1600" dirty="0">
                <a:solidFill>
                  <a:srgbClr val="000000"/>
                </a:solidFill>
              </a:rPr>
              <a:t>Used by legacy Ethernet LANs.</a:t>
            </a:r>
          </a:p>
          <a:p>
            <a:pPr marL="415985" lvl="1" indent="-342900">
              <a:buFont typeface="Arial" panose="020B0604020202020204" pitchFamily="34" charset="0"/>
              <a:buChar char="•"/>
            </a:pPr>
            <a:r>
              <a:rPr lang="en-US" sz="1600" dirty="0">
                <a:solidFill>
                  <a:srgbClr val="000000"/>
                </a:solidFill>
              </a:rPr>
              <a:t>Operates in half-duplex mode where only one device sends or receives at a time.</a:t>
            </a:r>
          </a:p>
          <a:p>
            <a:pPr marL="415985" lvl="1" indent="-342900">
              <a:buFont typeface="Arial" panose="020B0604020202020204" pitchFamily="34" charset="0"/>
              <a:buChar char="•"/>
            </a:pPr>
            <a:r>
              <a:rPr lang="en-US" sz="1600" dirty="0">
                <a:solidFill>
                  <a:srgbClr val="000000"/>
                </a:solidFill>
              </a:rPr>
              <a:t>Uses a collision detection process to govern when a device can send and what happens if multiple devices send at the same time.</a:t>
            </a:r>
          </a:p>
          <a:p>
            <a:pPr marL="73085" lvl="1" indent="0">
              <a:buNone/>
            </a:pPr>
            <a:endParaRPr lang="en-US" sz="1600" dirty="0">
              <a:solidFill>
                <a:srgbClr val="000000"/>
              </a:solidFill>
            </a:endParaRPr>
          </a:p>
          <a:p>
            <a:pPr marL="73085" lvl="1" indent="0">
              <a:buNone/>
            </a:pPr>
            <a:r>
              <a:rPr lang="en-US" sz="1600" b="1" dirty="0">
                <a:solidFill>
                  <a:srgbClr val="000000"/>
                </a:solidFill>
              </a:rPr>
              <a:t>CSMA/CD collision detection process</a:t>
            </a:r>
            <a:r>
              <a:rPr lang="en-US" sz="1600" dirty="0">
                <a:solidFill>
                  <a:srgbClr val="000000"/>
                </a:solidFill>
              </a:rPr>
              <a:t>:</a:t>
            </a:r>
          </a:p>
          <a:p>
            <a:pPr marL="489010" lvl="2" indent="-342900">
              <a:buFont typeface="Arial" panose="020B0604020202020204" pitchFamily="34" charset="0"/>
              <a:buChar char="•"/>
            </a:pPr>
            <a:r>
              <a:rPr lang="en-US" sz="1600" dirty="0">
                <a:solidFill>
                  <a:srgbClr val="000000"/>
                </a:solidFill>
              </a:rPr>
              <a:t>Devices transmitting simultaneously will result in a signal collision on the shared media.</a:t>
            </a:r>
          </a:p>
          <a:p>
            <a:pPr marL="489010" lvl="2" indent="-342900">
              <a:buFont typeface="Arial" panose="020B0604020202020204" pitchFamily="34" charset="0"/>
              <a:buChar char="•"/>
            </a:pPr>
            <a:r>
              <a:rPr lang="en-US" sz="1600" dirty="0">
                <a:solidFill>
                  <a:srgbClr val="000000"/>
                </a:solidFill>
              </a:rPr>
              <a:t>Devices detect the collision.</a:t>
            </a:r>
          </a:p>
          <a:p>
            <a:pPr marL="489010" lvl="2" indent="-342900">
              <a:buFont typeface="Arial" panose="020B0604020202020204" pitchFamily="34" charset="0"/>
              <a:buChar char="•"/>
            </a:pPr>
            <a:r>
              <a:rPr lang="en-US" sz="1600" dirty="0">
                <a:solidFill>
                  <a:srgbClr val="000000"/>
                </a:solidFill>
              </a:rPr>
              <a:t>Devices wait a random period of time and retransmit data.</a:t>
            </a:r>
          </a:p>
          <a:p>
            <a:pPr marL="146110" lvl="2" indent="0">
              <a:buNone/>
            </a:pPr>
            <a:endParaRPr lang="en-US" dirty="0">
              <a:solidFill>
                <a:srgbClr val="000000"/>
              </a:solidFill>
            </a:endParaRPr>
          </a:p>
          <a:p>
            <a:pPr marL="0" indent="0" algn="l"/>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0590200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B8166C4A-518E-4846-A274-363AAE5FF01D}"/>
              </a:ext>
            </a:extLst>
          </p:cNvPr>
          <p:cNvSpPr txBox="1">
            <a:spLocks/>
          </p:cNvSpPr>
          <p:nvPr/>
        </p:nvSpPr>
        <p:spPr bwMode="auto">
          <a:xfrm>
            <a:off x="0" y="0"/>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lvl1pPr algn="l" defTabSz="684213" rtl="0" eaLnBrk="1" fontAlgn="base" hangingPunct="1">
              <a:lnSpc>
                <a:spcPct val="80000"/>
              </a:lnSpc>
              <a:spcBef>
                <a:spcPct val="0"/>
              </a:spcBef>
              <a:spcAft>
                <a:spcPct val="0"/>
              </a:spcAft>
              <a:defRPr lang="en-US" sz="3200" kern="1200">
                <a:solidFill>
                  <a:srgbClr val="004C69"/>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a:lstStyle>
          <a:p>
            <a:r>
              <a:rPr lang="en-US" sz="1600" dirty="0"/>
              <a:t>Topologies</a:t>
            </a:r>
            <a:br>
              <a:rPr lang="en-US" dirty="0"/>
            </a:br>
            <a:r>
              <a:rPr lang="en-US" sz="2400" dirty="0"/>
              <a:t>Contention-Based Access – CSMA/CA</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a:r>
              <a:rPr lang="en-US" sz="1600" b="1" dirty="0">
                <a:solidFill>
                  <a:srgbClr val="000000"/>
                </a:solidFill>
              </a:rPr>
              <a:t>CSMA/CA</a:t>
            </a:r>
          </a:p>
          <a:p>
            <a:pPr marL="415985" lvl="1" indent="-342900">
              <a:buFont typeface="Arial" panose="020B0604020202020204" pitchFamily="34" charset="0"/>
              <a:buChar char="•"/>
            </a:pPr>
            <a:r>
              <a:rPr lang="en-US" sz="1600" dirty="0">
                <a:solidFill>
                  <a:srgbClr val="000000"/>
                </a:solidFill>
              </a:rPr>
              <a:t>Used by IEEE 802.11 WLANs.</a:t>
            </a:r>
          </a:p>
          <a:p>
            <a:pPr marL="415985" lvl="1" indent="-342900">
              <a:buFont typeface="Arial" panose="020B0604020202020204" pitchFamily="34" charset="0"/>
              <a:buChar char="•"/>
            </a:pPr>
            <a:r>
              <a:rPr lang="en-US" sz="1600" dirty="0">
                <a:solidFill>
                  <a:srgbClr val="000000"/>
                </a:solidFill>
              </a:rPr>
              <a:t>Operates in half-duplex mode where only one device sends or receives at a time.</a:t>
            </a:r>
          </a:p>
          <a:p>
            <a:pPr marL="415985" lvl="1" indent="-342900">
              <a:buFont typeface="Arial" panose="020B0604020202020204" pitchFamily="34" charset="0"/>
              <a:buChar char="•"/>
            </a:pPr>
            <a:r>
              <a:rPr lang="en-US" sz="1600" dirty="0">
                <a:solidFill>
                  <a:srgbClr val="000000"/>
                </a:solidFill>
              </a:rPr>
              <a:t>Uses a collision avoidance process to govern when a device can send and what happens if multiple devices send at the same time.</a:t>
            </a:r>
          </a:p>
          <a:p>
            <a:pPr marL="73085" lvl="1" indent="0">
              <a:buNone/>
            </a:pPr>
            <a:endParaRPr lang="en-US" sz="1600" dirty="0">
              <a:solidFill>
                <a:srgbClr val="000000"/>
              </a:solidFill>
            </a:endParaRPr>
          </a:p>
          <a:p>
            <a:pPr marL="0" lvl="1" indent="0" defTabSz="457105" fontAlgn="auto">
              <a:lnSpc>
                <a:spcPct val="100000"/>
              </a:lnSpc>
              <a:spcBef>
                <a:spcPct val="20000"/>
              </a:spcBef>
              <a:spcAft>
                <a:spcPts val="0"/>
              </a:spcAft>
              <a:buClrTx/>
              <a:buNone/>
            </a:pPr>
            <a:r>
              <a:rPr lang="en-US" sz="1600" b="1" dirty="0">
                <a:solidFill>
                  <a:srgbClr val="000000"/>
                </a:solidFill>
              </a:rPr>
              <a:t>CSMA/CA collision avoidance process</a:t>
            </a:r>
            <a:r>
              <a:rPr lang="en-US" sz="1600" dirty="0">
                <a:solidFill>
                  <a:srgbClr val="000000"/>
                </a:solidFill>
              </a:rPr>
              <a:t>:</a:t>
            </a:r>
          </a:p>
          <a:p>
            <a:pPr marL="415985" lvl="1" indent="-342900">
              <a:buFont typeface="Arial" panose="020B0604020202020204" pitchFamily="34" charset="0"/>
              <a:buChar char="•"/>
            </a:pPr>
            <a:r>
              <a:rPr lang="en-US" sz="1600" dirty="0">
                <a:solidFill>
                  <a:srgbClr val="000000"/>
                </a:solidFill>
              </a:rPr>
              <a:t>When transmitting, devices also </a:t>
            </a:r>
            <a:r>
              <a:rPr lang="en-US" sz="1600" b="1" dirty="0">
                <a:solidFill>
                  <a:srgbClr val="000000"/>
                </a:solidFill>
              </a:rPr>
              <a:t>include the time duration </a:t>
            </a:r>
            <a:r>
              <a:rPr lang="en-US" sz="1600" dirty="0">
                <a:solidFill>
                  <a:srgbClr val="000000"/>
                </a:solidFill>
              </a:rPr>
              <a:t>needed for the transmission.</a:t>
            </a:r>
          </a:p>
          <a:p>
            <a:pPr marL="415985" lvl="1" indent="-342900">
              <a:buFont typeface="Arial" panose="020B0604020202020204" pitchFamily="34" charset="0"/>
              <a:buChar char="•"/>
            </a:pPr>
            <a:r>
              <a:rPr lang="en-US" sz="1600" dirty="0">
                <a:solidFill>
                  <a:srgbClr val="000000"/>
                </a:solidFill>
              </a:rPr>
              <a:t>Other devices on the shared medium receive the time duration information and know how long the medium will be unavailable.</a:t>
            </a:r>
          </a:p>
          <a:p>
            <a:pPr marL="489010" lvl="2" indent="-342900">
              <a:buFont typeface="Arial" panose="020B0604020202020204" pitchFamily="34" charset="0"/>
              <a:buChar char="•"/>
            </a:pPr>
            <a:endParaRPr lang="en-US" dirty="0">
              <a:solidFill>
                <a:srgbClr val="000000"/>
              </a:solidFill>
            </a:endParaRPr>
          </a:p>
          <a:p>
            <a:pPr marL="0" indent="0" algn="l"/>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594353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6.3 Data Link Frame</a:t>
            </a:r>
          </a:p>
        </p:txBody>
      </p:sp>
    </p:spTree>
    <p:custDataLst>
      <p:tags r:id="rId1"/>
    </p:custDataLst>
    <p:extLst>
      <p:ext uri="{BB962C8B-B14F-4D97-AF65-F5344CB8AC3E}">
        <p14:creationId xmlns:p14="http://schemas.microsoft.com/office/powerpoint/2010/main" val="473391011"/>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Link Frame</a:t>
            </a:r>
            <a:br>
              <a:rPr lang="en-US" dirty="0"/>
            </a:br>
            <a:r>
              <a:rPr lang="en-US" sz="2400" dirty="0"/>
              <a:t>The Frame</a:t>
            </a:r>
          </a:p>
        </p:txBody>
      </p:sp>
      <p:sp>
        <p:nvSpPr>
          <p:cNvPr id="5" name="Content Placeholder 4">
            <a:extLst>
              <a:ext uri="{FF2B5EF4-FFF2-40B4-BE49-F238E27FC236}">
                <a16:creationId xmlns:a16="http://schemas.microsoft.com/office/drawing/2014/main" id="{CC4F0493-B526-DE4A-B220-F79C82C4F124}"/>
              </a:ext>
            </a:extLst>
          </p:cNvPr>
          <p:cNvSpPr>
            <a:spLocks noGrp="1"/>
          </p:cNvSpPr>
          <p:nvPr>
            <p:ph idx="1"/>
          </p:nvPr>
        </p:nvSpPr>
        <p:spPr>
          <a:xfrm>
            <a:off x="431971" y="902311"/>
            <a:ext cx="8280057" cy="3505566"/>
          </a:xfrm>
        </p:spPr>
        <p:txBody>
          <a:bodyPr/>
          <a:lstStyle/>
          <a:p>
            <a:pPr marL="0" indent="0" algn="l"/>
            <a:r>
              <a:rPr lang="en-US" sz="1600" dirty="0">
                <a:solidFill>
                  <a:srgbClr val="000000"/>
                </a:solidFill>
              </a:rPr>
              <a:t>Data is encapsulated by the data link layer with a header and a trailer to form a frame.</a:t>
            </a:r>
          </a:p>
          <a:p>
            <a:pPr marL="0" indent="0" algn="l"/>
            <a:r>
              <a:rPr lang="en-US" sz="1600" dirty="0">
                <a:solidFill>
                  <a:srgbClr val="000000"/>
                </a:solidFill>
              </a:rPr>
              <a:t>A data link frame has three parts:</a:t>
            </a:r>
          </a:p>
          <a:p>
            <a:pPr marL="415985" lvl="1" indent="-342900">
              <a:buFont typeface="Arial" panose="020B0604020202020204" pitchFamily="34" charset="0"/>
              <a:buChar char="•"/>
            </a:pPr>
            <a:r>
              <a:rPr lang="en-US" sz="1600" dirty="0">
                <a:solidFill>
                  <a:srgbClr val="000000"/>
                </a:solidFill>
              </a:rPr>
              <a:t>Header</a:t>
            </a:r>
          </a:p>
          <a:p>
            <a:pPr marL="415985" lvl="1" indent="-342900">
              <a:buFont typeface="Arial" panose="020B0604020202020204" pitchFamily="34" charset="0"/>
              <a:buChar char="•"/>
            </a:pPr>
            <a:r>
              <a:rPr lang="en-US" sz="1600" dirty="0">
                <a:solidFill>
                  <a:srgbClr val="000000"/>
                </a:solidFill>
              </a:rPr>
              <a:t>Data</a:t>
            </a:r>
          </a:p>
          <a:p>
            <a:pPr marL="415985" lvl="1" indent="-342900">
              <a:buFont typeface="Arial" panose="020B0604020202020204" pitchFamily="34" charset="0"/>
              <a:buChar char="•"/>
            </a:pPr>
            <a:r>
              <a:rPr lang="en-US" sz="1600" dirty="0">
                <a:solidFill>
                  <a:srgbClr val="000000"/>
                </a:solidFill>
              </a:rPr>
              <a:t>Trailer</a:t>
            </a:r>
          </a:p>
          <a:p>
            <a:pPr marL="0" lvl="1" indent="0" defTabSz="457105" fontAlgn="auto">
              <a:lnSpc>
                <a:spcPct val="100000"/>
              </a:lnSpc>
              <a:spcBef>
                <a:spcPct val="20000"/>
              </a:spcBef>
              <a:spcAft>
                <a:spcPts val="0"/>
              </a:spcAft>
              <a:buClrTx/>
              <a:buNone/>
            </a:pPr>
            <a:r>
              <a:rPr lang="en-US" sz="1600" dirty="0">
                <a:solidFill>
                  <a:srgbClr val="000000"/>
                </a:solidFill>
              </a:rPr>
              <a:t>The fields of the header and trailer vary according to data link layer protocol.</a:t>
            </a:r>
          </a:p>
          <a:p>
            <a:pPr marL="0" lvl="1" indent="0" defTabSz="457105" fontAlgn="auto">
              <a:lnSpc>
                <a:spcPct val="100000"/>
              </a:lnSpc>
              <a:spcBef>
                <a:spcPct val="20000"/>
              </a:spcBef>
              <a:spcAft>
                <a:spcPts val="0"/>
              </a:spcAft>
              <a:buClrTx/>
              <a:buNone/>
            </a:pPr>
            <a:endParaRPr lang="en-US" sz="1600" dirty="0">
              <a:solidFill>
                <a:srgbClr val="000000"/>
              </a:solidFill>
            </a:endParaRPr>
          </a:p>
          <a:p>
            <a:pPr marL="0" lvl="1" indent="0" defTabSz="457105" fontAlgn="auto">
              <a:lnSpc>
                <a:spcPct val="100000"/>
              </a:lnSpc>
              <a:spcBef>
                <a:spcPct val="20000"/>
              </a:spcBef>
              <a:spcAft>
                <a:spcPts val="0"/>
              </a:spcAft>
              <a:buClrTx/>
              <a:buNone/>
            </a:pPr>
            <a:r>
              <a:rPr lang="en-US" sz="1600" dirty="0">
                <a:solidFill>
                  <a:srgbClr val="000000"/>
                </a:solidFill>
              </a:rPr>
              <a:t>The amount of control information carried with in the frame varies according to access control information and logical topology.</a:t>
            </a:r>
          </a:p>
        </p:txBody>
      </p:sp>
    </p:spTree>
    <p:extLst>
      <p:ext uri="{BB962C8B-B14F-4D97-AF65-F5344CB8AC3E}">
        <p14:creationId xmlns:p14="http://schemas.microsoft.com/office/powerpoint/2010/main" val="394579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Link Frame</a:t>
            </a:r>
            <a:br>
              <a:rPr lang="en-US" dirty="0"/>
            </a:br>
            <a:r>
              <a:rPr lang="en-US" sz="2400" dirty="0"/>
              <a:t>Frame Fields</a:t>
            </a:r>
          </a:p>
        </p:txBody>
      </p:sp>
      <p:graphicFrame>
        <p:nvGraphicFramePr>
          <p:cNvPr id="6" name="Content Placeholder 6">
            <a:extLst>
              <a:ext uri="{FF2B5EF4-FFF2-40B4-BE49-F238E27FC236}">
                <a16:creationId xmlns:a16="http://schemas.microsoft.com/office/drawing/2014/main" id="{D7B87715-3E1C-4D1E-9428-D7A3628B1901}"/>
              </a:ext>
            </a:extLst>
          </p:cNvPr>
          <p:cNvGraphicFramePr>
            <a:graphicFrameLocks/>
          </p:cNvGraphicFramePr>
          <p:nvPr>
            <p:extLst>
              <p:ext uri="{D42A27DB-BD31-4B8C-83A1-F6EECF244321}">
                <p14:modId xmlns:p14="http://schemas.microsoft.com/office/powerpoint/2010/main" val="700472035"/>
              </p:ext>
            </p:extLst>
          </p:nvPr>
        </p:nvGraphicFramePr>
        <p:xfrm>
          <a:off x="474662" y="2749860"/>
          <a:ext cx="8237366" cy="1828491"/>
        </p:xfrm>
        <a:graphic>
          <a:graphicData uri="http://schemas.openxmlformats.org/drawingml/2006/table">
            <a:tbl>
              <a:tblPr firstRow="1" bandRow="1">
                <a:tableStyleId>{5C22544A-7EE6-4342-B048-85BDC9FD1C3A}</a:tableStyleId>
              </a:tblPr>
              <a:tblGrid>
                <a:gridCol w="2501847">
                  <a:extLst>
                    <a:ext uri="{9D8B030D-6E8A-4147-A177-3AD203B41FA5}">
                      <a16:colId xmlns:a16="http://schemas.microsoft.com/office/drawing/2014/main" val="3729139006"/>
                    </a:ext>
                  </a:extLst>
                </a:gridCol>
                <a:gridCol w="5735519">
                  <a:extLst>
                    <a:ext uri="{9D8B030D-6E8A-4147-A177-3AD203B41FA5}">
                      <a16:colId xmlns:a16="http://schemas.microsoft.com/office/drawing/2014/main" val="1988913492"/>
                    </a:ext>
                  </a:extLst>
                </a:gridCol>
              </a:tblGrid>
              <a:tr h="0">
                <a:tc>
                  <a:txBody>
                    <a:bodyPr/>
                    <a:lstStyle/>
                    <a:p>
                      <a:r>
                        <a:rPr lang="en-US" sz="1100" dirty="0"/>
                        <a:t>Field</a:t>
                      </a:r>
                    </a:p>
                  </a:txBody>
                  <a:tcPr/>
                </a:tc>
                <a:tc>
                  <a:txBody>
                    <a:bodyPr/>
                    <a:lstStyle/>
                    <a:p>
                      <a:r>
                        <a:rPr lang="en-US" sz="1100" dirty="0"/>
                        <a:t>Description</a:t>
                      </a:r>
                    </a:p>
                  </a:txBody>
                  <a:tcPr/>
                </a:tc>
                <a:extLst>
                  <a:ext uri="{0D108BD9-81ED-4DB2-BD59-A6C34878D82A}">
                    <a16:rowId xmlns:a16="http://schemas.microsoft.com/office/drawing/2014/main" val="2583676789"/>
                  </a:ext>
                </a:extLst>
              </a:tr>
              <a:tr h="0">
                <a:tc>
                  <a:txBody>
                    <a:bodyPr/>
                    <a:lstStyle/>
                    <a:p>
                      <a:r>
                        <a:rPr lang="en-US" sz="1100" dirty="0">
                          <a:solidFill>
                            <a:srgbClr val="000000"/>
                          </a:solidFill>
                        </a:rPr>
                        <a:t>Frame Start and Stop</a:t>
                      </a:r>
                    </a:p>
                  </a:txBody>
                  <a:tcPr/>
                </a:tc>
                <a:tc>
                  <a:txBody>
                    <a:bodyPr/>
                    <a:lstStyle/>
                    <a:p>
                      <a:r>
                        <a:rPr lang="en-US" sz="1100" dirty="0">
                          <a:solidFill>
                            <a:srgbClr val="000000"/>
                          </a:solidFill>
                        </a:rPr>
                        <a:t>Identifies beginning and end of frame</a:t>
                      </a:r>
                    </a:p>
                  </a:txBody>
                  <a:tcPr/>
                </a:tc>
                <a:extLst>
                  <a:ext uri="{0D108BD9-81ED-4DB2-BD59-A6C34878D82A}">
                    <a16:rowId xmlns:a16="http://schemas.microsoft.com/office/drawing/2014/main" val="3849654457"/>
                  </a:ext>
                </a:extLst>
              </a:tr>
              <a:tr h="170900">
                <a:tc>
                  <a:txBody>
                    <a:bodyPr/>
                    <a:lstStyle/>
                    <a:p>
                      <a:r>
                        <a:rPr lang="en-US" sz="1100" dirty="0">
                          <a:solidFill>
                            <a:srgbClr val="000000"/>
                          </a:solidFill>
                        </a:rPr>
                        <a:t>Addressing</a:t>
                      </a:r>
                    </a:p>
                  </a:txBody>
                  <a:tcPr/>
                </a:tc>
                <a:tc>
                  <a:txBody>
                    <a:bodyPr/>
                    <a:lstStyle/>
                    <a:p>
                      <a:r>
                        <a:rPr lang="en-US" sz="1100" dirty="0">
                          <a:solidFill>
                            <a:srgbClr val="000000"/>
                          </a:solidFill>
                        </a:rPr>
                        <a:t>Indicates source and destination nodes</a:t>
                      </a:r>
                    </a:p>
                  </a:txBody>
                  <a:tcPr/>
                </a:tc>
                <a:extLst>
                  <a:ext uri="{0D108BD9-81ED-4DB2-BD59-A6C34878D82A}">
                    <a16:rowId xmlns:a16="http://schemas.microsoft.com/office/drawing/2014/main" val="235735172"/>
                  </a:ext>
                </a:extLst>
              </a:tr>
              <a:tr h="201380">
                <a:tc>
                  <a:txBody>
                    <a:bodyPr/>
                    <a:lstStyle/>
                    <a:p>
                      <a:r>
                        <a:rPr lang="en-US" sz="1100" dirty="0">
                          <a:solidFill>
                            <a:srgbClr val="000000"/>
                          </a:solidFill>
                        </a:rPr>
                        <a:t>Type</a:t>
                      </a:r>
                    </a:p>
                  </a:txBody>
                  <a:tcPr/>
                </a:tc>
                <a:tc>
                  <a:txBody>
                    <a:bodyPr/>
                    <a:lstStyle/>
                    <a:p>
                      <a:r>
                        <a:rPr lang="en-US" sz="1100" dirty="0">
                          <a:solidFill>
                            <a:srgbClr val="000000"/>
                          </a:solidFill>
                        </a:rPr>
                        <a:t>Identifies encapsulated Layer 3 protocol</a:t>
                      </a:r>
                    </a:p>
                  </a:txBody>
                  <a:tcPr/>
                </a:tc>
                <a:extLst>
                  <a:ext uri="{0D108BD9-81ED-4DB2-BD59-A6C34878D82A}">
                    <a16:rowId xmlns:a16="http://schemas.microsoft.com/office/drawing/2014/main" val="354468046"/>
                  </a:ext>
                </a:extLst>
              </a:tr>
              <a:tr h="174195">
                <a:tc>
                  <a:txBody>
                    <a:bodyPr/>
                    <a:lstStyle/>
                    <a:p>
                      <a:r>
                        <a:rPr lang="en-US" sz="1100" dirty="0">
                          <a:solidFill>
                            <a:srgbClr val="000000"/>
                          </a:solidFill>
                        </a:rPr>
                        <a:t>Control</a:t>
                      </a:r>
                    </a:p>
                  </a:txBody>
                  <a:tcPr/>
                </a:tc>
                <a:tc>
                  <a:txBody>
                    <a:bodyPr/>
                    <a:lstStyle/>
                    <a:p>
                      <a:r>
                        <a:rPr lang="en-US" sz="1100" dirty="0">
                          <a:solidFill>
                            <a:srgbClr val="000000"/>
                          </a:solidFill>
                        </a:rPr>
                        <a:t>Identifies flow control services </a:t>
                      </a:r>
                    </a:p>
                  </a:txBody>
                  <a:tcPr/>
                </a:tc>
                <a:extLst>
                  <a:ext uri="{0D108BD9-81ED-4DB2-BD59-A6C34878D82A}">
                    <a16:rowId xmlns:a16="http://schemas.microsoft.com/office/drawing/2014/main" val="1458107787"/>
                  </a:ext>
                </a:extLst>
              </a:tr>
              <a:tr h="274011">
                <a:tc>
                  <a:txBody>
                    <a:bodyPr/>
                    <a:lstStyle/>
                    <a:p>
                      <a:r>
                        <a:rPr lang="en-US" sz="1100" dirty="0">
                          <a:solidFill>
                            <a:srgbClr val="000000"/>
                          </a:solidFill>
                        </a:rPr>
                        <a:t>Data</a:t>
                      </a:r>
                    </a:p>
                  </a:txBody>
                  <a:tcPr/>
                </a:tc>
                <a:tc>
                  <a:txBody>
                    <a:bodyPr/>
                    <a:lstStyle/>
                    <a:p>
                      <a:r>
                        <a:rPr lang="en-US" sz="1100" dirty="0">
                          <a:solidFill>
                            <a:srgbClr val="000000"/>
                          </a:solidFill>
                        </a:rPr>
                        <a:t>Contains the frame payload</a:t>
                      </a:r>
                    </a:p>
                  </a:txBody>
                  <a:tcPr/>
                </a:tc>
                <a:extLst>
                  <a:ext uri="{0D108BD9-81ED-4DB2-BD59-A6C34878D82A}">
                    <a16:rowId xmlns:a16="http://schemas.microsoft.com/office/drawing/2014/main" val="2495454272"/>
                  </a:ext>
                </a:extLst>
              </a:tr>
              <a:tr h="185728">
                <a:tc>
                  <a:txBody>
                    <a:bodyPr/>
                    <a:lstStyle/>
                    <a:p>
                      <a:r>
                        <a:rPr lang="en-US" sz="1100" dirty="0">
                          <a:solidFill>
                            <a:srgbClr val="000000"/>
                          </a:solidFill>
                        </a:rPr>
                        <a:t>Error Detection</a:t>
                      </a:r>
                    </a:p>
                  </a:txBody>
                  <a:tcPr/>
                </a:tc>
                <a:tc>
                  <a:txBody>
                    <a:bodyPr/>
                    <a:lstStyle/>
                    <a:p>
                      <a:r>
                        <a:rPr lang="en-US" sz="1100" dirty="0">
                          <a:solidFill>
                            <a:srgbClr val="000000"/>
                          </a:solidFill>
                        </a:rPr>
                        <a:t>Used for determine transmission errors</a:t>
                      </a:r>
                    </a:p>
                  </a:txBody>
                  <a:tcPr/>
                </a:tc>
                <a:extLst>
                  <a:ext uri="{0D108BD9-81ED-4DB2-BD59-A6C34878D82A}">
                    <a16:rowId xmlns:a16="http://schemas.microsoft.com/office/drawing/2014/main" val="256317317"/>
                  </a:ext>
                </a:extLst>
              </a:tr>
            </a:tbl>
          </a:graphicData>
        </a:graphic>
      </p:graphicFrame>
      <p:pic>
        <p:nvPicPr>
          <p:cNvPr id="5" name="Picture 4">
            <a:extLst>
              <a:ext uri="{FF2B5EF4-FFF2-40B4-BE49-F238E27FC236}">
                <a16:creationId xmlns:a16="http://schemas.microsoft.com/office/drawing/2014/main" id="{698841DA-AE58-B547-A619-19487295985D}"/>
              </a:ext>
            </a:extLst>
          </p:cNvPr>
          <p:cNvPicPr>
            <a:picLocks noChangeAspect="1"/>
          </p:cNvPicPr>
          <p:nvPr/>
        </p:nvPicPr>
        <p:blipFill>
          <a:blip r:embed="rId3"/>
          <a:stretch>
            <a:fillRect/>
          </a:stretch>
        </p:blipFill>
        <p:spPr>
          <a:xfrm>
            <a:off x="1621925" y="565149"/>
            <a:ext cx="5524833" cy="2012184"/>
          </a:xfrm>
          <a:prstGeom prst="rect">
            <a:avLst/>
          </a:prstGeom>
        </p:spPr>
      </p:pic>
    </p:spTree>
    <p:extLst>
      <p:ext uri="{BB962C8B-B14F-4D97-AF65-F5344CB8AC3E}">
        <p14:creationId xmlns:p14="http://schemas.microsoft.com/office/powerpoint/2010/main" val="179417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Link Frame</a:t>
            </a:r>
            <a:br>
              <a:rPr lang="en-US" dirty="0"/>
            </a:br>
            <a:r>
              <a:rPr lang="en-US" sz="2400" dirty="0"/>
              <a:t>Layer 2 Addresses</a:t>
            </a:r>
          </a:p>
        </p:txBody>
      </p:sp>
      <p:sp>
        <p:nvSpPr>
          <p:cNvPr id="5" name="Content Placeholder 4">
            <a:extLst>
              <a:ext uri="{FF2B5EF4-FFF2-40B4-BE49-F238E27FC236}">
                <a16:creationId xmlns:a16="http://schemas.microsoft.com/office/drawing/2014/main" id="{CC4F0493-B526-DE4A-B220-F79C82C4F124}"/>
              </a:ext>
            </a:extLst>
          </p:cNvPr>
          <p:cNvSpPr>
            <a:spLocks noGrp="1"/>
          </p:cNvSpPr>
          <p:nvPr>
            <p:ph idx="1"/>
          </p:nvPr>
        </p:nvSpPr>
        <p:spPr>
          <a:xfrm>
            <a:off x="431971" y="902311"/>
            <a:ext cx="8280057" cy="1247000"/>
          </a:xfrm>
        </p:spPr>
        <p:txBody>
          <a:bodyPr/>
          <a:lstStyle/>
          <a:p>
            <a:pPr marL="342900" indent="-342900" algn="l">
              <a:buFont typeface="Arial" panose="020B0604020202020204" pitchFamily="34" charset="0"/>
              <a:buChar char="•"/>
            </a:pPr>
            <a:r>
              <a:rPr lang="en-US" sz="1600" dirty="0">
                <a:solidFill>
                  <a:srgbClr val="000000"/>
                </a:solidFill>
              </a:rPr>
              <a:t>Also referred to as a physical address.</a:t>
            </a:r>
          </a:p>
          <a:p>
            <a:pPr marL="342900" indent="-342900" algn="l">
              <a:buFont typeface="Arial" panose="020B0604020202020204" pitchFamily="34" charset="0"/>
              <a:buChar char="•"/>
            </a:pPr>
            <a:r>
              <a:rPr lang="en-US" sz="1600" dirty="0">
                <a:solidFill>
                  <a:srgbClr val="000000"/>
                </a:solidFill>
              </a:rPr>
              <a:t>Contained in the frame header.</a:t>
            </a:r>
          </a:p>
          <a:p>
            <a:pPr marL="342900" indent="-342900" algn="l">
              <a:buFont typeface="Arial" panose="020B0604020202020204" pitchFamily="34" charset="0"/>
              <a:buChar char="•"/>
            </a:pPr>
            <a:r>
              <a:rPr lang="en-US" sz="1600" dirty="0">
                <a:solidFill>
                  <a:srgbClr val="000000"/>
                </a:solidFill>
              </a:rPr>
              <a:t>Used only for local delivery of a frame on the link.</a:t>
            </a:r>
          </a:p>
          <a:p>
            <a:pPr marL="342900" indent="-342900" algn="l">
              <a:buFont typeface="Arial" panose="020B0604020202020204" pitchFamily="34" charset="0"/>
              <a:buChar char="•"/>
            </a:pPr>
            <a:r>
              <a:rPr lang="en-US" sz="1600" dirty="0">
                <a:solidFill>
                  <a:srgbClr val="000000"/>
                </a:solidFill>
              </a:rPr>
              <a:t>Updated by each device that forwards the frame.</a:t>
            </a:r>
          </a:p>
          <a:p>
            <a:pPr marL="342900" indent="-342900" algn="l">
              <a:buFont typeface="Arial" panose="020B0604020202020204" pitchFamily="34" charset="0"/>
              <a:buChar char="•"/>
            </a:pPr>
            <a:endParaRPr lang="en-US" sz="1600" dirty="0">
              <a:solidFill>
                <a:srgbClr val="000000"/>
              </a:solidFill>
            </a:endParaRPr>
          </a:p>
        </p:txBody>
      </p:sp>
      <p:pic>
        <p:nvPicPr>
          <p:cNvPr id="4" name="Picture 3">
            <a:extLst>
              <a:ext uri="{FF2B5EF4-FFF2-40B4-BE49-F238E27FC236}">
                <a16:creationId xmlns:a16="http://schemas.microsoft.com/office/drawing/2014/main" id="{04C11CB4-FB7A-A44D-8693-5CADB4E74147}"/>
              </a:ext>
            </a:extLst>
          </p:cNvPr>
          <p:cNvPicPr>
            <a:picLocks noChangeAspect="1"/>
          </p:cNvPicPr>
          <p:nvPr/>
        </p:nvPicPr>
        <p:blipFill>
          <a:blip r:embed="rId3"/>
          <a:stretch>
            <a:fillRect/>
          </a:stretch>
        </p:blipFill>
        <p:spPr>
          <a:xfrm>
            <a:off x="2182644" y="2149311"/>
            <a:ext cx="4778709" cy="2296455"/>
          </a:xfrm>
          <a:prstGeom prst="rect">
            <a:avLst/>
          </a:prstGeom>
        </p:spPr>
      </p:pic>
    </p:spTree>
    <p:extLst>
      <p:ext uri="{BB962C8B-B14F-4D97-AF65-F5344CB8AC3E}">
        <p14:creationId xmlns:p14="http://schemas.microsoft.com/office/powerpoint/2010/main" val="2758091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Data Link Frame</a:t>
            </a:r>
            <a:br>
              <a:rPr lang="en-US" dirty="0"/>
            </a:br>
            <a:r>
              <a:rPr lang="en-US" sz="2400" dirty="0"/>
              <a:t>LAN and WAN Frames</a:t>
            </a:r>
          </a:p>
        </p:txBody>
      </p:sp>
      <p:sp>
        <p:nvSpPr>
          <p:cNvPr id="5" name="Content Placeholder 4">
            <a:extLst>
              <a:ext uri="{FF2B5EF4-FFF2-40B4-BE49-F238E27FC236}">
                <a16:creationId xmlns:a16="http://schemas.microsoft.com/office/drawing/2014/main" id="{CC4F0493-B526-DE4A-B220-F79C82C4F124}"/>
              </a:ext>
            </a:extLst>
          </p:cNvPr>
          <p:cNvSpPr>
            <a:spLocks noGrp="1"/>
          </p:cNvSpPr>
          <p:nvPr>
            <p:ph idx="1"/>
          </p:nvPr>
        </p:nvSpPr>
        <p:spPr>
          <a:xfrm>
            <a:off x="431971" y="902311"/>
            <a:ext cx="8280057" cy="3505566"/>
          </a:xfrm>
        </p:spPr>
        <p:txBody>
          <a:bodyPr/>
          <a:lstStyle/>
          <a:p>
            <a:pPr marL="0" indent="0" algn="l"/>
            <a:r>
              <a:rPr lang="en-US" dirty="0">
                <a:solidFill>
                  <a:srgbClr val="000000"/>
                </a:solidFill>
              </a:rPr>
              <a:t>The logical topology and physical media determine the data link protocol used:</a:t>
            </a:r>
          </a:p>
          <a:p>
            <a:pPr marL="415985" lvl="1" indent="-342900">
              <a:buFont typeface="Arial" panose="020B0604020202020204" pitchFamily="34" charset="0"/>
              <a:buChar char="•"/>
            </a:pPr>
            <a:r>
              <a:rPr lang="en-US" sz="1600" dirty="0">
                <a:solidFill>
                  <a:srgbClr val="000000"/>
                </a:solidFill>
              </a:rPr>
              <a:t>Ethernet</a:t>
            </a:r>
          </a:p>
          <a:p>
            <a:pPr marL="415985" lvl="1" indent="-342900">
              <a:buFont typeface="Arial" panose="020B0604020202020204" pitchFamily="34" charset="0"/>
              <a:buChar char="•"/>
            </a:pPr>
            <a:r>
              <a:rPr lang="en-US" sz="1600" dirty="0">
                <a:solidFill>
                  <a:srgbClr val="000000"/>
                </a:solidFill>
              </a:rPr>
              <a:t>802.11 Wireless</a:t>
            </a:r>
          </a:p>
          <a:p>
            <a:pPr marL="415985" lvl="1" indent="-342900">
              <a:buFont typeface="Arial" panose="020B0604020202020204" pitchFamily="34" charset="0"/>
              <a:buChar char="•"/>
            </a:pPr>
            <a:r>
              <a:rPr lang="en-US" sz="1600" dirty="0">
                <a:solidFill>
                  <a:srgbClr val="000000"/>
                </a:solidFill>
              </a:rPr>
              <a:t>Point-to-Point (PPP)</a:t>
            </a:r>
          </a:p>
          <a:p>
            <a:pPr marL="415985" lvl="1" indent="-342900">
              <a:buFont typeface="Arial" panose="020B0604020202020204" pitchFamily="34" charset="0"/>
              <a:buChar char="•"/>
            </a:pPr>
            <a:r>
              <a:rPr lang="en-US" sz="1600" dirty="0">
                <a:solidFill>
                  <a:srgbClr val="000000"/>
                </a:solidFill>
              </a:rPr>
              <a:t>High-Level Data Link Control (HDLC)</a:t>
            </a:r>
          </a:p>
          <a:p>
            <a:pPr marL="415985" lvl="1" indent="-342900">
              <a:buFont typeface="Arial" panose="020B0604020202020204" pitchFamily="34" charset="0"/>
              <a:buChar char="•"/>
            </a:pPr>
            <a:r>
              <a:rPr lang="en-US" sz="1600" dirty="0">
                <a:solidFill>
                  <a:srgbClr val="000000"/>
                </a:solidFill>
              </a:rPr>
              <a:t>Frame-Relay</a:t>
            </a:r>
          </a:p>
          <a:p>
            <a:pPr marL="0" indent="0" algn="l"/>
            <a:endParaRPr lang="en-US" dirty="0">
              <a:solidFill>
                <a:srgbClr val="000000"/>
              </a:solidFill>
            </a:endParaRPr>
          </a:p>
          <a:p>
            <a:pPr marL="0" indent="0" algn="l"/>
            <a:r>
              <a:rPr lang="en-US" dirty="0">
                <a:solidFill>
                  <a:srgbClr val="000000"/>
                </a:solidFill>
              </a:rPr>
              <a:t>Each protocol performs media access control for specified logical topologies.</a:t>
            </a:r>
          </a:p>
          <a:p>
            <a:pPr marL="0" indent="0" algn="l"/>
            <a:endParaRPr lang="en-US" dirty="0">
              <a:solidFill>
                <a:srgbClr val="000000"/>
              </a:solidFill>
            </a:endParaRPr>
          </a:p>
          <a:p>
            <a:pPr marL="0" indent="0" algn="l"/>
            <a:endParaRPr lang="en-US"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0434342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469497" y="3809526"/>
            <a:ext cx="2368954" cy="902174"/>
          </a:xfrm>
        </p:spPr>
        <p:txBody>
          <a:bodyPr/>
          <a:lstStyle/>
          <a:p>
            <a:r>
              <a:rPr lang="en-US" dirty="0">
                <a:solidFill>
                  <a:schemeClr val="accent5">
                    <a:lumMod val="40000"/>
                    <a:lumOff val="60000"/>
                  </a:schemeClr>
                </a:solidFill>
              </a:rPr>
              <a:t>Introduction to Networks v7.0 (ITN)</a:t>
            </a:r>
          </a:p>
          <a:p>
            <a:endParaRPr lang="en-US" dirty="0"/>
          </a:p>
        </p:txBody>
      </p:sp>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7: Ethernet Switching</a:t>
            </a:r>
          </a:p>
        </p:txBody>
      </p:sp>
    </p:spTree>
    <p:custDataLst>
      <p:tags r:id="rId1"/>
    </p:custDataLst>
    <p:extLst>
      <p:ext uri="{BB962C8B-B14F-4D97-AF65-F5344CB8AC3E}">
        <p14:creationId xmlns:p14="http://schemas.microsoft.com/office/powerpoint/2010/main" val="4248406921"/>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7.1 Ethernet Frames</a:t>
            </a:r>
          </a:p>
        </p:txBody>
      </p:sp>
    </p:spTree>
    <p:custDataLst>
      <p:tags r:id="rId1"/>
    </p:custDataLst>
    <p:extLst>
      <p:ext uri="{BB962C8B-B14F-4D97-AF65-F5344CB8AC3E}">
        <p14:creationId xmlns:p14="http://schemas.microsoft.com/office/powerpoint/2010/main" val="2294941180"/>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Ethernet Frames</a:t>
            </a:r>
            <a:br>
              <a:rPr lang="en-US" dirty="0"/>
            </a:br>
            <a:r>
              <a:rPr lang="en-US" sz="2400" dirty="0"/>
              <a:t>Ethernet Encapsulation</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474662" y="731837"/>
            <a:ext cx="3364449" cy="3689897"/>
          </a:xfrm>
        </p:spPr>
        <p:txBody>
          <a:bodyPr/>
          <a:lstStyle/>
          <a:p>
            <a:pPr marL="342900" indent="-342900" algn="l">
              <a:buFont typeface="Arial" panose="020B0604020202020204" pitchFamily="34" charset="0"/>
              <a:buChar char="•"/>
            </a:pPr>
            <a:r>
              <a:rPr lang="en-US" dirty="0">
                <a:solidFill>
                  <a:srgbClr val="000000"/>
                </a:solidFill>
              </a:rPr>
              <a:t>Ethernet operates in the data link layer and the physical layer.</a:t>
            </a:r>
          </a:p>
          <a:p>
            <a:pPr marL="342900" indent="-342900" algn="l">
              <a:buFont typeface="Arial" panose="020B0604020202020204" pitchFamily="34" charset="0"/>
              <a:buChar char="•"/>
            </a:pPr>
            <a:r>
              <a:rPr lang="en-US" dirty="0">
                <a:solidFill>
                  <a:srgbClr val="000000"/>
                </a:solidFill>
              </a:rPr>
              <a:t>It is a family of networking technologies defined in the IEEE 802.2 and 802.3 standards.</a:t>
            </a:r>
          </a:p>
        </p:txBody>
      </p:sp>
      <p:pic>
        <p:nvPicPr>
          <p:cNvPr id="4" name="Picture 3">
            <a:extLst>
              <a:ext uri="{FF2B5EF4-FFF2-40B4-BE49-F238E27FC236}">
                <a16:creationId xmlns:a16="http://schemas.microsoft.com/office/drawing/2014/main" id="{0D9ED349-78FE-6946-8E1B-0C6059771B2C}"/>
              </a:ext>
            </a:extLst>
          </p:cNvPr>
          <p:cNvPicPr>
            <a:picLocks noChangeAspect="1"/>
          </p:cNvPicPr>
          <p:nvPr/>
        </p:nvPicPr>
        <p:blipFill>
          <a:blip r:embed="rId3"/>
          <a:stretch>
            <a:fillRect/>
          </a:stretch>
        </p:blipFill>
        <p:spPr>
          <a:xfrm>
            <a:off x="3944473" y="731837"/>
            <a:ext cx="4734478" cy="3463645"/>
          </a:xfrm>
          <a:prstGeom prst="rect">
            <a:avLst/>
          </a:prstGeom>
        </p:spPr>
      </p:pic>
    </p:spTree>
    <p:extLst>
      <p:ext uri="{BB962C8B-B14F-4D97-AF65-F5344CB8AC3E}">
        <p14:creationId xmlns:p14="http://schemas.microsoft.com/office/powerpoint/2010/main" val="878001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Ethernet Frames</a:t>
            </a:r>
            <a:br>
              <a:rPr lang="en-US" dirty="0"/>
            </a:br>
            <a:r>
              <a:rPr lang="en-US" sz="2400" dirty="0"/>
              <a:t>Data Link Sublayers</a:t>
            </a:r>
          </a:p>
        </p:txBody>
      </p:sp>
      <p:sp>
        <p:nvSpPr>
          <p:cNvPr id="5" name="TextBox 4">
            <a:extLst>
              <a:ext uri="{FF2B5EF4-FFF2-40B4-BE49-F238E27FC236}">
                <a16:creationId xmlns:a16="http://schemas.microsoft.com/office/drawing/2014/main" id="{7D6FED96-F5B8-9740-B01D-C6CD3F14A641}"/>
              </a:ext>
            </a:extLst>
          </p:cNvPr>
          <p:cNvSpPr txBox="1"/>
          <p:nvPr/>
        </p:nvSpPr>
        <p:spPr>
          <a:xfrm>
            <a:off x="340658" y="770964"/>
            <a:ext cx="4973079" cy="2646878"/>
          </a:xfrm>
          <a:prstGeom prst="rect">
            <a:avLst/>
          </a:prstGeom>
          <a:noFill/>
        </p:spPr>
        <p:txBody>
          <a:bodyPr wrap="square" rtlCol="0">
            <a:spAutoFit/>
          </a:bodyPr>
          <a:lstStyle/>
          <a:p>
            <a:r>
              <a:rPr lang="en-US" dirty="0">
                <a:solidFill>
                  <a:srgbClr val="000000"/>
                </a:solidFill>
              </a:rPr>
              <a:t>The 802 LAN/MAN standards, including Ethernet, use two separate sublayers of the data link layer to operate:</a:t>
            </a:r>
          </a:p>
          <a:p>
            <a:pPr marL="285750" indent="-285750">
              <a:buFont typeface="Arial" panose="020B0604020202020204" pitchFamily="34" charset="0"/>
              <a:buChar char="•"/>
            </a:pPr>
            <a:r>
              <a:rPr lang="en-US" sz="1600" b="1" dirty="0">
                <a:solidFill>
                  <a:srgbClr val="000000"/>
                </a:solidFill>
              </a:rPr>
              <a:t>LLC Sublayer</a:t>
            </a:r>
            <a:r>
              <a:rPr lang="en-US" sz="1600" dirty="0">
                <a:solidFill>
                  <a:srgbClr val="000000"/>
                </a:solidFill>
              </a:rPr>
              <a:t>: (IEEE 802.2) Places information in the frame to identify which network layer protocol is used for the frame.</a:t>
            </a:r>
          </a:p>
          <a:p>
            <a:pPr marL="285750" indent="-285750">
              <a:buFont typeface="Arial" panose="020B0604020202020204" pitchFamily="34" charset="0"/>
              <a:buChar char="•"/>
            </a:pPr>
            <a:r>
              <a:rPr lang="en-US" sz="1600" b="1" dirty="0">
                <a:solidFill>
                  <a:srgbClr val="000000"/>
                </a:solidFill>
              </a:rPr>
              <a:t>MAC Sublayer</a:t>
            </a:r>
            <a:r>
              <a:rPr lang="en-US" sz="1600" dirty="0">
                <a:solidFill>
                  <a:srgbClr val="000000"/>
                </a:solidFill>
              </a:rPr>
              <a:t>: (IEEE 802.3, 802.11, or 802.15) Responsible for data encapsulation and media access control, and provides data link layer addressing.</a:t>
            </a:r>
          </a:p>
        </p:txBody>
      </p:sp>
      <p:pic>
        <p:nvPicPr>
          <p:cNvPr id="4" name="Content Placeholder 3">
            <a:extLst>
              <a:ext uri="{FF2B5EF4-FFF2-40B4-BE49-F238E27FC236}">
                <a16:creationId xmlns:a16="http://schemas.microsoft.com/office/drawing/2014/main" id="{6676CA92-276E-A349-B5F5-87C0459C4C86}"/>
              </a:ext>
            </a:extLst>
          </p:cNvPr>
          <p:cNvPicPr>
            <a:picLocks noGrp="1" noChangeAspect="1"/>
          </p:cNvPicPr>
          <p:nvPr>
            <p:ph idx="1"/>
          </p:nvPr>
        </p:nvPicPr>
        <p:blipFill>
          <a:blip r:embed="rId3"/>
          <a:stretch>
            <a:fillRect/>
          </a:stretch>
        </p:blipFill>
        <p:spPr>
          <a:xfrm>
            <a:off x="5313737" y="1061103"/>
            <a:ext cx="3248735" cy="2628247"/>
          </a:xfrm>
        </p:spPr>
      </p:pic>
    </p:spTree>
    <p:extLst>
      <p:ext uri="{BB962C8B-B14F-4D97-AF65-F5344CB8AC3E}">
        <p14:creationId xmlns:p14="http://schemas.microsoft.com/office/powerpoint/2010/main" val="8756306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Ethernet Frames</a:t>
            </a:r>
            <a:br>
              <a:rPr lang="en-US" dirty="0"/>
            </a:br>
            <a:r>
              <a:rPr lang="en-US" sz="2400" dirty="0"/>
              <a:t>MAC Sublayer</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224405" y="731837"/>
            <a:ext cx="8280057" cy="3689897"/>
          </a:xfrm>
        </p:spPr>
        <p:txBody>
          <a:bodyPr/>
          <a:lstStyle/>
          <a:p>
            <a:pPr algn="l"/>
            <a:r>
              <a:rPr lang="en-US" sz="1600" dirty="0">
                <a:solidFill>
                  <a:srgbClr val="000000"/>
                </a:solidFill>
              </a:rPr>
              <a:t>The MAC sublayer is responsible for data encapsulation and accessing the media.</a:t>
            </a:r>
          </a:p>
          <a:p>
            <a:pPr algn="l"/>
            <a:endParaRPr lang="en-US" sz="1600" b="1" dirty="0">
              <a:solidFill>
                <a:srgbClr val="000000"/>
              </a:solidFill>
            </a:endParaRPr>
          </a:p>
          <a:p>
            <a:pPr algn="l"/>
            <a:r>
              <a:rPr lang="en-US" sz="1600" b="1" dirty="0">
                <a:solidFill>
                  <a:srgbClr val="000000"/>
                </a:solidFill>
              </a:rPr>
              <a:t>Data Encapsulation</a:t>
            </a:r>
          </a:p>
          <a:p>
            <a:pPr algn="l"/>
            <a:r>
              <a:rPr lang="en-US" sz="1600" dirty="0">
                <a:solidFill>
                  <a:srgbClr val="000000"/>
                </a:solidFill>
              </a:rPr>
              <a:t>IEEE 802.3 data encapsulation includes the following:</a:t>
            </a:r>
          </a:p>
          <a:p>
            <a:pPr marL="457200" indent="-457200" algn="l">
              <a:buFont typeface="+mj-lt"/>
              <a:buAutoNum type="arabicPeriod"/>
            </a:pPr>
            <a:r>
              <a:rPr lang="en-US" sz="1400" b="1" dirty="0">
                <a:solidFill>
                  <a:srgbClr val="000000"/>
                </a:solidFill>
              </a:rPr>
              <a:t>Ethernet frame</a:t>
            </a:r>
            <a:r>
              <a:rPr lang="en-US" sz="1400" dirty="0">
                <a:solidFill>
                  <a:srgbClr val="000000"/>
                </a:solidFill>
              </a:rPr>
              <a:t> - This is the internal structure of the Ethernet frame.</a:t>
            </a:r>
          </a:p>
          <a:p>
            <a:pPr marL="457200" indent="-457200" algn="l">
              <a:buFont typeface="+mj-lt"/>
              <a:buAutoNum type="arabicPeriod"/>
            </a:pPr>
            <a:r>
              <a:rPr lang="en-US" sz="1400" b="1" dirty="0">
                <a:solidFill>
                  <a:srgbClr val="000000"/>
                </a:solidFill>
              </a:rPr>
              <a:t>Ethernet Addressing</a:t>
            </a:r>
            <a:r>
              <a:rPr lang="en-US" sz="1400" dirty="0">
                <a:solidFill>
                  <a:srgbClr val="000000"/>
                </a:solidFill>
              </a:rPr>
              <a:t> - The Ethernet frame includes both a source and destination MAC address to deliver the Ethernet frame from Ethernet NIC to Ethernet NIC on the same LAN.</a:t>
            </a:r>
          </a:p>
          <a:p>
            <a:pPr marL="457200" indent="-457200" algn="l">
              <a:buFont typeface="+mj-lt"/>
              <a:buAutoNum type="arabicPeriod"/>
            </a:pPr>
            <a:r>
              <a:rPr lang="en-US" sz="1400" b="1" dirty="0">
                <a:solidFill>
                  <a:srgbClr val="000000"/>
                </a:solidFill>
              </a:rPr>
              <a:t>Ethernet Error detection</a:t>
            </a:r>
            <a:r>
              <a:rPr lang="en-US" sz="1400" dirty="0">
                <a:solidFill>
                  <a:srgbClr val="000000"/>
                </a:solidFill>
              </a:rPr>
              <a:t> - The Ethernet frame includes a frame check sequence (FCS) trailer used for error detection.</a:t>
            </a:r>
          </a:p>
          <a:p>
            <a:pPr algn="l"/>
            <a:endParaRPr lang="en-US" dirty="0">
              <a:solidFill>
                <a:srgbClr val="000000"/>
              </a:solidFill>
            </a:endParaRPr>
          </a:p>
        </p:txBody>
      </p:sp>
    </p:spTree>
    <p:extLst>
      <p:ext uri="{BB962C8B-B14F-4D97-AF65-F5344CB8AC3E}">
        <p14:creationId xmlns:p14="http://schemas.microsoft.com/office/powerpoint/2010/main" val="3855208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Ethernet Frames</a:t>
            </a:r>
            <a:br>
              <a:rPr lang="en-US" dirty="0"/>
            </a:br>
            <a:r>
              <a:rPr lang="en-US" sz="2400" dirty="0"/>
              <a:t>MAC Sublayer</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219076" y="731837"/>
            <a:ext cx="4620554" cy="3689897"/>
          </a:xfrm>
        </p:spPr>
        <p:txBody>
          <a:bodyPr/>
          <a:lstStyle/>
          <a:p>
            <a:pPr marL="0" indent="0" algn="l"/>
            <a:r>
              <a:rPr lang="en-US" sz="1400" b="1" dirty="0">
                <a:solidFill>
                  <a:srgbClr val="000000"/>
                </a:solidFill>
              </a:rPr>
              <a:t>Media Access</a:t>
            </a:r>
          </a:p>
          <a:p>
            <a:pPr marL="285750" indent="-285750" algn="l">
              <a:buFont typeface="Arial" panose="020B0604020202020204" pitchFamily="34" charset="0"/>
              <a:buChar char="•"/>
            </a:pPr>
            <a:r>
              <a:rPr lang="en-US" sz="1600" dirty="0">
                <a:solidFill>
                  <a:srgbClr val="000000"/>
                </a:solidFill>
              </a:rPr>
              <a:t>The IEEE 802.3 MAC sublayer includes the specifications for different Ethernet communications standards over various types of media including copper and fiber.</a:t>
            </a:r>
          </a:p>
          <a:p>
            <a:pPr marL="285750" indent="-285750" algn="l">
              <a:buFont typeface="Arial" panose="020B0604020202020204" pitchFamily="34" charset="0"/>
              <a:buChar char="•"/>
            </a:pPr>
            <a:r>
              <a:rPr lang="en-US" sz="1600" dirty="0">
                <a:solidFill>
                  <a:srgbClr val="000000"/>
                </a:solidFill>
              </a:rPr>
              <a:t>Legacy Ethernet using a bus topology or hubs, is a shared, half-duplex medium. Ethernet over a half-duplex medium uses a contention-based access method, carrier sense multiple access/collision detection (CSMA/CD). </a:t>
            </a:r>
          </a:p>
          <a:p>
            <a:pPr marL="285750" indent="-285750" algn="l">
              <a:buFont typeface="Arial" panose="020B0604020202020204" pitchFamily="34" charset="0"/>
              <a:buChar char="•"/>
            </a:pPr>
            <a:r>
              <a:rPr lang="en-US" sz="1600" dirty="0">
                <a:solidFill>
                  <a:srgbClr val="000000"/>
                </a:solidFill>
              </a:rPr>
              <a:t>Ethernet LANs of today use switches that operate in full-duplex. Full-duplex communications with Ethernet switches do not require access control through CSMA/CD.</a:t>
            </a:r>
          </a:p>
        </p:txBody>
      </p:sp>
      <p:pic>
        <p:nvPicPr>
          <p:cNvPr id="4" name="Picture 3">
            <a:extLst>
              <a:ext uri="{FF2B5EF4-FFF2-40B4-BE49-F238E27FC236}">
                <a16:creationId xmlns:a16="http://schemas.microsoft.com/office/drawing/2014/main" id="{6A9979E0-78FF-C747-A412-797510E5D7C2}"/>
              </a:ext>
            </a:extLst>
          </p:cNvPr>
          <p:cNvPicPr>
            <a:picLocks noChangeAspect="1"/>
          </p:cNvPicPr>
          <p:nvPr/>
        </p:nvPicPr>
        <p:blipFill>
          <a:blip r:embed="rId3"/>
          <a:stretch>
            <a:fillRect/>
          </a:stretch>
        </p:blipFill>
        <p:spPr>
          <a:xfrm>
            <a:off x="5034187" y="1354757"/>
            <a:ext cx="3635151" cy="2209490"/>
          </a:xfrm>
          <a:prstGeom prst="rect">
            <a:avLst/>
          </a:prstGeom>
        </p:spPr>
      </p:pic>
    </p:spTree>
    <p:extLst>
      <p:ext uri="{BB962C8B-B14F-4D97-AF65-F5344CB8AC3E}">
        <p14:creationId xmlns:p14="http://schemas.microsoft.com/office/powerpoint/2010/main" val="7918662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Ethernet Frames</a:t>
            </a:r>
            <a:br>
              <a:rPr lang="en-US" dirty="0"/>
            </a:br>
            <a:r>
              <a:rPr lang="en-US" sz="2400" dirty="0"/>
              <a:t>Ethernet Frame Fields</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123826" y="731837"/>
            <a:ext cx="8630894" cy="2411413"/>
          </a:xfrm>
        </p:spPr>
        <p:txBody>
          <a:bodyPr/>
          <a:lstStyle/>
          <a:p>
            <a:pPr marL="342900" indent="-342900" algn="l">
              <a:buFont typeface="Arial" panose="020B0604020202020204" pitchFamily="34" charset="0"/>
              <a:buChar char="•"/>
            </a:pPr>
            <a:r>
              <a:rPr lang="en-US" sz="1600" dirty="0">
                <a:solidFill>
                  <a:srgbClr val="000000"/>
                </a:solidFill>
              </a:rPr>
              <a:t>The minimum Ethernet frame size is 64 bytes and the maximum is 1518 bytes. The preamble field is not included when describing the size of the frame.</a:t>
            </a:r>
          </a:p>
          <a:p>
            <a:pPr marL="342900" indent="-342900" algn="l">
              <a:buFont typeface="Arial" panose="020B0604020202020204" pitchFamily="34" charset="0"/>
              <a:buChar char="•"/>
            </a:pPr>
            <a:r>
              <a:rPr lang="en-US" sz="1600" dirty="0">
                <a:solidFill>
                  <a:srgbClr val="000000"/>
                </a:solidFill>
              </a:rPr>
              <a:t>Any frame less than 64 bytes in length is considered a “collision fragment” or “runt frame” and is automatically discarded. Frames with more than 1500 bytes of data are considered “jumbo” or “baby giant frames”.</a:t>
            </a:r>
          </a:p>
          <a:p>
            <a:pPr marL="342900" indent="-342900" algn="l">
              <a:buFont typeface="Arial" panose="020B0604020202020204" pitchFamily="34" charset="0"/>
              <a:buChar char="•"/>
            </a:pPr>
            <a:r>
              <a:rPr lang="en-US" sz="1600" dirty="0">
                <a:solidFill>
                  <a:srgbClr val="000000"/>
                </a:solidFill>
              </a:rPr>
              <a:t>If the size of a transmitted frame is less than the minimum, or greater than the maximum, the receiving device drops the frame. Dropped frames are likely to be the result of collisions or other unwanted signals. They are considered invalid. Jumbo frames are usually supported by most Fast Ethernet and Gigabit Ethernet switches and NICs.</a:t>
            </a:r>
          </a:p>
          <a:p>
            <a:pPr marL="342900" indent="-342900" algn="l">
              <a:buFont typeface="Arial" panose="020B0604020202020204" pitchFamily="34" charset="0"/>
              <a:buChar char="•"/>
            </a:pPr>
            <a:endParaRPr lang="en-US" sz="1400" dirty="0">
              <a:solidFill>
                <a:srgbClr val="000000"/>
              </a:solidFill>
            </a:endParaRPr>
          </a:p>
        </p:txBody>
      </p:sp>
      <p:pic>
        <p:nvPicPr>
          <p:cNvPr id="4" name="Picture 3">
            <a:extLst>
              <a:ext uri="{FF2B5EF4-FFF2-40B4-BE49-F238E27FC236}">
                <a16:creationId xmlns:a16="http://schemas.microsoft.com/office/drawing/2014/main" id="{48E17D93-6D91-9A41-B7B0-366DE18C84BA}"/>
              </a:ext>
            </a:extLst>
          </p:cNvPr>
          <p:cNvPicPr>
            <a:picLocks noChangeAspect="1"/>
          </p:cNvPicPr>
          <p:nvPr/>
        </p:nvPicPr>
        <p:blipFill>
          <a:blip r:embed="rId3"/>
          <a:stretch>
            <a:fillRect/>
          </a:stretch>
        </p:blipFill>
        <p:spPr>
          <a:xfrm>
            <a:off x="1711635" y="3162300"/>
            <a:ext cx="5720730" cy="1713542"/>
          </a:xfrm>
          <a:prstGeom prst="rect">
            <a:avLst/>
          </a:prstGeom>
        </p:spPr>
      </p:pic>
      <p:sp>
        <p:nvSpPr>
          <p:cNvPr id="2" name="BlokTextu 1">
            <a:extLst>
              <a:ext uri="{FF2B5EF4-FFF2-40B4-BE49-F238E27FC236}">
                <a16:creationId xmlns:a16="http://schemas.microsoft.com/office/drawing/2014/main" id="{B77C7752-7BB4-4404-9D79-06443176782F}"/>
              </a:ext>
            </a:extLst>
          </p:cNvPr>
          <p:cNvSpPr txBox="1"/>
          <p:nvPr/>
        </p:nvSpPr>
        <p:spPr>
          <a:xfrm>
            <a:off x="5542841" y="3438902"/>
            <a:ext cx="1001276" cy="246221"/>
          </a:xfrm>
          <a:prstGeom prst="rect">
            <a:avLst/>
          </a:prstGeom>
          <a:solidFill>
            <a:schemeClr val="bg1"/>
          </a:solidFill>
        </p:spPr>
        <p:txBody>
          <a:bodyPr wrap="square" rtlCol="0">
            <a:spAutoFit/>
          </a:bodyPr>
          <a:lstStyle/>
          <a:p>
            <a:r>
              <a:rPr lang="sk-SK" sz="1000" dirty="0"/>
              <a:t>46-1500 </a:t>
            </a:r>
            <a:r>
              <a:rPr lang="sk-SK" sz="1000" dirty="0" err="1"/>
              <a:t>bytes</a:t>
            </a:r>
            <a:endParaRPr lang="sk-SK" sz="1000" dirty="0"/>
          </a:p>
        </p:txBody>
      </p:sp>
      <p:sp>
        <p:nvSpPr>
          <p:cNvPr id="6" name="BlokTextu 5">
            <a:extLst>
              <a:ext uri="{FF2B5EF4-FFF2-40B4-BE49-F238E27FC236}">
                <a16:creationId xmlns:a16="http://schemas.microsoft.com/office/drawing/2014/main" id="{F0946AA3-7FD9-4645-9392-5369842C2B0A}"/>
              </a:ext>
            </a:extLst>
          </p:cNvPr>
          <p:cNvSpPr txBox="1"/>
          <p:nvPr/>
        </p:nvSpPr>
        <p:spPr>
          <a:xfrm>
            <a:off x="7432365" y="3980776"/>
            <a:ext cx="1001276" cy="861774"/>
          </a:xfrm>
          <a:prstGeom prst="rect">
            <a:avLst/>
          </a:prstGeom>
          <a:solidFill>
            <a:schemeClr val="bg2">
              <a:lumMod val="50000"/>
            </a:schemeClr>
          </a:solidFill>
        </p:spPr>
        <p:txBody>
          <a:bodyPr wrap="square" rtlCol="0">
            <a:spAutoFit/>
          </a:bodyPr>
          <a:lstStyle/>
          <a:p>
            <a:r>
              <a:rPr lang="sk-SK" sz="1000" dirty="0">
                <a:solidFill>
                  <a:schemeClr val="bg1"/>
                </a:solidFill>
              </a:rPr>
              <a:t>12 </a:t>
            </a:r>
            <a:r>
              <a:rPr lang="sk-SK" sz="1000" dirty="0" err="1">
                <a:solidFill>
                  <a:schemeClr val="bg1"/>
                </a:solidFill>
              </a:rPr>
              <a:t>bytes</a:t>
            </a:r>
            <a:endParaRPr lang="sk-SK" sz="1000" dirty="0">
              <a:solidFill>
                <a:schemeClr val="bg1"/>
              </a:solidFill>
            </a:endParaRPr>
          </a:p>
          <a:p>
            <a:endParaRPr lang="sk-SK" sz="1000" dirty="0">
              <a:solidFill>
                <a:schemeClr val="bg1"/>
              </a:solidFill>
            </a:endParaRPr>
          </a:p>
          <a:p>
            <a:endParaRPr lang="sk-SK" sz="1000" dirty="0">
              <a:solidFill>
                <a:schemeClr val="bg1"/>
              </a:solidFill>
            </a:endParaRPr>
          </a:p>
          <a:p>
            <a:endParaRPr lang="sk-SK" sz="1000" dirty="0">
              <a:solidFill>
                <a:schemeClr val="bg1"/>
              </a:solidFill>
            </a:endParaRPr>
          </a:p>
          <a:p>
            <a:r>
              <a:rPr lang="sk-SK" sz="1000" dirty="0" err="1">
                <a:solidFill>
                  <a:schemeClr val="bg1"/>
                </a:solidFill>
              </a:rPr>
              <a:t>interframe</a:t>
            </a:r>
            <a:r>
              <a:rPr lang="sk-SK" sz="1000" dirty="0">
                <a:solidFill>
                  <a:schemeClr val="bg1"/>
                </a:solidFill>
              </a:rPr>
              <a:t> </a:t>
            </a:r>
            <a:r>
              <a:rPr lang="sk-SK" sz="1000" dirty="0" err="1">
                <a:solidFill>
                  <a:schemeClr val="bg1"/>
                </a:solidFill>
              </a:rPr>
              <a:t>gap</a:t>
            </a:r>
            <a:endParaRPr lang="sk-SK" sz="1000" dirty="0">
              <a:solidFill>
                <a:schemeClr val="bg1"/>
              </a:solidFill>
            </a:endParaRPr>
          </a:p>
        </p:txBody>
      </p:sp>
      <p:sp>
        <p:nvSpPr>
          <p:cNvPr id="9" name="BlokTextu 8">
            <a:extLst>
              <a:ext uri="{FF2B5EF4-FFF2-40B4-BE49-F238E27FC236}">
                <a16:creationId xmlns:a16="http://schemas.microsoft.com/office/drawing/2014/main" id="{241F7C4C-098B-429D-9744-2F0EC713D6E8}"/>
              </a:ext>
            </a:extLst>
          </p:cNvPr>
          <p:cNvSpPr txBox="1"/>
          <p:nvPr/>
        </p:nvSpPr>
        <p:spPr>
          <a:xfrm>
            <a:off x="2988803" y="4811618"/>
            <a:ext cx="3850303" cy="369332"/>
          </a:xfrm>
          <a:prstGeom prst="rect">
            <a:avLst/>
          </a:prstGeom>
          <a:noFill/>
        </p:spPr>
        <p:txBody>
          <a:bodyPr wrap="square">
            <a:spAutoFit/>
          </a:bodyPr>
          <a:lstStyle/>
          <a:p>
            <a:r>
              <a:rPr lang="en-US" b="0" i="0" dirty="0">
                <a:solidFill>
                  <a:srgbClr val="242729"/>
                </a:solidFill>
                <a:effectLst/>
                <a:latin typeface="Arial" panose="020B0604020202020204" pitchFamily="34" charset="0"/>
              </a:rPr>
              <a:t>8+64+12 = 84 bytes on the wire</a:t>
            </a:r>
            <a:r>
              <a:rPr lang="sk-SK" b="0" i="0" dirty="0">
                <a:solidFill>
                  <a:srgbClr val="242729"/>
                </a:solidFill>
                <a:effectLst/>
                <a:latin typeface="Arial" panose="020B0604020202020204" pitchFamily="34" charset="0"/>
              </a:rPr>
              <a:t>...</a:t>
            </a:r>
            <a:endParaRPr lang="sk-SK" dirty="0"/>
          </a:p>
        </p:txBody>
      </p:sp>
      <p:sp>
        <p:nvSpPr>
          <p:cNvPr id="7" name="BlokTextu 6">
            <a:extLst>
              <a:ext uri="{FF2B5EF4-FFF2-40B4-BE49-F238E27FC236}">
                <a16:creationId xmlns:a16="http://schemas.microsoft.com/office/drawing/2014/main" id="{32189BC8-59EE-38CC-51F6-AA756A1DFB17}"/>
              </a:ext>
            </a:extLst>
          </p:cNvPr>
          <p:cNvSpPr txBox="1"/>
          <p:nvPr/>
        </p:nvSpPr>
        <p:spPr>
          <a:xfrm>
            <a:off x="242500" y="4792568"/>
            <a:ext cx="2373321" cy="369332"/>
          </a:xfrm>
          <a:prstGeom prst="rect">
            <a:avLst/>
          </a:prstGeom>
          <a:noFill/>
        </p:spPr>
        <p:txBody>
          <a:bodyPr wrap="square">
            <a:spAutoFit/>
          </a:bodyPr>
          <a:lstStyle/>
          <a:p>
            <a:r>
              <a:rPr lang="sk-SK" b="0" i="0" u="none" strike="noStrike" dirty="0">
                <a:solidFill>
                  <a:srgbClr val="4D5156"/>
                </a:solidFill>
                <a:effectLst/>
                <a:latin typeface="arial" panose="020B0604020202020204" pitchFamily="34" charset="0"/>
              </a:rPr>
              <a:t>start </a:t>
            </a:r>
            <a:r>
              <a:rPr lang="sk-SK" b="1" i="0" u="none" strike="noStrike" dirty="0">
                <a:solidFill>
                  <a:srgbClr val="5F6368"/>
                </a:solidFill>
                <a:effectLst/>
                <a:latin typeface="arial" panose="020B0604020202020204" pitchFamily="34" charset="0"/>
              </a:rPr>
              <a:t>frame</a:t>
            </a:r>
            <a:r>
              <a:rPr lang="sk-SK" b="0" i="0" u="none" strike="noStrike" dirty="0">
                <a:solidFill>
                  <a:srgbClr val="4D5156"/>
                </a:solidFill>
                <a:effectLst/>
                <a:latin typeface="arial" panose="020B0604020202020204" pitchFamily="34" charset="0"/>
              </a:rPr>
              <a:t> delimiter</a:t>
            </a:r>
            <a:endParaRPr lang="sk-SK" dirty="0"/>
          </a:p>
        </p:txBody>
      </p:sp>
    </p:spTree>
    <p:extLst>
      <p:ext uri="{BB962C8B-B14F-4D97-AF65-F5344CB8AC3E}">
        <p14:creationId xmlns:p14="http://schemas.microsoft.com/office/powerpoint/2010/main" val="3014441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7.2 Ethernet MAC Address</a:t>
            </a:r>
          </a:p>
        </p:txBody>
      </p:sp>
    </p:spTree>
    <p:custDataLst>
      <p:tags r:id="rId1"/>
    </p:custDataLst>
    <p:extLst>
      <p:ext uri="{BB962C8B-B14F-4D97-AF65-F5344CB8AC3E}">
        <p14:creationId xmlns:p14="http://schemas.microsoft.com/office/powerpoint/2010/main" val="1801216291"/>
      </p:ext>
    </p:extLst>
  </p:cSld>
  <p:clrMapOvr>
    <a:masterClrMapping/>
  </p:clrMapOvr>
  <p:transition spd="slow">
    <p:wip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Ethernet MAC Addresses</a:t>
            </a:r>
            <a:br>
              <a:rPr lang="en-US" dirty="0"/>
            </a:br>
            <a:r>
              <a:rPr lang="en-US" sz="2400" dirty="0"/>
              <a:t>MAC Address and Hexadecimal</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31971" y="947738"/>
            <a:ext cx="8280057" cy="3073946"/>
          </a:xfrm>
        </p:spPr>
        <p:txBody>
          <a:bodyPr/>
          <a:lstStyle/>
          <a:p>
            <a:pPr marL="285750" indent="-285750" algn="l">
              <a:buFont typeface="Arial" panose="020B0604020202020204" pitchFamily="34" charset="0"/>
              <a:buChar char="•"/>
            </a:pPr>
            <a:r>
              <a:rPr lang="en-US" sz="1600" dirty="0">
                <a:solidFill>
                  <a:srgbClr val="000000"/>
                </a:solidFill>
              </a:rPr>
              <a:t>An Ethernet MAC address consists of a 48-bit binary value, expressed using 12 hexadecimal values.</a:t>
            </a:r>
          </a:p>
          <a:p>
            <a:pPr marL="285750" indent="-285750" algn="l">
              <a:buFont typeface="Arial" panose="020B0604020202020204" pitchFamily="34" charset="0"/>
              <a:buChar char="•"/>
            </a:pPr>
            <a:r>
              <a:rPr lang="en-US" sz="1600" dirty="0">
                <a:solidFill>
                  <a:srgbClr val="000000"/>
                </a:solidFill>
              </a:rPr>
              <a:t>Given that 8 bits (one byte) is a common binary grouping, binary 00000000 to 11111111 can be represented in hexadecimal as the range 00 to FF,</a:t>
            </a:r>
          </a:p>
          <a:p>
            <a:pPr marL="285750" indent="-285750" algn="l">
              <a:buFont typeface="Arial" panose="020B0604020202020204" pitchFamily="34" charset="0"/>
              <a:buChar char="•"/>
            </a:pPr>
            <a:r>
              <a:rPr lang="en-US" sz="1600" dirty="0">
                <a:solidFill>
                  <a:srgbClr val="000000"/>
                </a:solidFill>
              </a:rPr>
              <a:t>When using hexadecimal, leading zeroes are always displayed to complete the 8-bit representation. For example, the binary value 0000 1010 is represented in hexadecimal as 0A.</a:t>
            </a:r>
          </a:p>
          <a:p>
            <a:pPr marL="285750" indent="-285750" algn="l">
              <a:buFont typeface="Arial" panose="020B0604020202020204" pitchFamily="34" charset="0"/>
              <a:buChar char="•"/>
            </a:pPr>
            <a:r>
              <a:rPr lang="en-US" sz="1600" dirty="0">
                <a:solidFill>
                  <a:srgbClr val="000000"/>
                </a:solidFill>
              </a:rPr>
              <a:t>Hexadecimal numbers are often represented by the value preceded by </a:t>
            </a:r>
            <a:r>
              <a:rPr lang="en-US" sz="1600" b="1" dirty="0">
                <a:solidFill>
                  <a:srgbClr val="000000"/>
                </a:solidFill>
              </a:rPr>
              <a:t>0x</a:t>
            </a:r>
            <a:r>
              <a:rPr lang="en-US" sz="1600" dirty="0">
                <a:solidFill>
                  <a:srgbClr val="000000"/>
                </a:solidFill>
              </a:rPr>
              <a:t> (e.g., 0x73) to distinguish between decimal and hexadecimal values in documentation.</a:t>
            </a:r>
          </a:p>
          <a:p>
            <a:pPr marL="285750" indent="-285750" algn="l">
              <a:buFont typeface="Arial" panose="020B0604020202020204" pitchFamily="34" charset="0"/>
              <a:buChar char="•"/>
            </a:pPr>
            <a:r>
              <a:rPr lang="en-US" sz="1600" dirty="0">
                <a:solidFill>
                  <a:srgbClr val="000000"/>
                </a:solidFill>
              </a:rPr>
              <a:t>Hexadecimal may also be represented by a subscript 16, or the hex number followed by an H (e.g., 73H).</a:t>
            </a:r>
          </a:p>
          <a:p>
            <a:pPr marL="285750" indent="-28575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32980824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Ethernet MAC Addresses</a:t>
            </a:r>
            <a:br>
              <a:rPr lang="en-US" dirty="0"/>
            </a:br>
            <a:r>
              <a:rPr lang="en-US" sz="2400" dirty="0"/>
              <a:t>Ethernet MAC Address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679622"/>
            <a:ext cx="8280057" cy="2458214"/>
          </a:xfrm>
        </p:spPr>
        <p:txBody>
          <a:bodyPr/>
          <a:lstStyle/>
          <a:p>
            <a:pPr marL="285750" indent="-285750" algn="l">
              <a:buFont typeface="Arial" panose="020B0604020202020204" pitchFamily="34" charset="0"/>
              <a:buChar char="•"/>
            </a:pPr>
            <a:r>
              <a:rPr lang="en-US" sz="1500" dirty="0">
                <a:solidFill>
                  <a:srgbClr val="000000"/>
                </a:solidFill>
              </a:rPr>
              <a:t>In an Ethernet LAN, every network device is connected to the same, shared media. MAC addressing provides a method for device identification at the data link layer of the OSI model.</a:t>
            </a:r>
          </a:p>
          <a:p>
            <a:pPr marL="285750" indent="-285750" algn="l">
              <a:buFont typeface="Arial" panose="020B0604020202020204" pitchFamily="34" charset="0"/>
              <a:buChar char="•"/>
            </a:pPr>
            <a:r>
              <a:rPr lang="en-US" sz="1500" dirty="0">
                <a:solidFill>
                  <a:srgbClr val="000000"/>
                </a:solidFill>
              </a:rPr>
              <a:t>An Ethernet MAC address is a 48-bit address expressed using 12 hexadecimal digits. Because a byte equals 8 bits, we can also say that a MAC address is 6 bytes in length.</a:t>
            </a:r>
          </a:p>
          <a:p>
            <a:pPr marL="285750" indent="-285750" algn="l">
              <a:buFont typeface="Arial" panose="020B0604020202020204" pitchFamily="34" charset="0"/>
              <a:buChar char="•"/>
            </a:pPr>
            <a:r>
              <a:rPr lang="en-US" sz="1500" dirty="0">
                <a:solidFill>
                  <a:srgbClr val="000000"/>
                </a:solidFill>
              </a:rPr>
              <a:t>All MAC addresses must be unique to the Ethernet device or Ethernet interface. To ensure this, all vendors that sell Ethernet devices must register with the IEEE to obtain a unique 6 hexadecimal (i.e., 24-bit or 3-byte) code called the organizationally unique identifier (OUI).</a:t>
            </a:r>
          </a:p>
          <a:p>
            <a:pPr marL="285750" indent="-285750" algn="l">
              <a:buFont typeface="Arial" panose="020B0604020202020204" pitchFamily="34" charset="0"/>
              <a:buChar char="•"/>
            </a:pPr>
            <a:r>
              <a:rPr lang="en-US" sz="1500" dirty="0">
                <a:solidFill>
                  <a:srgbClr val="000000"/>
                </a:solidFill>
              </a:rPr>
              <a:t>An Ethernet MAC address consists of a 6 hexadecimal vendor OUI code followed by a 6 hexadecimal vendor-assigned value.</a:t>
            </a:r>
          </a:p>
          <a:p>
            <a:pPr marL="342900" indent="-342900" algn="l">
              <a:buFont typeface="Arial" panose="020B0604020202020204" pitchFamily="34" charset="0"/>
              <a:buChar char="•"/>
            </a:pPr>
            <a:endParaRPr lang="en-US" sz="1400" dirty="0">
              <a:solidFill>
                <a:srgbClr val="000000"/>
              </a:solidFill>
            </a:endParaRPr>
          </a:p>
        </p:txBody>
      </p:sp>
      <p:pic>
        <p:nvPicPr>
          <p:cNvPr id="5" name="Picture 4">
            <a:extLst>
              <a:ext uri="{FF2B5EF4-FFF2-40B4-BE49-F238E27FC236}">
                <a16:creationId xmlns:a16="http://schemas.microsoft.com/office/drawing/2014/main" id="{E3B936E3-E1CB-5C42-9445-442FA726A951}"/>
              </a:ext>
            </a:extLst>
          </p:cNvPr>
          <p:cNvPicPr>
            <a:picLocks noChangeAspect="1"/>
          </p:cNvPicPr>
          <p:nvPr/>
        </p:nvPicPr>
        <p:blipFill>
          <a:blip r:embed="rId3"/>
          <a:stretch>
            <a:fillRect/>
          </a:stretch>
        </p:blipFill>
        <p:spPr>
          <a:xfrm>
            <a:off x="1075489" y="3289769"/>
            <a:ext cx="6762015" cy="1638277"/>
          </a:xfrm>
          <a:prstGeom prst="rect">
            <a:avLst/>
          </a:prstGeom>
        </p:spPr>
      </p:pic>
      <p:pic>
        <p:nvPicPr>
          <p:cNvPr id="2" name="Obrázok 1">
            <a:extLst>
              <a:ext uri="{FF2B5EF4-FFF2-40B4-BE49-F238E27FC236}">
                <a16:creationId xmlns:a16="http://schemas.microsoft.com/office/drawing/2014/main" id="{08BF7CD8-3599-BA4C-A1A8-844EB1453D22}"/>
              </a:ext>
            </a:extLst>
          </p:cNvPr>
          <p:cNvPicPr>
            <a:picLocks noChangeAspect="1"/>
          </p:cNvPicPr>
          <p:nvPr/>
        </p:nvPicPr>
        <p:blipFill>
          <a:blip r:embed="rId4"/>
          <a:stretch>
            <a:fillRect/>
          </a:stretch>
        </p:blipFill>
        <p:spPr>
          <a:xfrm>
            <a:off x="0" y="0"/>
            <a:ext cx="9144000" cy="5143500"/>
          </a:xfrm>
          <a:prstGeom prst="rect">
            <a:avLst/>
          </a:prstGeom>
        </p:spPr>
      </p:pic>
    </p:spTree>
    <p:extLst>
      <p:ext uri="{BB962C8B-B14F-4D97-AF65-F5344CB8AC3E}">
        <p14:creationId xmlns:p14="http://schemas.microsoft.com/office/powerpoint/2010/main" val="3452850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Ethernet MAC Addresses</a:t>
            </a:r>
            <a:br>
              <a:rPr lang="en-US" dirty="0"/>
            </a:br>
            <a:r>
              <a:rPr lang="en-US" sz="2400" dirty="0"/>
              <a:t>Frame Processing</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238125" y="763736"/>
            <a:ext cx="5211206" cy="3657998"/>
          </a:xfrm>
        </p:spPr>
        <p:txBody>
          <a:bodyPr/>
          <a:lstStyle/>
          <a:p>
            <a:pPr marL="285750" indent="-285750" algn="l">
              <a:buFont typeface="Arial" panose="020B0604020202020204" pitchFamily="34" charset="0"/>
              <a:buChar char="•"/>
            </a:pPr>
            <a:r>
              <a:rPr lang="en-US" sz="1400" dirty="0">
                <a:solidFill>
                  <a:srgbClr val="000000"/>
                </a:solidFill>
              </a:rPr>
              <a:t>When a device is forwarding a message to an Ethernet network, the Ethernet header include a Destination MAC address and a Source MAC address.</a:t>
            </a:r>
          </a:p>
          <a:p>
            <a:pPr marL="285750" indent="-285750" algn="l">
              <a:buFont typeface="Arial" panose="020B0604020202020204" pitchFamily="34" charset="0"/>
              <a:buChar char="•"/>
            </a:pPr>
            <a:r>
              <a:rPr lang="en-US" sz="1400" dirty="0">
                <a:solidFill>
                  <a:srgbClr val="000000"/>
                </a:solidFill>
              </a:rPr>
              <a:t>When a NIC receives an Ethernet frame, it examines the destination MAC address to see if it matches the physical MAC address that is stored in RAM. If there is no match, the device discards the frame. If there is a match, it passes the frame up the OSI layers, where the de-encapsulation process takes place.</a:t>
            </a:r>
          </a:p>
          <a:p>
            <a:pPr marL="73085" lvl="1" indent="0">
              <a:buNone/>
            </a:pPr>
            <a:r>
              <a:rPr lang="en-US" sz="1200" b="1" dirty="0">
                <a:solidFill>
                  <a:srgbClr val="000000"/>
                </a:solidFill>
              </a:rPr>
              <a:t>Note:</a:t>
            </a:r>
            <a:r>
              <a:rPr lang="en-US" sz="1200" dirty="0">
                <a:solidFill>
                  <a:srgbClr val="000000"/>
                </a:solidFill>
              </a:rPr>
              <a:t> Ethernet NICs will also accept frames if the destination MAC address is a broadcast or a multicast group of which the host is a member.</a:t>
            </a:r>
          </a:p>
          <a:p>
            <a:pPr marL="285750" indent="-285750" algn="l">
              <a:buFont typeface="Arial" panose="020B0604020202020204" pitchFamily="34" charset="0"/>
              <a:buChar char="•"/>
            </a:pPr>
            <a:r>
              <a:rPr lang="en-US" sz="1400" dirty="0">
                <a:solidFill>
                  <a:srgbClr val="000000"/>
                </a:solidFill>
              </a:rPr>
              <a:t>Any device that is the source or destination of an Ethernet frame, will have an Ethernet NIC and therefore, a MAC address. This includes workstations, servers, printers, mobile devices, and routers.</a:t>
            </a:r>
          </a:p>
          <a:p>
            <a:pPr marL="285750" indent="-285750" algn="l">
              <a:buFont typeface="Arial" panose="020B0604020202020204" pitchFamily="34" charset="0"/>
              <a:buChar char="•"/>
            </a:pPr>
            <a:endParaRPr lang="en-US" sz="1400" dirty="0">
              <a:solidFill>
                <a:srgbClr val="000000"/>
              </a:solidFill>
            </a:endParaRPr>
          </a:p>
        </p:txBody>
      </p:sp>
      <p:pic>
        <p:nvPicPr>
          <p:cNvPr id="5" name="Picture 4">
            <a:extLst>
              <a:ext uri="{FF2B5EF4-FFF2-40B4-BE49-F238E27FC236}">
                <a16:creationId xmlns:a16="http://schemas.microsoft.com/office/drawing/2014/main" id="{96B69223-7D35-3345-89F2-D23C56D422F0}"/>
              </a:ext>
            </a:extLst>
          </p:cNvPr>
          <p:cNvPicPr>
            <a:picLocks noChangeAspect="1"/>
          </p:cNvPicPr>
          <p:nvPr/>
        </p:nvPicPr>
        <p:blipFill>
          <a:blip r:embed="rId3"/>
          <a:stretch>
            <a:fillRect/>
          </a:stretch>
        </p:blipFill>
        <p:spPr>
          <a:xfrm>
            <a:off x="5341684" y="1144544"/>
            <a:ext cx="3677394" cy="2409568"/>
          </a:xfrm>
          <a:prstGeom prst="rect">
            <a:avLst/>
          </a:prstGeom>
        </p:spPr>
      </p:pic>
    </p:spTree>
    <p:extLst>
      <p:ext uri="{BB962C8B-B14F-4D97-AF65-F5344CB8AC3E}">
        <p14:creationId xmlns:p14="http://schemas.microsoft.com/office/powerpoint/2010/main" val="1171550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Ethernet MAC Addresses</a:t>
            </a:r>
            <a:br>
              <a:rPr lang="en-US" dirty="0"/>
            </a:br>
            <a:r>
              <a:rPr lang="en-US" sz="2400" dirty="0"/>
              <a:t>Unicast MAC Address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277984" y="763736"/>
            <a:ext cx="3894760" cy="3618545"/>
          </a:xfrm>
        </p:spPr>
        <p:txBody>
          <a:bodyPr/>
          <a:lstStyle/>
          <a:p>
            <a:pPr marL="0" indent="0" algn="l"/>
            <a:r>
              <a:rPr lang="en-US" sz="1600" dirty="0">
                <a:solidFill>
                  <a:srgbClr val="000000"/>
                </a:solidFill>
              </a:rPr>
              <a:t>In Ethernet, different MAC addresses are used for Layer 2 unicast, broadcast, and multicast communications.</a:t>
            </a:r>
          </a:p>
          <a:p>
            <a:pPr marL="342900" indent="-342900" algn="l">
              <a:buFont typeface="Arial" panose="020B0604020202020204" pitchFamily="34" charset="0"/>
              <a:buChar char="•"/>
            </a:pPr>
            <a:r>
              <a:rPr lang="en-US" sz="1400" dirty="0">
                <a:solidFill>
                  <a:srgbClr val="000000"/>
                </a:solidFill>
              </a:rPr>
              <a:t>A unicast MAC address is the unique address that is used when a frame is sent from a single transmitting device to a single destination device.</a:t>
            </a:r>
          </a:p>
          <a:p>
            <a:pPr marL="342900" indent="-342900" algn="l">
              <a:buFont typeface="Arial" panose="020B0604020202020204" pitchFamily="34" charset="0"/>
              <a:buChar char="•"/>
            </a:pPr>
            <a:r>
              <a:rPr lang="en-US" sz="1400" dirty="0">
                <a:solidFill>
                  <a:srgbClr val="000000"/>
                </a:solidFill>
              </a:rPr>
              <a:t>The process that a source host uses to determine the destination MAC address associated with an IPv4 address is known as Address Resolution Protocol (</a:t>
            </a:r>
            <a:r>
              <a:rPr lang="en-US" sz="1400" b="1" dirty="0">
                <a:solidFill>
                  <a:srgbClr val="000000"/>
                </a:solidFill>
              </a:rPr>
              <a:t>ARP</a:t>
            </a:r>
            <a:r>
              <a:rPr lang="en-US" sz="1400" dirty="0">
                <a:solidFill>
                  <a:srgbClr val="000000"/>
                </a:solidFill>
              </a:rPr>
              <a:t>). The process that a source host uses to determine the destination MAC address associated with an IPv6 address is known as Neighbor Discovery (</a:t>
            </a:r>
            <a:r>
              <a:rPr lang="en-US" sz="1400" b="1" dirty="0">
                <a:solidFill>
                  <a:srgbClr val="000000"/>
                </a:solidFill>
              </a:rPr>
              <a:t>ND</a:t>
            </a:r>
            <a:r>
              <a:rPr lang="en-US" sz="1400" dirty="0">
                <a:solidFill>
                  <a:srgbClr val="000000"/>
                </a:solidFill>
              </a:rPr>
              <a:t>).</a:t>
            </a:r>
            <a:endParaRPr lang="en-US" sz="1400" b="1" dirty="0">
              <a:solidFill>
                <a:srgbClr val="000000"/>
              </a:solidFill>
            </a:endParaRPr>
          </a:p>
          <a:p>
            <a:pPr marL="0" indent="0" algn="l"/>
            <a:r>
              <a:rPr lang="en-US" sz="1400" b="1" dirty="0">
                <a:solidFill>
                  <a:srgbClr val="000000"/>
                </a:solidFill>
              </a:rPr>
              <a:t>Note:</a:t>
            </a:r>
            <a:r>
              <a:rPr lang="en-US" sz="1400" dirty="0">
                <a:solidFill>
                  <a:srgbClr val="000000"/>
                </a:solidFill>
              </a:rPr>
              <a:t> The source MAC address must always be a unicast.</a:t>
            </a:r>
          </a:p>
          <a:p>
            <a:pPr marL="0" indent="0" algn="l"/>
            <a:endParaRPr lang="en-US" sz="1400" dirty="0">
              <a:solidFill>
                <a:srgbClr val="000000"/>
              </a:solidFill>
            </a:endParaRPr>
          </a:p>
        </p:txBody>
      </p:sp>
      <p:pic>
        <p:nvPicPr>
          <p:cNvPr id="5" name="Picture 4">
            <a:extLst>
              <a:ext uri="{FF2B5EF4-FFF2-40B4-BE49-F238E27FC236}">
                <a16:creationId xmlns:a16="http://schemas.microsoft.com/office/drawing/2014/main" id="{5AC423A4-E5CC-3D4C-8FD2-2A3C0F10D304}"/>
              </a:ext>
            </a:extLst>
          </p:cNvPr>
          <p:cNvPicPr>
            <a:picLocks noChangeAspect="1"/>
          </p:cNvPicPr>
          <p:nvPr/>
        </p:nvPicPr>
        <p:blipFill>
          <a:blip r:embed="rId3"/>
          <a:stretch>
            <a:fillRect/>
          </a:stretch>
        </p:blipFill>
        <p:spPr>
          <a:xfrm>
            <a:off x="4369422" y="1103606"/>
            <a:ext cx="4418615" cy="2936287"/>
          </a:xfrm>
          <a:prstGeom prst="rect">
            <a:avLst/>
          </a:prstGeom>
        </p:spPr>
      </p:pic>
    </p:spTree>
    <p:extLst>
      <p:ext uri="{BB962C8B-B14F-4D97-AF65-F5344CB8AC3E}">
        <p14:creationId xmlns:p14="http://schemas.microsoft.com/office/powerpoint/2010/main" val="2283387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Ethernet MAC Addresses</a:t>
            </a:r>
            <a:br>
              <a:rPr lang="en-US" dirty="0"/>
            </a:br>
            <a:r>
              <a:rPr lang="en-US" sz="2400" dirty="0"/>
              <a:t>Broadcast MAC Address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4488452" cy="3657998"/>
          </a:xfrm>
        </p:spPr>
        <p:txBody>
          <a:bodyPr/>
          <a:lstStyle/>
          <a:p>
            <a:pPr marL="0" indent="0" algn="l"/>
            <a:r>
              <a:rPr lang="en-US" sz="1500" dirty="0">
                <a:solidFill>
                  <a:srgbClr val="000000"/>
                </a:solidFill>
              </a:rPr>
              <a:t>An Ethernet broadcast frame is received and processed by every device on the Ethernet LAN. The features of an Ethernet broadcast are as follows:</a:t>
            </a:r>
          </a:p>
          <a:p>
            <a:pPr marL="285750" indent="-285750" algn="l">
              <a:buFont typeface="Arial" panose="020B0604020202020204" pitchFamily="34" charset="0"/>
              <a:buChar char="•"/>
            </a:pPr>
            <a:r>
              <a:rPr lang="en-US" sz="1500" dirty="0">
                <a:solidFill>
                  <a:srgbClr val="000000"/>
                </a:solidFill>
              </a:rPr>
              <a:t>It has a destination MAC address of FF-FF-FF-FF-FF-FF in hexadecimal (48 ones in binary).</a:t>
            </a:r>
          </a:p>
          <a:p>
            <a:pPr marL="285750" indent="-285750" algn="l">
              <a:buFont typeface="Arial" panose="020B0604020202020204" pitchFamily="34" charset="0"/>
              <a:buChar char="•"/>
            </a:pPr>
            <a:r>
              <a:rPr lang="en-US" sz="1500" dirty="0">
                <a:solidFill>
                  <a:srgbClr val="000000"/>
                </a:solidFill>
              </a:rPr>
              <a:t>It is flooded out all Ethernet switch ports except the incoming port. It is not forwarded by a router.</a:t>
            </a:r>
          </a:p>
          <a:p>
            <a:pPr marL="285750" indent="-285750" algn="l">
              <a:buFont typeface="Arial" panose="020B0604020202020204" pitchFamily="34" charset="0"/>
              <a:buChar char="•"/>
            </a:pPr>
            <a:r>
              <a:rPr lang="en-US" sz="1500" dirty="0">
                <a:solidFill>
                  <a:srgbClr val="000000"/>
                </a:solidFill>
              </a:rPr>
              <a:t>If the encapsulated data is an IPv4 broadcast packet, this means the packet contains a destination IPv4 address that has all ones (1s) in the host portion. This numbering in the address means that all hosts on that local network (broadcast domain) will receive and process the packet.</a:t>
            </a:r>
          </a:p>
          <a:p>
            <a:pPr marL="0" indent="0" algn="l"/>
            <a:endParaRPr lang="en-US" sz="1400" dirty="0">
              <a:solidFill>
                <a:srgbClr val="000000"/>
              </a:solidFill>
            </a:endParaRPr>
          </a:p>
        </p:txBody>
      </p:sp>
      <p:pic>
        <p:nvPicPr>
          <p:cNvPr id="5" name="Picture 4">
            <a:extLst>
              <a:ext uri="{FF2B5EF4-FFF2-40B4-BE49-F238E27FC236}">
                <a16:creationId xmlns:a16="http://schemas.microsoft.com/office/drawing/2014/main" id="{9BB74621-5EE7-1449-9518-A33F812065C0}"/>
              </a:ext>
            </a:extLst>
          </p:cNvPr>
          <p:cNvPicPr>
            <a:picLocks noChangeAspect="1"/>
          </p:cNvPicPr>
          <p:nvPr/>
        </p:nvPicPr>
        <p:blipFill>
          <a:blip r:embed="rId3"/>
          <a:stretch>
            <a:fillRect/>
          </a:stretch>
        </p:blipFill>
        <p:spPr>
          <a:xfrm>
            <a:off x="4963114" y="1112109"/>
            <a:ext cx="4012722" cy="2609226"/>
          </a:xfrm>
          <a:prstGeom prst="rect">
            <a:avLst/>
          </a:prstGeom>
        </p:spPr>
      </p:pic>
    </p:spTree>
    <p:extLst>
      <p:ext uri="{BB962C8B-B14F-4D97-AF65-F5344CB8AC3E}">
        <p14:creationId xmlns:p14="http://schemas.microsoft.com/office/powerpoint/2010/main" val="3812914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Ethernet MAC Addresses</a:t>
            </a:r>
            <a:br>
              <a:rPr lang="en-US" dirty="0"/>
            </a:br>
            <a:r>
              <a:rPr lang="en-US" sz="2400" dirty="0"/>
              <a:t>Multicast MAC Address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133350" y="763735"/>
            <a:ext cx="5038725" cy="3836839"/>
          </a:xfrm>
        </p:spPr>
        <p:txBody>
          <a:bodyPr/>
          <a:lstStyle/>
          <a:p>
            <a:pPr marL="0" indent="0" algn="l"/>
            <a:r>
              <a:rPr lang="en-US" sz="1200" dirty="0">
                <a:solidFill>
                  <a:srgbClr val="000000"/>
                </a:solidFill>
              </a:rPr>
              <a:t>An Ethernet multicast frame is received and processed by a group of devices that belong to the same multicast group. </a:t>
            </a:r>
          </a:p>
          <a:p>
            <a:pPr marL="285750" indent="-285750" algn="l">
              <a:buFont typeface="Arial" panose="020B0604020202020204" pitchFamily="34" charset="0"/>
              <a:buChar char="•"/>
            </a:pPr>
            <a:r>
              <a:rPr lang="en-US" sz="1300" dirty="0">
                <a:solidFill>
                  <a:srgbClr val="000000"/>
                </a:solidFill>
              </a:rPr>
              <a:t>There is a destination MAC address of </a:t>
            </a:r>
            <a:r>
              <a:rPr lang="en-US" sz="1300" b="1" dirty="0">
                <a:solidFill>
                  <a:srgbClr val="000000"/>
                </a:solidFill>
              </a:rPr>
              <a:t>01-00-5E</a:t>
            </a:r>
            <a:r>
              <a:rPr lang="en-US" sz="1300" dirty="0">
                <a:solidFill>
                  <a:srgbClr val="000000"/>
                </a:solidFill>
              </a:rPr>
              <a:t> when the encapsulated data is an IPv4 multicast packet and a destination MAC address of </a:t>
            </a:r>
            <a:r>
              <a:rPr lang="en-US" sz="1300" b="1" dirty="0">
                <a:solidFill>
                  <a:srgbClr val="000000"/>
                </a:solidFill>
              </a:rPr>
              <a:t>33-33</a:t>
            </a:r>
            <a:r>
              <a:rPr lang="en-US" sz="1300" dirty="0">
                <a:solidFill>
                  <a:srgbClr val="000000"/>
                </a:solidFill>
              </a:rPr>
              <a:t> when the encapsulated data is an IPv6 multicast packet.</a:t>
            </a:r>
          </a:p>
          <a:p>
            <a:pPr marL="285750" indent="-285750" algn="l">
              <a:buFont typeface="Arial" panose="020B0604020202020204" pitchFamily="34" charset="0"/>
              <a:buChar char="•"/>
            </a:pPr>
            <a:r>
              <a:rPr lang="en-US" sz="1300" dirty="0">
                <a:solidFill>
                  <a:srgbClr val="000000"/>
                </a:solidFill>
              </a:rPr>
              <a:t>There are other reserved multicast destination MAC addresses for when the encapsulated data is not IP, such as Spanning Tree Protocol (STP).</a:t>
            </a:r>
          </a:p>
          <a:p>
            <a:pPr marL="285750" indent="-285750" algn="l">
              <a:buFont typeface="Arial" panose="020B0604020202020204" pitchFamily="34" charset="0"/>
              <a:buChar char="•"/>
            </a:pPr>
            <a:r>
              <a:rPr lang="en-US" sz="1300" dirty="0">
                <a:solidFill>
                  <a:srgbClr val="000000"/>
                </a:solidFill>
              </a:rPr>
              <a:t>It is flooded out all Ethernet switch ports except the incoming port, unless the switch is configured for multicast snooping. It is not forwarded by a router, unless the router is configured to route multicast packets.</a:t>
            </a:r>
          </a:p>
          <a:p>
            <a:pPr marL="285750" indent="-285750" algn="l">
              <a:buFont typeface="Arial" panose="020B0604020202020204" pitchFamily="34" charset="0"/>
              <a:buChar char="•"/>
            </a:pPr>
            <a:r>
              <a:rPr lang="en-US" sz="1300" dirty="0">
                <a:solidFill>
                  <a:srgbClr val="000000"/>
                </a:solidFill>
              </a:rPr>
              <a:t>Because multicast addresses represent a group of addresses (sometimes called a host group), they can only be used as the destination of a packet. The source will always be a unicast address.</a:t>
            </a:r>
          </a:p>
          <a:p>
            <a:pPr marL="285750" indent="-285750" algn="l">
              <a:buFont typeface="Arial" panose="020B0604020202020204" pitchFamily="34" charset="0"/>
              <a:buChar char="•"/>
            </a:pPr>
            <a:r>
              <a:rPr lang="en-US" sz="1300" dirty="0">
                <a:solidFill>
                  <a:srgbClr val="000000"/>
                </a:solidFill>
              </a:rPr>
              <a:t>As with the unicast and broadcast addresses, the multicast IP address requires a corresponding multicast MAC address.</a:t>
            </a:r>
          </a:p>
        </p:txBody>
      </p:sp>
      <p:pic>
        <p:nvPicPr>
          <p:cNvPr id="5" name="Picture 4">
            <a:extLst>
              <a:ext uri="{FF2B5EF4-FFF2-40B4-BE49-F238E27FC236}">
                <a16:creationId xmlns:a16="http://schemas.microsoft.com/office/drawing/2014/main" id="{C2CEE847-F74D-1643-8791-340AD51F8CE0}"/>
              </a:ext>
            </a:extLst>
          </p:cNvPr>
          <p:cNvPicPr>
            <a:picLocks noChangeAspect="1"/>
          </p:cNvPicPr>
          <p:nvPr/>
        </p:nvPicPr>
        <p:blipFill>
          <a:blip r:embed="rId3"/>
          <a:stretch>
            <a:fillRect/>
          </a:stretch>
        </p:blipFill>
        <p:spPr>
          <a:xfrm>
            <a:off x="5305425" y="1211367"/>
            <a:ext cx="3607544" cy="2481290"/>
          </a:xfrm>
          <a:prstGeom prst="rect">
            <a:avLst/>
          </a:prstGeom>
        </p:spPr>
      </p:pic>
    </p:spTree>
    <p:extLst>
      <p:ext uri="{BB962C8B-B14F-4D97-AF65-F5344CB8AC3E}">
        <p14:creationId xmlns:p14="http://schemas.microsoft.com/office/powerpoint/2010/main" val="1837327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7.3 The MAC Address Table</a:t>
            </a:r>
          </a:p>
        </p:txBody>
      </p:sp>
    </p:spTree>
    <p:custDataLst>
      <p:tags r:id="rId1"/>
    </p:custDataLst>
    <p:extLst>
      <p:ext uri="{BB962C8B-B14F-4D97-AF65-F5344CB8AC3E}">
        <p14:creationId xmlns:p14="http://schemas.microsoft.com/office/powerpoint/2010/main" val="3946480745"/>
      </p:ext>
    </p:extLst>
  </p:cSld>
  <p:clrMapOvr>
    <a:masterClrMapping/>
  </p:clrMapOvr>
  <p:transition spd="slow">
    <p:wip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The MAC Address Table</a:t>
            </a:r>
            <a:br>
              <a:rPr lang="en-US" dirty="0"/>
            </a:br>
            <a:r>
              <a:rPr lang="en-US" sz="2400" dirty="0"/>
              <a:t>Switch Fundamentals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3657998"/>
          </a:xfrm>
        </p:spPr>
        <p:txBody>
          <a:bodyPr/>
          <a:lstStyle/>
          <a:p>
            <a:pPr marL="342900" indent="-342900" algn="l">
              <a:buFont typeface="Arial" panose="020B0604020202020204" pitchFamily="34" charset="0"/>
              <a:buChar char="•"/>
            </a:pPr>
            <a:r>
              <a:rPr lang="en-US" sz="1600" dirty="0">
                <a:solidFill>
                  <a:srgbClr val="000000"/>
                </a:solidFill>
              </a:rPr>
              <a:t>A Layer 2 Ethernet switch uses Layer 2 MAC addresses to make forwarding decisions. It is completely unaware of the data (protocol) being carried in the data portion of the frame, such as an IPv4 packet, an ARP message, or an IPv6 ND packet. The switch makes its forwarding decisions based solely on the Layer 2 Ethernet MAC addresses.</a:t>
            </a:r>
          </a:p>
          <a:p>
            <a:pPr marL="342900" indent="-342900" algn="l">
              <a:buFont typeface="Arial" panose="020B0604020202020204" pitchFamily="34" charset="0"/>
              <a:buChar char="•"/>
            </a:pPr>
            <a:r>
              <a:rPr lang="en-US" sz="1600" dirty="0">
                <a:solidFill>
                  <a:srgbClr val="000000"/>
                </a:solidFill>
              </a:rPr>
              <a:t>An Ethernet switch examines its MAC address table to make a forwarding decision for each frame, unlike legacy Ethernet hubs that repeat bits out all ports except the incoming port. </a:t>
            </a:r>
          </a:p>
          <a:p>
            <a:pPr marL="342900" indent="-342900" algn="l">
              <a:buFont typeface="Arial" panose="020B0604020202020204" pitchFamily="34" charset="0"/>
              <a:buChar char="•"/>
            </a:pPr>
            <a:r>
              <a:rPr lang="en-US" sz="1600" dirty="0">
                <a:solidFill>
                  <a:srgbClr val="000000"/>
                </a:solidFill>
              </a:rPr>
              <a:t>When a switch is turned on, the MAC address table is empty</a:t>
            </a:r>
            <a:endParaRPr lang="en-US" sz="1400" dirty="0">
              <a:solidFill>
                <a:srgbClr val="000000"/>
              </a:solidFill>
            </a:endParaRP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The MAC address table is sometimes referred to as a content addressable memory (CAM) table.</a:t>
            </a: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11396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The MAC Address Table</a:t>
            </a:r>
            <a:br>
              <a:rPr lang="en-US" dirty="0"/>
            </a:br>
            <a:r>
              <a:rPr lang="en-US" sz="2400" dirty="0"/>
              <a:t>Switch Learning and Forwarding</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3657998"/>
          </a:xfrm>
        </p:spPr>
        <p:txBody>
          <a:bodyPr/>
          <a:lstStyle/>
          <a:p>
            <a:pPr marL="0" indent="0" algn="l"/>
            <a:r>
              <a:rPr lang="en-US" sz="1600" b="1" dirty="0">
                <a:solidFill>
                  <a:srgbClr val="000000"/>
                </a:solidFill>
              </a:rPr>
              <a:t>Examine the Source MAC Address (Learn)</a:t>
            </a:r>
            <a:endParaRPr lang="en-US" sz="1600" dirty="0">
              <a:solidFill>
                <a:srgbClr val="000000"/>
              </a:solidFill>
            </a:endParaRPr>
          </a:p>
          <a:p>
            <a:pPr marL="0" indent="0" algn="l"/>
            <a:r>
              <a:rPr lang="en-US" sz="1600" dirty="0">
                <a:solidFill>
                  <a:srgbClr val="000000"/>
                </a:solidFill>
              </a:rPr>
              <a:t>Every frame that enters a switch is checked for new information to learn. It does this by examining the source MAC address of the frame and the port number where the frame entered the switch. If the source MAC address does not exist, it is added to the table along with the incoming port number. If the source MAC address does exist, the switch updates the refresh timer for that entry. By default, most Ethernet switches keep an entry in the table for 5 minutes.</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If the source MAC address does exist in the table but on a different port, the switch treats this as a new entry. The entry is replaced using the same MAC address but with the more current port number.</a:t>
            </a:r>
          </a:p>
        </p:txBody>
      </p:sp>
    </p:spTree>
    <p:extLst>
      <p:ext uri="{BB962C8B-B14F-4D97-AF65-F5344CB8AC3E}">
        <p14:creationId xmlns:p14="http://schemas.microsoft.com/office/powerpoint/2010/main" val="41248954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The MAC Address Table</a:t>
            </a:r>
            <a:br>
              <a:rPr lang="en-US" dirty="0"/>
            </a:br>
            <a:r>
              <a:rPr lang="en-US" sz="2400" dirty="0"/>
              <a:t>Switch Learning and Forwarding (Contd.)</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3657998"/>
          </a:xfrm>
        </p:spPr>
        <p:txBody>
          <a:bodyPr/>
          <a:lstStyle/>
          <a:p>
            <a:pPr marL="0" indent="0" algn="l"/>
            <a:r>
              <a:rPr lang="en-US" sz="1600" b="1" dirty="0">
                <a:solidFill>
                  <a:srgbClr val="000000"/>
                </a:solidFill>
              </a:rPr>
              <a:t>Find the Destination MAC Address (Forward)</a:t>
            </a:r>
            <a:endParaRPr lang="en-US" sz="1600" dirty="0">
              <a:solidFill>
                <a:srgbClr val="000000"/>
              </a:solidFill>
            </a:endParaRPr>
          </a:p>
          <a:p>
            <a:pPr marL="0" indent="0" algn="l"/>
            <a:r>
              <a:rPr lang="en-US" sz="1600" dirty="0">
                <a:solidFill>
                  <a:srgbClr val="000000"/>
                </a:solidFill>
              </a:rPr>
              <a:t>If the destination MAC address is a unicast address, the switch will look for a match between the destination MAC address of the frame and an entry in its MAC address table. If the destination MAC address is in the table, it will forward the frame out the specified port. If the destination MAC address is not in the table, the switch will forward the frame out all ports except the incoming port. This is called an unknown unicast.</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If the destination MAC address is a broadcast or a multicast, the frame is also flooded out all ports except the incoming port.</a:t>
            </a:r>
          </a:p>
        </p:txBody>
      </p:sp>
    </p:spTree>
    <p:extLst>
      <p:ext uri="{BB962C8B-B14F-4D97-AF65-F5344CB8AC3E}">
        <p14:creationId xmlns:p14="http://schemas.microsoft.com/office/powerpoint/2010/main" val="2826984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The MAC Address Table</a:t>
            </a:r>
            <a:br>
              <a:rPr lang="en-US" dirty="0"/>
            </a:br>
            <a:r>
              <a:rPr lang="en-US" sz="2400" dirty="0"/>
              <a:t>Filtering Frames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1180567"/>
          </a:xfrm>
        </p:spPr>
        <p:txBody>
          <a:bodyPr/>
          <a:lstStyle/>
          <a:p>
            <a:pPr marL="0" indent="0" algn="l"/>
            <a:r>
              <a:rPr lang="en-US" sz="1600" dirty="0">
                <a:solidFill>
                  <a:srgbClr val="000000"/>
                </a:solidFill>
              </a:rPr>
              <a:t>As a switch receives frames from different devices, it is able to populate its MAC address table by examining the source MAC address of every frame. When the MAC address table of the switch contains the destination MAC address, it is able to filter the frame and forward out a single port.</a:t>
            </a:r>
          </a:p>
        </p:txBody>
      </p:sp>
      <p:pic>
        <p:nvPicPr>
          <p:cNvPr id="5" name="Picture 4">
            <a:extLst>
              <a:ext uri="{FF2B5EF4-FFF2-40B4-BE49-F238E27FC236}">
                <a16:creationId xmlns:a16="http://schemas.microsoft.com/office/drawing/2014/main" id="{449A7AB3-F150-504C-93AA-B753EDE0AF2D}"/>
              </a:ext>
            </a:extLst>
          </p:cNvPr>
          <p:cNvPicPr>
            <a:picLocks noChangeAspect="1"/>
          </p:cNvPicPr>
          <p:nvPr/>
        </p:nvPicPr>
        <p:blipFill>
          <a:blip r:embed="rId3"/>
          <a:stretch>
            <a:fillRect/>
          </a:stretch>
        </p:blipFill>
        <p:spPr>
          <a:xfrm>
            <a:off x="1992005" y="1944303"/>
            <a:ext cx="4361477" cy="2808405"/>
          </a:xfrm>
          <a:prstGeom prst="rect">
            <a:avLst/>
          </a:prstGeom>
        </p:spPr>
      </p:pic>
    </p:spTree>
    <p:extLst>
      <p:ext uri="{BB962C8B-B14F-4D97-AF65-F5344CB8AC3E}">
        <p14:creationId xmlns:p14="http://schemas.microsoft.com/office/powerpoint/2010/main" val="4138779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7.4 Switch Speeds and Forwarding Methods</a:t>
            </a:r>
          </a:p>
        </p:txBody>
      </p:sp>
    </p:spTree>
    <p:custDataLst>
      <p:tags r:id="rId1"/>
    </p:custDataLst>
    <p:extLst>
      <p:ext uri="{BB962C8B-B14F-4D97-AF65-F5344CB8AC3E}">
        <p14:creationId xmlns:p14="http://schemas.microsoft.com/office/powerpoint/2010/main" val="1865120625"/>
      </p:ext>
    </p:extLst>
  </p:cSld>
  <p:clrMapOvr>
    <a:masterClrMapping/>
  </p:clrMapOvr>
  <p:transition spd="slow">
    <p:wip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Switch Speeds and Forwarding Methods</a:t>
            </a:r>
            <a:br>
              <a:rPr lang="en-US" dirty="0"/>
            </a:br>
            <a:r>
              <a:rPr lang="en-US" sz="2400" dirty="0"/>
              <a:t>Frame Forwarding Methods on Cisco Switches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231006" y="763736"/>
            <a:ext cx="8787866" cy="3657998"/>
          </a:xfrm>
        </p:spPr>
        <p:txBody>
          <a:bodyPr/>
          <a:lstStyle/>
          <a:p>
            <a:pPr marL="0" indent="0" algn="l"/>
            <a:r>
              <a:rPr lang="en-US" sz="1500" dirty="0">
                <a:solidFill>
                  <a:srgbClr val="000000"/>
                </a:solidFill>
              </a:rPr>
              <a:t>Switches use one of the following forwarding methods for switching data between network ports:</a:t>
            </a:r>
          </a:p>
          <a:p>
            <a:pPr marL="285750" indent="-285750" algn="l">
              <a:buFont typeface="Arial" panose="020B0604020202020204" pitchFamily="34" charset="0"/>
              <a:buChar char="•"/>
            </a:pPr>
            <a:r>
              <a:rPr lang="en-US" sz="1500" b="1" dirty="0">
                <a:solidFill>
                  <a:srgbClr val="000000"/>
                </a:solidFill>
              </a:rPr>
              <a:t>Store-and-forward switching</a:t>
            </a:r>
            <a:r>
              <a:rPr lang="en-US" sz="1500" dirty="0">
                <a:solidFill>
                  <a:srgbClr val="000000"/>
                </a:solidFill>
              </a:rPr>
              <a:t> - This frame forwarding method receives the entire frame and computes the CRC. If the CRC is valid, the switch looks up the destination address, which determines the outgoing interface. Then the frame is forwarded out of the correct port.</a:t>
            </a:r>
          </a:p>
          <a:p>
            <a:pPr marL="285750" indent="-285750" algn="l">
              <a:buFont typeface="Arial" panose="020B0604020202020204" pitchFamily="34" charset="0"/>
              <a:buChar char="•"/>
            </a:pPr>
            <a:r>
              <a:rPr lang="en-US" sz="1500" b="1" dirty="0">
                <a:solidFill>
                  <a:srgbClr val="000000"/>
                </a:solidFill>
              </a:rPr>
              <a:t>Cut-through switching</a:t>
            </a:r>
            <a:r>
              <a:rPr lang="en-US" sz="1500" dirty="0">
                <a:solidFill>
                  <a:srgbClr val="000000"/>
                </a:solidFill>
              </a:rPr>
              <a:t> - This frame forwarding method forwards the frame before it is entirely received. At a minimum, the destination address of the frame must be read before the frame can be forwarded.</a:t>
            </a:r>
          </a:p>
          <a:p>
            <a:pPr marL="0" indent="0" algn="l"/>
            <a:endParaRPr lang="en-US" sz="1500" dirty="0">
              <a:solidFill>
                <a:srgbClr val="000000"/>
              </a:solidFill>
            </a:endParaRPr>
          </a:p>
          <a:p>
            <a:pPr marL="285750" indent="-285750" algn="l">
              <a:buFont typeface="Arial" panose="020B0604020202020204" pitchFamily="34" charset="0"/>
              <a:buChar char="•"/>
            </a:pPr>
            <a:r>
              <a:rPr lang="en-US" sz="1500" dirty="0">
                <a:solidFill>
                  <a:srgbClr val="000000"/>
                </a:solidFill>
              </a:rPr>
              <a:t>A big advantage of store-and-forward switching is that it determines if a frame has errors before propagating the frame. When an error is detected in a frame, the switch discards the frame. Discarding frames with errors reduces the amount of bandwidth consumed by corrupt data. </a:t>
            </a:r>
          </a:p>
          <a:p>
            <a:pPr marL="285750" indent="-285750" algn="l">
              <a:buFont typeface="Arial" panose="020B0604020202020204" pitchFamily="34" charset="0"/>
              <a:buChar char="•"/>
            </a:pPr>
            <a:r>
              <a:rPr lang="en-US" sz="1500" dirty="0">
                <a:solidFill>
                  <a:srgbClr val="000000"/>
                </a:solidFill>
              </a:rPr>
              <a:t>Store-and-forward switching is required for quality of service (QoS) analysis on converged networks where frame classification for traffic prioritization is necessary. For example, voice over IP (VoIP) data streams need to have priority over web-browsing traffic.</a:t>
            </a:r>
          </a:p>
          <a:p>
            <a:pPr marL="285750" indent="-28575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671932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Switch Speeds and Forwarding Methods</a:t>
            </a:r>
            <a:br>
              <a:rPr lang="en-US" dirty="0"/>
            </a:br>
            <a:r>
              <a:rPr lang="en-US" sz="2400" dirty="0"/>
              <a:t>Cut-Through Switching</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In cut-through switching, the switch acts upon the data as soon as it is received, even if the transmission is not complete. The switch buffers just enough of the frame to read the destination MAC address so that it can determine to which port it should forward out the data. The switch does not perform any error checking on the frame.</a:t>
            </a:r>
          </a:p>
          <a:p>
            <a:pPr marL="0" indent="0" algn="l"/>
            <a:r>
              <a:rPr lang="en-US" sz="1600" dirty="0">
                <a:solidFill>
                  <a:srgbClr val="000000"/>
                </a:solidFill>
              </a:rPr>
              <a:t>There are two variants of cut-through switching:</a:t>
            </a:r>
          </a:p>
          <a:p>
            <a:pPr lvl="1">
              <a:buFont typeface="Arial" panose="020B0604020202020204" pitchFamily="34" charset="0"/>
              <a:buChar char="•"/>
            </a:pPr>
            <a:r>
              <a:rPr lang="en-US" sz="1500" b="1" dirty="0">
                <a:solidFill>
                  <a:srgbClr val="000000"/>
                </a:solidFill>
              </a:rPr>
              <a:t>Fast-forward switching -</a:t>
            </a:r>
            <a:r>
              <a:rPr lang="en-US" sz="1500" dirty="0">
                <a:solidFill>
                  <a:srgbClr val="000000"/>
                </a:solidFill>
              </a:rPr>
              <a:t> Offers the lowest level of latency by immediately forwarding a packet after reading the </a:t>
            </a:r>
            <a:r>
              <a:rPr lang="en-US" sz="1500" b="1" dirty="0">
                <a:solidFill>
                  <a:srgbClr val="000000"/>
                </a:solidFill>
              </a:rPr>
              <a:t>destination address</a:t>
            </a:r>
            <a:r>
              <a:rPr lang="en-US" sz="1500" dirty="0">
                <a:solidFill>
                  <a:srgbClr val="000000"/>
                </a:solidFill>
              </a:rPr>
              <a:t>. Because fast-forward switching starts forwarding before the entire packet has been received, there may be times when packets are relayed with errors. The destination NIC discards the faulty packet upon receipt. Fast-forward switching is the typical cut-through method of switching.</a:t>
            </a:r>
          </a:p>
          <a:p>
            <a:pPr lvl="1">
              <a:buFont typeface="Arial" panose="020B0604020202020204" pitchFamily="34" charset="0"/>
              <a:buChar char="•"/>
            </a:pPr>
            <a:r>
              <a:rPr lang="en-US" sz="1500" b="1" dirty="0">
                <a:solidFill>
                  <a:srgbClr val="000000"/>
                </a:solidFill>
              </a:rPr>
              <a:t>Fragment-free switching -</a:t>
            </a:r>
            <a:r>
              <a:rPr lang="en-US" sz="1500" dirty="0">
                <a:solidFill>
                  <a:srgbClr val="000000"/>
                </a:solidFill>
              </a:rPr>
              <a:t> A compromise between the high latency and high integrity of store-and-forward switching and the low latency and reduced integrity of fast-forward switching, the switch stores and performs an error check on the </a:t>
            </a:r>
            <a:r>
              <a:rPr lang="en-US" sz="1500" b="1" dirty="0">
                <a:solidFill>
                  <a:srgbClr val="000000"/>
                </a:solidFill>
              </a:rPr>
              <a:t>first 64 bytes</a:t>
            </a:r>
            <a:r>
              <a:rPr lang="en-US" sz="1500" dirty="0">
                <a:solidFill>
                  <a:srgbClr val="000000"/>
                </a:solidFill>
              </a:rPr>
              <a:t> of the frame before forwarding. Because most network errors and collisions occur during the first 64 bytes, this ensures that a collision has not occurred before forwarding the frame.</a:t>
            </a:r>
          </a:p>
        </p:txBody>
      </p:sp>
    </p:spTree>
    <p:extLst>
      <p:ext uri="{BB962C8B-B14F-4D97-AF65-F5344CB8AC3E}">
        <p14:creationId xmlns:p14="http://schemas.microsoft.com/office/powerpoint/2010/main" val="20216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Switch Speeds and Forwarding Methods</a:t>
            </a:r>
            <a:br>
              <a:rPr lang="en-US" dirty="0"/>
            </a:br>
            <a:r>
              <a:rPr lang="en-US" sz="2400" dirty="0"/>
              <a:t>Memory Buffering on Switches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500519"/>
          </a:xfrm>
        </p:spPr>
        <p:txBody>
          <a:bodyPr/>
          <a:lstStyle/>
          <a:p>
            <a:pPr marL="0" indent="0" algn="l"/>
            <a:r>
              <a:rPr lang="en-US" sz="1400" dirty="0">
                <a:solidFill>
                  <a:srgbClr val="000000"/>
                </a:solidFill>
              </a:rPr>
              <a:t>An Ethernet switch may use a buffering technique to store frames before forwarding them or when the destination port is busy because of congestion. </a:t>
            </a: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endParaRPr lang="en-US" sz="1400" dirty="0">
              <a:solidFill>
                <a:srgbClr val="000000"/>
              </a:solidFill>
            </a:endParaRPr>
          </a:p>
          <a:p>
            <a:pPr marL="285750" indent="-285750" algn="l">
              <a:buFont typeface="Arial" panose="020B0604020202020204" pitchFamily="34" charset="0"/>
              <a:buChar char="•"/>
            </a:pPr>
            <a:r>
              <a:rPr lang="en-US" sz="1400" dirty="0">
                <a:solidFill>
                  <a:srgbClr val="000000"/>
                </a:solidFill>
              </a:rPr>
              <a:t>Shared memory buffering also results in larger frames that can be transmitted with fewer dropped frames. This is important with asymmetric switching which allows for different data rates on different ports. Therefore, more bandwidth can be dedicated to certain ports (e.g., server port).</a:t>
            </a:r>
          </a:p>
        </p:txBody>
      </p:sp>
      <p:graphicFrame>
        <p:nvGraphicFramePr>
          <p:cNvPr id="2" name="Table 1">
            <a:extLst>
              <a:ext uri="{FF2B5EF4-FFF2-40B4-BE49-F238E27FC236}">
                <a16:creationId xmlns:a16="http://schemas.microsoft.com/office/drawing/2014/main" id="{0138F2A8-C500-184D-877E-6BADCD4F07C5}"/>
              </a:ext>
            </a:extLst>
          </p:cNvPr>
          <p:cNvGraphicFramePr>
            <a:graphicFrameLocks noGrp="1"/>
          </p:cNvGraphicFramePr>
          <p:nvPr/>
        </p:nvGraphicFramePr>
        <p:xfrm>
          <a:off x="761441" y="1306225"/>
          <a:ext cx="7706498" cy="2573020"/>
        </p:xfrm>
        <a:graphic>
          <a:graphicData uri="http://schemas.openxmlformats.org/drawingml/2006/table">
            <a:tbl>
              <a:tblPr firstRow="1" bandRow="1">
                <a:tableStyleId>{5C22544A-7EE6-4342-B048-85BDC9FD1C3A}</a:tableStyleId>
              </a:tblPr>
              <a:tblGrid>
                <a:gridCol w="1561629">
                  <a:extLst>
                    <a:ext uri="{9D8B030D-6E8A-4147-A177-3AD203B41FA5}">
                      <a16:colId xmlns:a16="http://schemas.microsoft.com/office/drawing/2014/main" val="2223784943"/>
                    </a:ext>
                  </a:extLst>
                </a:gridCol>
                <a:gridCol w="6144869">
                  <a:extLst>
                    <a:ext uri="{9D8B030D-6E8A-4147-A177-3AD203B41FA5}">
                      <a16:colId xmlns:a16="http://schemas.microsoft.com/office/drawing/2014/main" val="80051659"/>
                    </a:ext>
                  </a:extLst>
                </a:gridCol>
              </a:tblGrid>
              <a:tr h="370840">
                <a:tc>
                  <a:txBody>
                    <a:bodyPr/>
                    <a:lstStyle/>
                    <a:p>
                      <a:pPr algn="l" fontAlgn="ctr"/>
                      <a:r>
                        <a:rPr lang="en-US" sz="1200" dirty="0">
                          <a:effectLst/>
                        </a:rPr>
                        <a:t>Method</a:t>
                      </a:r>
                    </a:p>
                  </a:txBody>
                  <a:tcPr marL="47625" marR="47625" marT="47625" marB="47625" anchor="ctr"/>
                </a:tc>
                <a:tc>
                  <a:txBody>
                    <a:bodyPr/>
                    <a:lstStyle/>
                    <a:p>
                      <a:pPr algn="l" fontAlgn="ctr"/>
                      <a:r>
                        <a:rPr lang="en-US" sz="1200" dirty="0">
                          <a:effectLst/>
                        </a:rPr>
                        <a:t>Description</a:t>
                      </a:r>
                    </a:p>
                  </a:txBody>
                  <a:tcPr marL="47625" marR="47625" marT="47625" marB="47625" anchor="ctr"/>
                </a:tc>
                <a:extLst>
                  <a:ext uri="{0D108BD9-81ED-4DB2-BD59-A6C34878D82A}">
                    <a16:rowId xmlns:a16="http://schemas.microsoft.com/office/drawing/2014/main" val="902563454"/>
                  </a:ext>
                </a:extLst>
              </a:tr>
              <a:tr h="370840">
                <a:tc>
                  <a:txBody>
                    <a:bodyPr/>
                    <a:lstStyle/>
                    <a:p>
                      <a:pPr fontAlgn="ctr"/>
                      <a:r>
                        <a:rPr lang="en-US" sz="1200" b="1" dirty="0">
                          <a:effectLst/>
                        </a:rPr>
                        <a:t>Port-based memory</a:t>
                      </a:r>
                      <a:endParaRPr lang="en-US" sz="1200" b="0" dirty="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Frames are stored in queues that are linked to specific incoming and outgoing ports.</a:t>
                      </a:r>
                    </a:p>
                    <a:p>
                      <a:pPr fontAlgn="ctr">
                        <a:buFont typeface="Arial" panose="020B0604020202020204" pitchFamily="34" charset="0"/>
                        <a:buChar char="•"/>
                      </a:pPr>
                      <a:r>
                        <a:rPr lang="en-US" sz="1200" b="0" dirty="0">
                          <a:effectLst/>
                        </a:rPr>
                        <a:t>A frame is transmitted to the outgoing port only when all the frames ahead in the queue have been successfully transmitted.</a:t>
                      </a:r>
                    </a:p>
                    <a:p>
                      <a:pPr fontAlgn="ctr">
                        <a:buFont typeface="Arial" panose="020B0604020202020204" pitchFamily="34" charset="0"/>
                        <a:buChar char="•"/>
                      </a:pPr>
                      <a:r>
                        <a:rPr lang="en-US" sz="1200" b="0" dirty="0">
                          <a:effectLst/>
                        </a:rPr>
                        <a:t>It is possible for a single frame to delay the transmission of all the frames in memory because of a busy destination port.</a:t>
                      </a:r>
                    </a:p>
                    <a:p>
                      <a:pPr fontAlgn="ctr">
                        <a:buFont typeface="Arial" panose="020B0604020202020204" pitchFamily="34" charset="0"/>
                        <a:buChar char="•"/>
                      </a:pPr>
                      <a:r>
                        <a:rPr lang="en-US" sz="1200" b="0" dirty="0">
                          <a:effectLst/>
                        </a:rPr>
                        <a:t>This delay occurs even if the other frames could be transmitted to open destination ports.</a:t>
                      </a:r>
                    </a:p>
                  </a:txBody>
                  <a:tcPr marL="47625" marR="47625" marT="47625" marB="47625" anchor="ctr"/>
                </a:tc>
                <a:extLst>
                  <a:ext uri="{0D108BD9-81ED-4DB2-BD59-A6C34878D82A}">
                    <a16:rowId xmlns:a16="http://schemas.microsoft.com/office/drawing/2014/main" val="4000291324"/>
                  </a:ext>
                </a:extLst>
              </a:tr>
              <a:tr h="370840">
                <a:tc>
                  <a:txBody>
                    <a:bodyPr/>
                    <a:lstStyle/>
                    <a:p>
                      <a:pPr fontAlgn="ctr"/>
                      <a:r>
                        <a:rPr lang="en-US" sz="1200" b="1" dirty="0">
                          <a:effectLst/>
                        </a:rPr>
                        <a:t>Shared memory</a:t>
                      </a:r>
                      <a:endParaRPr lang="en-US" sz="1200" b="0" dirty="0">
                        <a:effectLst/>
                      </a:endParaRPr>
                    </a:p>
                  </a:txBody>
                  <a:tcPr marL="47625" marR="47625" marT="47625" marB="47625" anchor="ctr"/>
                </a:tc>
                <a:tc>
                  <a:txBody>
                    <a:bodyPr/>
                    <a:lstStyle/>
                    <a:p>
                      <a:pPr fontAlgn="ctr">
                        <a:buFont typeface="Arial" panose="020B0604020202020204" pitchFamily="34" charset="0"/>
                        <a:buChar char="•"/>
                      </a:pPr>
                      <a:r>
                        <a:rPr lang="en-US" sz="1200" b="0" dirty="0">
                          <a:effectLst/>
                        </a:rPr>
                        <a:t>Deposits all frames into a common memory buffer shared by all switch ports and the amount of buffer memory required by a port is dynamically allocated.</a:t>
                      </a:r>
                    </a:p>
                    <a:p>
                      <a:pPr fontAlgn="ctr">
                        <a:buFont typeface="Arial" panose="020B0604020202020204" pitchFamily="34" charset="0"/>
                        <a:buChar char="•"/>
                      </a:pPr>
                      <a:r>
                        <a:rPr lang="en-US" sz="1200" b="0" dirty="0">
                          <a:effectLst/>
                        </a:rPr>
                        <a:t>The frames in the buffer are dynamically linked to the destination port enabling a packet to be received on one port and then transmitted on another port, without moving it to a different queue.</a:t>
                      </a:r>
                    </a:p>
                  </a:txBody>
                  <a:tcPr marL="47625" marR="47625" marT="47625" marB="47625" anchor="ctr"/>
                </a:tc>
                <a:extLst>
                  <a:ext uri="{0D108BD9-81ED-4DB2-BD59-A6C34878D82A}">
                    <a16:rowId xmlns:a16="http://schemas.microsoft.com/office/drawing/2014/main" val="4232877066"/>
                  </a:ext>
                </a:extLst>
              </a:tr>
            </a:tbl>
          </a:graphicData>
        </a:graphic>
      </p:graphicFrame>
    </p:spTree>
    <p:extLst>
      <p:ext uri="{BB962C8B-B14F-4D97-AF65-F5344CB8AC3E}">
        <p14:creationId xmlns:p14="http://schemas.microsoft.com/office/powerpoint/2010/main" val="35748840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Switch Speeds and Forwarding Methods</a:t>
            </a:r>
            <a:br>
              <a:rPr lang="en-US" dirty="0"/>
            </a:br>
            <a:r>
              <a:rPr lang="en-US" sz="2400" dirty="0"/>
              <a:t>Duplex and Speed Settings</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Two of the most basic settings on a switch are the bandwidth (“speed”) and duplex settings for each individual switch port. It is critical that the duplex and bandwidth settings match between the switch port and the connected devices.</a:t>
            </a:r>
          </a:p>
          <a:p>
            <a:pPr marL="0" indent="0" algn="l"/>
            <a:endParaRPr lang="en-US" sz="1600" dirty="0">
              <a:solidFill>
                <a:srgbClr val="000000"/>
              </a:solidFill>
            </a:endParaRPr>
          </a:p>
          <a:p>
            <a:pPr marL="0" indent="0" algn="l"/>
            <a:r>
              <a:rPr lang="en-US" sz="1600" dirty="0">
                <a:solidFill>
                  <a:srgbClr val="000000"/>
                </a:solidFill>
              </a:rPr>
              <a:t>There are two types of duplex settings used for communications on an Ethernet network:</a:t>
            </a:r>
          </a:p>
          <a:p>
            <a:pPr marL="358835" lvl="1" indent="-285750">
              <a:buFont typeface="Arial" panose="020B0604020202020204" pitchFamily="34" charset="0"/>
              <a:buChar char="•"/>
            </a:pPr>
            <a:r>
              <a:rPr lang="en-US" sz="1600" b="1" dirty="0">
                <a:solidFill>
                  <a:srgbClr val="000000"/>
                </a:solidFill>
              </a:rPr>
              <a:t>Full-duplex</a:t>
            </a:r>
            <a:r>
              <a:rPr lang="en-US" sz="1600" dirty="0">
                <a:solidFill>
                  <a:srgbClr val="000000"/>
                </a:solidFill>
              </a:rPr>
              <a:t> - Both ends of the connection can send and receive simultaneously.</a:t>
            </a:r>
          </a:p>
          <a:p>
            <a:pPr marL="358835" lvl="1" indent="-285750">
              <a:buFont typeface="Arial" panose="020B0604020202020204" pitchFamily="34" charset="0"/>
              <a:buChar char="•"/>
            </a:pPr>
            <a:r>
              <a:rPr lang="en-US" sz="1600" b="1" dirty="0">
                <a:solidFill>
                  <a:srgbClr val="000000"/>
                </a:solidFill>
              </a:rPr>
              <a:t>Half-duplex</a:t>
            </a:r>
            <a:r>
              <a:rPr lang="en-US" sz="1600" dirty="0">
                <a:solidFill>
                  <a:srgbClr val="000000"/>
                </a:solidFill>
              </a:rPr>
              <a:t> - Only one end of the connection can send at a time.</a:t>
            </a:r>
          </a:p>
          <a:p>
            <a:pPr marL="0" indent="0" algn="l"/>
            <a:endParaRPr lang="en-US" sz="1600" dirty="0">
              <a:solidFill>
                <a:srgbClr val="000000"/>
              </a:solidFill>
            </a:endParaRPr>
          </a:p>
          <a:p>
            <a:pPr marL="0" indent="0" algn="l"/>
            <a:r>
              <a:rPr lang="en-US" sz="1600" dirty="0">
                <a:solidFill>
                  <a:srgbClr val="000000"/>
                </a:solidFill>
              </a:rPr>
              <a:t>Autonegotiation is an optional function found on most Ethernet switches and NICs. It enables two devices to automatically negotiate the best speed and duplex capabilities.</a:t>
            </a:r>
          </a:p>
          <a:p>
            <a:pPr marL="0" indent="0" algn="l"/>
            <a:endParaRPr lang="en-US" sz="1600" b="1" dirty="0">
              <a:solidFill>
                <a:srgbClr val="000000"/>
              </a:solidFill>
            </a:endParaRPr>
          </a:p>
          <a:p>
            <a:pPr marL="0" indent="0" algn="l"/>
            <a:r>
              <a:rPr lang="en-US" sz="1600" b="1" dirty="0">
                <a:solidFill>
                  <a:srgbClr val="000000"/>
                </a:solidFill>
              </a:rPr>
              <a:t>Note</a:t>
            </a:r>
            <a:r>
              <a:rPr lang="en-US" sz="1600" dirty="0">
                <a:solidFill>
                  <a:srgbClr val="000000"/>
                </a:solidFill>
              </a:rPr>
              <a:t>: Gigabit Ethernet ports only operate in full-duplex. </a:t>
            </a:r>
          </a:p>
        </p:txBody>
      </p:sp>
    </p:spTree>
    <p:extLst>
      <p:ext uri="{BB962C8B-B14F-4D97-AF65-F5344CB8AC3E}">
        <p14:creationId xmlns:p14="http://schemas.microsoft.com/office/powerpoint/2010/main" val="491299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Switch Speeds and Forwarding Methods</a:t>
            </a:r>
            <a:br>
              <a:rPr lang="en-US" dirty="0"/>
            </a:br>
            <a:r>
              <a:rPr lang="en-US" sz="2400" dirty="0"/>
              <a:t>Duplex and Speed Settings</a:t>
            </a:r>
          </a:p>
        </p:txBody>
      </p:sp>
      <p:sp>
        <p:nvSpPr>
          <p:cNvPr id="5" name="Content Placeholder 4">
            <a:extLst>
              <a:ext uri="{FF2B5EF4-FFF2-40B4-BE49-F238E27FC236}">
                <a16:creationId xmlns:a16="http://schemas.microsoft.com/office/drawing/2014/main" id="{EAF5B935-3345-4044-9B1C-FFAA3841A95F}"/>
              </a:ext>
            </a:extLst>
          </p:cNvPr>
          <p:cNvSpPr>
            <a:spLocks noGrp="1"/>
          </p:cNvSpPr>
          <p:nvPr>
            <p:ph idx="1"/>
          </p:nvPr>
        </p:nvSpPr>
        <p:spPr>
          <a:xfrm>
            <a:off x="474662" y="763736"/>
            <a:ext cx="8280057" cy="2140258"/>
          </a:xfrm>
        </p:spPr>
        <p:txBody>
          <a:bodyPr/>
          <a:lstStyle/>
          <a:p>
            <a:pPr marL="342900" indent="-342900" algn="l">
              <a:buFont typeface="Arial" panose="020B0604020202020204" pitchFamily="34" charset="0"/>
              <a:buChar char="•"/>
            </a:pPr>
            <a:r>
              <a:rPr lang="en-US" sz="1600" dirty="0">
                <a:solidFill>
                  <a:srgbClr val="000000"/>
                </a:solidFill>
              </a:rPr>
              <a:t>Duplex mismatch is one of the most common causes of performance issues on 10/100 Mbps Ethernet links. It occurs when one port on the link operates at half-duplex while the other port operates at full-duplex.</a:t>
            </a:r>
          </a:p>
          <a:p>
            <a:pPr marL="342900" indent="-342900" algn="l">
              <a:buFont typeface="Arial" panose="020B0604020202020204" pitchFamily="34" charset="0"/>
              <a:buChar char="•"/>
            </a:pPr>
            <a:r>
              <a:rPr lang="en-US" sz="1600" dirty="0">
                <a:solidFill>
                  <a:srgbClr val="000000"/>
                </a:solidFill>
              </a:rPr>
              <a:t>This can occur when one or both ports on a link are reset, and the autonegotiation process does not result in both link partners having the same configuration. </a:t>
            </a:r>
          </a:p>
          <a:p>
            <a:pPr marL="342900" indent="-342900" algn="l">
              <a:buFont typeface="Arial" panose="020B0604020202020204" pitchFamily="34" charset="0"/>
              <a:buChar char="•"/>
            </a:pPr>
            <a:r>
              <a:rPr lang="en-US" sz="1600" dirty="0">
                <a:solidFill>
                  <a:srgbClr val="000000"/>
                </a:solidFill>
              </a:rPr>
              <a:t>It also can occur when users reconfigure one side of a link and forget to reconfigure the other. Both sides of a link should have autonegotiation on, or both sides should have it off. Best practice is to configure both Ethernet switch ports as full-duplex.</a:t>
            </a:r>
          </a:p>
        </p:txBody>
      </p:sp>
      <p:pic>
        <p:nvPicPr>
          <p:cNvPr id="7" name="Picture 6">
            <a:extLst>
              <a:ext uri="{FF2B5EF4-FFF2-40B4-BE49-F238E27FC236}">
                <a16:creationId xmlns:a16="http://schemas.microsoft.com/office/drawing/2014/main" id="{E391F5F5-84B2-074A-ADD6-27895E0506BE}"/>
              </a:ext>
            </a:extLst>
          </p:cNvPr>
          <p:cNvPicPr>
            <a:picLocks noChangeAspect="1"/>
          </p:cNvPicPr>
          <p:nvPr/>
        </p:nvPicPr>
        <p:blipFill>
          <a:blip r:embed="rId3"/>
          <a:stretch>
            <a:fillRect/>
          </a:stretch>
        </p:blipFill>
        <p:spPr>
          <a:xfrm>
            <a:off x="1210704" y="2989719"/>
            <a:ext cx="6722591" cy="1694312"/>
          </a:xfrm>
          <a:prstGeom prst="rect">
            <a:avLst/>
          </a:prstGeom>
        </p:spPr>
      </p:pic>
    </p:spTree>
    <p:extLst>
      <p:ext uri="{BB962C8B-B14F-4D97-AF65-F5344CB8AC3E}">
        <p14:creationId xmlns:p14="http://schemas.microsoft.com/office/powerpoint/2010/main" val="773546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Switch Speeds and Forwarding Methods</a:t>
            </a:r>
            <a:br>
              <a:rPr lang="en-US" dirty="0"/>
            </a:br>
            <a:r>
              <a:rPr lang="en-US" sz="2400" dirty="0"/>
              <a:t>Auto-MDIX</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Connections between devices once required the use of either a crossover or straight-through cable. The type of cable required depended on the type of interconnecting devices.</a:t>
            </a:r>
          </a:p>
          <a:p>
            <a:pPr marL="0" indent="0" algn="l"/>
            <a:r>
              <a:rPr lang="en-US" sz="1600" b="1" dirty="0">
                <a:solidFill>
                  <a:srgbClr val="000000"/>
                </a:solidFill>
              </a:rPr>
              <a:t>Note</a:t>
            </a:r>
            <a:r>
              <a:rPr lang="en-US" sz="1600" dirty="0">
                <a:solidFill>
                  <a:srgbClr val="000000"/>
                </a:solidFill>
              </a:rPr>
              <a:t>: A direct connection between a router and a host requires a cross-over connection.</a:t>
            </a:r>
          </a:p>
          <a:p>
            <a:pPr marL="0" indent="0" algn="l"/>
            <a:endParaRPr lang="en-US" sz="1600" dirty="0">
              <a:solidFill>
                <a:srgbClr val="000000"/>
              </a:solidFill>
            </a:endParaRPr>
          </a:p>
          <a:p>
            <a:pPr marL="285750" indent="-285750" algn="l">
              <a:buFont typeface="Arial" panose="020B0604020202020204" pitchFamily="34" charset="0"/>
              <a:buChar char="•"/>
            </a:pPr>
            <a:r>
              <a:rPr lang="en-US" sz="1600" dirty="0">
                <a:solidFill>
                  <a:srgbClr val="000000"/>
                </a:solidFill>
              </a:rPr>
              <a:t>Most switch devices now support the automatic medium-dependent interface crossover (auto-MDIX) feature. When enabled, the switch automatically detects the type of cable attached to the port and configures the interfaces accordingly. </a:t>
            </a:r>
          </a:p>
          <a:p>
            <a:pPr marL="285750" indent="-285750" algn="l">
              <a:buFont typeface="Arial" panose="020B0604020202020204" pitchFamily="34" charset="0"/>
              <a:buChar char="•"/>
            </a:pPr>
            <a:r>
              <a:rPr lang="en-US" sz="1600" dirty="0">
                <a:solidFill>
                  <a:srgbClr val="000000"/>
                </a:solidFill>
              </a:rPr>
              <a:t>The auto-MDIX feature is enabled by default on switches running Cisco IOS Release 12.2(18)SE or later. However, the feature could be disabled. For this reason, you should always use the correct cable type and not rely on the auto-MDIX feature. </a:t>
            </a:r>
          </a:p>
          <a:p>
            <a:pPr marL="285750" indent="-285750" algn="l">
              <a:buFont typeface="Arial" panose="020B0604020202020204" pitchFamily="34" charset="0"/>
              <a:buChar char="•"/>
            </a:pPr>
            <a:r>
              <a:rPr lang="en-US" sz="1600" dirty="0">
                <a:solidFill>
                  <a:srgbClr val="000000"/>
                </a:solidFill>
              </a:rPr>
              <a:t>Auto-MDIX can be re-enabled using the </a:t>
            </a:r>
            <a:r>
              <a:rPr lang="en-US" sz="1600" b="1" dirty="0">
                <a:solidFill>
                  <a:srgbClr val="000000"/>
                </a:solidFill>
              </a:rPr>
              <a:t>mdix auto</a:t>
            </a:r>
            <a:r>
              <a:rPr lang="en-US" sz="1600" dirty="0">
                <a:solidFill>
                  <a:srgbClr val="000000"/>
                </a:solidFill>
              </a:rPr>
              <a:t> interface configuration command.</a:t>
            </a:r>
          </a:p>
          <a:p>
            <a:pPr marL="285750" indent="-28575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3539145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937940204"/>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8893</TotalTime>
  <Words>4795</Words>
  <Application>Microsoft Macintosh PowerPoint</Application>
  <PresentationFormat>Prezentácia na obrazovke (16:9)</PresentationFormat>
  <Paragraphs>487</Paragraphs>
  <Slides>47</Slides>
  <Notes>47</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47</vt:i4>
      </vt:variant>
    </vt:vector>
  </HeadingPairs>
  <TitlesOfParts>
    <vt:vector size="52" baseType="lpstr">
      <vt:lpstr>Arial</vt:lpstr>
      <vt:lpstr>Arial</vt:lpstr>
      <vt:lpstr>Calibri</vt:lpstr>
      <vt:lpstr>CiscoSans ExtraLight</vt:lpstr>
      <vt:lpstr>Default Theme</vt:lpstr>
      <vt:lpstr>Module 6: Data Link Layer</vt:lpstr>
      <vt:lpstr>6.1 Purpose of the Data Link Layer</vt:lpstr>
      <vt:lpstr>Purpose of the Data Link Layer The Data Link Layer</vt:lpstr>
      <vt:lpstr>Purpose of the Data Link Layer IEEE 802 LAN/MAN Data Link Sublayers</vt:lpstr>
      <vt:lpstr>Purpose of the Data Link Layer Providing Access to Media</vt:lpstr>
      <vt:lpstr>Purpose of the Data Link Layer Data Link Layer Standards</vt:lpstr>
      <vt:lpstr>6.2 Topologies</vt:lpstr>
      <vt:lpstr>Topologies Physical and Logical Topologies</vt:lpstr>
      <vt:lpstr>Topologies WAN Topologies</vt:lpstr>
      <vt:lpstr>Topologies Point-to-Point WAN Topology</vt:lpstr>
      <vt:lpstr>Topologies LAN Topologies</vt:lpstr>
      <vt:lpstr>Prezentácia programu PowerPoint</vt:lpstr>
      <vt:lpstr>Prezentácia programu PowerPoint</vt:lpstr>
      <vt:lpstr>Prezentácia programu PowerPoint</vt:lpstr>
      <vt:lpstr>Prezentácia programu PowerPoint</vt:lpstr>
      <vt:lpstr>6.3 Data Link Frame</vt:lpstr>
      <vt:lpstr>Data Link Frame The Frame</vt:lpstr>
      <vt:lpstr>Data Link Frame Frame Fields</vt:lpstr>
      <vt:lpstr>Data Link Frame Layer 2 Addresses</vt:lpstr>
      <vt:lpstr>Data Link Frame LAN and WAN Frames</vt:lpstr>
      <vt:lpstr>Module 7: Ethernet Switching</vt:lpstr>
      <vt:lpstr>7.1 Ethernet Frames</vt:lpstr>
      <vt:lpstr>Ethernet Frames Ethernet Encapsulation</vt:lpstr>
      <vt:lpstr>Ethernet Frames Data Link Sublayers</vt:lpstr>
      <vt:lpstr>Ethernet Frames MAC Sublayer</vt:lpstr>
      <vt:lpstr>Ethernet Frames MAC Sublayer</vt:lpstr>
      <vt:lpstr>Ethernet Frames Ethernet Frame Fields</vt:lpstr>
      <vt:lpstr>7.2 Ethernet MAC Address</vt:lpstr>
      <vt:lpstr>Ethernet MAC Addresses MAC Address and Hexadecimal</vt:lpstr>
      <vt:lpstr>Ethernet MAC Addresses Ethernet MAC Address</vt:lpstr>
      <vt:lpstr>Ethernet MAC Addresses Frame Processing</vt:lpstr>
      <vt:lpstr>Ethernet MAC Addresses Unicast MAC Address</vt:lpstr>
      <vt:lpstr>Ethernet MAC Addresses Broadcast MAC Address</vt:lpstr>
      <vt:lpstr>Ethernet MAC Addresses Multicast MAC Address</vt:lpstr>
      <vt:lpstr>7.3 The MAC Address Table</vt:lpstr>
      <vt:lpstr>The MAC Address Table Switch Fundamentals</vt:lpstr>
      <vt:lpstr>The MAC Address Table Switch Learning and Forwarding</vt:lpstr>
      <vt:lpstr>The MAC Address Table Switch Learning and Forwarding (Contd.)</vt:lpstr>
      <vt:lpstr>The MAC Address Table Filtering Frames</vt:lpstr>
      <vt:lpstr>7.4 Switch Speeds and Forwarding Methods</vt:lpstr>
      <vt:lpstr>Switch Speeds and Forwarding Methods Frame Forwarding Methods on Cisco Switches</vt:lpstr>
      <vt:lpstr>Switch Speeds and Forwarding Methods Cut-Through Switching</vt:lpstr>
      <vt:lpstr>Switch Speeds and Forwarding Methods Memory Buffering on Switches</vt:lpstr>
      <vt:lpstr>Switch Speeds and Forwarding Methods Duplex and Speed Settings</vt:lpstr>
      <vt:lpstr>Switch Speeds and Forwarding Methods Duplex and Speed Settings</vt:lpstr>
      <vt:lpstr>Switch Speeds and Forwarding Methods Auto-MDIX</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Július Baráth</cp:lastModifiedBy>
  <cp:revision>248</cp:revision>
  <dcterms:created xsi:type="dcterms:W3CDTF">2019-10-18T06:21:22Z</dcterms:created>
  <dcterms:modified xsi:type="dcterms:W3CDTF">2025-03-05T09:31:53Z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
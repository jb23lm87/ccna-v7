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tags/tag3.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tags/tag4.xml" ContentType="application/vnd.openxmlformats-officedocument.presentationml.tags+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tags/tag5.xml" ContentType="application/vnd.openxmlformats-officedocument.presentationml.tag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tags/tag6.xml" ContentType="application/vnd.openxmlformats-officedocument.presentationml.tags+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tags/tag7.xml" ContentType="application/vnd.openxmlformats-officedocument.presentationml.tags+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tags/tag8.xml" ContentType="application/vnd.openxmlformats-officedocument.presentationml.tags+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tags/tag9.xml" ContentType="application/vnd.openxmlformats-officedocument.presentationml.tags+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tags/tag10.xml" ContentType="application/vnd.openxmlformats-officedocument.presentationml.tags+xml"/>
  <Override PartName="/ppt/notesSlides/notesSlide4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0" r:id="rId1"/>
  </p:sldMasterIdLst>
  <p:notesMasterIdLst>
    <p:notesMasterId r:id="rId48"/>
  </p:notesMasterIdLst>
  <p:sldIdLst>
    <p:sldId id="876" r:id="rId2"/>
    <p:sldId id="759" r:id="rId3"/>
    <p:sldId id="1108" r:id="rId4"/>
    <p:sldId id="1145" r:id="rId5"/>
    <p:sldId id="1146" r:id="rId6"/>
    <p:sldId id="1147" r:id="rId7"/>
    <p:sldId id="1148" r:id="rId8"/>
    <p:sldId id="1056" r:id="rId9"/>
    <p:sldId id="1149" r:id="rId10"/>
    <p:sldId id="1150" r:id="rId11"/>
    <p:sldId id="1151" r:id="rId12"/>
    <p:sldId id="1152" r:id="rId13"/>
    <p:sldId id="1103" r:id="rId14"/>
    <p:sldId id="1153" r:id="rId15"/>
    <p:sldId id="1154" r:id="rId16"/>
    <p:sldId id="1155" r:id="rId17"/>
    <p:sldId id="1104" r:id="rId18"/>
    <p:sldId id="1156" r:id="rId19"/>
    <p:sldId id="1157" r:id="rId20"/>
    <p:sldId id="1158" r:id="rId21"/>
    <p:sldId id="1159" r:id="rId22"/>
    <p:sldId id="1160" r:id="rId23"/>
    <p:sldId id="1161" r:id="rId24"/>
    <p:sldId id="1162" r:id="rId25"/>
    <p:sldId id="1163" r:id="rId26"/>
    <p:sldId id="1164" r:id="rId27"/>
    <p:sldId id="1140" r:id="rId28"/>
    <p:sldId id="1165" r:id="rId29"/>
    <p:sldId id="1166" r:id="rId30"/>
    <p:sldId id="1167" r:id="rId31"/>
    <p:sldId id="1168" r:id="rId32"/>
    <p:sldId id="1169" r:id="rId33"/>
    <p:sldId id="1170" r:id="rId34"/>
    <p:sldId id="1171" r:id="rId35"/>
    <p:sldId id="1139" r:id="rId36"/>
    <p:sldId id="1174" r:id="rId37"/>
    <p:sldId id="1175" r:id="rId38"/>
    <p:sldId id="1176" r:id="rId39"/>
    <p:sldId id="1177" r:id="rId40"/>
    <p:sldId id="1138" r:id="rId41"/>
    <p:sldId id="1178" r:id="rId42"/>
    <p:sldId id="1179" r:id="rId43"/>
    <p:sldId id="1180" r:id="rId44"/>
    <p:sldId id="1181" r:id="rId45"/>
    <p:sldId id="1182" r:id="rId46"/>
    <p:sldId id="291" r:id="rId47"/>
  </p:sldIdLst>
  <p:sldSz cx="9144000" cy="5143500" type="screen16x9"/>
  <p:notesSz cx="6858000" cy="9144000"/>
  <p:custDataLst>
    <p:tags r:id="rId49"/>
  </p:custDataLst>
  <p:defaultTextStyle>
    <a:defPPr>
      <a:defRPr lang="en-US"/>
    </a:defPPr>
    <a:lvl1pPr algn="l" defTabSz="457200"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defTabSz="457200"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defTabSz="457200"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defTabSz="457200"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defTabSz="457200"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1620">
          <p15:clr>
            <a:srgbClr val="A4A3A4"/>
          </p15:clr>
        </p15:guide>
        <p15:guide id="2" pos="336">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Barbara Reif" initials="BR" lastIdx="3" clrIdx="0"/>
  <p:cmAuthor id="1" name="Jane Gibbons -X (jagibbon - DEL ORO CONSULTING INC at Cisco)" initials="JG-(-DOCIaC" lastIdx="28" clrIdx="1">
    <p:extLst>
      <p:ext uri="{19B8F6BF-5375-455C-9EA6-DF929625EA0E}">
        <p15:presenceInfo xmlns:p15="http://schemas.microsoft.com/office/powerpoint/2012/main" userId="S-1-5-21-1708537768-1303643608-725345543-200204" providerId="AD"/>
      </p:ext>
    </p:extLst>
  </p:cmAuthor>
  <p:cmAuthor id="2" name="Bob Vachon" initials="BV" lastIdx="24" clrIdx="2">
    <p:extLst>
      <p:ext uri="{19B8F6BF-5375-455C-9EA6-DF929625EA0E}">
        <p15:presenceInfo xmlns:p15="http://schemas.microsoft.com/office/powerpoint/2012/main" userId="c7abe87968a0b633" providerId="Windows Live"/>
      </p:ext>
    </p:extLst>
  </p:cmAuthor>
  <p:cmAuthor id="3" name="Sue Livingston -X (suliving - UNICON INC at Cisco)" initials="SL-(-UIaC" lastIdx="18" clrIdx="3">
    <p:extLst>
      <p:ext uri="{19B8F6BF-5375-455C-9EA6-DF929625EA0E}">
        <p15:presenceInfo xmlns:p15="http://schemas.microsoft.com/office/powerpoint/2012/main" userId="S::suliving@cisco.com::dc701d48-dd51-411a-9041-b7f1328f1486" providerId="AD"/>
      </p:ext>
    </p:extLst>
  </p:cmAuthor>
  <p:cmAuthor id="4" name="jagibbon" initials="jmg" lastIdx="8" clrIdx="4">
    <p:extLst>
      <p:ext uri="{19B8F6BF-5375-455C-9EA6-DF929625EA0E}">
        <p15:presenceInfo xmlns:p15="http://schemas.microsoft.com/office/powerpoint/2012/main" userId="jagibbon" providerId="None"/>
      </p:ext>
    </p:extLst>
  </p:cmAuthor>
  <p:cmAuthor id="5" name="James Riedmueller" initials="JR" lastIdx="4" clrIdx="5">
    <p:extLst>
      <p:ext uri="{19B8F6BF-5375-455C-9EA6-DF929625EA0E}">
        <p15:presenceInfo xmlns:p15="http://schemas.microsoft.com/office/powerpoint/2012/main" userId="S::james.riedmueller@janusresearch.com::b99d3b23-48e9-4972-b41f-686df6a8cf32" providerId="AD"/>
      </p:ext>
    </p:extLst>
  </p:cmAuthor>
  <p:cmAuthor id="6" name="Anna Bolen-Testa" initials="AB" lastIdx="1" clrIdx="6">
    <p:extLst>
      <p:ext uri="{19B8F6BF-5375-455C-9EA6-DF929625EA0E}">
        <p15:presenceInfo xmlns:p15="http://schemas.microsoft.com/office/powerpoint/2012/main" userId="S-1-5-21-650795749-649990105-1978746762-714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00CC"/>
    <a:srgbClr val="000099"/>
    <a:srgbClr val="CC99FF"/>
    <a:srgbClr val="CC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651D787-E022-8246-9ED5-5D32C59AA605}" v="2" dt="2022-04-27T11:34:32.06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632" autoAdjust="0"/>
    <p:restoredTop sz="75102" autoAdjust="0"/>
  </p:normalViewPr>
  <p:slideViewPr>
    <p:cSldViewPr snapToGrid="0" showGuides="1">
      <p:cViewPr varScale="1">
        <p:scale>
          <a:sx n="171" d="100"/>
          <a:sy n="171" d="100"/>
        </p:scale>
        <p:origin x="272" y="168"/>
      </p:cViewPr>
      <p:guideLst>
        <p:guide orient="horz" pos="1620"/>
        <p:guide pos="336"/>
      </p:guideLst>
    </p:cSldViewPr>
  </p:slideViewPr>
  <p:outlineViewPr>
    <p:cViewPr>
      <p:scale>
        <a:sx n="33" d="100"/>
        <a:sy n="33" d="100"/>
      </p:scale>
      <p:origin x="0" y="0"/>
    </p:cViewPr>
  </p:outlineViewPr>
  <p:notesTextViewPr>
    <p:cViewPr>
      <p:scale>
        <a:sx n="1" d="1"/>
        <a:sy n="1" d="1"/>
      </p:scale>
      <p:origin x="0" y="0"/>
    </p:cViewPr>
  </p:notesTextViewPr>
  <p:sorterViewPr>
    <p:cViewPr>
      <p:scale>
        <a:sx n="111" d="100"/>
        <a:sy n="111" d="100"/>
      </p:scale>
      <p:origin x="0" y="-7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commentAuthors" Target="commentAuthors.xml"/><Relationship Id="rId55"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56"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gs" Target="tags/tag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úlius Baráth" userId="e650c4ab-697e-4750-bd58-c1531aabce95" providerId="ADAL" clId="{8651D787-E022-8246-9ED5-5D32C59AA605}"/>
    <pc:docChg chg="custSel modSld">
      <pc:chgData name="Július Baráth" userId="e650c4ab-697e-4750-bd58-c1531aabce95" providerId="ADAL" clId="{8651D787-E022-8246-9ED5-5D32C59AA605}" dt="2022-04-27T11:34:51.429" v="29" actId="1076"/>
      <pc:docMkLst>
        <pc:docMk/>
      </pc:docMkLst>
      <pc:sldChg chg="modSp mod">
        <pc:chgData name="Július Baráth" userId="e650c4ab-697e-4750-bd58-c1531aabce95" providerId="ADAL" clId="{8651D787-E022-8246-9ED5-5D32C59AA605}" dt="2022-04-27T11:28:07.736" v="23" actId="20577"/>
        <pc:sldMkLst>
          <pc:docMk/>
          <pc:sldMk cId="1680069717" sldId="1150"/>
        </pc:sldMkLst>
        <pc:spChg chg="mod">
          <ac:chgData name="Július Baráth" userId="e650c4ab-697e-4750-bd58-c1531aabce95" providerId="ADAL" clId="{8651D787-E022-8246-9ED5-5D32C59AA605}" dt="2022-04-27T11:28:07.736" v="23" actId="20577"/>
          <ac:spMkLst>
            <pc:docMk/>
            <pc:sldMk cId="1680069717" sldId="1150"/>
            <ac:spMk id="4" creationId="{293C6751-32AF-45A8-BF93-DE124C4DE534}"/>
          </ac:spMkLst>
        </pc:spChg>
      </pc:sldChg>
      <pc:sldChg chg="addSp delSp modSp mod">
        <pc:chgData name="Július Baráth" userId="e650c4ab-697e-4750-bd58-c1531aabce95" providerId="ADAL" clId="{8651D787-E022-8246-9ED5-5D32C59AA605}" dt="2022-04-27T11:34:51.429" v="29" actId="1076"/>
        <pc:sldMkLst>
          <pc:docMk/>
          <pc:sldMk cId="312038855" sldId="1167"/>
        </pc:sldMkLst>
        <pc:picChg chg="add mod">
          <ac:chgData name="Július Baráth" userId="e650c4ab-697e-4750-bd58-c1531aabce95" providerId="ADAL" clId="{8651D787-E022-8246-9ED5-5D32C59AA605}" dt="2022-04-27T09:53:12.755" v="3" actId="1076"/>
          <ac:picMkLst>
            <pc:docMk/>
            <pc:sldMk cId="312038855" sldId="1167"/>
            <ac:picMk id="2" creationId="{920430C3-8F9F-DA4E-8BE3-75EFE41C69F6}"/>
          </ac:picMkLst>
        </pc:picChg>
        <pc:picChg chg="add mod">
          <ac:chgData name="Július Baráth" userId="e650c4ab-697e-4750-bd58-c1531aabce95" providerId="ADAL" clId="{8651D787-E022-8246-9ED5-5D32C59AA605}" dt="2022-04-27T11:34:51.429" v="29" actId="1076"/>
          <ac:picMkLst>
            <pc:docMk/>
            <pc:sldMk cId="312038855" sldId="1167"/>
            <ac:picMk id="4" creationId="{DDED132B-F776-1D45-93EA-20D68CCD4C60}"/>
          </ac:picMkLst>
        </pc:picChg>
        <pc:picChg chg="del">
          <ac:chgData name="Július Baráth" userId="e650c4ab-697e-4750-bd58-c1531aabce95" providerId="ADAL" clId="{8651D787-E022-8246-9ED5-5D32C59AA605}" dt="2022-04-27T09:53:02.888" v="0" actId="478"/>
          <ac:picMkLst>
            <pc:docMk/>
            <pc:sldMk cId="312038855" sldId="1167"/>
            <ac:picMk id="7" creationId="{EE795C2D-8259-4647-9ACD-26D36EE5517C}"/>
          </ac:picMkLst>
        </pc:picChg>
      </pc:sldChg>
    </pc:docChg>
  </pc:docChgLst>
  <pc:docChgLst>
    <pc:chgData name="Július Baráth" userId="e650c4ab-697e-4750-bd58-c1531aabce95" providerId="ADAL" clId="{856BC706-B465-1A4D-9967-22236E640394}"/>
    <pc:docChg chg="delSld">
      <pc:chgData name="Július Baráth" userId="e650c4ab-697e-4750-bd58-c1531aabce95" providerId="ADAL" clId="{856BC706-B465-1A4D-9967-22236E640394}" dt="2020-01-20T11:58:12.639" v="14" actId="2696"/>
      <pc:docMkLst>
        <pc:docMk/>
      </pc:docMkLst>
      <pc:sldChg chg="del">
        <pc:chgData name="Július Baráth" userId="e650c4ab-697e-4750-bd58-c1531aabce95" providerId="ADAL" clId="{856BC706-B465-1A4D-9967-22236E640394}" dt="2020-01-20T11:57:21.155" v="0" actId="2696"/>
        <pc:sldMkLst>
          <pc:docMk/>
          <pc:sldMk cId="111192384" sldId="860"/>
        </pc:sldMkLst>
      </pc:sldChg>
      <pc:sldChg chg="del">
        <pc:chgData name="Július Baráth" userId="e650c4ab-697e-4750-bd58-c1531aabce95" providerId="ADAL" clId="{856BC706-B465-1A4D-9967-22236E640394}" dt="2020-01-20T11:58:12.638" v="13" actId="2696"/>
        <pc:sldMkLst>
          <pc:docMk/>
          <pc:sldMk cId="3271745509" sldId="874"/>
        </pc:sldMkLst>
      </pc:sldChg>
      <pc:sldChg chg="del">
        <pc:chgData name="Július Baráth" userId="e650c4ab-697e-4750-bd58-c1531aabce95" providerId="ADAL" clId="{856BC706-B465-1A4D-9967-22236E640394}" dt="2020-01-20T11:58:04.038" v="6" actId="2696"/>
        <pc:sldMkLst>
          <pc:docMk/>
          <pc:sldMk cId="410599242" sldId="957"/>
        </pc:sldMkLst>
      </pc:sldChg>
      <pc:sldChg chg="del">
        <pc:chgData name="Július Baráth" userId="e650c4ab-697e-4750-bd58-c1531aabce95" providerId="ADAL" clId="{856BC706-B465-1A4D-9967-22236E640394}" dt="2020-01-20T11:58:10.556" v="10" actId="2696"/>
        <pc:sldMkLst>
          <pc:docMk/>
          <pc:sldMk cId="1531376889" sldId="1137"/>
        </pc:sldMkLst>
      </pc:sldChg>
      <pc:sldChg chg="del">
        <pc:chgData name="Július Baráth" userId="e650c4ab-697e-4750-bd58-c1531aabce95" providerId="ADAL" clId="{856BC706-B465-1A4D-9967-22236E640394}" dt="2020-01-20T11:57:47.028" v="2" actId="2696"/>
        <pc:sldMkLst>
          <pc:docMk/>
          <pc:sldMk cId="858778739" sldId="1172"/>
        </pc:sldMkLst>
      </pc:sldChg>
      <pc:sldChg chg="del">
        <pc:chgData name="Július Baráth" userId="e650c4ab-697e-4750-bd58-c1531aabce95" providerId="ADAL" clId="{856BC706-B465-1A4D-9967-22236E640394}" dt="2020-01-20T11:57:48.780" v="3" actId="2696"/>
        <pc:sldMkLst>
          <pc:docMk/>
          <pc:sldMk cId="489548829" sldId="1173"/>
        </pc:sldMkLst>
      </pc:sldChg>
      <pc:sldChg chg="del">
        <pc:chgData name="Július Baráth" userId="e650c4ab-697e-4750-bd58-c1531aabce95" providerId="ADAL" clId="{856BC706-B465-1A4D-9967-22236E640394}" dt="2020-01-20T11:58:01.396" v="4" actId="2696"/>
        <pc:sldMkLst>
          <pc:docMk/>
          <pc:sldMk cId="1235419213" sldId="1183"/>
        </pc:sldMkLst>
      </pc:sldChg>
      <pc:sldChg chg="del">
        <pc:chgData name="Július Baráth" userId="e650c4ab-697e-4750-bd58-c1531aabce95" providerId="ADAL" clId="{856BC706-B465-1A4D-9967-22236E640394}" dt="2020-01-20T11:58:02.303" v="5" actId="2696"/>
        <pc:sldMkLst>
          <pc:docMk/>
          <pc:sldMk cId="1782036442" sldId="1184"/>
        </pc:sldMkLst>
      </pc:sldChg>
      <pc:sldChg chg="del">
        <pc:chgData name="Július Baráth" userId="e650c4ab-697e-4750-bd58-c1531aabce95" providerId="ADAL" clId="{856BC706-B465-1A4D-9967-22236E640394}" dt="2020-01-20T11:58:06.313" v="7" actId="2696"/>
        <pc:sldMkLst>
          <pc:docMk/>
          <pc:sldMk cId="4069828561" sldId="1185"/>
        </pc:sldMkLst>
      </pc:sldChg>
      <pc:sldChg chg="del">
        <pc:chgData name="Július Baráth" userId="e650c4ab-697e-4750-bd58-c1531aabce95" providerId="ADAL" clId="{856BC706-B465-1A4D-9967-22236E640394}" dt="2020-01-20T11:58:08.741" v="8" actId="2696"/>
        <pc:sldMkLst>
          <pc:docMk/>
          <pc:sldMk cId="2446794932" sldId="1186"/>
        </pc:sldMkLst>
      </pc:sldChg>
      <pc:sldChg chg="del">
        <pc:chgData name="Július Baráth" userId="e650c4ab-697e-4750-bd58-c1531aabce95" providerId="ADAL" clId="{856BC706-B465-1A4D-9967-22236E640394}" dt="2020-01-20T11:58:09.664" v="9" actId="2696"/>
        <pc:sldMkLst>
          <pc:docMk/>
          <pc:sldMk cId="436259101" sldId="1187"/>
        </pc:sldMkLst>
      </pc:sldChg>
      <pc:sldChg chg="del">
        <pc:chgData name="Július Baráth" userId="e650c4ab-697e-4750-bd58-c1531aabce95" providerId="ADAL" clId="{856BC706-B465-1A4D-9967-22236E640394}" dt="2020-01-20T11:58:11.121" v="11" actId="2696"/>
        <pc:sldMkLst>
          <pc:docMk/>
          <pc:sldMk cId="51846859" sldId="1188"/>
        </pc:sldMkLst>
      </pc:sldChg>
      <pc:sldChg chg="del">
        <pc:chgData name="Július Baráth" userId="e650c4ab-697e-4750-bd58-c1531aabce95" providerId="ADAL" clId="{856BC706-B465-1A4D-9967-22236E640394}" dt="2020-01-20T11:58:11.653" v="12" actId="2696"/>
        <pc:sldMkLst>
          <pc:docMk/>
          <pc:sldMk cId="19656539" sldId="1189"/>
        </pc:sldMkLst>
      </pc:sldChg>
      <pc:sldChg chg="del">
        <pc:chgData name="Július Baráth" userId="e650c4ab-697e-4750-bd58-c1531aabce95" providerId="ADAL" clId="{856BC706-B465-1A4D-9967-22236E640394}" dt="2020-01-20T11:57:39.026" v="1" actId="2696"/>
        <pc:sldMkLst>
          <pc:docMk/>
          <pc:sldMk cId="1440878941" sldId="1194"/>
        </pc:sldMkLst>
      </pc:sldChg>
      <pc:sldMasterChg chg="delSldLayout">
        <pc:chgData name="Július Baráth" userId="e650c4ab-697e-4750-bd58-c1531aabce95" providerId="ADAL" clId="{856BC706-B465-1A4D-9967-22236E640394}" dt="2020-01-20T11:58:12.639" v="14" actId="2696"/>
        <pc:sldMasterMkLst>
          <pc:docMk/>
          <pc:sldMasterMk cId="0" sldId="2147483700"/>
        </pc:sldMasterMkLst>
        <pc:sldLayoutChg chg="del">
          <pc:chgData name="Július Baráth" userId="e650c4ab-697e-4750-bd58-c1531aabce95" providerId="ADAL" clId="{856BC706-B465-1A4D-9967-22236E640394}" dt="2020-01-20T11:58:12.639" v="14" actId="2696"/>
          <pc:sldLayoutMkLst>
            <pc:docMk/>
            <pc:sldMasterMk cId="0" sldId="2147483700"/>
            <pc:sldLayoutMk cId="2257996623" sldId="2147484029"/>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36337D9-3022-3D41-8D8A-BDF2F3B0DD8E}" type="datetimeFigureOut">
              <a:rPr lang="en-US" smtClean="0"/>
              <a:t>4/27/22</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641018C-6CAF-B84E-B92C-ECB119457FBA}" type="slidenum">
              <a:rPr lang="en-US" smtClean="0"/>
              <a:t>‹#›</a:t>
            </a:fld>
            <a:endParaRPr lang="en-US" dirty="0"/>
          </a:p>
        </p:txBody>
      </p:sp>
    </p:spTree>
    <p:extLst>
      <p:ext uri="{BB962C8B-B14F-4D97-AF65-F5344CB8AC3E}">
        <p14:creationId xmlns:p14="http://schemas.microsoft.com/office/powerpoint/2010/main" val="193756487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b="0" dirty="0"/>
              <a:t>Cisco Networking Academy Program</a:t>
            </a:r>
          </a:p>
          <a:p>
            <a:pPr>
              <a:buFontTx/>
              <a:buNone/>
            </a:pPr>
            <a:r>
              <a:rPr lang="en-US" b="0" baseline="0" dirty="0"/>
              <a:t>Introduction to Networks v</a:t>
            </a:r>
            <a:r>
              <a:rPr lang="en-US" b="0" dirty="0"/>
              <a:t>7.0 (ITN)</a:t>
            </a:r>
          </a:p>
          <a:p>
            <a:r>
              <a:rPr lang="en-US" dirty="0"/>
              <a:t>Module 17: Build a Small Network</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1</a:t>
            </a:fld>
            <a:endParaRPr lang="en-US" dirty="0"/>
          </a:p>
        </p:txBody>
      </p:sp>
    </p:spTree>
    <p:extLst>
      <p:ext uri="{BB962C8B-B14F-4D97-AF65-F5344CB8AC3E}">
        <p14:creationId xmlns:p14="http://schemas.microsoft.com/office/powerpoint/2010/main" val="5081187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17.1 – Devices in a Small Network</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2</a:t>
            </a:fld>
            <a:endParaRPr lang="en-US" dirty="0"/>
          </a:p>
        </p:txBody>
      </p:sp>
    </p:spTree>
    <p:extLst>
      <p:ext uri="{BB962C8B-B14F-4D97-AF65-F5344CB8AC3E}">
        <p14:creationId xmlns:p14="http://schemas.microsoft.com/office/powerpoint/2010/main" val="6255296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17.1 – Devices in a Small Network</a:t>
            </a:r>
          </a:p>
          <a:p>
            <a:r>
              <a:rPr lang="en-US" dirty="0"/>
              <a:t>17.1.1 – Small Network Topologies</a:t>
            </a:r>
          </a:p>
        </p:txBody>
      </p:sp>
      <p:sp>
        <p:nvSpPr>
          <p:cNvPr id="4" name="Slide Number Placeholder 3"/>
          <p:cNvSpPr>
            <a:spLocks noGrp="1"/>
          </p:cNvSpPr>
          <p:nvPr>
            <p:ph type="sldNum" sz="quarter" idx="5"/>
          </p:nvPr>
        </p:nvSpPr>
        <p:spPr/>
        <p:txBody>
          <a:bodyPr/>
          <a:lstStyle/>
          <a:p>
            <a:fld id="{5641018C-6CAF-B84E-B92C-ECB119457FBA}" type="slidenum">
              <a:rPr lang="en-US" smtClean="0"/>
              <a:t>3</a:t>
            </a:fld>
            <a:endParaRPr lang="en-US" dirty="0"/>
          </a:p>
        </p:txBody>
      </p:sp>
    </p:spTree>
    <p:extLst>
      <p:ext uri="{BB962C8B-B14F-4D97-AF65-F5344CB8AC3E}">
        <p14:creationId xmlns:p14="http://schemas.microsoft.com/office/powerpoint/2010/main" val="7515506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17.1 – Devices in a Small Network</a:t>
            </a:r>
          </a:p>
          <a:p>
            <a:r>
              <a:rPr lang="en-US" dirty="0"/>
              <a:t>17.1.2 – Device Selection for a Small Network</a:t>
            </a:r>
          </a:p>
        </p:txBody>
      </p:sp>
      <p:sp>
        <p:nvSpPr>
          <p:cNvPr id="4" name="Slide Number Placeholder 3"/>
          <p:cNvSpPr>
            <a:spLocks noGrp="1"/>
          </p:cNvSpPr>
          <p:nvPr>
            <p:ph type="sldNum" sz="quarter" idx="5"/>
          </p:nvPr>
        </p:nvSpPr>
        <p:spPr/>
        <p:txBody>
          <a:bodyPr/>
          <a:lstStyle/>
          <a:p>
            <a:fld id="{5641018C-6CAF-B84E-B92C-ECB119457FBA}" type="slidenum">
              <a:rPr lang="en-US" smtClean="0"/>
              <a:t>4</a:t>
            </a:fld>
            <a:endParaRPr lang="en-US" dirty="0"/>
          </a:p>
        </p:txBody>
      </p:sp>
    </p:spTree>
    <p:extLst>
      <p:ext uri="{BB962C8B-B14F-4D97-AF65-F5344CB8AC3E}">
        <p14:creationId xmlns:p14="http://schemas.microsoft.com/office/powerpoint/2010/main" val="23852351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17.1 – Devices in a Small Network</a:t>
            </a:r>
          </a:p>
          <a:p>
            <a:r>
              <a:rPr lang="en-US" dirty="0"/>
              <a:t>17.1.3 – IP Addressing for a Small Network</a:t>
            </a:r>
          </a:p>
        </p:txBody>
      </p:sp>
      <p:sp>
        <p:nvSpPr>
          <p:cNvPr id="4" name="Slide Number Placeholder 3"/>
          <p:cNvSpPr>
            <a:spLocks noGrp="1"/>
          </p:cNvSpPr>
          <p:nvPr>
            <p:ph type="sldNum" sz="quarter" idx="5"/>
          </p:nvPr>
        </p:nvSpPr>
        <p:spPr/>
        <p:txBody>
          <a:bodyPr/>
          <a:lstStyle/>
          <a:p>
            <a:fld id="{5641018C-6CAF-B84E-B92C-ECB119457FBA}" type="slidenum">
              <a:rPr lang="en-US" smtClean="0"/>
              <a:t>5</a:t>
            </a:fld>
            <a:endParaRPr lang="en-US" dirty="0"/>
          </a:p>
        </p:txBody>
      </p:sp>
    </p:spTree>
    <p:extLst>
      <p:ext uri="{BB962C8B-B14F-4D97-AF65-F5344CB8AC3E}">
        <p14:creationId xmlns:p14="http://schemas.microsoft.com/office/powerpoint/2010/main" val="30128421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17.1 – Devices in a Small Network</a:t>
            </a:r>
          </a:p>
          <a:p>
            <a:r>
              <a:rPr lang="en-US" dirty="0"/>
              <a:t>17.1.4 – Redundancy in a Small Network</a:t>
            </a:r>
          </a:p>
        </p:txBody>
      </p:sp>
      <p:sp>
        <p:nvSpPr>
          <p:cNvPr id="4" name="Slide Number Placeholder 3"/>
          <p:cNvSpPr>
            <a:spLocks noGrp="1"/>
          </p:cNvSpPr>
          <p:nvPr>
            <p:ph type="sldNum" sz="quarter" idx="5"/>
          </p:nvPr>
        </p:nvSpPr>
        <p:spPr/>
        <p:txBody>
          <a:bodyPr/>
          <a:lstStyle/>
          <a:p>
            <a:fld id="{5641018C-6CAF-B84E-B92C-ECB119457FBA}" type="slidenum">
              <a:rPr lang="en-US" smtClean="0"/>
              <a:t>6</a:t>
            </a:fld>
            <a:endParaRPr lang="en-US" dirty="0"/>
          </a:p>
        </p:txBody>
      </p:sp>
    </p:spTree>
    <p:extLst>
      <p:ext uri="{BB962C8B-B14F-4D97-AF65-F5344CB8AC3E}">
        <p14:creationId xmlns:p14="http://schemas.microsoft.com/office/powerpoint/2010/main" val="25652415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17.1 – Devices in a Small Network</a:t>
            </a:r>
          </a:p>
          <a:p>
            <a:r>
              <a:rPr lang="en-US" dirty="0"/>
              <a:t>17.1.5 – Traffic Management</a:t>
            </a:r>
          </a:p>
          <a:p>
            <a:r>
              <a:rPr lang="en-US" dirty="0"/>
              <a:t>17.1.6 – Check Your Understanding – Devices in a Small Network</a:t>
            </a:r>
          </a:p>
        </p:txBody>
      </p:sp>
      <p:sp>
        <p:nvSpPr>
          <p:cNvPr id="4" name="Slide Number Placeholder 3"/>
          <p:cNvSpPr>
            <a:spLocks noGrp="1"/>
          </p:cNvSpPr>
          <p:nvPr>
            <p:ph type="sldNum" sz="quarter" idx="5"/>
          </p:nvPr>
        </p:nvSpPr>
        <p:spPr/>
        <p:txBody>
          <a:bodyPr/>
          <a:lstStyle/>
          <a:p>
            <a:fld id="{5641018C-6CAF-B84E-B92C-ECB119457FBA}" type="slidenum">
              <a:rPr lang="en-US" smtClean="0"/>
              <a:t>7</a:t>
            </a:fld>
            <a:endParaRPr lang="en-US" dirty="0"/>
          </a:p>
        </p:txBody>
      </p:sp>
    </p:spTree>
    <p:extLst>
      <p:ext uri="{BB962C8B-B14F-4D97-AF65-F5344CB8AC3E}">
        <p14:creationId xmlns:p14="http://schemas.microsoft.com/office/powerpoint/2010/main" val="32353844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17.2 - Small Network Applications and Protocols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8</a:t>
            </a:fld>
            <a:endParaRPr lang="en-US" dirty="0"/>
          </a:p>
        </p:txBody>
      </p:sp>
    </p:spTree>
    <p:extLst>
      <p:ext uri="{BB962C8B-B14F-4D97-AF65-F5344CB8AC3E}">
        <p14:creationId xmlns:p14="http://schemas.microsoft.com/office/powerpoint/2010/main" val="396329107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17.2 – Small Network Applications and Protocols</a:t>
            </a:r>
          </a:p>
          <a:p>
            <a:r>
              <a:rPr lang="en-US" dirty="0"/>
              <a:t>17.2.1 – Common Applications</a:t>
            </a:r>
          </a:p>
        </p:txBody>
      </p:sp>
      <p:sp>
        <p:nvSpPr>
          <p:cNvPr id="4" name="Slide Number Placeholder 3"/>
          <p:cNvSpPr>
            <a:spLocks noGrp="1"/>
          </p:cNvSpPr>
          <p:nvPr>
            <p:ph type="sldNum" sz="quarter" idx="5"/>
          </p:nvPr>
        </p:nvSpPr>
        <p:spPr/>
        <p:txBody>
          <a:bodyPr/>
          <a:lstStyle/>
          <a:p>
            <a:fld id="{5641018C-6CAF-B84E-B92C-ECB119457FBA}" type="slidenum">
              <a:rPr lang="en-US" smtClean="0"/>
              <a:t>9</a:t>
            </a:fld>
            <a:endParaRPr lang="en-US" dirty="0"/>
          </a:p>
        </p:txBody>
      </p:sp>
    </p:spTree>
    <p:extLst>
      <p:ext uri="{BB962C8B-B14F-4D97-AF65-F5344CB8AC3E}">
        <p14:creationId xmlns:p14="http://schemas.microsoft.com/office/powerpoint/2010/main" val="19369763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17.2 – Small Network Applications and Protocols</a:t>
            </a:r>
          </a:p>
          <a:p>
            <a:r>
              <a:rPr lang="en-US" dirty="0"/>
              <a:t>17.2.2 – Common Protocols</a:t>
            </a:r>
          </a:p>
        </p:txBody>
      </p:sp>
      <p:sp>
        <p:nvSpPr>
          <p:cNvPr id="4" name="Slide Number Placeholder 3"/>
          <p:cNvSpPr>
            <a:spLocks noGrp="1"/>
          </p:cNvSpPr>
          <p:nvPr>
            <p:ph type="sldNum" sz="quarter" idx="5"/>
          </p:nvPr>
        </p:nvSpPr>
        <p:spPr/>
        <p:txBody>
          <a:bodyPr/>
          <a:lstStyle/>
          <a:p>
            <a:fld id="{5641018C-6CAF-B84E-B92C-ECB119457FBA}" type="slidenum">
              <a:rPr lang="en-US" smtClean="0"/>
              <a:t>10</a:t>
            </a:fld>
            <a:endParaRPr lang="en-US" dirty="0"/>
          </a:p>
        </p:txBody>
      </p:sp>
    </p:spTree>
    <p:extLst>
      <p:ext uri="{BB962C8B-B14F-4D97-AF65-F5344CB8AC3E}">
        <p14:creationId xmlns:p14="http://schemas.microsoft.com/office/powerpoint/2010/main" val="29114109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17.2 – Small Network Applications and Protocols</a:t>
            </a:r>
          </a:p>
          <a:p>
            <a:r>
              <a:rPr lang="en-US" dirty="0"/>
              <a:t>17.2.2 – Common Protocols (Cont.)</a:t>
            </a:r>
          </a:p>
        </p:txBody>
      </p:sp>
      <p:sp>
        <p:nvSpPr>
          <p:cNvPr id="4" name="Slide Number Placeholder 3"/>
          <p:cNvSpPr>
            <a:spLocks noGrp="1"/>
          </p:cNvSpPr>
          <p:nvPr>
            <p:ph type="sldNum" sz="quarter" idx="5"/>
          </p:nvPr>
        </p:nvSpPr>
        <p:spPr/>
        <p:txBody>
          <a:bodyPr/>
          <a:lstStyle/>
          <a:p>
            <a:fld id="{5641018C-6CAF-B84E-B92C-ECB119457FBA}" type="slidenum">
              <a:rPr lang="en-US" smtClean="0"/>
              <a:t>11</a:t>
            </a:fld>
            <a:endParaRPr lang="en-US" dirty="0"/>
          </a:p>
        </p:txBody>
      </p:sp>
    </p:spTree>
    <p:extLst>
      <p:ext uri="{BB962C8B-B14F-4D97-AF65-F5344CB8AC3E}">
        <p14:creationId xmlns:p14="http://schemas.microsoft.com/office/powerpoint/2010/main" val="37885075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17.2 – Small Network Applications and Protocols</a:t>
            </a:r>
          </a:p>
          <a:p>
            <a:r>
              <a:rPr lang="en-US" dirty="0"/>
              <a:t>17.2.3 – Voice and Video Applications</a:t>
            </a:r>
          </a:p>
          <a:p>
            <a:r>
              <a:rPr lang="en-US" dirty="0"/>
              <a:t>17.2.4 – Check Your Understanding – Small Network Applications and Protocols</a:t>
            </a:r>
          </a:p>
        </p:txBody>
      </p:sp>
      <p:sp>
        <p:nvSpPr>
          <p:cNvPr id="4" name="Slide Number Placeholder 3"/>
          <p:cNvSpPr>
            <a:spLocks noGrp="1"/>
          </p:cNvSpPr>
          <p:nvPr>
            <p:ph type="sldNum" sz="quarter" idx="5"/>
          </p:nvPr>
        </p:nvSpPr>
        <p:spPr/>
        <p:txBody>
          <a:bodyPr/>
          <a:lstStyle/>
          <a:p>
            <a:fld id="{5641018C-6CAF-B84E-B92C-ECB119457FBA}" type="slidenum">
              <a:rPr lang="en-US" smtClean="0"/>
              <a:t>12</a:t>
            </a:fld>
            <a:endParaRPr lang="en-US" dirty="0"/>
          </a:p>
        </p:txBody>
      </p:sp>
    </p:spTree>
    <p:extLst>
      <p:ext uri="{BB962C8B-B14F-4D97-AF65-F5344CB8AC3E}">
        <p14:creationId xmlns:p14="http://schemas.microsoft.com/office/powerpoint/2010/main" val="38476467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 Build a Small Network</a:t>
            </a:r>
          </a:p>
          <a:p>
            <a:r>
              <a:rPr lang="en-US" dirty="0"/>
              <a:t>17.3 Scale to Larger Networks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13</a:t>
            </a:fld>
            <a:endParaRPr lang="en-US" dirty="0"/>
          </a:p>
        </p:txBody>
      </p:sp>
    </p:spTree>
    <p:extLst>
      <p:ext uri="{BB962C8B-B14F-4D97-AF65-F5344CB8AC3E}">
        <p14:creationId xmlns:p14="http://schemas.microsoft.com/office/powerpoint/2010/main" val="12004353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17.3 – Scale to Larger Networks</a:t>
            </a:r>
          </a:p>
          <a:p>
            <a:r>
              <a:rPr lang="en-US" dirty="0"/>
              <a:t>17.3.1 – Small Network Growth</a:t>
            </a:r>
          </a:p>
        </p:txBody>
      </p:sp>
      <p:sp>
        <p:nvSpPr>
          <p:cNvPr id="4" name="Slide Number Placeholder 3"/>
          <p:cNvSpPr>
            <a:spLocks noGrp="1"/>
          </p:cNvSpPr>
          <p:nvPr>
            <p:ph type="sldNum" sz="quarter" idx="5"/>
          </p:nvPr>
        </p:nvSpPr>
        <p:spPr/>
        <p:txBody>
          <a:bodyPr/>
          <a:lstStyle/>
          <a:p>
            <a:fld id="{5641018C-6CAF-B84E-B92C-ECB119457FBA}" type="slidenum">
              <a:rPr lang="en-US" smtClean="0"/>
              <a:t>14</a:t>
            </a:fld>
            <a:endParaRPr lang="en-US" dirty="0"/>
          </a:p>
        </p:txBody>
      </p:sp>
    </p:spTree>
    <p:extLst>
      <p:ext uri="{BB962C8B-B14F-4D97-AF65-F5344CB8AC3E}">
        <p14:creationId xmlns:p14="http://schemas.microsoft.com/office/powerpoint/2010/main" val="22537056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17.3 – Scale to Larger Networks</a:t>
            </a:r>
          </a:p>
          <a:p>
            <a:r>
              <a:rPr lang="en-US" dirty="0"/>
              <a:t>17.3.2 – Protocol Analysis</a:t>
            </a:r>
          </a:p>
        </p:txBody>
      </p:sp>
      <p:sp>
        <p:nvSpPr>
          <p:cNvPr id="4" name="Slide Number Placeholder 3"/>
          <p:cNvSpPr>
            <a:spLocks noGrp="1"/>
          </p:cNvSpPr>
          <p:nvPr>
            <p:ph type="sldNum" sz="quarter" idx="5"/>
          </p:nvPr>
        </p:nvSpPr>
        <p:spPr/>
        <p:txBody>
          <a:bodyPr/>
          <a:lstStyle/>
          <a:p>
            <a:fld id="{5641018C-6CAF-B84E-B92C-ECB119457FBA}" type="slidenum">
              <a:rPr lang="en-US" smtClean="0"/>
              <a:t>15</a:t>
            </a:fld>
            <a:endParaRPr lang="en-US" dirty="0"/>
          </a:p>
        </p:txBody>
      </p:sp>
    </p:spTree>
    <p:extLst>
      <p:ext uri="{BB962C8B-B14F-4D97-AF65-F5344CB8AC3E}">
        <p14:creationId xmlns:p14="http://schemas.microsoft.com/office/powerpoint/2010/main" val="15184964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17.3 – Scale to Larger Networks</a:t>
            </a:r>
          </a:p>
          <a:p>
            <a:r>
              <a:rPr lang="en-US" dirty="0"/>
              <a:t>17.3.3 – Employee Network Utilization</a:t>
            </a:r>
          </a:p>
          <a:p>
            <a:r>
              <a:rPr lang="en-US" dirty="0"/>
              <a:t>17.3.4 – Check Your Understanding – Scale to Larger Networks</a:t>
            </a:r>
          </a:p>
        </p:txBody>
      </p:sp>
      <p:sp>
        <p:nvSpPr>
          <p:cNvPr id="4" name="Slide Number Placeholder 3"/>
          <p:cNvSpPr>
            <a:spLocks noGrp="1"/>
          </p:cNvSpPr>
          <p:nvPr>
            <p:ph type="sldNum" sz="quarter" idx="5"/>
          </p:nvPr>
        </p:nvSpPr>
        <p:spPr/>
        <p:txBody>
          <a:bodyPr/>
          <a:lstStyle/>
          <a:p>
            <a:fld id="{5641018C-6CAF-B84E-B92C-ECB119457FBA}" type="slidenum">
              <a:rPr lang="en-US" smtClean="0"/>
              <a:t>16</a:t>
            </a:fld>
            <a:endParaRPr lang="en-US" dirty="0"/>
          </a:p>
        </p:txBody>
      </p:sp>
    </p:spTree>
    <p:extLst>
      <p:ext uri="{BB962C8B-B14F-4D97-AF65-F5344CB8AC3E}">
        <p14:creationId xmlns:p14="http://schemas.microsoft.com/office/powerpoint/2010/main" val="6204512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 Build a Small Network</a:t>
            </a:r>
          </a:p>
          <a:p>
            <a:r>
              <a:rPr lang="en-US" dirty="0"/>
              <a:t>17.4 Verify Connectivity</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17</a:t>
            </a:fld>
            <a:endParaRPr lang="en-US" dirty="0"/>
          </a:p>
        </p:txBody>
      </p:sp>
    </p:spTree>
    <p:extLst>
      <p:ext uri="{BB962C8B-B14F-4D97-AF65-F5344CB8AC3E}">
        <p14:creationId xmlns:p14="http://schemas.microsoft.com/office/powerpoint/2010/main" val="26683847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17.4 – Verify Connectivity</a:t>
            </a:r>
          </a:p>
          <a:p>
            <a:r>
              <a:rPr lang="en-US" dirty="0"/>
              <a:t>17.4.1 – Verify Connectivity with Ping</a:t>
            </a:r>
          </a:p>
        </p:txBody>
      </p:sp>
      <p:sp>
        <p:nvSpPr>
          <p:cNvPr id="4" name="Slide Number Placeholder 3"/>
          <p:cNvSpPr>
            <a:spLocks noGrp="1"/>
          </p:cNvSpPr>
          <p:nvPr>
            <p:ph type="sldNum" sz="quarter" idx="5"/>
          </p:nvPr>
        </p:nvSpPr>
        <p:spPr/>
        <p:txBody>
          <a:bodyPr/>
          <a:lstStyle/>
          <a:p>
            <a:fld id="{5641018C-6CAF-B84E-B92C-ECB119457FBA}" type="slidenum">
              <a:rPr lang="en-US" smtClean="0"/>
              <a:t>18</a:t>
            </a:fld>
            <a:endParaRPr lang="en-US" dirty="0"/>
          </a:p>
        </p:txBody>
      </p:sp>
    </p:spTree>
    <p:extLst>
      <p:ext uri="{BB962C8B-B14F-4D97-AF65-F5344CB8AC3E}">
        <p14:creationId xmlns:p14="http://schemas.microsoft.com/office/powerpoint/2010/main" val="204035657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17.4 – Verify Connectivity</a:t>
            </a:r>
          </a:p>
          <a:p>
            <a:r>
              <a:rPr lang="en-US" dirty="0"/>
              <a:t>17.4.1 – Verify Connectivity with Ping (Cont.)</a:t>
            </a:r>
          </a:p>
        </p:txBody>
      </p:sp>
      <p:sp>
        <p:nvSpPr>
          <p:cNvPr id="4" name="Slide Number Placeholder 3"/>
          <p:cNvSpPr>
            <a:spLocks noGrp="1"/>
          </p:cNvSpPr>
          <p:nvPr>
            <p:ph type="sldNum" sz="quarter" idx="5"/>
          </p:nvPr>
        </p:nvSpPr>
        <p:spPr/>
        <p:txBody>
          <a:bodyPr/>
          <a:lstStyle/>
          <a:p>
            <a:fld id="{5641018C-6CAF-B84E-B92C-ECB119457FBA}" type="slidenum">
              <a:rPr lang="en-US" smtClean="0"/>
              <a:t>19</a:t>
            </a:fld>
            <a:endParaRPr lang="en-US" dirty="0"/>
          </a:p>
        </p:txBody>
      </p:sp>
    </p:spTree>
    <p:extLst>
      <p:ext uri="{BB962C8B-B14F-4D97-AF65-F5344CB8AC3E}">
        <p14:creationId xmlns:p14="http://schemas.microsoft.com/office/powerpoint/2010/main" val="52187757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17.4 – Verify Connectivity</a:t>
            </a:r>
          </a:p>
          <a:p>
            <a:r>
              <a:rPr lang="en-US" dirty="0"/>
              <a:t>17.4.2 – Extended Ping</a:t>
            </a:r>
          </a:p>
        </p:txBody>
      </p:sp>
      <p:sp>
        <p:nvSpPr>
          <p:cNvPr id="4" name="Slide Number Placeholder 3"/>
          <p:cNvSpPr>
            <a:spLocks noGrp="1"/>
          </p:cNvSpPr>
          <p:nvPr>
            <p:ph type="sldNum" sz="quarter" idx="5"/>
          </p:nvPr>
        </p:nvSpPr>
        <p:spPr/>
        <p:txBody>
          <a:bodyPr/>
          <a:lstStyle/>
          <a:p>
            <a:fld id="{5641018C-6CAF-B84E-B92C-ECB119457FBA}" type="slidenum">
              <a:rPr lang="en-US" smtClean="0"/>
              <a:t>20</a:t>
            </a:fld>
            <a:endParaRPr lang="en-US" dirty="0"/>
          </a:p>
        </p:txBody>
      </p:sp>
    </p:spTree>
    <p:extLst>
      <p:ext uri="{BB962C8B-B14F-4D97-AF65-F5344CB8AC3E}">
        <p14:creationId xmlns:p14="http://schemas.microsoft.com/office/powerpoint/2010/main" val="198884699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17.4 – Verify Connectivity</a:t>
            </a:r>
          </a:p>
          <a:p>
            <a:r>
              <a:rPr lang="en-US" dirty="0"/>
              <a:t>17.4.3 – Verify Connectivity with Traceroute</a:t>
            </a:r>
          </a:p>
        </p:txBody>
      </p:sp>
      <p:sp>
        <p:nvSpPr>
          <p:cNvPr id="4" name="Slide Number Placeholder 3"/>
          <p:cNvSpPr>
            <a:spLocks noGrp="1"/>
          </p:cNvSpPr>
          <p:nvPr>
            <p:ph type="sldNum" sz="quarter" idx="5"/>
          </p:nvPr>
        </p:nvSpPr>
        <p:spPr/>
        <p:txBody>
          <a:bodyPr/>
          <a:lstStyle/>
          <a:p>
            <a:fld id="{5641018C-6CAF-B84E-B92C-ECB119457FBA}" type="slidenum">
              <a:rPr lang="en-US" smtClean="0"/>
              <a:t>21</a:t>
            </a:fld>
            <a:endParaRPr lang="en-US" dirty="0"/>
          </a:p>
        </p:txBody>
      </p:sp>
    </p:spTree>
    <p:extLst>
      <p:ext uri="{BB962C8B-B14F-4D97-AF65-F5344CB8AC3E}">
        <p14:creationId xmlns:p14="http://schemas.microsoft.com/office/powerpoint/2010/main" val="12259269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17.4 – Verify Connectivity</a:t>
            </a:r>
          </a:p>
          <a:p>
            <a:r>
              <a:rPr lang="en-US" dirty="0"/>
              <a:t>17.4.3 – Verify Connectivity with Traceroute (Cont.)</a:t>
            </a:r>
          </a:p>
        </p:txBody>
      </p:sp>
      <p:sp>
        <p:nvSpPr>
          <p:cNvPr id="4" name="Slide Number Placeholder 3"/>
          <p:cNvSpPr>
            <a:spLocks noGrp="1"/>
          </p:cNvSpPr>
          <p:nvPr>
            <p:ph type="sldNum" sz="quarter" idx="5"/>
          </p:nvPr>
        </p:nvSpPr>
        <p:spPr/>
        <p:txBody>
          <a:bodyPr/>
          <a:lstStyle/>
          <a:p>
            <a:fld id="{5641018C-6CAF-B84E-B92C-ECB119457FBA}" type="slidenum">
              <a:rPr lang="en-US" smtClean="0"/>
              <a:t>22</a:t>
            </a:fld>
            <a:endParaRPr lang="en-US" dirty="0"/>
          </a:p>
        </p:txBody>
      </p:sp>
    </p:spTree>
    <p:extLst>
      <p:ext uri="{BB962C8B-B14F-4D97-AF65-F5344CB8AC3E}">
        <p14:creationId xmlns:p14="http://schemas.microsoft.com/office/powerpoint/2010/main" val="21563435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17.4 – Verify Connectivity</a:t>
            </a:r>
          </a:p>
          <a:p>
            <a:r>
              <a:rPr lang="en-US" dirty="0"/>
              <a:t>17.4.3 – Verify Connectivity with Traceroute (Cont.)</a:t>
            </a:r>
          </a:p>
        </p:txBody>
      </p:sp>
      <p:sp>
        <p:nvSpPr>
          <p:cNvPr id="4" name="Slide Number Placeholder 3"/>
          <p:cNvSpPr>
            <a:spLocks noGrp="1"/>
          </p:cNvSpPr>
          <p:nvPr>
            <p:ph type="sldNum" sz="quarter" idx="5"/>
          </p:nvPr>
        </p:nvSpPr>
        <p:spPr/>
        <p:txBody>
          <a:bodyPr/>
          <a:lstStyle/>
          <a:p>
            <a:fld id="{5641018C-6CAF-B84E-B92C-ECB119457FBA}" type="slidenum">
              <a:rPr lang="en-US" smtClean="0"/>
              <a:t>23</a:t>
            </a:fld>
            <a:endParaRPr lang="en-US" dirty="0"/>
          </a:p>
        </p:txBody>
      </p:sp>
    </p:spTree>
    <p:extLst>
      <p:ext uri="{BB962C8B-B14F-4D97-AF65-F5344CB8AC3E}">
        <p14:creationId xmlns:p14="http://schemas.microsoft.com/office/powerpoint/2010/main" val="360840382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17.4 – Verify Connectivity</a:t>
            </a:r>
          </a:p>
          <a:p>
            <a:r>
              <a:rPr lang="en-US" dirty="0"/>
              <a:t>17.4.4 – Extended Traceroute</a:t>
            </a:r>
          </a:p>
        </p:txBody>
      </p:sp>
      <p:sp>
        <p:nvSpPr>
          <p:cNvPr id="4" name="Slide Number Placeholder 3"/>
          <p:cNvSpPr>
            <a:spLocks noGrp="1"/>
          </p:cNvSpPr>
          <p:nvPr>
            <p:ph type="sldNum" sz="quarter" idx="5"/>
          </p:nvPr>
        </p:nvSpPr>
        <p:spPr/>
        <p:txBody>
          <a:bodyPr/>
          <a:lstStyle/>
          <a:p>
            <a:fld id="{5641018C-6CAF-B84E-B92C-ECB119457FBA}" type="slidenum">
              <a:rPr lang="en-US" smtClean="0"/>
              <a:t>24</a:t>
            </a:fld>
            <a:endParaRPr lang="en-US" dirty="0"/>
          </a:p>
        </p:txBody>
      </p:sp>
    </p:spTree>
    <p:extLst>
      <p:ext uri="{BB962C8B-B14F-4D97-AF65-F5344CB8AC3E}">
        <p14:creationId xmlns:p14="http://schemas.microsoft.com/office/powerpoint/2010/main" val="19016930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17.4 – Verify Connectivity</a:t>
            </a:r>
          </a:p>
          <a:p>
            <a:r>
              <a:rPr lang="en-US" dirty="0"/>
              <a:t>17.4.4 – Extended Traceroute (Cont.)</a:t>
            </a:r>
          </a:p>
        </p:txBody>
      </p:sp>
      <p:sp>
        <p:nvSpPr>
          <p:cNvPr id="4" name="Slide Number Placeholder 3"/>
          <p:cNvSpPr>
            <a:spLocks noGrp="1"/>
          </p:cNvSpPr>
          <p:nvPr>
            <p:ph type="sldNum" sz="quarter" idx="5"/>
          </p:nvPr>
        </p:nvSpPr>
        <p:spPr/>
        <p:txBody>
          <a:bodyPr/>
          <a:lstStyle/>
          <a:p>
            <a:fld id="{5641018C-6CAF-B84E-B92C-ECB119457FBA}" type="slidenum">
              <a:rPr lang="en-US" smtClean="0"/>
              <a:t>25</a:t>
            </a:fld>
            <a:endParaRPr lang="en-US" dirty="0"/>
          </a:p>
        </p:txBody>
      </p:sp>
    </p:spTree>
    <p:extLst>
      <p:ext uri="{BB962C8B-B14F-4D97-AF65-F5344CB8AC3E}">
        <p14:creationId xmlns:p14="http://schemas.microsoft.com/office/powerpoint/2010/main" val="261648228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17.4 – Verify Connectivity</a:t>
            </a:r>
          </a:p>
          <a:p>
            <a:r>
              <a:rPr lang="en-US" dirty="0"/>
              <a:t>17.4.5 – Network Baseline</a:t>
            </a:r>
          </a:p>
        </p:txBody>
      </p:sp>
      <p:sp>
        <p:nvSpPr>
          <p:cNvPr id="4" name="Slide Number Placeholder 3"/>
          <p:cNvSpPr>
            <a:spLocks noGrp="1"/>
          </p:cNvSpPr>
          <p:nvPr>
            <p:ph type="sldNum" sz="quarter" idx="5"/>
          </p:nvPr>
        </p:nvSpPr>
        <p:spPr/>
        <p:txBody>
          <a:bodyPr/>
          <a:lstStyle/>
          <a:p>
            <a:fld id="{5641018C-6CAF-B84E-B92C-ECB119457FBA}" type="slidenum">
              <a:rPr lang="en-US" smtClean="0"/>
              <a:t>26</a:t>
            </a:fld>
            <a:endParaRPr lang="en-US" dirty="0"/>
          </a:p>
        </p:txBody>
      </p:sp>
    </p:spTree>
    <p:extLst>
      <p:ext uri="{BB962C8B-B14F-4D97-AF65-F5344CB8AC3E}">
        <p14:creationId xmlns:p14="http://schemas.microsoft.com/office/powerpoint/2010/main" val="84186696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 Build a Small Network</a:t>
            </a:r>
          </a:p>
          <a:p>
            <a:r>
              <a:rPr lang="en-US" dirty="0"/>
              <a:t>17.5 Host and IOS Commands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27</a:t>
            </a:fld>
            <a:endParaRPr lang="en-US" dirty="0"/>
          </a:p>
        </p:txBody>
      </p:sp>
    </p:spTree>
    <p:extLst>
      <p:ext uri="{BB962C8B-B14F-4D97-AF65-F5344CB8AC3E}">
        <p14:creationId xmlns:p14="http://schemas.microsoft.com/office/powerpoint/2010/main" val="16528685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17.5 - Host and IOS Commands</a:t>
            </a:r>
          </a:p>
          <a:p>
            <a:r>
              <a:rPr lang="en-US" dirty="0"/>
              <a:t>17.5.1 – IP Configuration on a Windows Host</a:t>
            </a:r>
          </a:p>
        </p:txBody>
      </p:sp>
      <p:sp>
        <p:nvSpPr>
          <p:cNvPr id="4" name="Slide Number Placeholder 3"/>
          <p:cNvSpPr>
            <a:spLocks noGrp="1"/>
          </p:cNvSpPr>
          <p:nvPr>
            <p:ph type="sldNum" sz="quarter" idx="5"/>
          </p:nvPr>
        </p:nvSpPr>
        <p:spPr/>
        <p:txBody>
          <a:bodyPr/>
          <a:lstStyle/>
          <a:p>
            <a:fld id="{5641018C-6CAF-B84E-B92C-ECB119457FBA}" type="slidenum">
              <a:rPr lang="en-US" smtClean="0"/>
              <a:t>28</a:t>
            </a:fld>
            <a:endParaRPr lang="en-US" dirty="0"/>
          </a:p>
        </p:txBody>
      </p:sp>
    </p:spTree>
    <p:extLst>
      <p:ext uri="{BB962C8B-B14F-4D97-AF65-F5344CB8AC3E}">
        <p14:creationId xmlns:p14="http://schemas.microsoft.com/office/powerpoint/2010/main" val="69162022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17.5 - Host and IOS Commands</a:t>
            </a:r>
          </a:p>
          <a:p>
            <a:r>
              <a:rPr lang="en-US" dirty="0"/>
              <a:t>17.5.2 – IP Configuration on a Linux Host</a:t>
            </a:r>
          </a:p>
        </p:txBody>
      </p:sp>
      <p:sp>
        <p:nvSpPr>
          <p:cNvPr id="4" name="Slide Number Placeholder 3"/>
          <p:cNvSpPr>
            <a:spLocks noGrp="1"/>
          </p:cNvSpPr>
          <p:nvPr>
            <p:ph type="sldNum" sz="quarter" idx="5"/>
          </p:nvPr>
        </p:nvSpPr>
        <p:spPr/>
        <p:txBody>
          <a:bodyPr/>
          <a:lstStyle/>
          <a:p>
            <a:fld id="{5641018C-6CAF-B84E-B92C-ECB119457FBA}" type="slidenum">
              <a:rPr lang="en-US" smtClean="0"/>
              <a:t>29</a:t>
            </a:fld>
            <a:endParaRPr lang="en-US" dirty="0"/>
          </a:p>
        </p:txBody>
      </p:sp>
    </p:spTree>
    <p:extLst>
      <p:ext uri="{BB962C8B-B14F-4D97-AF65-F5344CB8AC3E}">
        <p14:creationId xmlns:p14="http://schemas.microsoft.com/office/powerpoint/2010/main" val="140757145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17.5 - Host and IOS Commands</a:t>
            </a:r>
          </a:p>
          <a:p>
            <a:r>
              <a:rPr lang="en-US" dirty="0"/>
              <a:t>17.5.3 – IP Configuration on a macOS Host</a:t>
            </a:r>
          </a:p>
        </p:txBody>
      </p:sp>
      <p:sp>
        <p:nvSpPr>
          <p:cNvPr id="4" name="Slide Number Placeholder 3"/>
          <p:cNvSpPr>
            <a:spLocks noGrp="1"/>
          </p:cNvSpPr>
          <p:nvPr>
            <p:ph type="sldNum" sz="quarter" idx="5"/>
          </p:nvPr>
        </p:nvSpPr>
        <p:spPr/>
        <p:txBody>
          <a:bodyPr/>
          <a:lstStyle/>
          <a:p>
            <a:fld id="{5641018C-6CAF-B84E-B92C-ECB119457FBA}" type="slidenum">
              <a:rPr lang="en-US" smtClean="0"/>
              <a:t>30</a:t>
            </a:fld>
            <a:endParaRPr lang="en-US" dirty="0"/>
          </a:p>
        </p:txBody>
      </p:sp>
    </p:spTree>
    <p:extLst>
      <p:ext uri="{BB962C8B-B14F-4D97-AF65-F5344CB8AC3E}">
        <p14:creationId xmlns:p14="http://schemas.microsoft.com/office/powerpoint/2010/main" val="116192613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17.5 - Host and IOS Commands</a:t>
            </a:r>
          </a:p>
          <a:p>
            <a:r>
              <a:rPr lang="en-US" dirty="0"/>
              <a:t>17.5.4 – The </a:t>
            </a:r>
            <a:r>
              <a:rPr lang="en-US" dirty="0" err="1"/>
              <a:t>arp</a:t>
            </a:r>
            <a:r>
              <a:rPr lang="en-US" dirty="0"/>
              <a:t> Command</a:t>
            </a:r>
          </a:p>
        </p:txBody>
      </p:sp>
      <p:sp>
        <p:nvSpPr>
          <p:cNvPr id="4" name="Slide Number Placeholder 3"/>
          <p:cNvSpPr>
            <a:spLocks noGrp="1"/>
          </p:cNvSpPr>
          <p:nvPr>
            <p:ph type="sldNum" sz="quarter" idx="5"/>
          </p:nvPr>
        </p:nvSpPr>
        <p:spPr/>
        <p:txBody>
          <a:bodyPr/>
          <a:lstStyle/>
          <a:p>
            <a:fld id="{5641018C-6CAF-B84E-B92C-ECB119457FBA}" type="slidenum">
              <a:rPr lang="en-US" smtClean="0"/>
              <a:t>31</a:t>
            </a:fld>
            <a:endParaRPr lang="en-US" dirty="0"/>
          </a:p>
        </p:txBody>
      </p:sp>
    </p:spTree>
    <p:extLst>
      <p:ext uri="{BB962C8B-B14F-4D97-AF65-F5344CB8AC3E}">
        <p14:creationId xmlns:p14="http://schemas.microsoft.com/office/powerpoint/2010/main" val="244043106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17.5 - Host and IOS Commands</a:t>
            </a:r>
          </a:p>
          <a:p>
            <a:r>
              <a:rPr lang="en-US" dirty="0"/>
              <a:t>17.5.5 – Common show Commands Revisited</a:t>
            </a:r>
          </a:p>
        </p:txBody>
      </p:sp>
      <p:sp>
        <p:nvSpPr>
          <p:cNvPr id="4" name="Slide Number Placeholder 3"/>
          <p:cNvSpPr>
            <a:spLocks noGrp="1"/>
          </p:cNvSpPr>
          <p:nvPr>
            <p:ph type="sldNum" sz="quarter" idx="5"/>
          </p:nvPr>
        </p:nvSpPr>
        <p:spPr/>
        <p:txBody>
          <a:bodyPr/>
          <a:lstStyle/>
          <a:p>
            <a:fld id="{5641018C-6CAF-B84E-B92C-ECB119457FBA}" type="slidenum">
              <a:rPr lang="en-US" smtClean="0"/>
              <a:t>32</a:t>
            </a:fld>
            <a:endParaRPr lang="en-US" dirty="0"/>
          </a:p>
        </p:txBody>
      </p:sp>
    </p:spTree>
    <p:extLst>
      <p:ext uri="{BB962C8B-B14F-4D97-AF65-F5344CB8AC3E}">
        <p14:creationId xmlns:p14="http://schemas.microsoft.com/office/powerpoint/2010/main" val="423131683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17.5 - Host and IOS Commands</a:t>
            </a:r>
          </a:p>
          <a:p>
            <a:r>
              <a:rPr lang="en-US" dirty="0"/>
              <a:t>17.5.6 – The show </a:t>
            </a:r>
            <a:r>
              <a:rPr lang="en-US" dirty="0" err="1"/>
              <a:t>cdp</a:t>
            </a:r>
            <a:r>
              <a:rPr lang="en-US" dirty="0"/>
              <a:t> neighbors Command</a:t>
            </a:r>
          </a:p>
        </p:txBody>
      </p:sp>
      <p:sp>
        <p:nvSpPr>
          <p:cNvPr id="4" name="Slide Number Placeholder 3"/>
          <p:cNvSpPr>
            <a:spLocks noGrp="1"/>
          </p:cNvSpPr>
          <p:nvPr>
            <p:ph type="sldNum" sz="quarter" idx="5"/>
          </p:nvPr>
        </p:nvSpPr>
        <p:spPr/>
        <p:txBody>
          <a:bodyPr/>
          <a:lstStyle/>
          <a:p>
            <a:fld id="{5641018C-6CAF-B84E-B92C-ECB119457FBA}" type="slidenum">
              <a:rPr lang="en-US" smtClean="0"/>
              <a:t>33</a:t>
            </a:fld>
            <a:endParaRPr lang="en-US" dirty="0"/>
          </a:p>
        </p:txBody>
      </p:sp>
    </p:spTree>
    <p:extLst>
      <p:ext uri="{BB962C8B-B14F-4D97-AF65-F5344CB8AC3E}">
        <p14:creationId xmlns:p14="http://schemas.microsoft.com/office/powerpoint/2010/main" val="33235437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17.5 - Host and IOS Commands</a:t>
            </a:r>
          </a:p>
          <a:p>
            <a:r>
              <a:rPr lang="en-US" dirty="0"/>
              <a:t>17.5.7 – The show </a:t>
            </a:r>
            <a:r>
              <a:rPr lang="en-US" dirty="0" err="1"/>
              <a:t>ip</a:t>
            </a:r>
            <a:r>
              <a:rPr lang="en-US" dirty="0"/>
              <a:t> interface brief Command</a:t>
            </a:r>
          </a:p>
        </p:txBody>
      </p:sp>
      <p:sp>
        <p:nvSpPr>
          <p:cNvPr id="4" name="Slide Number Placeholder 3"/>
          <p:cNvSpPr>
            <a:spLocks noGrp="1"/>
          </p:cNvSpPr>
          <p:nvPr>
            <p:ph type="sldNum" sz="quarter" idx="5"/>
          </p:nvPr>
        </p:nvSpPr>
        <p:spPr/>
        <p:txBody>
          <a:bodyPr/>
          <a:lstStyle/>
          <a:p>
            <a:fld id="{5641018C-6CAF-B84E-B92C-ECB119457FBA}" type="slidenum">
              <a:rPr lang="en-US" smtClean="0"/>
              <a:t>34</a:t>
            </a:fld>
            <a:endParaRPr lang="en-US" dirty="0"/>
          </a:p>
        </p:txBody>
      </p:sp>
    </p:spTree>
    <p:extLst>
      <p:ext uri="{BB962C8B-B14F-4D97-AF65-F5344CB8AC3E}">
        <p14:creationId xmlns:p14="http://schemas.microsoft.com/office/powerpoint/2010/main" val="211488893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35</a:t>
            </a:fld>
            <a:endParaRPr lang="en-US" dirty="0"/>
          </a:p>
        </p:txBody>
      </p:sp>
    </p:spTree>
    <p:extLst>
      <p:ext uri="{BB962C8B-B14F-4D97-AF65-F5344CB8AC3E}">
        <p14:creationId xmlns:p14="http://schemas.microsoft.com/office/powerpoint/2010/main" val="176364785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17.6 – Troubleshooting Methodologies</a:t>
            </a:r>
          </a:p>
          <a:p>
            <a:r>
              <a:rPr lang="en-US" dirty="0"/>
              <a:t>17.6.1 – Basic Troubleshooting Approaches</a:t>
            </a:r>
          </a:p>
        </p:txBody>
      </p:sp>
      <p:sp>
        <p:nvSpPr>
          <p:cNvPr id="4" name="Slide Number Placeholder 3"/>
          <p:cNvSpPr>
            <a:spLocks noGrp="1"/>
          </p:cNvSpPr>
          <p:nvPr>
            <p:ph type="sldNum" sz="quarter" idx="5"/>
          </p:nvPr>
        </p:nvSpPr>
        <p:spPr/>
        <p:txBody>
          <a:bodyPr/>
          <a:lstStyle/>
          <a:p>
            <a:fld id="{5641018C-6CAF-B84E-B92C-ECB119457FBA}" type="slidenum">
              <a:rPr lang="en-US" smtClean="0"/>
              <a:t>36</a:t>
            </a:fld>
            <a:endParaRPr lang="en-US" dirty="0"/>
          </a:p>
        </p:txBody>
      </p:sp>
    </p:spTree>
    <p:extLst>
      <p:ext uri="{BB962C8B-B14F-4D97-AF65-F5344CB8AC3E}">
        <p14:creationId xmlns:p14="http://schemas.microsoft.com/office/powerpoint/2010/main" val="85891454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17.6 – Troubleshooting Methodologies</a:t>
            </a:r>
          </a:p>
          <a:p>
            <a:r>
              <a:rPr lang="en-US" dirty="0"/>
              <a:t>17.6.2 – Resolve or Escalate?</a:t>
            </a:r>
          </a:p>
        </p:txBody>
      </p:sp>
      <p:sp>
        <p:nvSpPr>
          <p:cNvPr id="4" name="Slide Number Placeholder 3"/>
          <p:cNvSpPr>
            <a:spLocks noGrp="1"/>
          </p:cNvSpPr>
          <p:nvPr>
            <p:ph type="sldNum" sz="quarter" idx="5"/>
          </p:nvPr>
        </p:nvSpPr>
        <p:spPr/>
        <p:txBody>
          <a:bodyPr/>
          <a:lstStyle/>
          <a:p>
            <a:fld id="{5641018C-6CAF-B84E-B92C-ECB119457FBA}" type="slidenum">
              <a:rPr lang="en-US" smtClean="0"/>
              <a:t>37</a:t>
            </a:fld>
            <a:endParaRPr lang="en-US" dirty="0"/>
          </a:p>
        </p:txBody>
      </p:sp>
    </p:spTree>
    <p:extLst>
      <p:ext uri="{BB962C8B-B14F-4D97-AF65-F5344CB8AC3E}">
        <p14:creationId xmlns:p14="http://schemas.microsoft.com/office/powerpoint/2010/main" val="95040251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17.6 – Troubleshooting Methodologies</a:t>
            </a:r>
          </a:p>
          <a:p>
            <a:r>
              <a:rPr lang="en-US" dirty="0"/>
              <a:t>17.6.3 – The debug Command</a:t>
            </a:r>
          </a:p>
        </p:txBody>
      </p:sp>
      <p:sp>
        <p:nvSpPr>
          <p:cNvPr id="4" name="Slide Number Placeholder 3"/>
          <p:cNvSpPr>
            <a:spLocks noGrp="1"/>
          </p:cNvSpPr>
          <p:nvPr>
            <p:ph type="sldNum" sz="quarter" idx="5"/>
          </p:nvPr>
        </p:nvSpPr>
        <p:spPr/>
        <p:txBody>
          <a:bodyPr/>
          <a:lstStyle/>
          <a:p>
            <a:fld id="{5641018C-6CAF-B84E-B92C-ECB119457FBA}" type="slidenum">
              <a:rPr lang="en-US" smtClean="0"/>
              <a:t>38</a:t>
            </a:fld>
            <a:endParaRPr lang="en-US" dirty="0"/>
          </a:p>
        </p:txBody>
      </p:sp>
    </p:spTree>
    <p:extLst>
      <p:ext uri="{BB962C8B-B14F-4D97-AF65-F5344CB8AC3E}">
        <p14:creationId xmlns:p14="http://schemas.microsoft.com/office/powerpoint/2010/main" val="168786049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17.6 – Troubleshooting Methodologies</a:t>
            </a:r>
          </a:p>
          <a:p>
            <a:r>
              <a:rPr lang="en-US" dirty="0"/>
              <a:t>17.6.4 – The terminal monitor Command</a:t>
            </a:r>
          </a:p>
          <a:p>
            <a:r>
              <a:rPr lang="en-US" dirty="0"/>
              <a:t>17.6.5 – Check Your Understanding – Troubleshooting Methodologies</a:t>
            </a:r>
          </a:p>
        </p:txBody>
      </p:sp>
      <p:sp>
        <p:nvSpPr>
          <p:cNvPr id="4" name="Slide Number Placeholder 3"/>
          <p:cNvSpPr>
            <a:spLocks noGrp="1"/>
          </p:cNvSpPr>
          <p:nvPr>
            <p:ph type="sldNum" sz="quarter" idx="5"/>
          </p:nvPr>
        </p:nvSpPr>
        <p:spPr/>
        <p:txBody>
          <a:bodyPr/>
          <a:lstStyle/>
          <a:p>
            <a:fld id="{5641018C-6CAF-B84E-B92C-ECB119457FBA}" type="slidenum">
              <a:rPr lang="en-US" smtClean="0"/>
              <a:t>39</a:t>
            </a:fld>
            <a:endParaRPr lang="en-US" dirty="0"/>
          </a:p>
        </p:txBody>
      </p:sp>
    </p:spTree>
    <p:extLst>
      <p:ext uri="{BB962C8B-B14F-4D97-AF65-F5344CB8AC3E}">
        <p14:creationId xmlns:p14="http://schemas.microsoft.com/office/powerpoint/2010/main" val="54817192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40</a:t>
            </a:fld>
            <a:endParaRPr lang="en-US" dirty="0"/>
          </a:p>
        </p:txBody>
      </p:sp>
    </p:spTree>
    <p:extLst>
      <p:ext uri="{BB962C8B-B14F-4D97-AF65-F5344CB8AC3E}">
        <p14:creationId xmlns:p14="http://schemas.microsoft.com/office/powerpoint/2010/main" val="428810640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17.7 – Troubleshooting Scenarios</a:t>
            </a:r>
          </a:p>
          <a:p>
            <a:r>
              <a:rPr lang="en-US" dirty="0"/>
              <a:t>17.7.1 – Duplex Operation and Mismatch Issues</a:t>
            </a:r>
          </a:p>
        </p:txBody>
      </p:sp>
      <p:sp>
        <p:nvSpPr>
          <p:cNvPr id="4" name="Slide Number Placeholder 3"/>
          <p:cNvSpPr>
            <a:spLocks noGrp="1"/>
          </p:cNvSpPr>
          <p:nvPr>
            <p:ph type="sldNum" sz="quarter" idx="5"/>
          </p:nvPr>
        </p:nvSpPr>
        <p:spPr/>
        <p:txBody>
          <a:bodyPr/>
          <a:lstStyle/>
          <a:p>
            <a:fld id="{5641018C-6CAF-B84E-B92C-ECB119457FBA}" type="slidenum">
              <a:rPr lang="en-US" smtClean="0"/>
              <a:t>41</a:t>
            </a:fld>
            <a:endParaRPr lang="en-US" dirty="0"/>
          </a:p>
        </p:txBody>
      </p:sp>
    </p:spTree>
    <p:extLst>
      <p:ext uri="{BB962C8B-B14F-4D97-AF65-F5344CB8AC3E}">
        <p14:creationId xmlns:p14="http://schemas.microsoft.com/office/powerpoint/2010/main" val="297191656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17.7 – Troubleshooting Scenarios</a:t>
            </a:r>
          </a:p>
          <a:p>
            <a:r>
              <a:rPr lang="en-US" dirty="0"/>
              <a:t>17.7.2 – IP Addressing Issues on IOS Devices</a:t>
            </a:r>
          </a:p>
        </p:txBody>
      </p:sp>
      <p:sp>
        <p:nvSpPr>
          <p:cNvPr id="4" name="Slide Number Placeholder 3"/>
          <p:cNvSpPr>
            <a:spLocks noGrp="1"/>
          </p:cNvSpPr>
          <p:nvPr>
            <p:ph type="sldNum" sz="quarter" idx="5"/>
          </p:nvPr>
        </p:nvSpPr>
        <p:spPr/>
        <p:txBody>
          <a:bodyPr/>
          <a:lstStyle/>
          <a:p>
            <a:fld id="{5641018C-6CAF-B84E-B92C-ECB119457FBA}" type="slidenum">
              <a:rPr lang="en-US" smtClean="0"/>
              <a:t>42</a:t>
            </a:fld>
            <a:endParaRPr lang="en-US" dirty="0"/>
          </a:p>
        </p:txBody>
      </p:sp>
    </p:spTree>
    <p:extLst>
      <p:ext uri="{BB962C8B-B14F-4D97-AF65-F5344CB8AC3E}">
        <p14:creationId xmlns:p14="http://schemas.microsoft.com/office/powerpoint/2010/main" val="372407256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17.7 – Troubleshooting Scenarios</a:t>
            </a:r>
          </a:p>
          <a:p>
            <a:r>
              <a:rPr lang="en-US" dirty="0"/>
              <a:t>17.7.3 – IP Addressing Issues on End Devices</a:t>
            </a:r>
          </a:p>
        </p:txBody>
      </p:sp>
      <p:sp>
        <p:nvSpPr>
          <p:cNvPr id="4" name="Slide Number Placeholder 3"/>
          <p:cNvSpPr>
            <a:spLocks noGrp="1"/>
          </p:cNvSpPr>
          <p:nvPr>
            <p:ph type="sldNum" sz="quarter" idx="5"/>
          </p:nvPr>
        </p:nvSpPr>
        <p:spPr/>
        <p:txBody>
          <a:bodyPr/>
          <a:lstStyle/>
          <a:p>
            <a:fld id="{5641018C-6CAF-B84E-B92C-ECB119457FBA}" type="slidenum">
              <a:rPr lang="en-US" smtClean="0"/>
              <a:t>43</a:t>
            </a:fld>
            <a:endParaRPr lang="en-US" dirty="0"/>
          </a:p>
        </p:txBody>
      </p:sp>
    </p:spTree>
    <p:extLst>
      <p:ext uri="{BB962C8B-B14F-4D97-AF65-F5344CB8AC3E}">
        <p14:creationId xmlns:p14="http://schemas.microsoft.com/office/powerpoint/2010/main" val="3583899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17.7 – Troubleshooting Scenarios</a:t>
            </a:r>
          </a:p>
          <a:p>
            <a:r>
              <a:rPr lang="en-US" dirty="0"/>
              <a:t>17.7.4 – Default Gateway Issues</a:t>
            </a:r>
          </a:p>
        </p:txBody>
      </p:sp>
      <p:sp>
        <p:nvSpPr>
          <p:cNvPr id="4" name="Slide Number Placeholder 3"/>
          <p:cNvSpPr>
            <a:spLocks noGrp="1"/>
          </p:cNvSpPr>
          <p:nvPr>
            <p:ph type="sldNum" sz="quarter" idx="5"/>
          </p:nvPr>
        </p:nvSpPr>
        <p:spPr/>
        <p:txBody>
          <a:bodyPr/>
          <a:lstStyle/>
          <a:p>
            <a:fld id="{5641018C-6CAF-B84E-B92C-ECB119457FBA}" type="slidenum">
              <a:rPr lang="en-US" smtClean="0"/>
              <a:t>44</a:t>
            </a:fld>
            <a:endParaRPr lang="en-US" dirty="0"/>
          </a:p>
        </p:txBody>
      </p:sp>
    </p:spTree>
    <p:extLst>
      <p:ext uri="{BB962C8B-B14F-4D97-AF65-F5344CB8AC3E}">
        <p14:creationId xmlns:p14="http://schemas.microsoft.com/office/powerpoint/2010/main" val="304324651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Build a Small Network</a:t>
            </a:r>
          </a:p>
          <a:p>
            <a:r>
              <a:rPr lang="en-US" dirty="0"/>
              <a:t>17.7 – Troubleshooting Scenarios</a:t>
            </a:r>
          </a:p>
          <a:p>
            <a:r>
              <a:rPr lang="en-US" dirty="0"/>
              <a:t>17.7.5 – Troubleshooting DNS Issues</a:t>
            </a:r>
          </a:p>
        </p:txBody>
      </p:sp>
      <p:sp>
        <p:nvSpPr>
          <p:cNvPr id="4" name="Slide Number Placeholder 3"/>
          <p:cNvSpPr>
            <a:spLocks noGrp="1"/>
          </p:cNvSpPr>
          <p:nvPr>
            <p:ph type="sldNum" sz="quarter" idx="5"/>
          </p:nvPr>
        </p:nvSpPr>
        <p:spPr/>
        <p:txBody>
          <a:bodyPr/>
          <a:lstStyle/>
          <a:p>
            <a:fld id="{5641018C-6CAF-B84E-B92C-ECB119457FBA}" type="slidenum">
              <a:rPr lang="en-US" smtClean="0"/>
              <a:t>45</a:t>
            </a:fld>
            <a:endParaRPr lang="en-US" dirty="0"/>
          </a:p>
        </p:txBody>
      </p:sp>
    </p:spTree>
    <p:extLst>
      <p:ext uri="{BB962C8B-B14F-4D97-AF65-F5344CB8AC3E}">
        <p14:creationId xmlns:p14="http://schemas.microsoft.com/office/powerpoint/2010/main" val="172740648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46</a:t>
            </a:fld>
            <a:endParaRPr lang="en-US" dirty="0"/>
          </a:p>
        </p:txBody>
      </p:sp>
    </p:spTree>
    <p:extLst>
      <p:ext uri="{BB962C8B-B14F-4D97-AF65-F5344CB8AC3E}">
        <p14:creationId xmlns:p14="http://schemas.microsoft.com/office/powerpoint/2010/main" val="159139428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3_Title Slide-animated gradient">
    <p:bg>
      <p:bgPr>
        <a:solidFill>
          <a:schemeClr val="accent5"/>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9144000" cy="5143500"/>
          </a:xfrm>
          <a:prstGeom prst="rect">
            <a:avLst/>
          </a:prstGeom>
        </p:spPr>
      </p:pic>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2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a:t>Click to edit Master title style</a:t>
            </a:r>
            <a:endParaRPr lang="en-US" dirty="0"/>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3086725553"/>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5_Title Slide-animated gradient">
    <p:bg>
      <p:bgPr>
        <a:solidFill>
          <a:schemeClr val="accent5"/>
        </a:solidFill>
        <a:effectLst/>
      </p:bgPr>
    </p:bg>
    <p:spTree>
      <p:nvGrpSpPr>
        <p:cNvPr id="1" name=""/>
        <p:cNvGrpSpPr/>
        <p:nvPr/>
      </p:nvGrpSpPr>
      <p:grpSpPr>
        <a:xfrm>
          <a:off x="0" y="0"/>
          <a:ext cx="0" cy="0"/>
          <a:chOff x="0" y="0"/>
          <a:chExt cx="0" cy="0"/>
        </a:xfrm>
      </p:grpSpPr>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1"/>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rgbClr val="004C69"/>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accent1"/>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chemeClr val="accent1"/>
                </a:solidFill>
                <a:latin typeface="+mj-lt"/>
                <a:cs typeface="CiscoSans Thin"/>
              </a:defRPr>
            </a:lvl1pPr>
          </a:lstStyle>
          <a:p>
            <a:r>
              <a:rPr lang="en-US"/>
              <a:t>Click to edit Master title style</a:t>
            </a:r>
            <a:endParaRPr lang="en-US" dirty="0"/>
          </a:p>
        </p:txBody>
      </p:sp>
    </p:spTree>
    <p:extLst>
      <p:ext uri="{BB962C8B-B14F-4D97-AF65-F5344CB8AC3E}">
        <p14:creationId xmlns:p14="http://schemas.microsoft.com/office/powerpoint/2010/main" val="3653042546"/>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6_Title Slide-animated gradient">
    <p:bg>
      <p:bgPr>
        <a:solidFill>
          <a:schemeClr val="accent5"/>
        </a:solidFill>
        <a:effectLst/>
      </p:bgPr>
    </p:bg>
    <p:spTree>
      <p:nvGrpSpPr>
        <p:cNvPr id="1" name=""/>
        <p:cNvGrpSpPr/>
        <p:nvPr/>
      </p:nvGrpSpPr>
      <p:grpSpPr>
        <a:xfrm>
          <a:off x="0" y="0"/>
          <a:ext cx="0" cy="0"/>
          <a:chOff x="0" y="0"/>
          <a:chExt cx="0" cy="0"/>
        </a:xfrm>
      </p:grpSpPr>
      <p:sp>
        <p:nvSpPr>
          <p:cNvPr id="2" name="Rectangle 1"/>
          <p:cNvSpPr/>
          <p:nvPr userDrawn="1"/>
        </p:nvSpPr>
        <p:spPr>
          <a:xfrm>
            <a:off x="0" y="0"/>
            <a:ext cx="9144000" cy="51435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a:t>Click to edit Master title style</a:t>
            </a:r>
            <a:endParaRPr lang="en-US" dirty="0"/>
          </a:p>
        </p:txBody>
      </p:sp>
    </p:spTree>
    <p:extLst>
      <p:ext uri="{BB962C8B-B14F-4D97-AF65-F5344CB8AC3E}">
        <p14:creationId xmlns:p14="http://schemas.microsoft.com/office/powerpoint/2010/main" val="1974617842"/>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3_Segue">
    <p:bg>
      <p:bgPr>
        <a:solidFill>
          <a:schemeClr val="bg1"/>
        </a:solidFill>
        <a:effectLst/>
      </p:bgPr>
    </p:bg>
    <p:spTree>
      <p:nvGrpSpPr>
        <p:cNvPr id="1" name=""/>
        <p:cNvGrpSpPr/>
        <p:nvPr/>
      </p:nvGrpSpPr>
      <p:grpSpPr>
        <a:xfrm>
          <a:off x="0" y="0"/>
          <a:ext cx="0" cy="0"/>
          <a:chOff x="0" y="0"/>
          <a:chExt cx="0" cy="0"/>
        </a:xfrm>
      </p:grpSpPr>
      <p:sp>
        <p:nvSpPr>
          <p:cNvPr id="7" name="Rectangle 6"/>
          <p:cNvSpPr/>
          <p:nvPr userDrawn="1"/>
        </p:nvSpPr>
        <p:spPr>
          <a:xfrm>
            <a:off x="0" y="0"/>
            <a:ext cx="9144000" cy="5143499"/>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itle 1"/>
          <p:cNvSpPr>
            <a:spLocks noGrp="1"/>
          </p:cNvSpPr>
          <p:nvPr>
            <p:ph type="ctrTitle"/>
          </p:nvPr>
        </p:nvSpPr>
        <p:spPr>
          <a:xfrm>
            <a:off x="416425" y="915409"/>
            <a:ext cx="7598042" cy="2569946"/>
          </a:xfrm>
          <a:prstGeom prst="rect">
            <a:avLst/>
          </a:prstGeom>
        </p:spPr>
        <p:txBody>
          <a:bodyPr anchor="b">
            <a:noAutofit/>
          </a:bodyPr>
          <a:lstStyle>
            <a:lvl1pPr marL="0" indent="0" algn="l">
              <a:lnSpc>
                <a:spcPct val="90000"/>
              </a:lnSpc>
              <a:buFont typeface="Arial" panose="020B0604020202020204" pitchFamily="34" charset="0"/>
              <a:buNone/>
              <a:defRPr sz="4600" b="0" i="0" spc="0" baseline="0">
                <a:solidFill>
                  <a:schemeClr val="accent5"/>
                </a:solidFill>
                <a:latin typeface="+mj-lt"/>
                <a:cs typeface="CiscoSans Thin"/>
              </a:defRPr>
            </a:lvl1pPr>
          </a:lstStyle>
          <a:p>
            <a:r>
              <a:rPr lang="en-US"/>
              <a:t>Click to edit Master title style</a:t>
            </a:r>
            <a:endParaRPr lang="en-US" dirty="0"/>
          </a:p>
        </p:txBody>
      </p:sp>
      <p:sp>
        <p:nvSpPr>
          <p:cNvPr id="8" name="Rectangle 7"/>
          <p:cNvSpPr>
            <a:spLocks noChangeArrowheads="1"/>
          </p:cNvSpPr>
          <p:nvPr userDrawn="1"/>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5">
                    <a:lumMod val="50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5">
                  <a:lumMod val="50000"/>
                </a:schemeClr>
              </a:solidFill>
              <a:latin typeface="+mn-lt"/>
              <a:ea typeface="+mn-ea"/>
              <a:cs typeface="CiscoSans Thin"/>
            </a:endParaRPr>
          </a:p>
        </p:txBody>
      </p:sp>
      <p:sp>
        <p:nvSpPr>
          <p:cNvPr id="9" name="Rectangle 4"/>
          <p:cNvSpPr>
            <a:spLocks noChangeArrowheads="1"/>
          </p:cNvSpPr>
          <p:nvPr userDrawn="1"/>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5">
                    <a:lumMod val="50000"/>
                  </a:schemeClr>
                </a:solidFill>
                <a:latin typeface="+mn-lt"/>
                <a:ea typeface="+mn-ea"/>
                <a:cs typeface="CiscoSans Thin"/>
              </a:rPr>
              <a:t>© 2016  Cisco and/or its affiliates. All rights reserved.   Cisco Confidential</a:t>
            </a:r>
          </a:p>
        </p:txBody>
      </p:sp>
      <p:grpSp>
        <p:nvGrpSpPr>
          <p:cNvPr id="11" name="Group 4"/>
          <p:cNvGrpSpPr>
            <a:grpSpLocks noChangeAspect="1"/>
          </p:cNvGrpSpPr>
          <p:nvPr userDrawn="1"/>
        </p:nvGrpSpPr>
        <p:grpSpPr bwMode="auto">
          <a:xfrm>
            <a:off x="508039" y="4715197"/>
            <a:ext cx="340257" cy="180974"/>
            <a:chOff x="310" y="249"/>
            <a:chExt cx="502" cy="267"/>
          </a:xfrm>
          <a:solidFill>
            <a:srgbClr val="086D8E"/>
          </a:solidFill>
        </p:grpSpPr>
        <p:sp>
          <p:nvSpPr>
            <p:cNvPr id="12"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890854121"/>
      </p:ext>
    </p:extLst>
  </p:cSld>
  <p:clrMapOvr>
    <a:masterClrMapping/>
  </p:clrMapOvr>
  <p:transition spd="slow">
    <p:wip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Multi_Slide">
    <p:spTree>
      <p:nvGrpSpPr>
        <p:cNvPr id="1" name=""/>
        <p:cNvGrpSpPr/>
        <p:nvPr/>
      </p:nvGrpSpPr>
      <p:grpSpPr>
        <a:xfrm>
          <a:off x="0" y="0"/>
          <a:ext cx="0" cy="0"/>
          <a:chOff x="0" y="0"/>
          <a:chExt cx="0" cy="0"/>
        </a:xfrm>
      </p:grpSpPr>
      <p:sp>
        <p:nvSpPr>
          <p:cNvPr id="5" name="Content Placeholder 2"/>
          <p:cNvSpPr>
            <a:spLocks noGrp="1"/>
          </p:cNvSpPr>
          <p:nvPr>
            <p:ph idx="1"/>
          </p:nvPr>
        </p:nvSpPr>
        <p:spPr>
          <a:xfrm>
            <a:off x="474662" y="1347788"/>
            <a:ext cx="8280057" cy="3073946"/>
          </a:xfrm>
          <a:prstGeom prst="rect">
            <a:avLst/>
          </a:prstGeom>
        </p:spPr>
        <p:txBody>
          <a:bodyPr lIns="91420" tIns="45710" rIns="91420" bIns="45710">
            <a:noAutofit/>
          </a:bodyPr>
          <a:lstStyle>
            <a:lvl1pPr marL="285690" marR="0" indent="-285690" algn="ctr" defTabSz="457105" rtl="0" eaLnBrk="1" fontAlgn="auto" latinLnBrk="0" hangingPunct="1">
              <a:lnSpc>
                <a:spcPct val="100000"/>
              </a:lnSpc>
              <a:spcBef>
                <a:spcPct val="20000"/>
              </a:spcBef>
              <a:spcAft>
                <a:spcPts val="0"/>
              </a:spcAft>
              <a:buClrTx/>
              <a:buSzTx/>
              <a:buFont typeface="Arial"/>
              <a:buNone/>
              <a:tabLst/>
              <a:defRPr sz="2000" b="0" i="0" baseline="0">
                <a:solidFill>
                  <a:schemeClr val="bg1"/>
                </a:solidFill>
                <a:latin typeface="+mn-lt"/>
                <a:cs typeface="CiscoSans ExtraLight"/>
              </a:defRPr>
            </a:lvl1pPr>
          </a:lstStyle>
          <a:p>
            <a:pPr lvl="0"/>
            <a:r>
              <a:rPr lang="en-US"/>
              <a:t>Click to edit Master text styles</a:t>
            </a:r>
          </a:p>
        </p:txBody>
      </p:sp>
      <p:sp>
        <p:nvSpPr>
          <p:cNvPr id="4" name="Title Placeholder 5"/>
          <p:cNvSpPr>
            <a:spLocks noGrp="1"/>
          </p:cNvSpPr>
          <p:nvPr>
            <p:ph type="title"/>
          </p:nvPr>
        </p:nvSpPr>
        <p:spPr bwMode="auto">
          <a:xfrm>
            <a:off x="437766"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rgbClr val="004C69"/>
                </a:solidFill>
              </a:defRPr>
            </a:lvl1pPr>
          </a:lstStyle>
          <a:p>
            <a:pPr lvl="0"/>
            <a:r>
              <a:rPr lang="en-US"/>
              <a:t>Click to edit Master title style</a:t>
            </a:r>
            <a:endParaRPr lang="en-GB" dirty="0"/>
          </a:p>
        </p:txBody>
      </p:sp>
    </p:spTree>
    <p:extLst>
      <p:ext uri="{BB962C8B-B14F-4D97-AF65-F5344CB8AC3E}">
        <p14:creationId xmlns:p14="http://schemas.microsoft.com/office/powerpoint/2010/main" val="5429679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222912136"/>
      </p:ext>
    </p:extLst>
  </p:cSld>
  <p:clrMapOvr>
    <a:overrideClrMapping bg1="lt1" tx1="dk1" bg2="lt2" tx2="dk2" accent1="accent1" accent2="accent2" accent3="accent3" accent4="accent4" accent5="accent5" accent6="accent6" hlink="hlink" folHlink="folHlink"/>
  </p:clrMapOvr>
  <p:transition spd="med">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2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12" name="Oval 11"/>
          <p:cNvSpPr/>
          <p:nvPr/>
        </p:nvSpPr>
        <p:spPr>
          <a:xfrm>
            <a:off x="575610" y="2552550"/>
            <a:ext cx="698624" cy="698624"/>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FFFFFF"/>
              </a:solidFill>
              <a:cs typeface="Arial"/>
            </a:endParaRPr>
          </a:p>
        </p:txBody>
      </p:sp>
      <p:sp>
        <p:nvSpPr>
          <p:cNvPr id="15" name="Oval 14"/>
          <p:cNvSpPr/>
          <p:nvPr/>
        </p:nvSpPr>
        <p:spPr>
          <a:xfrm>
            <a:off x="575610" y="1426607"/>
            <a:ext cx="698624" cy="698624"/>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bg1"/>
              </a:solidFill>
              <a:cs typeface="Arial"/>
            </a:endParaRPr>
          </a:p>
        </p:txBody>
      </p:sp>
      <p:sp>
        <p:nvSpPr>
          <p:cNvPr id="22" name="Oval 21"/>
          <p:cNvSpPr/>
          <p:nvPr/>
        </p:nvSpPr>
        <p:spPr>
          <a:xfrm>
            <a:off x="575610" y="3653093"/>
            <a:ext cx="698624" cy="698624"/>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049FD9"/>
              </a:solidFill>
              <a:cs typeface="Arial"/>
            </a:endParaRPr>
          </a:p>
        </p:txBody>
      </p:sp>
      <p:sp>
        <p:nvSpPr>
          <p:cNvPr id="24" name="Text Placeholder 17"/>
          <p:cNvSpPr>
            <a:spLocks noGrp="1"/>
          </p:cNvSpPr>
          <p:nvPr>
            <p:ph type="body" sz="quarter" idx="13"/>
          </p:nvPr>
        </p:nvSpPr>
        <p:spPr>
          <a:xfrm>
            <a:off x="1365250" y="1432522"/>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5" name="Text Placeholder 17"/>
          <p:cNvSpPr>
            <a:spLocks noGrp="1"/>
          </p:cNvSpPr>
          <p:nvPr>
            <p:ph type="body" sz="quarter" idx="14"/>
          </p:nvPr>
        </p:nvSpPr>
        <p:spPr>
          <a:xfrm>
            <a:off x="1365250" y="25577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365250" y="36530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8" name="Text Placeholder 17"/>
          <p:cNvSpPr>
            <a:spLocks noGrp="1"/>
          </p:cNvSpPr>
          <p:nvPr>
            <p:ph type="body" sz="quarter" idx="17" hasCustomPrompt="1"/>
          </p:nvPr>
        </p:nvSpPr>
        <p:spPr>
          <a:xfrm>
            <a:off x="575610" y="2552550"/>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1" y="3651140"/>
            <a:ext cx="698624" cy="693381"/>
          </a:xfrm>
          <a:prstGeom prst="rect">
            <a:avLst/>
          </a:prstGeom>
          <a:ln>
            <a:noFill/>
          </a:ln>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Text Placeholder 17"/>
          <p:cNvSpPr>
            <a:spLocks noGrp="1"/>
          </p:cNvSpPr>
          <p:nvPr>
            <p:ph type="body" sz="quarter" idx="19" hasCustomPrompt="1"/>
          </p:nvPr>
        </p:nvSpPr>
        <p:spPr>
          <a:xfrm>
            <a:off x="575610" y="1427248"/>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Tree>
    <p:extLst>
      <p:ext uri="{BB962C8B-B14F-4D97-AF65-F5344CB8AC3E}">
        <p14:creationId xmlns:p14="http://schemas.microsoft.com/office/powerpoint/2010/main" val="3053872667"/>
      </p:ext>
    </p:extLst>
  </p:cSld>
  <p:clrMapOvr>
    <a:masterClrMapping/>
  </p:clrMapOvr>
  <p:transition spd="slow">
    <p:wip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5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12" name="Oval 1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5" name="Oval 14"/>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2" name="Oval 21"/>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4" name="Text Placeholder 17"/>
          <p:cNvSpPr>
            <a:spLocks noGrp="1"/>
          </p:cNvSpPr>
          <p:nvPr>
            <p:ph type="body" sz="quarter" idx="13"/>
          </p:nvPr>
        </p:nvSpPr>
        <p:spPr>
          <a:xfrm>
            <a:off x="1172384" y="1334842"/>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5" name="Text Placeholder 17"/>
          <p:cNvSpPr>
            <a:spLocks noGrp="1"/>
          </p:cNvSpPr>
          <p:nvPr>
            <p:ph type="body" sz="quarter" idx="14"/>
          </p:nvPr>
        </p:nvSpPr>
        <p:spPr>
          <a:xfrm>
            <a:off x="1172385" y="198456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172385" y="262744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7"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28"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Oval 12"/>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4" name="Text Placeholder 17"/>
          <p:cNvSpPr>
            <a:spLocks noGrp="1"/>
          </p:cNvSpPr>
          <p:nvPr>
            <p:ph type="body" sz="quarter" idx="19"/>
          </p:nvPr>
        </p:nvSpPr>
        <p:spPr>
          <a:xfrm>
            <a:off x="1172386" y="327458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6"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17" name="Oval 16"/>
          <p:cNvSpPr/>
          <p:nvPr/>
        </p:nvSpPr>
        <p:spPr>
          <a:xfrm>
            <a:off x="575613" y="3921716"/>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8" name="Text Placeholder 17"/>
          <p:cNvSpPr>
            <a:spLocks noGrp="1"/>
          </p:cNvSpPr>
          <p:nvPr>
            <p:ph type="body" sz="quarter" idx="21"/>
          </p:nvPr>
        </p:nvSpPr>
        <p:spPr>
          <a:xfrm>
            <a:off x="1172387" y="392171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9" name="Text Placeholder 17"/>
          <p:cNvSpPr>
            <a:spLocks noGrp="1"/>
          </p:cNvSpPr>
          <p:nvPr>
            <p:ph type="body" sz="quarter" idx="22" hasCustomPrompt="1"/>
          </p:nvPr>
        </p:nvSpPr>
        <p:spPr>
          <a:xfrm>
            <a:off x="575614" y="3919763"/>
            <a:ext cx="464815" cy="461327"/>
          </a:xfrm>
          <a:prstGeom prst="rect">
            <a:avLst/>
          </a:prstGeom>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Tree>
    <p:extLst>
      <p:ext uri="{BB962C8B-B14F-4D97-AF65-F5344CB8AC3E}">
        <p14:creationId xmlns:p14="http://schemas.microsoft.com/office/powerpoint/2010/main" val="2962125011"/>
      </p:ext>
    </p:extLst>
  </p:cSld>
  <p:clrMapOvr>
    <a:masterClrMapping/>
  </p:clrMapOvr>
  <p:transition spd="slow">
    <p:wip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6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4C69"/>
                </a:solidFill>
              </a:defRPr>
            </a:lvl1pPr>
          </a:lstStyle>
          <a:p>
            <a:r>
              <a:rPr lang="en-US"/>
              <a:t>Click to edit Master title style</a:t>
            </a:r>
            <a:endParaRPr lang="en-US" dirty="0"/>
          </a:p>
        </p:txBody>
      </p:sp>
      <p:sp>
        <p:nvSpPr>
          <p:cNvPr id="42" name="Oval 4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3" name="Oval 42"/>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rgbClr val="FFFFFF"/>
              </a:solidFill>
              <a:cs typeface="Arial"/>
            </a:endParaRPr>
          </a:p>
        </p:txBody>
      </p:sp>
      <p:sp>
        <p:nvSpPr>
          <p:cNvPr id="44" name="Oval 43"/>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5" name="Text Placeholder 17"/>
          <p:cNvSpPr>
            <a:spLocks noGrp="1"/>
          </p:cNvSpPr>
          <p:nvPr>
            <p:ph type="body" sz="quarter" idx="13"/>
          </p:nvPr>
        </p:nvSpPr>
        <p:spPr>
          <a:xfrm>
            <a:off x="1172384" y="133484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6" name="Text Placeholder 17"/>
          <p:cNvSpPr>
            <a:spLocks noGrp="1"/>
          </p:cNvSpPr>
          <p:nvPr>
            <p:ph type="body" sz="quarter" idx="14"/>
          </p:nvPr>
        </p:nvSpPr>
        <p:spPr>
          <a:xfrm>
            <a:off x="1172385" y="198456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7" name="Text Placeholder 17"/>
          <p:cNvSpPr>
            <a:spLocks noGrp="1"/>
          </p:cNvSpPr>
          <p:nvPr>
            <p:ph type="body" sz="quarter" idx="15"/>
          </p:nvPr>
        </p:nvSpPr>
        <p:spPr>
          <a:xfrm>
            <a:off x="1172385" y="262744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8"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49"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50"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51" name="Oval 50"/>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2" name="Text Placeholder 17"/>
          <p:cNvSpPr>
            <a:spLocks noGrp="1"/>
          </p:cNvSpPr>
          <p:nvPr>
            <p:ph type="body" sz="quarter" idx="19"/>
          </p:nvPr>
        </p:nvSpPr>
        <p:spPr>
          <a:xfrm>
            <a:off x="1172386" y="327458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3"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54" name="Oval 53"/>
          <p:cNvSpPr/>
          <p:nvPr/>
        </p:nvSpPr>
        <p:spPr>
          <a:xfrm>
            <a:off x="575613" y="3921716"/>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5" name="Text Placeholder 17"/>
          <p:cNvSpPr>
            <a:spLocks noGrp="1"/>
          </p:cNvSpPr>
          <p:nvPr>
            <p:ph type="body" sz="quarter" idx="21"/>
          </p:nvPr>
        </p:nvSpPr>
        <p:spPr>
          <a:xfrm>
            <a:off x="1172387" y="392171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6" name="Text Placeholder 17"/>
          <p:cNvSpPr>
            <a:spLocks noGrp="1"/>
          </p:cNvSpPr>
          <p:nvPr>
            <p:ph type="body" sz="quarter" idx="22" hasCustomPrompt="1"/>
          </p:nvPr>
        </p:nvSpPr>
        <p:spPr>
          <a:xfrm>
            <a:off x="575614" y="391976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
        <p:nvSpPr>
          <p:cNvPr id="57" name="Oval 56"/>
          <p:cNvSpPr/>
          <p:nvPr/>
        </p:nvSpPr>
        <p:spPr>
          <a:xfrm>
            <a:off x="4414576" y="1983084"/>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8" name="Oval 57"/>
          <p:cNvSpPr/>
          <p:nvPr/>
        </p:nvSpPr>
        <p:spPr>
          <a:xfrm>
            <a:off x="4414575" y="1332693"/>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9" name="Oval 58"/>
          <p:cNvSpPr/>
          <p:nvPr/>
        </p:nvSpPr>
        <p:spPr>
          <a:xfrm>
            <a:off x="4414576" y="2631212"/>
            <a:ext cx="464815" cy="464815"/>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0" name="Text Placeholder 17"/>
          <p:cNvSpPr>
            <a:spLocks noGrp="1"/>
          </p:cNvSpPr>
          <p:nvPr>
            <p:ph type="body" sz="quarter" idx="23"/>
          </p:nvPr>
        </p:nvSpPr>
        <p:spPr>
          <a:xfrm>
            <a:off x="5011349" y="1338608"/>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1" name="Text Placeholder 17"/>
          <p:cNvSpPr>
            <a:spLocks noGrp="1"/>
          </p:cNvSpPr>
          <p:nvPr>
            <p:ph type="body" sz="quarter" idx="24"/>
          </p:nvPr>
        </p:nvSpPr>
        <p:spPr>
          <a:xfrm>
            <a:off x="5011350" y="198832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2" name="Text Placeholder 17"/>
          <p:cNvSpPr>
            <a:spLocks noGrp="1"/>
          </p:cNvSpPr>
          <p:nvPr>
            <p:ph type="body" sz="quarter" idx="25"/>
          </p:nvPr>
        </p:nvSpPr>
        <p:spPr>
          <a:xfrm>
            <a:off x="5011350" y="263121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3" name="Text Placeholder 17"/>
          <p:cNvSpPr>
            <a:spLocks noGrp="1"/>
          </p:cNvSpPr>
          <p:nvPr>
            <p:ph type="body" sz="quarter" idx="26" hasCustomPrompt="1"/>
          </p:nvPr>
        </p:nvSpPr>
        <p:spPr>
          <a:xfrm>
            <a:off x="4414576" y="1331287"/>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6</a:t>
            </a:r>
          </a:p>
        </p:txBody>
      </p:sp>
      <p:sp>
        <p:nvSpPr>
          <p:cNvPr id="64" name="Text Placeholder 17"/>
          <p:cNvSpPr>
            <a:spLocks noGrp="1"/>
          </p:cNvSpPr>
          <p:nvPr>
            <p:ph type="body" sz="quarter" idx="27" hasCustomPrompt="1"/>
          </p:nvPr>
        </p:nvSpPr>
        <p:spPr>
          <a:xfrm>
            <a:off x="4414576" y="198308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7</a:t>
            </a:r>
          </a:p>
        </p:txBody>
      </p:sp>
      <p:sp>
        <p:nvSpPr>
          <p:cNvPr id="65" name="Text Placeholder 17"/>
          <p:cNvSpPr>
            <a:spLocks noGrp="1"/>
          </p:cNvSpPr>
          <p:nvPr>
            <p:ph type="body" sz="quarter" idx="28" hasCustomPrompt="1"/>
          </p:nvPr>
        </p:nvSpPr>
        <p:spPr>
          <a:xfrm>
            <a:off x="4414577" y="262925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8</a:t>
            </a:r>
          </a:p>
        </p:txBody>
      </p:sp>
      <p:sp>
        <p:nvSpPr>
          <p:cNvPr id="66" name="Oval 65"/>
          <p:cNvSpPr/>
          <p:nvPr/>
        </p:nvSpPr>
        <p:spPr>
          <a:xfrm>
            <a:off x="4414577" y="3278347"/>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7" name="Text Placeholder 17"/>
          <p:cNvSpPr>
            <a:spLocks noGrp="1"/>
          </p:cNvSpPr>
          <p:nvPr>
            <p:ph type="body" sz="quarter" idx="29"/>
          </p:nvPr>
        </p:nvSpPr>
        <p:spPr>
          <a:xfrm>
            <a:off x="5011351" y="327834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8" name="Text Placeholder 17"/>
          <p:cNvSpPr>
            <a:spLocks noGrp="1"/>
          </p:cNvSpPr>
          <p:nvPr>
            <p:ph type="body" sz="quarter" idx="30" hasCustomPrompt="1"/>
          </p:nvPr>
        </p:nvSpPr>
        <p:spPr>
          <a:xfrm>
            <a:off x="4414578" y="327639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9</a:t>
            </a:r>
          </a:p>
        </p:txBody>
      </p:sp>
      <p:sp>
        <p:nvSpPr>
          <p:cNvPr id="69" name="Oval 68"/>
          <p:cNvSpPr/>
          <p:nvPr/>
        </p:nvSpPr>
        <p:spPr>
          <a:xfrm>
            <a:off x="4414578" y="3925482"/>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70" name="Text Placeholder 17"/>
          <p:cNvSpPr>
            <a:spLocks noGrp="1"/>
          </p:cNvSpPr>
          <p:nvPr>
            <p:ph type="body" sz="quarter" idx="31"/>
          </p:nvPr>
        </p:nvSpPr>
        <p:spPr>
          <a:xfrm>
            <a:off x="5011352" y="392548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71" name="Text Placeholder 17"/>
          <p:cNvSpPr>
            <a:spLocks noGrp="1"/>
          </p:cNvSpPr>
          <p:nvPr>
            <p:ph type="body" sz="quarter" idx="32" hasCustomPrompt="1"/>
          </p:nvPr>
        </p:nvSpPr>
        <p:spPr>
          <a:xfrm>
            <a:off x="4414579" y="392352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10</a:t>
            </a:r>
          </a:p>
        </p:txBody>
      </p:sp>
    </p:spTree>
    <p:extLst>
      <p:ext uri="{BB962C8B-B14F-4D97-AF65-F5344CB8AC3E}">
        <p14:creationId xmlns:p14="http://schemas.microsoft.com/office/powerpoint/2010/main" val="3643099958"/>
      </p:ext>
    </p:extLst>
  </p:cSld>
  <p:clrMapOvr>
    <a:masterClrMapping/>
  </p:clrMapOvr>
  <p:transition spd="slow">
    <p:wip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1_Closing Slide">
    <p:bg>
      <p:bgPr>
        <a:solidFill>
          <a:schemeClr val="accent5"/>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1"/>
            <a:ext cx="9143999" cy="5165874"/>
          </a:xfrm>
          <a:prstGeom prst="rect">
            <a:avLst/>
          </a:prstGeom>
        </p:spPr>
      </p:pic>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198843304"/>
      </p:ext>
    </p:extLst>
  </p:cSld>
  <p:clrMapOvr>
    <a:masterClrMapping/>
  </p:clrMapOvr>
  <p:transition spd="slow">
    <p:wip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Closing Slide">
    <p:bg>
      <p:bgPr>
        <a:solidFill>
          <a:schemeClr val="accent5"/>
        </a:solidFill>
        <a:effectLst/>
      </p:bgPr>
    </p:bg>
    <p:spTree>
      <p:nvGrpSpPr>
        <p:cNvPr id="1" name=""/>
        <p:cNvGrpSpPr/>
        <p:nvPr/>
      </p:nvGrpSpPr>
      <p:grpSpPr>
        <a:xfrm>
          <a:off x="0" y="0"/>
          <a:ext cx="0" cy="0"/>
          <a:chOff x="0" y="0"/>
          <a:chExt cx="0" cy="0"/>
        </a:xfrm>
      </p:grpSpPr>
      <p:sp>
        <p:nvSpPr>
          <p:cNvPr id="3" name="Rectangle 2"/>
          <p:cNvSpPr/>
          <p:nvPr userDrawn="1"/>
        </p:nvSpPr>
        <p:spPr>
          <a:xfrm>
            <a:off x="0" y="0"/>
            <a:ext cx="9144000" cy="5143500"/>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47974899"/>
      </p:ext>
    </p:extLst>
  </p:cSld>
  <p:clrMapOvr>
    <a:masterClrMapping/>
  </p:clrMapOvr>
  <p:transition spd="slow">
    <p:wip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3_Closing Slide">
    <p:bg>
      <p:bgPr>
        <a:solidFill>
          <a:schemeClr val="accent5"/>
        </a:solidFill>
        <a:effectLst/>
      </p:bgPr>
    </p:bg>
    <p:spTree>
      <p:nvGrpSpPr>
        <p:cNvPr id="1" name=""/>
        <p:cNvGrpSpPr/>
        <p:nvPr/>
      </p:nvGrpSpPr>
      <p:grpSpPr>
        <a:xfrm>
          <a:off x="0" y="0"/>
          <a:ext cx="0" cy="0"/>
          <a:chOff x="0" y="0"/>
          <a:chExt cx="0" cy="0"/>
        </a:xfrm>
      </p:grpSpPr>
      <p:grpSp>
        <p:nvGrpSpPr>
          <p:cNvPr id="4" name="Group 4"/>
          <p:cNvGrpSpPr>
            <a:grpSpLocks noChangeAspect="1"/>
          </p:cNvGrpSpPr>
          <p:nvPr userDrawn="1"/>
        </p:nvGrpSpPr>
        <p:grpSpPr bwMode="auto">
          <a:xfrm>
            <a:off x="3746294" y="2129856"/>
            <a:ext cx="1617944" cy="860542"/>
            <a:chOff x="310" y="249"/>
            <a:chExt cx="502" cy="267"/>
          </a:xfrm>
          <a:solidFill>
            <a:schemeClr val="accent1">
              <a:lumMod val="75000"/>
            </a:schemeClr>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851544963"/>
      </p:ext>
    </p:extLst>
  </p:cSld>
  <p:clrMapOvr>
    <a:masterClrMapping/>
  </p:clrMapOvr>
  <p:transition spd="slow">
    <p:wip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992501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5"/>
          <p:cNvSpPr>
            <a:spLocks noGrp="1"/>
          </p:cNvSpPr>
          <p:nvPr>
            <p:ph type="title"/>
          </p:nvPr>
        </p:nvSpPr>
        <p:spPr bwMode="auto">
          <a:xfrm>
            <a:off x="438150"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4" tIns="45712" rIns="91424" bIns="45712" numCol="1" anchor="ctr" anchorCtr="0" compatLnSpc="1">
            <a:prstTxWarp prst="textNoShape">
              <a:avLst/>
            </a:prstTxWarp>
          </a:bodyPr>
          <a:lstStyle/>
          <a:p>
            <a:pPr lvl="0"/>
            <a:r>
              <a:rPr lang="en-GB" altLang="en-US" dirty="0"/>
              <a:t>Title Goes Here</a:t>
            </a:r>
          </a:p>
        </p:txBody>
      </p:sp>
      <p:sp>
        <p:nvSpPr>
          <p:cNvPr id="12" name="Rectangle 7"/>
          <p:cNvSpPr>
            <a:spLocks noChangeArrowheads="1"/>
          </p:cNvSpPr>
          <p:nvPr/>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3">
                    <a:lumMod val="85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3">
                  <a:lumMod val="85000"/>
                </a:schemeClr>
              </a:solidFill>
              <a:latin typeface="+mn-lt"/>
              <a:ea typeface="+mn-ea"/>
              <a:cs typeface="CiscoSans Thin"/>
            </a:endParaRPr>
          </a:p>
        </p:txBody>
      </p:sp>
      <p:sp>
        <p:nvSpPr>
          <p:cNvPr id="13" name="Rectangle 4"/>
          <p:cNvSpPr>
            <a:spLocks noChangeArrowheads="1"/>
          </p:cNvSpPr>
          <p:nvPr/>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3">
                    <a:lumMod val="85000"/>
                  </a:schemeClr>
                </a:solidFill>
                <a:latin typeface="+mn-lt"/>
                <a:ea typeface="+mn-ea"/>
                <a:cs typeface="CiscoSans Thin"/>
              </a:rPr>
              <a:t>© 2016  Cisco and/or its affiliates. All rights reserved.   Cisco Confidential</a:t>
            </a:r>
          </a:p>
        </p:txBody>
      </p:sp>
      <p:grpSp>
        <p:nvGrpSpPr>
          <p:cNvPr id="6" name="Group 4"/>
          <p:cNvGrpSpPr>
            <a:grpSpLocks noChangeAspect="1"/>
          </p:cNvGrpSpPr>
          <p:nvPr userDrawn="1"/>
        </p:nvGrpSpPr>
        <p:grpSpPr bwMode="auto">
          <a:xfrm>
            <a:off x="508039" y="4715197"/>
            <a:ext cx="340257" cy="180974"/>
            <a:chOff x="310" y="249"/>
            <a:chExt cx="502" cy="267"/>
          </a:xfrm>
          <a:solidFill>
            <a:schemeClr val="accent5"/>
          </a:solidFill>
        </p:grpSpPr>
        <p:sp>
          <p:nvSpPr>
            <p:cNvPr id="7"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cSld>
  <p:clrMap bg1="lt1" tx1="dk1" bg2="lt2" tx2="dk2" accent1="accent1" accent2="accent2" accent3="accent3" accent4="accent4" accent5="accent5" accent6="accent6" hlink="hlink" folHlink="folHlink"/>
  <p:sldLayoutIdLst>
    <p:sldLayoutId id="2147483962" r:id="rId1"/>
    <p:sldLayoutId id="2147484013" r:id="rId2"/>
    <p:sldLayoutId id="2147484014" r:id="rId3"/>
    <p:sldLayoutId id="2147483965" r:id="rId4"/>
    <p:sldLayoutId id="2147483967" r:id="rId5"/>
    <p:sldLayoutId id="2147483995" r:id="rId6"/>
    <p:sldLayoutId id="2147484007" r:id="rId7"/>
    <p:sldLayoutId id="2147484010" r:id="rId8"/>
    <p:sldLayoutId id="2147484011" r:id="rId9"/>
    <p:sldLayoutId id="2147484015" r:id="rId10"/>
    <p:sldLayoutId id="2147483998" r:id="rId11"/>
    <p:sldLayoutId id="2147484027" r:id="rId12"/>
    <p:sldLayoutId id="2147484031" r:id="rId13"/>
  </p:sldLayoutIdLst>
  <p:transition spd="slow">
    <p:wipe/>
  </p:transition>
  <p:txStyles>
    <p:titleStyle>
      <a:lvl1pPr algn="l" defTabSz="684213" rtl="0" eaLnBrk="1" fontAlgn="base" hangingPunct="1">
        <a:lnSpc>
          <a:spcPct val="80000"/>
        </a:lnSpc>
        <a:spcBef>
          <a:spcPct val="0"/>
        </a:spcBef>
        <a:spcAft>
          <a:spcPct val="0"/>
        </a:spcAft>
        <a:defRPr lang="en-US" sz="3200" kern="1200" dirty="0">
          <a:solidFill>
            <a:schemeClr val="accent4"/>
          </a:solidFill>
          <a:latin typeface="+mj-lt"/>
          <a:ea typeface="ＭＳ Ｐゴシック" charset="0"/>
          <a:cs typeface="CiscoSans"/>
        </a:defRPr>
      </a:lvl1pPr>
      <a:lvl2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2pPr>
      <a:lvl3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3pPr>
      <a:lvl4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4pPr>
      <a:lvl5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5pPr>
      <a:lvl6pPr marL="4572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6pPr>
      <a:lvl7pPr marL="9144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7pPr>
      <a:lvl8pPr marL="13716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8pPr>
      <a:lvl9pPr marL="18288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9pPr>
    </p:titleStyle>
    <p:bodyStyle>
      <a:lvl1pPr marL="169863" indent="-169863" algn="l" defTabSz="684213" rtl="0" eaLnBrk="1" fontAlgn="base" hangingPunct="1">
        <a:lnSpc>
          <a:spcPct val="95000"/>
        </a:lnSpc>
        <a:spcBef>
          <a:spcPts val="1075"/>
        </a:spcBef>
        <a:spcAft>
          <a:spcPct val="0"/>
        </a:spcAft>
        <a:buClr>
          <a:schemeClr val="tx2"/>
        </a:buClr>
        <a:buSzPct val="90000"/>
        <a:buFont typeface="Arial" charset="0"/>
        <a:buChar char="•"/>
        <a:defRPr lang="en-US" sz="1500" kern="1200" dirty="0">
          <a:solidFill>
            <a:schemeClr val="tx1"/>
          </a:solidFill>
          <a:latin typeface="+mn-lt"/>
          <a:ea typeface="ＭＳ Ｐゴシック" charset="0"/>
          <a:cs typeface="CiscoSans"/>
        </a:defRPr>
      </a:lvl1pPr>
      <a:lvl2pPr marL="358775" indent="-215900" algn="l" defTabSz="684213" rtl="0" eaLnBrk="1" fontAlgn="base" hangingPunct="1">
        <a:lnSpc>
          <a:spcPct val="95000"/>
        </a:lnSpc>
        <a:spcBef>
          <a:spcPts val="600"/>
        </a:spcBef>
        <a:spcAft>
          <a:spcPct val="0"/>
        </a:spcAft>
        <a:buClr>
          <a:schemeClr val="tx2"/>
        </a:buClr>
        <a:buFont typeface="Arial" charset="0"/>
        <a:buChar char="•"/>
        <a:defRPr lang="en-US" sz="1400" kern="1200" dirty="0">
          <a:solidFill>
            <a:schemeClr val="tx1"/>
          </a:solidFill>
          <a:latin typeface="+mn-lt"/>
          <a:ea typeface="ＭＳ Ｐゴシック" charset="0"/>
          <a:cs typeface="CiscoSans"/>
        </a:defRPr>
      </a:lvl2pPr>
      <a:lvl3pPr marL="431800" indent="-169863" algn="l" defTabSz="684213" rtl="0" eaLnBrk="1" fontAlgn="base" hangingPunct="1">
        <a:lnSpc>
          <a:spcPct val="95000"/>
        </a:lnSpc>
        <a:spcBef>
          <a:spcPts val="625"/>
        </a:spcBef>
        <a:spcAft>
          <a:spcPct val="0"/>
        </a:spcAft>
        <a:buFont typeface="Arial" charset="0"/>
        <a:buChar char="•"/>
        <a:defRPr lang="en-US" sz="1200" kern="1200" dirty="0">
          <a:solidFill>
            <a:schemeClr val="tx1"/>
          </a:solidFill>
          <a:latin typeface="+mn-lt"/>
          <a:ea typeface="ＭＳ Ｐゴシック" charset="0"/>
          <a:cs typeface="CiscoSans"/>
        </a:defRPr>
      </a:lvl3pPr>
      <a:lvl4pPr marL="503238"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777" rtl="0" eaLnBrk="1" latinLnBrk="0" hangingPunct="1">
        <a:defRPr sz="1400" kern="1200">
          <a:solidFill>
            <a:schemeClr val="tx1"/>
          </a:solidFill>
          <a:latin typeface="+mn-lt"/>
          <a:ea typeface="+mn-ea"/>
          <a:cs typeface="+mn-cs"/>
        </a:defRPr>
      </a:lvl1pPr>
      <a:lvl2pPr marL="342886" algn="l" defTabSz="685777" rtl="0" eaLnBrk="1" latinLnBrk="0" hangingPunct="1">
        <a:defRPr sz="1400" kern="1200">
          <a:solidFill>
            <a:schemeClr val="tx1"/>
          </a:solidFill>
          <a:latin typeface="+mn-lt"/>
          <a:ea typeface="+mn-ea"/>
          <a:cs typeface="+mn-cs"/>
        </a:defRPr>
      </a:lvl2pPr>
      <a:lvl3pPr marL="685777" algn="l" defTabSz="685777" rtl="0" eaLnBrk="1" latinLnBrk="0" hangingPunct="1">
        <a:defRPr sz="1400" kern="1200">
          <a:solidFill>
            <a:schemeClr val="tx1"/>
          </a:solidFill>
          <a:latin typeface="+mn-lt"/>
          <a:ea typeface="+mn-ea"/>
          <a:cs typeface="+mn-cs"/>
        </a:defRPr>
      </a:lvl3pPr>
      <a:lvl4pPr marL="1028665" algn="l" defTabSz="685777" rtl="0" eaLnBrk="1" latinLnBrk="0" hangingPunct="1">
        <a:defRPr sz="1400" kern="1200">
          <a:solidFill>
            <a:schemeClr val="tx1"/>
          </a:solidFill>
          <a:latin typeface="+mn-lt"/>
          <a:ea typeface="+mn-ea"/>
          <a:cs typeface="+mn-cs"/>
        </a:defRPr>
      </a:lvl4pPr>
      <a:lvl5pPr marL="1371555" algn="l" defTabSz="685777" rtl="0" eaLnBrk="1" latinLnBrk="0" hangingPunct="1">
        <a:defRPr sz="1400" kern="1200">
          <a:solidFill>
            <a:schemeClr val="tx1"/>
          </a:solidFill>
          <a:latin typeface="+mn-lt"/>
          <a:ea typeface="+mn-ea"/>
          <a:cs typeface="+mn-cs"/>
        </a:defRPr>
      </a:lvl5pPr>
      <a:lvl6pPr marL="1714441" algn="l" defTabSz="685777" rtl="0" eaLnBrk="1" latinLnBrk="0" hangingPunct="1">
        <a:defRPr sz="1400" kern="1200">
          <a:solidFill>
            <a:schemeClr val="tx1"/>
          </a:solidFill>
          <a:latin typeface="+mn-lt"/>
          <a:ea typeface="+mn-ea"/>
          <a:cs typeface="+mn-cs"/>
        </a:defRPr>
      </a:lvl6pPr>
      <a:lvl7pPr marL="2057332" algn="l" defTabSz="685777" rtl="0" eaLnBrk="1" latinLnBrk="0" hangingPunct="1">
        <a:defRPr sz="1400" kern="1200">
          <a:solidFill>
            <a:schemeClr val="tx1"/>
          </a:solidFill>
          <a:latin typeface="+mn-lt"/>
          <a:ea typeface="+mn-ea"/>
          <a:cs typeface="+mn-cs"/>
        </a:defRPr>
      </a:lvl7pPr>
      <a:lvl8pPr marL="2400220" algn="l" defTabSz="685777" rtl="0" eaLnBrk="1" latinLnBrk="0" hangingPunct="1">
        <a:defRPr sz="1400" kern="1200">
          <a:solidFill>
            <a:schemeClr val="tx1"/>
          </a:solidFill>
          <a:latin typeface="+mn-lt"/>
          <a:ea typeface="+mn-ea"/>
          <a:cs typeface="+mn-cs"/>
        </a:defRPr>
      </a:lvl8pPr>
      <a:lvl9pPr marL="2743110" algn="l" defTabSz="685777" rtl="0" eaLnBrk="1" latinLnBrk="0" hangingPunct="1">
        <a:defRPr sz="1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336"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4.xml"/><Relationship Id="rId1" Type="http://schemas.openxmlformats.org/officeDocument/2006/relationships/tags" Target="../tags/tag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4.xml"/><Relationship Id="rId1" Type="http://schemas.openxmlformats.org/officeDocument/2006/relationships/tags" Target="../tags/tag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4.xml"/><Relationship Id="rId1" Type="http://schemas.openxmlformats.org/officeDocument/2006/relationships/tags" Target="../tags/tag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4.xml"/><Relationship Id="rId1" Type="http://schemas.openxmlformats.org/officeDocument/2006/relationships/tags" Target="../tags/tag6.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5.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3.xml"/><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4.xml"/><Relationship Id="rId1" Type="http://schemas.openxmlformats.org/officeDocument/2006/relationships/tags" Target="../tags/tag7.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17.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5.xml"/><Relationship Id="rId4" Type="http://schemas.openxmlformats.org/officeDocument/2006/relationships/image" Target="../media/image20.png"/></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4.xml"/><Relationship Id="rId1" Type="http://schemas.openxmlformats.org/officeDocument/2006/relationships/tags" Target="../tags/tag8.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9.xml"/><Relationship Id="rId1" Type="http://schemas.openxmlformats.org/officeDocument/2006/relationships/slideLayout" Target="../slideLayouts/slideLayout5.xml"/><Relationship Id="rId4" Type="http://schemas.openxmlformats.org/officeDocument/2006/relationships/image" Target="../media/image22.png"/></Relationships>
</file>

<file path=ppt/slides/_rels/slide40.xml.rels><?xml version="1.0" encoding="UTF-8" standalone="yes"?>
<Relationships xmlns="http://schemas.openxmlformats.org/package/2006/relationships"><Relationship Id="rId3" Type="http://schemas.openxmlformats.org/officeDocument/2006/relationships/notesSlide" Target="../notesSlides/notesSlide40.xml"/><Relationship Id="rId2" Type="http://schemas.openxmlformats.org/officeDocument/2006/relationships/slideLayout" Target="../slideLayouts/slideLayout4.xml"/><Relationship Id="rId1" Type="http://schemas.openxmlformats.org/officeDocument/2006/relationships/tags" Target="../tags/tag9.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46.xml"/><Relationship Id="rId2" Type="http://schemas.openxmlformats.org/officeDocument/2006/relationships/slideLayout" Target="../slideLayouts/slideLayout10.xml"/><Relationship Id="rId1" Type="http://schemas.openxmlformats.org/officeDocument/2006/relationships/tags" Target="../tags/tag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ctrTitle"/>
          </p:nvPr>
        </p:nvSpPr>
        <p:spPr>
          <a:xfrm>
            <a:off x="469497" y="2316480"/>
            <a:ext cx="6672708" cy="1080143"/>
          </a:xfrm>
        </p:spPr>
        <p:txBody>
          <a:bodyPr/>
          <a:lstStyle/>
          <a:p>
            <a:r>
              <a:rPr lang="en-US" dirty="0">
                <a:solidFill>
                  <a:schemeClr val="accent5">
                    <a:lumMod val="40000"/>
                    <a:lumOff val="60000"/>
                  </a:schemeClr>
                </a:solidFill>
              </a:rPr>
              <a:t>Module 17: Build a Small Network</a:t>
            </a:r>
          </a:p>
        </p:txBody>
      </p:sp>
      <p:sp>
        <p:nvSpPr>
          <p:cNvPr id="7" name="Subtitle 6"/>
          <p:cNvSpPr>
            <a:spLocks noGrp="1"/>
          </p:cNvSpPr>
          <p:nvPr>
            <p:ph type="subTitle" idx="1"/>
          </p:nvPr>
        </p:nvSpPr>
        <p:spPr>
          <a:xfrm>
            <a:off x="469497" y="3809526"/>
            <a:ext cx="2368954" cy="902174"/>
          </a:xfrm>
        </p:spPr>
        <p:txBody>
          <a:bodyPr/>
          <a:lstStyle/>
          <a:p>
            <a:r>
              <a:rPr lang="en-US" dirty="0">
                <a:solidFill>
                  <a:schemeClr val="accent5">
                    <a:lumMod val="40000"/>
                    <a:lumOff val="60000"/>
                  </a:schemeClr>
                </a:solidFill>
              </a:rPr>
              <a:t>Introduction to Networks v7.0 (ITN)</a:t>
            </a:r>
          </a:p>
          <a:p>
            <a:endParaRPr lang="en-US" dirty="0"/>
          </a:p>
        </p:txBody>
      </p:sp>
    </p:spTree>
    <p:custDataLst>
      <p:tags r:id="rId1"/>
    </p:custDataLst>
    <p:extLst>
      <p:ext uri="{BB962C8B-B14F-4D97-AF65-F5344CB8AC3E}">
        <p14:creationId xmlns:p14="http://schemas.microsoft.com/office/powerpoint/2010/main" val="1989389863"/>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598042" cy="929640"/>
          </a:xfrm>
        </p:spPr>
        <p:txBody>
          <a:bodyPr/>
          <a:lstStyle/>
          <a:p>
            <a:r>
              <a:rPr lang="en-US" dirty="0">
                <a:solidFill>
                  <a:schemeClr val="accent5">
                    <a:lumMod val="40000"/>
                    <a:lumOff val="60000"/>
                  </a:schemeClr>
                </a:solidFill>
              </a:rPr>
              <a:t>17.1 Devices in a Small Network</a:t>
            </a:r>
          </a:p>
        </p:txBody>
      </p:sp>
    </p:spTree>
    <p:custDataLst>
      <p:tags r:id="rId1"/>
    </p:custDataLst>
    <p:extLst>
      <p:ext uri="{BB962C8B-B14F-4D97-AF65-F5344CB8AC3E}">
        <p14:creationId xmlns:p14="http://schemas.microsoft.com/office/powerpoint/2010/main" val="673099643"/>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Devices in a Small Network</a:t>
            </a:r>
            <a:br>
              <a:rPr lang="en-US" dirty="0"/>
            </a:br>
            <a:r>
              <a:rPr lang="en-US" sz="2400" dirty="0"/>
              <a:t>Small Network Topologies</a:t>
            </a:r>
          </a:p>
        </p:txBody>
      </p:sp>
      <p:sp>
        <p:nvSpPr>
          <p:cNvPr id="5" name="Content Placeholder 4">
            <a:extLst>
              <a:ext uri="{FF2B5EF4-FFF2-40B4-BE49-F238E27FC236}">
                <a16:creationId xmlns:a16="http://schemas.microsoft.com/office/drawing/2014/main" id="{A64A5CE2-51F0-445D-8B69-BBA0D66EBA49}"/>
              </a:ext>
            </a:extLst>
          </p:cNvPr>
          <p:cNvSpPr>
            <a:spLocks noGrp="1"/>
          </p:cNvSpPr>
          <p:nvPr>
            <p:ph idx="1"/>
          </p:nvPr>
        </p:nvSpPr>
        <p:spPr>
          <a:xfrm>
            <a:off x="474662" y="731837"/>
            <a:ext cx="8280057" cy="3689897"/>
          </a:xfrm>
        </p:spPr>
        <p:txBody>
          <a:bodyPr/>
          <a:lstStyle/>
          <a:p>
            <a:pPr marL="285750" indent="-285750" algn="l">
              <a:buFont typeface="Arial" panose="020B0604020202020204" pitchFamily="34" charset="0"/>
              <a:buChar char="•"/>
            </a:pPr>
            <a:r>
              <a:rPr lang="en-US" sz="1800" dirty="0">
                <a:solidFill>
                  <a:srgbClr val="000000"/>
                </a:solidFill>
              </a:rPr>
              <a:t>The majority of businesses are small most of the business networks are also small.</a:t>
            </a:r>
          </a:p>
          <a:p>
            <a:pPr marL="285750" indent="-285750" algn="l">
              <a:buFont typeface="Arial" panose="020B0604020202020204" pitchFamily="34" charset="0"/>
              <a:buChar char="•"/>
            </a:pPr>
            <a:r>
              <a:rPr lang="en-US" sz="1800" dirty="0">
                <a:solidFill>
                  <a:srgbClr val="000000"/>
                </a:solidFill>
              </a:rPr>
              <a:t>A small network design is usually simple.</a:t>
            </a:r>
          </a:p>
          <a:p>
            <a:pPr marL="285750" indent="-285750" algn="l">
              <a:buFont typeface="Arial" panose="020B0604020202020204" pitchFamily="34" charset="0"/>
              <a:buChar char="•"/>
            </a:pPr>
            <a:r>
              <a:rPr lang="en-US" sz="1800" dirty="0">
                <a:solidFill>
                  <a:srgbClr val="000000"/>
                </a:solidFill>
              </a:rPr>
              <a:t>Small networks typically have a single WAN connection provided by DSL, cable, or an Ethernet connection.</a:t>
            </a:r>
          </a:p>
          <a:p>
            <a:pPr marL="285750" indent="-285750" algn="l">
              <a:buFont typeface="Arial" panose="020B0604020202020204" pitchFamily="34" charset="0"/>
              <a:buChar char="•"/>
            </a:pPr>
            <a:r>
              <a:rPr lang="en-US" sz="1800" dirty="0">
                <a:solidFill>
                  <a:srgbClr val="000000"/>
                </a:solidFill>
              </a:rPr>
              <a:t>Large networks require an IT department to maintain, secure, and troubleshoot network devices and to protect organizational data. Small networks are managed by a local IT technician or by a contracted professional.</a:t>
            </a:r>
          </a:p>
          <a:p>
            <a:pPr marL="285750" indent="-285750" algn="l">
              <a:buFont typeface="Arial" panose="020B0604020202020204" pitchFamily="34" charset="0"/>
              <a:buChar char="•"/>
            </a:pPr>
            <a:endParaRPr lang="en-US" sz="1400" dirty="0">
              <a:solidFill>
                <a:srgbClr val="000000"/>
              </a:solidFill>
            </a:endParaRPr>
          </a:p>
        </p:txBody>
      </p:sp>
    </p:spTree>
    <p:extLst>
      <p:ext uri="{BB962C8B-B14F-4D97-AF65-F5344CB8AC3E}">
        <p14:creationId xmlns:p14="http://schemas.microsoft.com/office/powerpoint/2010/main" val="3943937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Devices in a Small Network</a:t>
            </a:r>
            <a:br>
              <a:rPr lang="en-US" dirty="0"/>
            </a:br>
            <a:r>
              <a:rPr lang="en-US" sz="2400" dirty="0"/>
              <a:t>Device Selection for a Small Network</a:t>
            </a:r>
          </a:p>
        </p:txBody>
      </p:sp>
      <p:sp>
        <p:nvSpPr>
          <p:cNvPr id="5" name="Content Placeholder 4">
            <a:extLst>
              <a:ext uri="{FF2B5EF4-FFF2-40B4-BE49-F238E27FC236}">
                <a16:creationId xmlns:a16="http://schemas.microsoft.com/office/drawing/2014/main" id="{A64A5CE2-51F0-445D-8B69-BBA0D66EBA49}"/>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Like large networks, small networks require planning and design to meet user requirements. Planning ensures that all requirements, cost factors, and deployment options are given due consideration. One of the first design considerations is the type of intermediary devices to use to support the network.</a:t>
            </a:r>
          </a:p>
          <a:p>
            <a:pPr marL="0" indent="0" algn="l"/>
            <a:endParaRPr lang="en-US" sz="1600" dirty="0">
              <a:solidFill>
                <a:srgbClr val="000000"/>
              </a:solidFill>
            </a:endParaRPr>
          </a:p>
          <a:p>
            <a:pPr marL="0" indent="0" algn="l"/>
            <a:r>
              <a:rPr lang="en-US" sz="1600" dirty="0">
                <a:solidFill>
                  <a:srgbClr val="000000"/>
                </a:solidFill>
              </a:rPr>
              <a:t>Factors that must be considered when selecting network devices include:</a:t>
            </a:r>
          </a:p>
          <a:p>
            <a:pPr marL="358835" lvl="1" indent="-285750">
              <a:buFont typeface="Arial" panose="020B0604020202020204" pitchFamily="34" charset="0"/>
              <a:buChar char="•"/>
            </a:pPr>
            <a:r>
              <a:rPr lang="en-US" sz="1600" dirty="0">
                <a:solidFill>
                  <a:srgbClr val="000000"/>
                </a:solidFill>
              </a:rPr>
              <a:t>cost</a:t>
            </a:r>
          </a:p>
          <a:p>
            <a:pPr marL="358835" lvl="1" indent="-285750">
              <a:buFont typeface="Arial" panose="020B0604020202020204" pitchFamily="34" charset="0"/>
              <a:buChar char="•"/>
            </a:pPr>
            <a:r>
              <a:rPr lang="en-US" sz="1600" dirty="0">
                <a:solidFill>
                  <a:srgbClr val="000000"/>
                </a:solidFill>
              </a:rPr>
              <a:t>speed and types of ports/interfaces</a:t>
            </a:r>
          </a:p>
          <a:p>
            <a:pPr marL="358835" lvl="1" indent="-285750">
              <a:buFont typeface="Arial" panose="020B0604020202020204" pitchFamily="34" charset="0"/>
              <a:buChar char="•"/>
            </a:pPr>
            <a:r>
              <a:rPr lang="en-US" sz="1600" dirty="0">
                <a:solidFill>
                  <a:srgbClr val="000000"/>
                </a:solidFill>
              </a:rPr>
              <a:t>expandability</a:t>
            </a:r>
          </a:p>
          <a:p>
            <a:pPr marL="358835" lvl="1" indent="-285750">
              <a:buFont typeface="Arial" panose="020B0604020202020204" pitchFamily="34" charset="0"/>
              <a:buChar char="•"/>
            </a:pPr>
            <a:r>
              <a:rPr lang="en-US" sz="1600" dirty="0">
                <a:solidFill>
                  <a:srgbClr val="000000"/>
                </a:solidFill>
              </a:rPr>
              <a:t>operating system features and services</a:t>
            </a:r>
          </a:p>
        </p:txBody>
      </p:sp>
    </p:spTree>
    <p:extLst>
      <p:ext uri="{BB962C8B-B14F-4D97-AF65-F5344CB8AC3E}">
        <p14:creationId xmlns:p14="http://schemas.microsoft.com/office/powerpoint/2010/main" val="12065854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Devices in a Small Network</a:t>
            </a:r>
            <a:br>
              <a:rPr lang="en-US" dirty="0"/>
            </a:br>
            <a:r>
              <a:rPr lang="en-US" sz="2400" dirty="0"/>
              <a:t>IP Addressing for a Small Network</a:t>
            </a:r>
          </a:p>
        </p:txBody>
      </p:sp>
      <p:sp>
        <p:nvSpPr>
          <p:cNvPr id="5" name="Content Placeholder 4">
            <a:extLst>
              <a:ext uri="{FF2B5EF4-FFF2-40B4-BE49-F238E27FC236}">
                <a16:creationId xmlns:a16="http://schemas.microsoft.com/office/drawing/2014/main" id="{A64A5CE2-51F0-445D-8B69-BBA0D66EBA49}"/>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When implementing a network, create an IP addressing scheme and use it. All hosts and devices within an internetwork must have a unique address. Devices that will factor into the IP addressing scheme include the following:</a:t>
            </a:r>
          </a:p>
          <a:p>
            <a:pPr marL="358835" lvl="1" indent="-285750">
              <a:buFont typeface="Arial" panose="020B0604020202020204" pitchFamily="34" charset="0"/>
              <a:buChar char="•"/>
            </a:pPr>
            <a:r>
              <a:rPr lang="en-US" sz="1600" dirty="0">
                <a:solidFill>
                  <a:srgbClr val="000000"/>
                </a:solidFill>
              </a:rPr>
              <a:t>End user devices - The number and type of connections (i.e., wired, wireless, remote access)</a:t>
            </a:r>
          </a:p>
          <a:p>
            <a:pPr marL="358835" lvl="1" indent="-285750">
              <a:buFont typeface="Arial" panose="020B0604020202020204" pitchFamily="34" charset="0"/>
              <a:buChar char="•"/>
            </a:pPr>
            <a:r>
              <a:rPr lang="en-US" sz="1600" dirty="0">
                <a:solidFill>
                  <a:srgbClr val="000000"/>
                </a:solidFill>
              </a:rPr>
              <a:t>Servers and peripherals devices (e.g., printers and security cameras)</a:t>
            </a:r>
          </a:p>
          <a:p>
            <a:pPr marL="358835" lvl="1" indent="-285750">
              <a:buFont typeface="Arial" panose="020B0604020202020204" pitchFamily="34" charset="0"/>
              <a:buChar char="•"/>
            </a:pPr>
            <a:r>
              <a:rPr lang="en-US" sz="1600" dirty="0">
                <a:solidFill>
                  <a:srgbClr val="000000"/>
                </a:solidFill>
              </a:rPr>
              <a:t>Intermediary devices including switches and access points</a:t>
            </a:r>
          </a:p>
          <a:p>
            <a:pPr marL="0" indent="0" algn="l"/>
            <a:endParaRPr lang="en-US" sz="1600" dirty="0">
              <a:solidFill>
                <a:srgbClr val="000000"/>
              </a:solidFill>
            </a:endParaRPr>
          </a:p>
          <a:p>
            <a:pPr marL="0" indent="0" algn="l"/>
            <a:r>
              <a:rPr lang="en-US" sz="1600" dirty="0">
                <a:solidFill>
                  <a:srgbClr val="000000"/>
                </a:solidFill>
              </a:rPr>
              <a:t>It is recommended that you plan, document, and maintain an IP addressing scheme based on device type. The use of a planned IP addressing scheme makes it easier to identify a type of device and to troubleshoot problems.</a:t>
            </a:r>
          </a:p>
          <a:p>
            <a:pPr marL="285750" indent="-285750" algn="l">
              <a:buFont typeface="Arial" panose="020B0604020202020204" pitchFamily="34" charset="0"/>
              <a:buChar char="•"/>
            </a:pPr>
            <a:endParaRPr lang="en-US" sz="1400" dirty="0">
              <a:solidFill>
                <a:srgbClr val="000000"/>
              </a:solidFill>
            </a:endParaRPr>
          </a:p>
        </p:txBody>
      </p:sp>
    </p:spTree>
    <p:extLst>
      <p:ext uri="{BB962C8B-B14F-4D97-AF65-F5344CB8AC3E}">
        <p14:creationId xmlns:p14="http://schemas.microsoft.com/office/powerpoint/2010/main" val="107485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Devices in a Small Network</a:t>
            </a:r>
            <a:br>
              <a:rPr lang="en-US" dirty="0"/>
            </a:br>
            <a:r>
              <a:rPr lang="en-US" sz="2400" dirty="0"/>
              <a:t>Redundancy in a Small Network</a:t>
            </a:r>
          </a:p>
        </p:txBody>
      </p:sp>
      <p:sp>
        <p:nvSpPr>
          <p:cNvPr id="5" name="Content Placeholder 4">
            <a:extLst>
              <a:ext uri="{FF2B5EF4-FFF2-40B4-BE49-F238E27FC236}">
                <a16:creationId xmlns:a16="http://schemas.microsoft.com/office/drawing/2014/main" id="{A64A5CE2-51F0-445D-8B69-BBA0D66EBA49}"/>
              </a:ext>
            </a:extLst>
          </p:cNvPr>
          <p:cNvSpPr>
            <a:spLocks noGrp="1"/>
          </p:cNvSpPr>
          <p:nvPr>
            <p:ph idx="1"/>
          </p:nvPr>
        </p:nvSpPr>
        <p:spPr>
          <a:xfrm>
            <a:off x="66676" y="731837"/>
            <a:ext cx="3692526" cy="3689897"/>
          </a:xfrm>
        </p:spPr>
        <p:txBody>
          <a:bodyPr/>
          <a:lstStyle/>
          <a:p>
            <a:pPr marL="0" indent="0" algn="l"/>
            <a:r>
              <a:rPr lang="en-US" sz="1600" dirty="0">
                <a:solidFill>
                  <a:srgbClr val="000000"/>
                </a:solidFill>
              </a:rPr>
              <a:t>In order to maintain a high degree of reliability, </a:t>
            </a:r>
            <a:r>
              <a:rPr lang="en-US" sz="1600" i="1" dirty="0">
                <a:solidFill>
                  <a:srgbClr val="000000"/>
                </a:solidFill>
              </a:rPr>
              <a:t>redundancy</a:t>
            </a:r>
            <a:r>
              <a:rPr lang="en-US" sz="1600" dirty="0">
                <a:solidFill>
                  <a:srgbClr val="000000"/>
                </a:solidFill>
              </a:rPr>
              <a:t> is required in the network design. Redundancy helps to eliminate single points of failure.</a:t>
            </a:r>
          </a:p>
          <a:p>
            <a:pPr marL="0" indent="0" algn="l"/>
            <a:endParaRPr lang="en-US" sz="1600" dirty="0">
              <a:solidFill>
                <a:srgbClr val="000000"/>
              </a:solidFill>
            </a:endParaRPr>
          </a:p>
          <a:p>
            <a:pPr marL="0" indent="0" algn="l"/>
            <a:r>
              <a:rPr lang="en-US" sz="1600" dirty="0">
                <a:solidFill>
                  <a:srgbClr val="000000"/>
                </a:solidFill>
              </a:rPr>
              <a:t>Redundancy can be accomplished by installing duplicate equipment. It can also be accomplished by supplying duplicate network links for critical areas.</a:t>
            </a:r>
          </a:p>
          <a:p>
            <a:pPr marL="285750" indent="-285750" algn="l">
              <a:buFont typeface="Arial" panose="020B0604020202020204" pitchFamily="34" charset="0"/>
              <a:buChar char="•"/>
            </a:pPr>
            <a:endParaRPr lang="en-US" sz="1400" dirty="0">
              <a:solidFill>
                <a:srgbClr val="000000"/>
              </a:solidFill>
            </a:endParaRPr>
          </a:p>
        </p:txBody>
      </p:sp>
      <p:pic>
        <p:nvPicPr>
          <p:cNvPr id="2" name="Picture 1">
            <a:extLst>
              <a:ext uri="{FF2B5EF4-FFF2-40B4-BE49-F238E27FC236}">
                <a16:creationId xmlns:a16="http://schemas.microsoft.com/office/drawing/2014/main" id="{088F7A36-C0A0-487B-8FA9-90BB3DB79A86}"/>
              </a:ext>
            </a:extLst>
          </p:cNvPr>
          <p:cNvPicPr>
            <a:picLocks noChangeAspect="1"/>
          </p:cNvPicPr>
          <p:nvPr/>
        </p:nvPicPr>
        <p:blipFill>
          <a:blip r:embed="rId3"/>
          <a:stretch>
            <a:fillRect/>
          </a:stretch>
        </p:blipFill>
        <p:spPr>
          <a:xfrm>
            <a:off x="4059281" y="800714"/>
            <a:ext cx="4459563" cy="3542072"/>
          </a:xfrm>
          <a:prstGeom prst="rect">
            <a:avLst/>
          </a:prstGeom>
        </p:spPr>
      </p:pic>
    </p:spTree>
    <p:extLst>
      <p:ext uri="{BB962C8B-B14F-4D97-AF65-F5344CB8AC3E}">
        <p14:creationId xmlns:p14="http://schemas.microsoft.com/office/powerpoint/2010/main" val="2176724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Devices in a Small Network</a:t>
            </a:r>
            <a:br>
              <a:rPr lang="en-US" dirty="0"/>
            </a:br>
            <a:r>
              <a:rPr lang="en-US" sz="2400" dirty="0"/>
              <a:t>Traffic Management</a:t>
            </a:r>
          </a:p>
        </p:txBody>
      </p:sp>
      <p:sp>
        <p:nvSpPr>
          <p:cNvPr id="5" name="Content Placeholder 4">
            <a:extLst>
              <a:ext uri="{FF2B5EF4-FFF2-40B4-BE49-F238E27FC236}">
                <a16:creationId xmlns:a16="http://schemas.microsoft.com/office/drawing/2014/main" id="{A64A5CE2-51F0-445D-8B69-BBA0D66EBA49}"/>
              </a:ext>
            </a:extLst>
          </p:cNvPr>
          <p:cNvSpPr>
            <a:spLocks noGrp="1"/>
          </p:cNvSpPr>
          <p:nvPr>
            <p:ph idx="1"/>
          </p:nvPr>
        </p:nvSpPr>
        <p:spPr>
          <a:xfrm>
            <a:off x="161926" y="731837"/>
            <a:ext cx="4572000" cy="3859213"/>
          </a:xfrm>
        </p:spPr>
        <p:txBody>
          <a:bodyPr/>
          <a:lstStyle/>
          <a:p>
            <a:pPr marL="342900" indent="-342900" algn="l">
              <a:buFont typeface="Arial" panose="020B0604020202020204" pitchFamily="34" charset="0"/>
              <a:buChar char="•"/>
            </a:pPr>
            <a:r>
              <a:rPr lang="en-US" sz="1600" dirty="0">
                <a:solidFill>
                  <a:srgbClr val="000000"/>
                </a:solidFill>
              </a:rPr>
              <a:t>The goal for a good network design is to enhance the productivity of the employees and minimize network downtime.</a:t>
            </a:r>
          </a:p>
          <a:p>
            <a:pPr marL="342900" indent="-342900" algn="l">
              <a:buFont typeface="Arial" panose="020B0604020202020204" pitchFamily="34" charset="0"/>
              <a:buChar char="•"/>
            </a:pPr>
            <a:r>
              <a:rPr lang="en-US" sz="1600" dirty="0">
                <a:solidFill>
                  <a:srgbClr val="000000"/>
                </a:solidFill>
              </a:rPr>
              <a:t>The routers and switches in a small network should be configured to support real-time traffic, such as voice and video, in an appropriate manner relative to other data traffic. A good network design will implement quality of service (QoS).</a:t>
            </a:r>
          </a:p>
          <a:p>
            <a:pPr marL="342900" indent="-342900" algn="l">
              <a:buFont typeface="Arial" panose="020B0604020202020204" pitchFamily="34" charset="0"/>
              <a:buChar char="•"/>
            </a:pPr>
            <a:r>
              <a:rPr lang="en-US" sz="1600" dirty="0">
                <a:solidFill>
                  <a:srgbClr val="000000"/>
                </a:solidFill>
              </a:rPr>
              <a:t>Priority queuing has four queues. The high-priority queue is always emptied first.</a:t>
            </a:r>
          </a:p>
          <a:p>
            <a:pPr marL="285750" indent="-285750" algn="l">
              <a:buFont typeface="Arial" panose="020B0604020202020204" pitchFamily="34" charset="0"/>
              <a:buChar char="•"/>
            </a:pPr>
            <a:endParaRPr lang="en-US" sz="1400" dirty="0">
              <a:solidFill>
                <a:srgbClr val="000000"/>
              </a:solidFill>
            </a:endParaRPr>
          </a:p>
        </p:txBody>
      </p:sp>
      <p:pic>
        <p:nvPicPr>
          <p:cNvPr id="4" name="Picture 3">
            <a:extLst>
              <a:ext uri="{FF2B5EF4-FFF2-40B4-BE49-F238E27FC236}">
                <a16:creationId xmlns:a16="http://schemas.microsoft.com/office/drawing/2014/main" id="{5542ECA4-304D-4201-A4DE-7C630044A612}"/>
              </a:ext>
            </a:extLst>
          </p:cNvPr>
          <p:cNvPicPr>
            <a:picLocks noChangeAspect="1"/>
          </p:cNvPicPr>
          <p:nvPr/>
        </p:nvPicPr>
        <p:blipFill>
          <a:blip r:embed="rId3"/>
          <a:stretch>
            <a:fillRect/>
          </a:stretch>
        </p:blipFill>
        <p:spPr>
          <a:xfrm>
            <a:off x="4895852" y="1269054"/>
            <a:ext cx="4175932" cy="2605392"/>
          </a:xfrm>
          <a:prstGeom prst="rect">
            <a:avLst/>
          </a:prstGeom>
        </p:spPr>
      </p:pic>
    </p:spTree>
    <p:extLst>
      <p:ext uri="{BB962C8B-B14F-4D97-AF65-F5344CB8AC3E}">
        <p14:creationId xmlns:p14="http://schemas.microsoft.com/office/powerpoint/2010/main" val="39673792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17.2 Small Network Applications and Protocols</a:t>
            </a:r>
          </a:p>
        </p:txBody>
      </p:sp>
    </p:spTree>
    <p:custDataLst>
      <p:tags r:id="rId1"/>
    </p:custDataLst>
    <p:extLst>
      <p:ext uri="{BB962C8B-B14F-4D97-AF65-F5344CB8AC3E}">
        <p14:creationId xmlns:p14="http://schemas.microsoft.com/office/powerpoint/2010/main" val="1619359580"/>
      </p:ext>
    </p:extLst>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Small Network Applications and Protocols</a:t>
            </a:r>
            <a:br>
              <a:rPr lang="en-US" dirty="0"/>
            </a:br>
            <a:r>
              <a:rPr lang="en-US" sz="2400" dirty="0"/>
              <a:t>Common Applications</a:t>
            </a:r>
          </a:p>
        </p:txBody>
      </p:sp>
      <p:sp>
        <p:nvSpPr>
          <p:cNvPr id="6" name="Content Placeholder 5">
            <a:extLst>
              <a:ext uri="{FF2B5EF4-FFF2-40B4-BE49-F238E27FC236}">
                <a16:creationId xmlns:a16="http://schemas.microsoft.com/office/drawing/2014/main" id="{CBD63511-AED3-4B69-9FBC-FDA4115DD396}"/>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After you have set it up, your network still needs certain types of applications and protocols in order to work. The network is only as useful as the applications that are on it. </a:t>
            </a:r>
          </a:p>
          <a:p>
            <a:pPr marL="0" indent="0" algn="l"/>
            <a:endParaRPr lang="en-US" sz="1600" dirty="0">
              <a:solidFill>
                <a:srgbClr val="000000"/>
              </a:solidFill>
            </a:endParaRPr>
          </a:p>
          <a:p>
            <a:pPr marL="0" indent="0" algn="l"/>
            <a:r>
              <a:rPr lang="en-US" sz="1600" dirty="0">
                <a:solidFill>
                  <a:srgbClr val="000000"/>
                </a:solidFill>
              </a:rPr>
              <a:t>There are two forms of software programs or processes that provide access to the network: </a:t>
            </a:r>
          </a:p>
          <a:p>
            <a:pPr marL="358835" lvl="1" indent="-285750">
              <a:buFont typeface="Arial" panose="020B0604020202020204" pitchFamily="34" charset="0"/>
              <a:buChar char="•"/>
            </a:pPr>
            <a:r>
              <a:rPr lang="en-US" sz="1600" b="1" dirty="0">
                <a:solidFill>
                  <a:srgbClr val="000000"/>
                </a:solidFill>
              </a:rPr>
              <a:t>Network Applications</a:t>
            </a:r>
            <a:r>
              <a:rPr lang="en-US" sz="1600" dirty="0">
                <a:solidFill>
                  <a:srgbClr val="000000"/>
                </a:solidFill>
              </a:rPr>
              <a:t>: Applications that implement application layer protocols and are able to communicate directly with the lower layers of the protocol stack.</a:t>
            </a:r>
          </a:p>
          <a:p>
            <a:pPr marL="358835" lvl="1" indent="-285750">
              <a:buFont typeface="Arial" panose="020B0604020202020204" pitchFamily="34" charset="0"/>
              <a:buChar char="•"/>
            </a:pPr>
            <a:r>
              <a:rPr lang="en-US" sz="1600" b="1" dirty="0">
                <a:solidFill>
                  <a:srgbClr val="000000"/>
                </a:solidFill>
              </a:rPr>
              <a:t>Application Layer Services</a:t>
            </a:r>
            <a:r>
              <a:rPr lang="en-US" sz="1600" dirty="0">
                <a:solidFill>
                  <a:srgbClr val="000000"/>
                </a:solidFill>
              </a:rPr>
              <a:t>: For applications that are not network-aware, the programs that interface with the network and prepare the data for transfer. </a:t>
            </a:r>
          </a:p>
          <a:p>
            <a:pPr marL="342900" indent="-342900" algn="l">
              <a:buFont typeface="Arial" panose="020B0604020202020204" pitchFamily="34" charset="0"/>
              <a:buChar char="•"/>
            </a:pPr>
            <a:endParaRPr lang="en-US" sz="1400" dirty="0">
              <a:solidFill>
                <a:srgbClr val="000000"/>
              </a:solidFill>
            </a:endParaRPr>
          </a:p>
        </p:txBody>
      </p:sp>
    </p:spTree>
    <p:extLst>
      <p:ext uri="{BB962C8B-B14F-4D97-AF65-F5344CB8AC3E}">
        <p14:creationId xmlns:p14="http://schemas.microsoft.com/office/powerpoint/2010/main" val="1764084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Small Network Applications and Protocols</a:t>
            </a:r>
            <a:br>
              <a:rPr lang="en-US" dirty="0"/>
            </a:br>
            <a:r>
              <a:rPr lang="en-US" sz="2400" dirty="0"/>
              <a:t>Common Protocols</a:t>
            </a:r>
          </a:p>
        </p:txBody>
      </p:sp>
      <p:sp>
        <p:nvSpPr>
          <p:cNvPr id="4" name="Content Placeholder 3">
            <a:extLst>
              <a:ext uri="{FF2B5EF4-FFF2-40B4-BE49-F238E27FC236}">
                <a16:creationId xmlns:a16="http://schemas.microsoft.com/office/drawing/2014/main" id="{293C6751-32AF-45A8-BF93-DE124C4DE534}"/>
              </a:ext>
            </a:extLst>
          </p:cNvPr>
          <p:cNvSpPr>
            <a:spLocks noGrp="1"/>
          </p:cNvSpPr>
          <p:nvPr>
            <p:ph idx="1"/>
          </p:nvPr>
        </p:nvSpPr>
        <p:spPr>
          <a:xfrm>
            <a:off x="474662" y="731837"/>
            <a:ext cx="8280057" cy="3689897"/>
          </a:xfrm>
        </p:spPr>
        <p:txBody>
          <a:bodyPr/>
          <a:lstStyle/>
          <a:p>
            <a:pPr marL="0" indent="0" algn="l"/>
            <a:r>
              <a:rPr lang="en-US" sz="1500" dirty="0">
                <a:solidFill>
                  <a:srgbClr val="000000"/>
                </a:solidFill>
              </a:rPr>
              <a:t>Network protocols support the applications and services used by employees in a small network.</a:t>
            </a:r>
          </a:p>
          <a:p>
            <a:pPr marL="342900" indent="-342900" algn="l">
              <a:buFont typeface="Arial" panose="020B0604020202020204" pitchFamily="34" charset="0"/>
              <a:buChar char="•"/>
            </a:pPr>
            <a:r>
              <a:rPr lang="en-US" sz="1500" dirty="0">
                <a:solidFill>
                  <a:srgbClr val="000000"/>
                </a:solidFill>
              </a:rPr>
              <a:t>Network administrators commonly require access to network devices and servers. The two most common remote access solutions are Telnet and Secure Shell (SSH). </a:t>
            </a:r>
          </a:p>
          <a:p>
            <a:pPr marL="342900" indent="-342900" algn="l">
              <a:buFont typeface="Arial" panose="020B0604020202020204" pitchFamily="34" charset="0"/>
              <a:buChar char="•"/>
            </a:pPr>
            <a:r>
              <a:rPr lang="en-US" sz="1500" dirty="0">
                <a:solidFill>
                  <a:srgbClr val="000000"/>
                </a:solidFill>
              </a:rPr>
              <a:t>Hypertext Transfer Protocol (HTTP) and Hypertext Transfer Protocol Secure (HTTPS) are used between web clients and web servers.</a:t>
            </a:r>
          </a:p>
          <a:p>
            <a:pPr marL="342900" indent="-342900" algn="l">
              <a:buFont typeface="Arial" panose="020B0604020202020204" pitchFamily="34" charset="0"/>
              <a:buChar char="•"/>
            </a:pPr>
            <a:r>
              <a:rPr lang="en-US" sz="1500" dirty="0">
                <a:solidFill>
                  <a:srgbClr val="000000"/>
                </a:solidFill>
              </a:rPr>
              <a:t>Simple Mail Transfer Protocol (SMTP) is used to send email, Post Office Protocol (POP3) or Internet Mail Access Protocol (IMAP) are used by clients to retrieve email.</a:t>
            </a:r>
          </a:p>
          <a:p>
            <a:pPr marL="342900" indent="-342900" algn="l">
              <a:buFont typeface="Arial" panose="020B0604020202020204" pitchFamily="34" charset="0"/>
              <a:buChar char="•"/>
            </a:pPr>
            <a:r>
              <a:rPr lang="en-US" sz="1500" dirty="0">
                <a:solidFill>
                  <a:srgbClr val="000000"/>
                </a:solidFill>
              </a:rPr>
              <a:t>File Transfer Protocol (FTP) and Security File Transfer Protocol (SFTP) are used to download and upload files between a client and an FTP server.</a:t>
            </a:r>
          </a:p>
          <a:p>
            <a:pPr marL="342900" indent="-342900" algn="l">
              <a:buFont typeface="Arial" panose="020B0604020202020204" pitchFamily="34" charset="0"/>
              <a:buChar char="•"/>
            </a:pPr>
            <a:r>
              <a:rPr lang="en-US" sz="1500" dirty="0">
                <a:solidFill>
                  <a:srgbClr val="000000"/>
                </a:solidFill>
              </a:rPr>
              <a:t>Dynamic Host Configuration Protocol (DHCP) is used by clients to acquire an IP configuration from a DHCP Server.</a:t>
            </a:r>
          </a:p>
          <a:p>
            <a:pPr marL="342900" indent="-342900" algn="l">
              <a:buFont typeface="Arial" panose="020B0604020202020204" pitchFamily="34" charset="0"/>
              <a:buChar char="•"/>
            </a:pPr>
            <a:r>
              <a:rPr lang="en-US" sz="1500" dirty="0">
                <a:solidFill>
                  <a:srgbClr val="000000"/>
                </a:solidFill>
              </a:rPr>
              <a:t>The Domain Name Service (DNS) resolves domain names to IP addresses.</a:t>
            </a:r>
          </a:p>
          <a:p>
            <a:pPr marL="0" indent="0" algn="l"/>
            <a:r>
              <a:rPr lang="en-US" sz="1500" b="1" dirty="0">
                <a:solidFill>
                  <a:srgbClr val="000000"/>
                </a:solidFill>
              </a:rPr>
              <a:t>Note</a:t>
            </a:r>
            <a:r>
              <a:rPr lang="en-US" sz="1500" dirty="0">
                <a:solidFill>
                  <a:srgbClr val="000000"/>
                </a:solidFill>
              </a:rPr>
              <a:t>: A server could provide multiple network services. For instance, a server could be an email, FTP and HTTP/HTTPS server.</a:t>
            </a:r>
          </a:p>
        </p:txBody>
      </p:sp>
    </p:spTree>
    <p:extLst>
      <p:ext uri="{BB962C8B-B14F-4D97-AF65-F5344CB8AC3E}">
        <p14:creationId xmlns:p14="http://schemas.microsoft.com/office/powerpoint/2010/main" val="16800697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Small Network Applications and Protocols</a:t>
            </a:r>
            <a:br>
              <a:rPr lang="en-US" dirty="0"/>
            </a:br>
            <a:r>
              <a:rPr lang="en-US" sz="2400" dirty="0"/>
              <a:t>Common Protocols (Cont.)</a:t>
            </a:r>
          </a:p>
        </p:txBody>
      </p:sp>
      <p:sp>
        <p:nvSpPr>
          <p:cNvPr id="4" name="Content Placeholder 3">
            <a:extLst>
              <a:ext uri="{FF2B5EF4-FFF2-40B4-BE49-F238E27FC236}">
                <a16:creationId xmlns:a16="http://schemas.microsoft.com/office/drawing/2014/main" id="{293C6751-32AF-45A8-BF93-DE124C4DE534}"/>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These network protocols comprise the fundamental toolset of a network professional, defining:</a:t>
            </a:r>
          </a:p>
          <a:p>
            <a:pPr marL="342900" indent="-342900" algn="l">
              <a:buFont typeface="Arial" panose="020B0604020202020204" pitchFamily="34" charset="0"/>
              <a:buChar char="•"/>
            </a:pPr>
            <a:r>
              <a:rPr lang="en-US" sz="1600" dirty="0">
                <a:solidFill>
                  <a:srgbClr val="000000"/>
                </a:solidFill>
              </a:rPr>
              <a:t>Processes on either end of a communication session.</a:t>
            </a:r>
          </a:p>
          <a:p>
            <a:pPr marL="342900" indent="-342900" algn="l">
              <a:buFont typeface="Arial" panose="020B0604020202020204" pitchFamily="34" charset="0"/>
              <a:buChar char="•"/>
            </a:pPr>
            <a:r>
              <a:rPr lang="en-US" sz="1600" dirty="0">
                <a:solidFill>
                  <a:srgbClr val="000000"/>
                </a:solidFill>
              </a:rPr>
              <a:t>Types of messages.</a:t>
            </a:r>
          </a:p>
          <a:p>
            <a:pPr marL="342900" indent="-342900" algn="l">
              <a:buFont typeface="Arial" panose="020B0604020202020204" pitchFamily="34" charset="0"/>
              <a:buChar char="•"/>
            </a:pPr>
            <a:r>
              <a:rPr lang="en-US" sz="1600" dirty="0">
                <a:solidFill>
                  <a:srgbClr val="000000"/>
                </a:solidFill>
              </a:rPr>
              <a:t>Syntax of the messages.</a:t>
            </a:r>
          </a:p>
          <a:p>
            <a:pPr marL="342900" indent="-342900" algn="l">
              <a:buFont typeface="Arial" panose="020B0604020202020204" pitchFamily="34" charset="0"/>
              <a:buChar char="•"/>
            </a:pPr>
            <a:r>
              <a:rPr lang="en-US" sz="1600" dirty="0">
                <a:solidFill>
                  <a:srgbClr val="000000"/>
                </a:solidFill>
              </a:rPr>
              <a:t>Meaning of informational fields.</a:t>
            </a:r>
          </a:p>
          <a:p>
            <a:pPr marL="342900" indent="-342900" algn="l">
              <a:buFont typeface="Arial" panose="020B0604020202020204" pitchFamily="34" charset="0"/>
              <a:buChar char="•"/>
            </a:pPr>
            <a:r>
              <a:rPr lang="en-US" sz="1600" dirty="0">
                <a:solidFill>
                  <a:srgbClr val="000000"/>
                </a:solidFill>
              </a:rPr>
              <a:t>How messages are sent and the expected response.</a:t>
            </a:r>
          </a:p>
          <a:p>
            <a:pPr marL="342900" indent="-342900" algn="l">
              <a:buFont typeface="Arial" panose="020B0604020202020204" pitchFamily="34" charset="0"/>
              <a:buChar char="•"/>
            </a:pPr>
            <a:r>
              <a:rPr lang="en-US" sz="1600" dirty="0">
                <a:solidFill>
                  <a:srgbClr val="000000"/>
                </a:solidFill>
              </a:rPr>
              <a:t>Interaction with the next lower layer.</a:t>
            </a:r>
          </a:p>
          <a:p>
            <a:pPr marL="342900" indent="-342900" algn="l">
              <a:buFont typeface="Arial" panose="020B0604020202020204" pitchFamily="34" charset="0"/>
              <a:buChar char="•"/>
            </a:pPr>
            <a:endParaRPr lang="en-US" sz="1600" dirty="0">
              <a:solidFill>
                <a:srgbClr val="000000"/>
              </a:solidFill>
            </a:endParaRPr>
          </a:p>
          <a:p>
            <a:pPr marL="0" indent="0" algn="l"/>
            <a:r>
              <a:rPr lang="en-US" sz="1600" dirty="0">
                <a:solidFill>
                  <a:srgbClr val="000000"/>
                </a:solidFill>
              </a:rPr>
              <a:t>Many companies have established a policy of using secure versions (e.g., SSH, SFTP, and HTTPS) of these protocols whenever possible.</a:t>
            </a:r>
          </a:p>
        </p:txBody>
      </p:sp>
    </p:spTree>
    <p:extLst>
      <p:ext uri="{BB962C8B-B14F-4D97-AF65-F5344CB8AC3E}">
        <p14:creationId xmlns:p14="http://schemas.microsoft.com/office/powerpoint/2010/main" val="40845166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Small Network Applications and Protocols</a:t>
            </a:r>
            <a:br>
              <a:rPr lang="en-US" dirty="0"/>
            </a:br>
            <a:r>
              <a:rPr lang="en-US" sz="2400" dirty="0"/>
              <a:t>Voice and Video Applications</a:t>
            </a:r>
          </a:p>
        </p:txBody>
      </p:sp>
      <p:sp>
        <p:nvSpPr>
          <p:cNvPr id="5" name="Content Placeholder 4">
            <a:extLst>
              <a:ext uri="{FF2B5EF4-FFF2-40B4-BE49-F238E27FC236}">
                <a16:creationId xmlns:a16="http://schemas.microsoft.com/office/drawing/2014/main" id="{60805718-1D89-4A05-B2C1-06EAAE238C28}"/>
              </a:ext>
            </a:extLst>
          </p:cNvPr>
          <p:cNvSpPr>
            <a:spLocks noGrp="1"/>
          </p:cNvSpPr>
          <p:nvPr>
            <p:ph idx="1"/>
          </p:nvPr>
        </p:nvSpPr>
        <p:spPr>
          <a:xfrm>
            <a:off x="474662" y="731837"/>
            <a:ext cx="8280057" cy="3689897"/>
          </a:xfrm>
        </p:spPr>
        <p:txBody>
          <a:bodyPr/>
          <a:lstStyle/>
          <a:p>
            <a:pPr marL="342900" indent="-342900" algn="l">
              <a:buFont typeface="Arial" panose="020B0604020202020204" pitchFamily="34" charset="0"/>
              <a:buChar char="•"/>
            </a:pPr>
            <a:r>
              <a:rPr lang="en-US" sz="1500" dirty="0">
                <a:solidFill>
                  <a:srgbClr val="000000"/>
                </a:solidFill>
              </a:rPr>
              <a:t>Businesses today are increasingly using IP telephony and streaming media to communicate with customers and business partners, as well as enabling their employees to work remotely.</a:t>
            </a:r>
          </a:p>
          <a:p>
            <a:pPr marL="342900" indent="-342900" algn="l">
              <a:buFont typeface="Arial" panose="020B0604020202020204" pitchFamily="34" charset="0"/>
              <a:buChar char="•"/>
            </a:pPr>
            <a:r>
              <a:rPr lang="en-US" sz="1500" dirty="0">
                <a:solidFill>
                  <a:srgbClr val="000000"/>
                </a:solidFill>
              </a:rPr>
              <a:t>The network administrator must ensure the proper equipment is installed in the network and that the network devices are configured to ensure priority delivery.</a:t>
            </a:r>
          </a:p>
          <a:p>
            <a:pPr marL="342900" indent="-342900" algn="l">
              <a:buFont typeface="Arial" panose="020B0604020202020204" pitchFamily="34" charset="0"/>
              <a:buChar char="•"/>
            </a:pPr>
            <a:r>
              <a:rPr lang="en-US" sz="1500" dirty="0">
                <a:solidFill>
                  <a:srgbClr val="000000"/>
                </a:solidFill>
              </a:rPr>
              <a:t>The factors that a small network administrator must consider when supporting real-time applications:</a:t>
            </a:r>
          </a:p>
          <a:p>
            <a:pPr marL="489010" lvl="2" indent="-342900">
              <a:buFont typeface="Arial" panose="020B0604020202020204" pitchFamily="34" charset="0"/>
              <a:buChar char="•"/>
            </a:pPr>
            <a:r>
              <a:rPr lang="en-US" sz="1500" b="1" dirty="0">
                <a:solidFill>
                  <a:srgbClr val="000000"/>
                </a:solidFill>
              </a:rPr>
              <a:t>Infrastructure -</a:t>
            </a:r>
            <a:r>
              <a:rPr lang="en-US" sz="1500" dirty="0">
                <a:solidFill>
                  <a:srgbClr val="000000"/>
                </a:solidFill>
              </a:rPr>
              <a:t> Does it have the capacity and capability to support real-time applications?</a:t>
            </a:r>
          </a:p>
          <a:p>
            <a:pPr marL="489010" lvl="2" indent="-342900">
              <a:buFont typeface="Arial" panose="020B0604020202020204" pitchFamily="34" charset="0"/>
              <a:buChar char="•"/>
            </a:pPr>
            <a:r>
              <a:rPr lang="en-US" sz="1500" b="1" dirty="0">
                <a:solidFill>
                  <a:srgbClr val="000000"/>
                </a:solidFill>
              </a:rPr>
              <a:t>VoIP - </a:t>
            </a:r>
            <a:r>
              <a:rPr lang="en-US" sz="1500" dirty="0">
                <a:solidFill>
                  <a:srgbClr val="000000"/>
                </a:solidFill>
              </a:rPr>
              <a:t>VoIP is typically less expensive than IP Telephony, but at the cost of quality and features.</a:t>
            </a:r>
          </a:p>
          <a:p>
            <a:pPr marL="489010" lvl="2" indent="-342900">
              <a:buFont typeface="Arial" panose="020B0604020202020204" pitchFamily="34" charset="0"/>
              <a:buChar char="•"/>
            </a:pPr>
            <a:r>
              <a:rPr lang="en-US" sz="1500" b="1" dirty="0">
                <a:solidFill>
                  <a:srgbClr val="000000"/>
                </a:solidFill>
              </a:rPr>
              <a:t>IP Telephony - </a:t>
            </a:r>
            <a:r>
              <a:rPr lang="en-US" sz="1500" dirty="0">
                <a:solidFill>
                  <a:srgbClr val="000000"/>
                </a:solidFill>
              </a:rPr>
              <a:t>This employs dedicated servers form call control and signaling.</a:t>
            </a:r>
          </a:p>
          <a:p>
            <a:pPr marL="489010" lvl="2" indent="-342900">
              <a:buFont typeface="Arial" panose="020B0604020202020204" pitchFamily="34" charset="0"/>
              <a:buChar char="•"/>
            </a:pPr>
            <a:r>
              <a:rPr lang="en-US" sz="1500" b="1" dirty="0">
                <a:solidFill>
                  <a:srgbClr val="000000"/>
                </a:solidFill>
              </a:rPr>
              <a:t>Real-Time Applications - </a:t>
            </a:r>
            <a:r>
              <a:rPr lang="en-US" sz="1500" dirty="0">
                <a:solidFill>
                  <a:srgbClr val="000000"/>
                </a:solidFill>
              </a:rPr>
              <a:t>The network must support Quality of Service (QoS) mechanisms to minimize latency issues. Real-Time Transport Protocol (RTP) and Real-Time Transport Control Protocol (RTCP) and two protocols that support real-time applications.</a:t>
            </a:r>
          </a:p>
        </p:txBody>
      </p:sp>
    </p:spTree>
    <p:extLst>
      <p:ext uri="{BB962C8B-B14F-4D97-AF65-F5344CB8AC3E}">
        <p14:creationId xmlns:p14="http://schemas.microsoft.com/office/powerpoint/2010/main" val="12414985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17.3 Scale to Larger Networks</a:t>
            </a:r>
          </a:p>
        </p:txBody>
      </p:sp>
    </p:spTree>
    <p:custDataLst>
      <p:tags r:id="rId1"/>
    </p:custDataLst>
    <p:extLst>
      <p:ext uri="{BB962C8B-B14F-4D97-AF65-F5344CB8AC3E}">
        <p14:creationId xmlns:p14="http://schemas.microsoft.com/office/powerpoint/2010/main" val="1016896985"/>
      </p:ext>
    </p:extLst>
  </p:cSld>
  <p:clrMapOvr>
    <a:masterClrMapping/>
  </p:clrMapOvr>
  <p:transition spd="slow">
    <p:wip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Scale to Larger Networks</a:t>
            </a:r>
            <a:br>
              <a:rPr lang="en-US" dirty="0"/>
            </a:br>
            <a:r>
              <a:rPr lang="en-US" sz="2400" dirty="0"/>
              <a:t>Small Network Growth</a:t>
            </a:r>
          </a:p>
        </p:txBody>
      </p:sp>
      <p:sp>
        <p:nvSpPr>
          <p:cNvPr id="4" name="Content Placeholder 3">
            <a:extLst>
              <a:ext uri="{FF2B5EF4-FFF2-40B4-BE49-F238E27FC236}">
                <a16:creationId xmlns:a16="http://schemas.microsoft.com/office/drawing/2014/main" id="{4D4DC2CE-CBF1-4EDA-BBE9-D4BCE31CD2E2}"/>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Growth is a natural process for many small businesses, and their networks must grow accordingly. Ideally, the network administrator has enough lead-time to make intelligent decisions about growing the network in alignment with the growth of the company.</a:t>
            </a:r>
          </a:p>
          <a:p>
            <a:pPr marL="0" indent="0" algn="l"/>
            <a:endParaRPr lang="en-US" sz="1600" dirty="0">
              <a:solidFill>
                <a:srgbClr val="000000"/>
              </a:solidFill>
            </a:endParaRPr>
          </a:p>
          <a:p>
            <a:pPr marL="0" indent="0" algn="l"/>
            <a:r>
              <a:rPr lang="en-US" sz="1600" dirty="0">
                <a:solidFill>
                  <a:srgbClr val="000000"/>
                </a:solidFill>
              </a:rPr>
              <a:t>To scale a network, several elements are required:</a:t>
            </a:r>
          </a:p>
          <a:p>
            <a:pPr marL="415985" lvl="1" indent="-342900">
              <a:buFont typeface="Arial" panose="020B0604020202020204" pitchFamily="34" charset="0"/>
              <a:buChar char="•"/>
            </a:pPr>
            <a:r>
              <a:rPr lang="en-US" sz="1600" b="1" dirty="0">
                <a:solidFill>
                  <a:srgbClr val="000000"/>
                </a:solidFill>
              </a:rPr>
              <a:t>Network documentation</a:t>
            </a:r>
            <a:r>
              <a:rPr lang="en-US" sz="1600" dirty="0">
                <a:solidFill>
                  <a:srgbClr val="000000"/>
                </a:solidFill>
              </a:rPr>
              <a:t> - Physical and logical topology</a:t>
            </a:r>
          </a:p>
          <a:p>
            <a:pPr marL="415985" lvl="1" indent="-342900">
              <a:buFont typeface="Arial" panose="020B0604020202020204" pitchFamily="34" charset="0"/>
              <a:buChar char="•"/>
            </a:pPr>
            <a:r>
              <a:rPr lang="en-US" sz="1600" b="1" dirty="0">
                <a:solidFill>
                  <a:srgbClr val="000000"/>
                </a:solidFill>
              </a:rPr>
              <a:t>Device inventory</a:t>
            </a:r>
            <a:r>
              <a:rPr lang="en-US" sz="1600" dirty="0">
                <a:solidFill>
                  <a:srgbClr val="000000"/>
                </a:solidFill>
              </a:rPr>
              <a:t> - List of devices that use or comprise the network</a:t>
            </a:r>
          </a:p>
          <a:p>
            <a:pPr marL="415985" lvl="1" indent="-342900">
              <a:buFont typeface="Arial" panose="020B0604020202020204" pitchFamily="34" charset="0"/>
              <a:buChar char="•"/>
            </a:pPr>
            <a:r>
              <a:rPr lang="en-US" sz="1600" b="1" dirty="0">
                <a:solidFill>
                  <a:srgbClr val="000000"/>
                </a:solidFill>
              </a:rPr>
              <a:t>Budget</a:t>
            </a:r>
            <a:r>
              <a:rPr lang="en-US" sz="1600" dirty="0">
                <a:solidFill>
                  <a:srgbClr val="000000"/>
                </a:solidFill>
              </a:rPr>
              <a:t> - Itemized IT budget, including fiscal year equipment purchasing budget</a:t>
            </a:r>
          </a:p>
          <a:p>
            <a:pPr marL="415985" lvl="1" indent="-342900">
              <a:buFont typeface="Arial" panose="020B0604020202020204" pitchFamily="34" charset="0"/>
              <a:buChar char="•"/>
            </a:pPr>
            <a:r>
              <a:rPr lang="en-US" sz="1600" b="1" dirty="0">
                <a:solidFill>
                  <a:srgbClr val="000000"/>
                </a:solidFill>
              </a:rPr>
              <a:t>Traffic analysis</a:t>
            </a:r>
            <a:r>
              <a:rPr lang="en-US" sz="1600" dirty="0">
                <a:solidFill>
                  <a:srgbClr val="000000"/>
                </a:solidFill>
              </a:rPr>
              <a:t> - Protocols, applications, and services and their respective traffic requirements should be documented</a:t>
            </a:r>
          </a:p>
          <a:p>
            <a:pPr marL="0" indent="0" algn="l"/>
            <a:r>
              <a:rPr lang="en-US" sz="1600" dirty="0">
                <a:solidFill>
                  <a:srgbClr val="000000"/>
                </a:solidFill>
              </a:rPr>
              <a:t>These elements are used to inform the decision-making that accompanies the scaling of a small network.</a:t>
            </a:r>
          </a:p>
          <a:p>
            <a:pPr marL="342900" indent="-342900" algn="l">
              <a:buFont typeface="Arial" panose="020B0604020202020204" pitchFamily="34" charset="0"/>
              <a:buChar char="•"/>
            </a:pPr>
            <a:endParaRPr lang="en-US" sz="1400" dirty="0">
              <a:solidFill>
                <a:srgbClr val="000000"/>
              </a:solidFill>
            </a:endParaRPr>
          </a:p>
        </p:txBody>
      </p:sp>
    </p:spTree>
    <p:extLst>
      <p:ext uri="{BB962C8B-B14F-4D97-AF65-F5344CB8AC3E}">
        <p14:creationId xmlns:p14="http://schemas.microsoft.com/office/powerpoint/2010/main" val="23681152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Scale to Larger Networks</a:t>
            </a:r>
            <a:br>
              <a:rPr lang="en-US" dirty="0"/>
            </a:br>
            <a:r>
              <a:rPr lang="en-US" sz="2400" dirty="0"/>
              <a:t>Protocol Analysis</a:t>
            </a:r>
          </a:p>
        </p:txBody>
      </p:sp>
      <p:sp>
        <p:nvSpPr>
          <p:cNvPr id="5" name="Content Placeholder 4">
            <a:extLst>
              <a:ext uri="{FF2B5EF4-FFF2-40B4-BE49-F238E27FC236}">
                <a16:creationId xmlns:a16="http://schemas.microsoft.com/office/drawing/2014/main" id="{3DD0F7E2-6CB1-4DF6-97A5-A655F8C79DD2}"/>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It is important to understand the type of traffic that is crossing the network as well as the current traffic flow. There are several network management tools that can be used for this purpose.</a:t>
            </a:r>
          </a:p>
          <a:p>
            <a:pPr marL="0" indent="0" algn="l"/>
            <a:endParaRPr lang="en-US" sz="1600" dirty="0">
              <a:solidFill>
                <a:srgbClr val="000000"/>
              </a:solidFill>
            </a:endParaRPr>
          </a:p>
          <a:p>
            <a:pPr marL="0" indent="0" algn="l"/>
            <a:r>
              <a:rPr lang="en-US" sz="1600" dirty="0">
                <a:solidFill>
                  <a:srgbClr val="000000"/>
                </a:solidFill>
              </a:rPr>
              <a:t>To determine traffic flow patterns, it is important to do the following:</a:t>
            </a:r>
          </a:p>
          <a:p>
            <a:pPr marL="358835" lvl="1" indent="-285750">
              <a:buFont typeface="Arial" panose="020B0604020202020204" pitchFamily="34" charset="0"/>
              <a:buChar char="•"/>
            </a:pPr>
            <a:r>
              <a:rPr lang="en-US" sz="1600" dirty="0">
                <a:solidFill>
                  <a:srgbClr val="000000"/>
                </a:solidFill>
              </a:rPr>
              <a:t>Capture traffic during peak utilization times to get a good representation of the different traffic types.</a:t>
            </a:r>
          </a:p>
          <a:p>
            <a:pPr marL="358835" lvl="1" indent="-285750">
              <a:buFont typeface="Arial" panose="020B0604020202020204" pitchFamily="34" charset="0"/>
              <a:buChar char="•"/>
            </a:pPr>
            <a:r>
              <a:rPr lang="en-US" sz="1600" dirty="0">
                <a:solidFill>
                  <a:srgbClr val="000000"/>
                </a:solidFill>
              </a:rPr>
              <a:t>Perform the capture on different network segments and devices as some traffic will be local to a particular segment.</a:t>
            </a:r>
          </a:p>
          <a:p>
            <a:pPr marL="358835" lvl="1" indent="-285750">
              <a:buFont typeface="Arial" panose="020B0604020202020204" pitchFamily="34" charset="0"/>
              <a:buChar char="•"/>
            </a:pPr>
            <a:r>
              <a:rPr lang="en-US" sz="1600" dirty="0">
                <a:solidFill>
                  <a:srgbClr val="000000"/>
                </a:solidFill>
              </a:rPr>
              <a:t>Information gathered by the protocol analyzer is evaluated based on the source and destination of the traffic, as well as the type of traffic being sent. </a:t>
            </a:r>
          </a:p>
          <a:p>
            <a:pPr marL="358835" lvl="1" indent="-285750">
              <a:buFont typeface="Arial" panose="020B0604020202020204" pitchFamily="34" charset="0"/>
              <a:buChar char="•"/>
            </a:pPr>
            <a:r>
              <a:rPr lang="en-US" sz="1600" dirty="0">
                <a:solidFill>
                  <a:srgbClr val="000000"/>
                </a:solidFill>
              </a:rPr>
              <a:t>This analysis can be used to make decisions on how to manage the traffic more efficiently.</a:t>
            </a:r>
          </a:p>
        </p:txBody>
      </p:sp>
    </p:spTree>
    <p:extLst>
      <p:ext uri="{BB962C8B-B14F-4D97-AF65-F5344CB8AC3E}">
        <p14:creationId xmlns:p14="http://schemas.microsoft.com/office/powerpoint/2010/main" val="3979798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Scale to Larger Networks</a:t>
            </a:r>
            <a:br>
              <a:rPr lang="en-US" dirty="0"/>
            </a:br>
            <a:r>
              <a:rPr lang="en-US" sz="2400" dirty="0"/>
              <a:t>Employee Network Utilization</a:t>
            </a:r>
          </a:p>
        </p:txBody>
      </p:sp>
      <p:sp>
        <p:nvSpPr>
          <p:cNvPr id="4" name="Content Placeholder 3">
            <a:extLst>
              <a:ext uri="{FF2B5EF4-FFF2-40B4-BE49-F238E27FC236}">
                <a16:creationId xmlns:a16="http://schemas.microsoft.com/office/drawing/2014/main" id="{A4F111CF-BA9E-4AFA-8A34-8CA18113097A}"/>
              </a:ext>
            </a:extLst>
          </p:cNvPr>
          <p:cNvSpPr>
            <a:spLocks noGrp="1"/>
          </p:cNvSpPr>
          <p:nvPr>
            <p:ph idx="1"/>
          </p:nvPr>
        </p:nvSpPr>
        <p:spPr>
          <a:xfrm>
            <a:off x="66675" y="609600"/>
            <a:ext cx="8972549" cy="4095749"/>
          </a:xfrm>
        </p:spPr>
        <p:txBody>
          <a:bodyPr/>
          <a:lstStyle/>
          <a:p>
            <a:pPr marL="0" indent="0" algn="l"/>
            <a:r>
              <a:rPr lang="en-US" sz="1600" dirty="0">
                <a:solidFill>
                  <a:srgbClr val="000000"/>
                </a:solidFill>
              </a:rPr>
              <a:t>Many operating systems provide built-in tools to display such network utilization information. These tools can be used to capture a “snapshot” of information such as the following:</a:t>
            </a:r>
          </a:p>
          <a:p>
            <a:pPr marL="0" indent="0" algn="l"/>
            <a:endParaRPr lang="en-US" sz="1600" dirty="0">
              <a:solidFill>
                <a:srgbClr val="000000"/>
              </a:solidFill>
            </a:endParaRPr>
          </a:p>
          <a:p>
            <a:pPr marL="415985" lvl="1" indent="-342900">
              <a:buFont typeface="Arial" panose="020B0604020202020204" pitchFamily="34" charset="0"/>
              <a:buChar char="•"/>
            </a:pPr>
            <a:r>
              <a:rPr lang="en-US" sz="1600" dirty="0">
                <a:solidFill>
                  <a:srgbClr val="000000"/>
                </a:solidFill>
              </a:rPr>
              <a:t>OS and OS Version</a:t>
            </a:r>
          </a:p>
          <a:p>
            <a:pPr marL="415985" lvl="1" indent="-342900">
              <a:buFont typeface="Arial" panose="020B0604020202020204" pitchFamily="34" charset="0"/>
              <a:buChar char="•"/>
            </a:pPr>
            <a:r>
              <a:rPr lang="en-US" sz="1600" dirty="0">
                <a:solidFill>
                  <a:srgbClr val="000000"/>
                </a:solidFill>
              </a:rPr>
              <a:t>CPU utilization</a:t>
            </a:r>
          </a:p>
          <a:p>
            <a:pPr marL="415985" lvl="1" indent="-342900">
              <a:buFont typeface="Arial" panose="020B0604020202020204" pitchFamily="34" charset="0"/>
              <a:buChar char="•"/>
            </a:pPr>
            <a:r>
              <a:rPr lang="en-US" sz="1600" dirty="0">
                <a:solidFill>
                  <a:srgbClr val="000000"/>
                </a:solidFill>
              </a:rPr>
              <a:t>RAM utilization</a:t>
            </a:r>
          </a:p>
          <a:p>
            <a:pPr marL="415985" lvl="1" indent="-342900">
              <a:buFont typeface="Arial" panose="020B0604020202020204" pitchFamily="34" charset="0"/>
              <a:buChar char="•"/>
            </a:pPr>
            <a:r>
              <a:rPr lang="en-US" sz="1600" dirty="0">
                <a:solidFill>
                  <a:srgbClr val="000000"/>
                </a:solidFill>
              </a:rPr>
              <a:t>Drive utilization</a:t>
            </a:r>
          </a:p>
          <a:p>
            <a:pPr marL="415985" lvl="1" indent="-342900">
              <a:buFont typeface="Arial" panose="020B0604020202020204" pitchFamily="34" charset="0"/>
              <a:buChar char="•"/>
            </a:pPr>
            <a:r>
              <a:rPr lang="en-US" sz="1600" dirty="0">
                <a:solidFill>
                  <a:srgbClr val="000000"/>
                </a:solidFill>
              </a:rPr>
              <a:t>Non-Network applications</a:t>
            </a:r>
          </a:p>
          <a:p>
            <a:pPr marL="415985" lvl="1" indent="-342900">
              <a:buFont typeface="Arial" panose="020B0604020202020204" pitchFamily="34" charset="0"/>
              <a:buChar char="•"/>
            </a:pPr>
            <a:r>
              <a:rPr lang="en-US" sz="1600" dirty="0">
                <a:solidFill>
                  <a:srgbClr val="000000"/>
                </a:solidFill>
              </a:rPr>
              <a:t>Network applications</a:t>
            </a:r>
          </a:p>
          <a:p>
            <a:pPr marL="415985" lvl="1" indent="-342900">
              <a:buFont typeface="Arial" panose="020B0604020202020204" pitchFamily="34" charset="0"/>
              <a:buChar char="•"/>
            </a:pPr>
            <a:endParaRPr lang="en-US" sz="1600" dirty="0">
              <a:solidFill>
                <a:srgbClr val="000000"/>
              </a:solidFill>
            </a:endParaRPr>
          </a:p>
          <a:p>
            <a:pPr marL="0" indent="0" algn="l"/>
            <a:r>
              <a:rPr lang="en-US" sz="1600" dirty="0">
                <a:solidFill>
                  <a:srgbClr val="000000"/>
                </a:solidFill>
              </a:rPr>
              <a:t>Documenting snapshots for employees in a small network over a period of time is very useful to identify evolving protocol requirements and associated traffic flows. </a:t>
            </a:r>
          </a:p>
          <a:p>
            <a:pPr marL="342900" indent="-342900" algn="l">
              <a:buFont typeface="Arial" panose="020B0604020202020204" pitchFamily="34" charset="0"/>
              <a:buChar char="•"/>
            </a:pPr>
            <a:endParaRPr lang="en-US" sz="1400" dirty="0">
              <a:solidFill>
                <a:srgbClr val="000000"/>
              </a:solidFill>
            </a:endParaRPr>
          </a:p>
        </p:txBody>
      </p:sp>
    </p:spTree>
    <p:extLst>
      <p:ext uri="{BB962C8B-B14F-4D97-AF65-F5344CB8AC3E}">
        <p14:creationId xmlns:p14="http://schemas.microsoft.com/office/powerpoint/2010/main" val="35675760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17.4 Verify Connectivity</a:t>
            </a:r>
          </a:p>
        </p:txBody>
      </p:sp>
    </p:spTree>
    <p:custDataLst>
      <p:tags r:id="rId1"/>
    </p:custDataLst>
    <p:extLst>
      <p:ext uri="{BB962C8B-B14F-4D97-AF65-F5344CB8AC3E}">
        <p14:creationId xmlns:p14="http://schemas.microsoft.com/office/powerpoint/2010/main" val="2518598079"/>
      </p:ext>
    </p:extLst>
  </p:cSld>
  <p:clrMapOvr>
    <a:masterClrMapping/>
  </p:clrMapOvr>
  <p:transition spd="slow">
    <p:wip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Verify Connectivity</a:t>
            </a:r>
            <a:br>
              <a:rPr lang="en-US" dirty="0"/>
            </a:br>
            <a:r>
              <a:rPr lang="en-US" sz="2400" dirty="0"/>
              <a:t>Verify Connectivity with Ping</a:t>
            </a:r>
          </a:p>
        </p:txBody>
      </p:sp>
      <p:sp>
        <p:nvSpPr>
          <p:cNvPr id="5" name="Content Placeholder 4">
            <a:extLst>
              <a:ext uri="{FF2B5EF4-FFF2-40B4-BE49-F238E27FC236}">
                <a16:creationId xmlns:a16="http://schemas.microsoft.com/office/drawing/2014/main" id="{83EF1FB9-F0A5-499F-86F9-615E8074EB5B}"/>
              </a:ext>
            </a:extLst>
          </p:cNvPr>
          <p:cNvSpPr>
            <a:spLocks noGrp="1"/>
          </p:cNvSpPr>
          <p:nvPr>
            <p:ph idx="1"/>
          </p:nvPr>
        </p:nvSpPr>
        <p:spPr>
          <a:xfrm>
            <a:off x="133350" y="687671"/>
            <a:ext cx="8621369" cy="1774104"/>
          </a:xfrm>
        </p:spPr>
        <p:txBody>
          <a:bodyPr/>
          <a:lstStyle/>
          <a:p>
            <a:pPr marL="0" indent="0" algn="l"/>
            <a:r>
              <a:rPr lang="en-US" sz="1600" dirty="0">
                <a:solidFill>
                  <a:srgbClr val="000000"/>
                </a:solidFill>
              </a:rPr>
              <a:t>Whether your network is small and new, or you are scaling an existing network, you will always want to be able to verify that your components are properly connected to each other and to the internet. </a:t>
            </a:r>
          </a:p>
          <a:p>
            <a:pPr marL="342900" indent="-342900" algn="l">
              <a:buFont typeface="Arial" panose="020B0604020202020204" pitchFamily="34" charset="0"/>
              <a:buChar char="•"/>
            </a:pPr>
            <a:r>
              <a:rPr lang="en-US" sz="1600" dirty="0">
                <a:solidFill>
                  <a:srgbClr val="000000"/>
                </a:solidFill>
              </a:rPr>
              <a:t>The ping command, available on most operating systems, is the most effective way to quickly test Layer 3 connectivity between a source and destination IP address.</a:t>
            </a:r>
          </a:p>
          <a:p>
            <a:pPr marL="342900" indent="-342900" algn="l">
              <a:buFont typeface="Arial" panose="020B0604020202020204" pitchFamily="34" charset="0"/>
              <a:buChar char="•"/>
            </a:pPr>
            <a:r>
              <a:rPr lang="en-US" sz="1600" dirty="0">
                <a:solidFill>
                  <a:srgbClr val="000000"/>
                </a:solidFill>
              </a:rPr>
              <a:t>The ping command uses the Internet Control Message Protocol (ICMP) echo (ICMP Type 8) and echo reply (ICMP Type 0) messages. </a:t>
            </a:r>
          </a:p>
        </p:txBody>
      </p:sp>
      <p:pic>
        <p:nvPicPr>
          <p:cNvPr id="8" name="Picture 7">
            <a:extLst>
              <a:ext uri="{FF2B5EF4-FFF2-40B4-BE49-F238E27FC236}">
                <a16:creationId xmlns:a16="http://schemas.microsoft.com/office/drawing/2014/main" id="{617B48B4-4445-4E88-845E-13CC7F3D98F2}"/>
              </a:ext>
            </a:extLst>
          </p:cNvPr>
          <p:cNvPicPr>
            <a:picLocks noChangeAspect="1"/>
          </p:cNvPicPr>
          <p:nvPr/>
        </p:nvPicPr>
        <p:blipFill>
          <a:blip r:embed="rId3"/>
          <a:stretch>
            <a:fillRect/>
          </a:stretch>
        </p:blipFill>
        <p:spPr>
          <a:xfrm>
            <a:off x="216731" y="2847975"/>
            <a:ext cx="4459288" cy="1402879"/>
          </a:xfrm>
          <a:prstGeom prst="rect">
            <a:avLst/>
          </a:prstGeom>
        </p:spPr>
      </p:pic>
      <p:pic>
        <p:nvPicPr>
          <p:cNvPr id="9" name="Picture 8">
            <a:extLst>
              <a:ext uri="{FF2B5EF4-FFF2-40B4-BE49-F238E27FC236}">
                <a16:creationId xmlns:a16="http://schemas.microsoft.com/office/drawing/2014/main" id="{BEBE6953-619E-456B-861D-F9EACA61C9BE}"/>
              </a:ext>
            </a:extLst>
          </p:cNvPr>
          <p:cNvPicPr>
            <a:picLocks noChangeAspect="1"/>
          </p:cNvPicPr>
          <p:nvPr/>
        </p:nvPicPr>
        <p:blipFill>
          <a:blip r:embed="rId4"/>
          <a:stretch>
            <a:fillRect/>
          </a:stretch>
        </p:blipFill>
        <p:spPr>
          <a:xfrm>
            <a:off x="4745252" y="3549414"/>
            <a:ext cx="4352636" cy="1238058"/>
          </a:xfrm>
          <a:prstGeom prst="rect">
            <a:avLst/>
          </a:prstGeom>
        </p:spPr>
      </p:pic>
    </p:spTree>
    <p:extLst>
      <p:ext uri="{BB962C8B-B14F-4D97-AF65-F5344CB8AC3E}">
        <p14:creationId xmlns:p14="http://schemas.microsoft.com/office/powerpoint/2010/main" val="5676871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Verify Connectivity</a:t>
            </a:r>
            <a:br>
              <a:rPr lang="en-US" dirty="0"/>
            </a:br>
            <a:r>
              <a:rPr lang="en-US" sz="2400" dirty="0"/>
              <a:t>Verify Connectivity with Ping (Cont.)</a:t>
            </a:r>
          </a:p>
        </p:txBody>
      </p:sp>
      <p:sp>
        <p:nvSpPr>
          <p:cNvPr id="5" name="Content Placeholder 4">
            <a:extLst>
              <a:ext uri="{FF2B5EF4-FFF2-40B4-BE49-F238E27FC236}">
                <a16:creationId xmlns:a16="http://schemas.microsoft.com/office/drawing/2014/main" id="{83EF1FB9-F0A5-499F-86F9-615E8074EB5B}"/>
              </a:ext>
            </a:extLst>
          </p:cNvPr>
          <p:cNvSpPr>
            <a:spLocks noGrp="1"/>
          </p:cNvSpPr>
          <p:nvPr>
            <p:ph idx="1"/>
          </p:nvPr>
        </p:nvSpPr>
        <p:spPr>
          <a:xfrm>
            <a:off x="257175" y="625101"/>
            <a:ext cx="8497544" cy="1201738"/>
          </a:xfrm>
        </p:spPr>
        <p:txBody>
          <a:bodyPr/>
          <a:lstStyle/>
          <a:p>
            <a:pPr marL="0" indent="0" algn="l"/>
            <a:r>
              <a:rPr lang="en-US" sz="1600" dirty="0">
                <a:solidFill>
                  <a:srgbClr val="000000"/>
                </a:solidFill>
              </a:rPr>
              <a:t>On a Windows 10 host, the ping command sends four consecutive ICMP echo messages and expects four consecutive ICMP echo replies from the destination. The IOS ping sends five ICMP echo messages and displays an indicator for each ICMP echo reply received.</a:t>
            </a:r>
          </a:p>
          <a:p>
            <a:pPr marL="0" indent="0" algn="l"/>
            <a:endParaRPr lang="en-US" sz="1600" dirty="0">
              <a:solidFill>
                <a:srgbClr val="000000"/>
              </a:solidFill>
            </a:endParaRPr>
          </a:p>
          <a:p>
            <a:pPr marL="0" indent="0" algn="l"/>
            <a:r>
              <a:rPr lang="en-US" sz="1600" dirty="0">
                <a:solidFill>
                  <a:srgbClr val="000000"/>
                </a:solidFill>
              </a:rPr>
              <a:t>IOS Ping Indicators are as follows:</a:t>
            </a:r>
          </a:p>
          <a:p>
            <a:pPr marL="342900" indent="-342900" algn="l">
              <a:buFont typeface="Arial" panose="020B0604020202020204" pitchFamily="34" charset="0"/>
              <a:buChar char="•"/>
            </a:pPr>
            <a:endParaRPr lang="en-US" sz="1400" b="1" dirty="0">
              <a:solidFill>
                <a:srgbClr val="000000"/>
              </a:solidFill>
            </a:endParaRPr>
          </a:p>
          <a:p>
            <a:pPr marL="342900" indent="-342900" algn="l">
              <a:buFont typeface="Arial" panose="020B0604020202020204" pitchFamily="34" charset="0"/>
              <a:buChar char="•"/>
            </a:pPr>
            <a:endParaRPr lang="en-US" sz="1400" b="1" dirty="0">
              <a:solidFill>
                <a:srgbClr val="000000"/>
              </a:solidFill>
            </a:endParaRPr>
          </a:p>
          <a:p>
            <a:pPr marL="342900" indent="-342900" algn="l">
              <a:buFont typeface="Arial" panose="020B0604020202020204" pitchFamily="34" charset="0"/>
              <a:buChar char="•"/>
            </a:pPr>
            <a:endParaRPr lang="en-US" sz="1400" b="1" dirty="0">
              <a:solidFill>
                <a:srgbClr val="000000"/>
              </a:solidFill>
            </a:endParaRPr>
          </a:p>
          <a:p>
            <a:pPr marL="342900" indent="-342900" algn="l">
              <a:buFont typeface="Arial" panose="020B0604020202020204" pitchFamily="34" charset="0"/>
              <a:buChar char="•"/>
            </a:pPr>
            <a:endParaRPr lang="en-US" sz="1400" b="1" dirty="0">
              <a:solidFill>
                <a:srgbClr val="000000"/>
              </a:solidFill>
            </a:endParaRPr>
          </a:p>
          <a:p>
            <a:pPr marL="342900" indent="-342900" algn="l">
              <a:buFont typeface="Arial" panose="020B0604020202020204" pitchFamily="34" charset="0"/>
              <a:buChar char="•"/>
            </a:pPr>
            <a:endParaRPr lang="en-US" sz="1400" b="1" dirty="0">
              <a:solidFill>
                <a:srgbClr val="000000"/>
              </a:solidFill>
            </a:endParaRPr>
          </a:p>
          <a:p>
            <a:pPr marL="342900" indent="-342900" algn="l">
              <a:buFont typeface="Arial" panose="020B0604020202020204" pitchFamily="34" charset="0"/>
              <a:buChar char="•"/>
            </a:pPr>
            <a:endParaRPr lang="en-US" sz="1400" b="1" dirty="0">
              <a:solidFill>
                <a:srgbClr val="000000"/>
              </a:solidFill>
            </a:endParaRPr>
          </a:p>
          <a:p>
            <a:pPr marL="342900" indent="-342900" algn="l">
              <a:buFont typeface="Arial" panose="020B0604020202020204" pitchFamily="34" charset="0"/>
              <a:buChar char="•"/>
            </a:pPr>
            <a:endParaRPr lang="en-US" sz="1400" b="1" dirty="0">
              <a:solidFill>
                <a:srgbClr val="000000"/>
              </a:solidFill>
            </a:endParaRPr>
          </a:p>
          <a:p>
            <a:pPr marL="342900" indent="-342900" algn="l">
              <a:buFont typeface="Arial" panose="020B0604020202020204" pitchFamily="34" charset="0"/>
              <a:buChar char="•"/>
            </a:pPr>
            <a:endParaRPr lang="en-US" sz="1400" b="1" dirty="0">
              <a:solidFill>
                <a:srgbClr val="000000"/>
              </a:solidFill>
            </a:endParaRPr>
          </a:p>
        </p:txBody>
      </p:sp>
      <p:graphicFrame>
        <p:nvGraphicFramePr>
          <p:cNvPr id="6" name="Table 6">
            <a:extLst>
              <a:ext uri="{FF2B5EF4-FFF2-40B4-BE49-F238E27FC236}">
                <a16:creationId xmlns:a16="http://schemas.microsoft.com/office/drawing/2014/main" id="{03F69F7F-539D-4510-8B57-D1F149A77EAA}"/>
              </a:ext>
            </a:extLst>
          </p:cNvPr>
          <p:cNvGraphicFramePr>
            <a:graphicFrameLocks noGrp="1"/>
          </p:cNvGraphicFramePr>
          <p:nvPr>
            <p:extLst>
              <p:ext uri="{D42A27DB-BD31-4B8C-83A1-F6EECF244321}">
                <p14:modId xmlns:p14="http://schemas.microsoft.com/office/powerpoint/2010/main" val="3280242006"/>
              </p:ext>
            </p:extLst>
          </p:nvPr>
        </p:nvGraphicFramePr>
        <p:xfrm>
          <a:off x="474662" y="2017339"/>
          <a:ext cx="8280058" cy="2026920"/>
        </p:xfrm>
        <a:graphic>
          <a:graphicData uri="http://schemas.openxmlformats.org/drawingml/2006/table">
            <a:tbl>
              <a:tblPr firstRow="1" bandRow="1">
                <a:tableStyleId>{5C22544A-7EE6-4342-B048-85BDC9FD1C3A}</a:tableStyleId>
              </a:tblPr>
              <a:tblGrid>
                <a:gridCol w="940755">
                  <a:extLst>
                    <a:ext uri="{9D8B030D-6E8A-4147-A177-3AD203B41FA5}">
                      <a16:colId xmlns:a16="http://schemas.microsoft.com/office/drawing/2014/main" val="1295102679"/>
                    </a:ext>
                  </a:extLst>
                </a:gridCol>
                <a:gridCol w="7339303">
                  <a:extLst>
                    <a:ext uri="{9D8B030D-6E8A-4147-A177-3AD203B41FA5}">
                      <a16:colId xmlns:a16="http://schemas.microsoft.com/office/drawing/2014/main" val="252758851"/>
                    </a:ext>
                  </a:extLst>
                </a:gridCol>
              </a:tblGrid>
              <a:tr h="0">
                <a:tc>
                  <a:txBody>
                    <a:bodyPr/>
                    <a:lstStyle/>
                    <a:p>
                      <a:pPr algn="l" fontAlgn="ctr"/>
                      <a:r>
                        <a:rPr lang="en-US" sz="1200" dirty="0">
                          <a:effectLst/>
                        </a:rPr>
                        <a:t>Element</a:t>
                      </a:r>
                    </a:p>
                  </a:txBody>
                  <a:tcPr marL="47625" marR="47625" marT="47625" marB="47625" anchor="ctr"/>
                </a:tc>
                <a:tc>
                  <a:txBody>
                    <a:bodyPr/>
                    <a:lstStyle/>
                    <a:p>
                      <a:pPr algn="l" fontAlgn="ctr"/>
                      <a:r>
                        <a:rPr lang="en-US" sz="1200">
                          <a:effectLst/>
                        </a:rPr>
                        <a:t>Description</a:t>
                      </a:r>
                    </a:p>
                  </a:txBody>
                  <a:tcPr marL="47625" marR="47625" marT="47625" marB="47625" anchor="ctr"/>
                </a:tc>
                <a:extLst>
                  <a:ext uri="{0D108BD9-81ED-4DB2-BD59-A6C34878D82A}">
                    <a16:rowId xmlns:a16="http://schemas.microsoft.com/office/drawing/2014/main" val="3056744586"/>
                  </a:ext>
                </a:extLst>
              </a:tr>
              <a:tr h="370840">
                <a:tc>
                  <a:txBody>
                    <a:bodyPr/>
                    <a:lstStyle/>
                    <a:p>
                      <a:pPr fontAlgn="ctr"/>
                      <a:r>
                        <a:rPr lang="en-US" sz="1200" b="1">
                          <a:solidFill>
                            <a:srgbClr val="000000"/>
                          </a:solidFill>
                          <a:effectLst/>
                        </a:rPr>
                        <a:t>!</a:t>
                      </a:r>
                      <a:endParaRPr lang="en-US" sz="1200" b="0">
                        <a:solidFill>
                          <a:srgbClr val="000000"/>
                        </a:solidFill>
                        <a:effectLst/>
                      </a:endParaRPr>
                    </a:p>
                  </a:txBody>
                  <a:tcPr marL="47625" marR="47625" marT="47625" marB="47625" anchor="ctr"/>
                </a:tc>
                <a:tc>
                  <a:txBody>
                    <a:bodyPr/>
                    <a:lstStyle/>
                    <a:p>
                      <a:pPr fontAlgn="ctr">
                        <a:buFont typeface="Arial" panose="020B0604020202020204" pitchFamily="34" charset="0"/>
                        <a:buChar char="•"/>
                      </a:pPr>
                      <a:r>
                        <a:rPr lang="en-US" sz="1200" b="0" dirty="0">
                          <a:solidFill>
                            <a:srgbClr val="000000"/>
                          </a:solidFill>
                          <a:effectLst/>
                        </a:rPr>
                        <a:t>Exclamation mark indicates successful receipt of an echo reply message.</a:t>
                      </a:r>
                    </a:p>
                    <a:p>
                      <a:pPr fontAlgn="ctr">
                        <a:buFont typeface="Arial" panose="020B0604020202020204" pitchFamily="34" charset="0"/>
                        <a:buChar char="•"/>
                      </a:pPr>
                      <a:r>
                        <a:rPr lang="en-US" sz="1200" b="0" dirty="0">
                          <a:solidFill>
                            <a:srgbClr val="000000"/>
                          </a:solidFill>
                          <a:effectLst/>
                        </a:rPr>
                        <a:t>It validates a Layer 3 connection between source and destination.</a:t>
                      </a:r>
                    </a:p>
                  </a:txBody>
                  <a:tcPr marL="47625" marR="47625" marT="47625" marB="47625" anchor="ctr"/>
                </a:tc>
                <a:extLst>
                  <a:ext uri="{0D108BD9-81ED-4DB2-BD59-A6C34878D82A}">
                    <a16:rowId xmlns:a16="http://schemas.microsoft.com/office/drawing/2014/main" val="1949256186"/>
                  </a:ext>
                </a:extLst>
              </a:tr>
              <a:tr h="370840">
                <a:tc>
                  <a:txBody>
                    <a:bodyPr/>
                    <a:lstStyle/>
                    <a:p>
                      <a:pPr fontAlgn="ctr"/>
                      <a:r>
                        <a:rPr lang="en-US" sz="1200" b="1">
                          <a:solidFill>
                            <a:srgbClr val="000000"/>
                          </a:solidFill>
                          <a:effectLst/>
                        </a:rPr>
                        <a:t>.</a:t>
                      </a:r>
                      <a:endParaRPr lang="en-US" sz="1200" b="0">
                        <a:solidFill>
                          <a:srgbClr val="000000"/>
                        </a:solidFill>
                        <a:effectLst/>
                      </a:endParaRPr>
                    </a:p>
                  </a:txBody>
                  <a:tcPr marL="47625" marR="47625" marT="47625" marB="47625" anchor="ctr"/>
                </a:tc>
                <a:tc>
                  <a:txBody>
                    <a:bodyPr/>
                    <a:lstStyle/>
                    <a:p>
                      <a:pPr fontAlgn="ctr">
                        <a:buFont typeface="Arial" panose="020B0604020202020204" pitchFamily="34" charset="0"/>
                        <a:buChar char="•"/>
                      </a:pPr>
                      <a:r>
                        <a:rPr lang="en-US" sz="1200" b="0" dirty="0">
                          <a:solidFill>
                            <a:srgbClr val="000000"/>
                          </a:solidFill>
                          <a:effectLst/>
                        </a:rPr>
                        <a:t>A period means that time expired waiting for an echo reply message.</a:t>
                      </a:r>
                    </a:p>
                    <a:p>
                      <a:pPr fontAlgn="ctr">
                        <a:buFont typeface="Arial" panose="020B0604020202020204" pitchFamily="34" charset="0"/>
                        <a:buChar char="•"/>
                      </a:pPr>
                      <a:r>
                        <a:rPr lang="en-US" sz="1200" b="0" dirty="0">
                          <a:solidFill>
                            <a:srgbClr val="000000"/>
                          </a:solidFill>
                          <a:effectLst/>
                        </a:rPr>
                        <a:t>This indicates a connectivity problem occurred somewhere along the path.</a:t>
                      </a:r>
                    </a:p>
                  </a:txBody>
                  <a:tcPr marL="47625" marR="47625" marT="47625" marB="47625" anchor="ctr"/>
                </a:tc>
                <a:extLst>
                  <a:ext uri="{0D108BD9-81ED-4DB2-BD59-A6C34878D82A}">
                    <a16:rowId xmlns:a16="http://schemas.microsoft.com/office/drawing/2014/main" val="51423680"/>
                  </a:ext>
                </a:extLst>
              </a:tr>
              <a:tr h="370840">
                <a:tc>
                  <a:txBody>
                    <a:bodyPr/>
                    <a:lstStyle/>
                    <a:p>
                      <a:pPr fontAlgn="ctr"/>
                      <a:r>
                        <a:rPr lang="en-US" sz="1200" b="1" dirty="0">
                          <a:solidFill>
                            <a:srgbClr val="000000"/>
                          </a:solidFill>
                          <a:effectLst/>
                        </a:rPr>
                        <a:t>U</a:t>
                      </a:r>
                      <a:endParaRPr lang="en-US" sz="1200" b="0" dirty="0">
                        <a:solidFill>
                          <a:srgbClr val="000000"/>
                        </a:solidFill>
                        <a:effectLst/>
                      </a:endParaRPr>
                    </a:p>
                  </a:txBody>
                  <a:tcPr marL="47625" marR="47625" marT="47625" marB="47625" anchor="ctr"/>
                </a:tc>
                <a:tc>
                  <a:txBody>
                    <a:bodyPr/>
                    <a:lstStyle/>
                    <a:p>
                      <a:pPr fontAlgn="ctr">
                        <a:buFont typeface="Arial" panose="020B0604020202020204" pitchFamily="34" charset="0"/>
                        <a:buChar char="•"/>
                      </a:pPr>
                      <a:r>
                        <a:rPr lang="en-US" sz="1200" b="0" dirty="0">
                          <a:solidFill>
                            <a:srgbClr val="000000"/>
                          </a:solidFill>
                          <a:effectLst/>
                        </a:rPr>
                        <a:t>Uppercase </a:t>
                      </a:r>
                      <a:r>
                        <a:rPr lang="en-US" sz="1200" b="1" dirty="0">
                          <a:solidFill>
                            <a:srgbClr val="000000"/>
                          </a:solidFill>
                          <a:effectLst/>
                        </a:rPr>
                        <a:t>U</a:t>
                      </a:r>
                      <a:r>
                        <a:rPr lang="en-US" sz="1200" b="0" dirty="0">
                          <a:solidFill>
                            <a:srgbClr val="000000"/>
                          </a:solidFill>
                          <a:effectLst/>
                        </a:rPr>
                        <a:t> indicates a router along the path responded with an ICMP Type 3 “destination unreachable” error message.</a:t>
                      </a:r>
                    </a:p>
                    <a:p>
                      <a:pPr fontAlgn="ctr">
                        <a:buFont typeface="Arial" panose="020B0604020202020204" pitchFamily="34" charset="0"/>
                        <a:buChar char="•"/>
                      </a:pPr>
                      <a:r>
                        <a:rPr lang="en-US" sz="1200" b="0" dirty="0">
                          <a:solidFill>
                            <a:srgbClr val="000000"/>
                          </a:solidFill>
                          <a:effectLst/>
                        </a:rPr>
                        <a:t>Possible reasons include the router does not know the direction to the destination network or it could not find the host on the destination network.</a:t>
                      </a:r>
                    </a:p>
                  </a:txBody>
                  <a:tcPr marL="47625" marR="47625" marT="47625" marB="47625" anchor="ctr"/>
                </a:tc>
                <a:extLst>
                  <a:ext uri="{0D108BD9-81ED-4DB2-BD59-A6C34878D82A}">
                    <a16:rowId xmlns:a16="http://schemas.microsoft.com/office/drawing/2014/main" val="3522231268"/>
                  </a:ext>
                </a:extLst>
              </a:tr>
            </a:tbl>
          </a:graphicData>
        </a:graphic>
      </p:graphicFrame>
      <p:sp>
        <p:nvSpPr>
          <p:cNvPr id="2" name="TextBox 1">
            <a:extLst>
              <a:ext uri="{FF2B5EF4-FFF2-40B4-BE49-F238E27FC236}">
                <a16:creationId xmlns:a16="http://schemas.microsoft.com/office/drawing/2014/main" id="{3341920A-2AC3-4077-BEB9-5EF9B3E51CE8}"/>
              </a:ext>
            </a:extLst>
          </p:cNvPr>
          <p:cNvSpPr txBox="1"/>
          <p:nvPr/>
        </p:nvSpPr>
        <p:spPr>
          <a:xfrm>
            <a:off x="433659" y="4234759"/>
            <a:ext cx="8321060" cy="461665"/>
          </a:xfrm>
          <a:prstGeom prst="rect">
            <a:avLst/>
          </a:prstGeom>
          <a:noFill/>
        </p:spPr>
        <p:txBody>
          <a:bodyPr wrap="none" rtlCol="0">
            <a:spAutoFit/>
          </a:bodyPr>
          <a:lstStyle/>
          <a:p>
            <a:r>
              <a:rPr lang="en-US" sz="1200" b="1" dirty="0">
                <a:solidFill>
                  <a:srgbClr val="000000"/>
                </a:solidFill>
              </a:rPr>
              <a:t>Note:</a:t>
            </a:r>
            <a:r>
              <a:rPr lang="en-US" sz="1200" dirty="0">
                <a:solidFill>
                  <a:srgbClr val="000000"/>
                </a:solidFill>
              </a:rPr>
              <a:t> Other possible ping replies include Q, M, ?, or &amp;. However, the meaning of these are out of scope for this module.</a:t>
            </a:r>
          </a:p>
          <a:p>
            <a:endParaRPr lang="en-US" sz="1200" dirty="0"/>
          </a:p>
        </p:txBody>
      </p:sp>
    </p:spTree>
    <p:extLst>
      <p:ext uri="{BB962C8B-B14F-4D97-AF65-F5344CB8AC3E}">
        <p14:creationId xmlns:p14="http://schemas.microsoft.com/office/powerpoint/2010/main" val="7812807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Verify Connectivity</a:t>
            </a:r>
            <a:br>
              <a:rPr lang="en-US" dirty="0"/>
            </a:br>
            <a:r>
              <a:rPr lang="en-US" sz="2400" dirty="0"/>
              <a:t>Extended Ping</a:t>
            </a:r>
          </a:p>
        </p:txBody>
      </p:sp>
      <p:sp>
        <p:nvSpPr>
          <p:cNvPr id="7" name="Content Placeholder 6">
            <a:extLst>
              <a:ext uri="{FF2B5EF4-FFF2-40B4-BE49-F238E27FC236}">
                <a16:creationId xmlns:a16="http://schemas.microsoft.com/office/drawing/2014/main" id="{392730A1-8E01-4B1C-80A8-4DC1FCCA5D82}"/>
              </a:ext>
            </a:extLst>
          </p:cNvPr>
          <p:cNvSpPr>
            <a:spLocks noGrp="1"/>
          </p:cNvSpPr>
          <p:nvPr>
            <p:ph idx="1"/>
          </p:nvPr>
        </p:nvSpPr>
        <p:spPr>
          <a:xfrm>
            <a:off x="266700" y="731837"/>
            <a:ext cx="3723409" cy="3627727"/>
          </a:xfrm>
        </p:spPr>
        <p:txBody>
          <a:bodyPr/>
          <a:lstStyle/>
          <a:p>
            <a:pPr marL="0" indent="0" algn="l"/>
            <a:r>
              <a:rPr lang="en-US" sz="1500" dirty="0">
                <a:solidFill>
                  <a:srgbClr val="000000"/>
                </a:solidFill>
              </a:rPr>
              <a:t>The Cisco IOS offers an "extended" mode of the </a:t>
            </a:r>
            <a:r>
              <a:rPr lang="en-US" sz="1500" b="1" dirty="0">
                <a:solidFill>
                  <a:srgbClr val="000000"/>
                </a:solidFill>
              </a:rPr>
              <a:t>ping</a:t>
            </a:r>
            <a:r>
              <a:rPr lang="en-US" sz="1500" dirty="0">
                <a:solidFill>
                  <a:srgbClr val="000000"/>
                </a:solidFill>
              </a:rPr>
              <a:t> command.</a:t>
            </a:r>
          </a:p>
          <a:p>
            <a:pPr marL="0" indent="0" algn="l"/>
            <a:endParaRPr lang="en-US" sz="1500" dirty="0">
              <a:solidFill>
                <a:srgbClr val="000000"/>
              </a:solidFill>
            </a:endParaRPr>
          </a:p>
          <a:p>
            <a:pPr marL="0" indent="0" algn="l"/>
            <a:r>
              <a:rPr lang="en-US" sz="1500" dirty="0">
                <a:solidFill>
                  <a:srgbClr val="000000"/>
                </a:solidFill>
              </a:rPr>
              <a:t>Extended ping is entered in privileged EXEC mode by typing </a:t>
            </a:r>
            <a:r>
              <a:rPr lang="en-US" sz="1500" b="1" dirty="0">
                <a:solidFill>
                  <a:srgbClr val="000000"/>
                </a:solidFill>
              </a:rPr>
              <a:t>ping</a:t>
            </a:r>
            <a:r>
              <a:rPr lang="en-US" sz="1500" dirty="0">
                <a:solidFill>
                  <a:srgbClr val="000000"/>
                </a:solidFill>
              </a:rPr>
              <a:t> without a destination IP address. You will then be given several prompts to customize the extended </a:t>
            </a:r>
            <a:r>
              <a:rPr lang="en-US" sz="1500" b="1" dirty="0">
                <a:solidFill>
                  <a:srgbClr val="000000"/>
                </a:solidFill>
              </a:rPr>
              <a:t>ping</a:t>
            </a:r>
            <a:r>
              <a:rPr lang="en-US" sz="1500" dirty="0">
                <a:solidFill>
                  <a:srgbClr val="000000"/>
                </a:solidFill>
              </a:rPr>
              <a:t>.</a:t>
            </a:r>
          </a:p>
          <a:p>
            <a:pPr marL="0" indent="0" algn="l"/>
            <a:endParaRPr lang="en-US" sz="1500" b="1" dirty="0">
              <a:solidFill>
                <a:srgbClr val="000000"/>
              </a:solidFill>
            </a:endParaRPr>
          </a:p>
          <a:p>
            <a:pPr marL="0" indent="0" algn="l"/>
            <a:r>
              <a:rPr lang="en-US" sz="1500" b="1" dirty="0">
                <a:solidFill>
                  <a:srgbClr val="000000"/>
                </a:solidFill>
              </a:rPr>
              <a:t>Note:</a:t>
            </a:r>
            <a:r>
              <a:rPr lang="en-US" sz="1500" dirty="0">
                <a:solidFill>
                  <a:srgbClr val="000000"/>
                </a:solidFill>
              </a:rPr>
              <a:t> Pressing </a:t>
            </a:r>
            <a:r>
              <a:rPr lang="en-US" sz="1500" b="1" dirty="0">
                <a:solidFill>
                  <a:srgbClr val="000000"/>
                </a:solidFill>
              </a:rPr>
              <a:t>Enter</a:t>
            </a:r>
            <a:r>
              <a:rPr lang="en-US" sz="1500" dirty="0">
                <a:solidFill>
                  <a:srgbClr val="000000"/>
                </a:solidFill>
              </a:rPr>
              <a:t> accepts the indicated default values. The </a:t>
            </a:r>
            <a:r>
              <a:rPr lang="en-US" sz="1500" b="1" dirty="0">
                <a:solidFill>
                  <a:srgbClr val="000000"/>
                </a:solidFill>
              </a:rPr>
              <a:t>ping ipv6</a:t>
            </a:r>
            <a:r>
              <a:rPr lang="en-US" sz="1500" dirty="0">
                <a:solidFill>
                  <a:srgbClr val="000000"/>
                </a:solidFill>
              </a:rPr>
              <a:t> command is used for IPv6 extended pings.</a:t>
            </a:r>
          </a:p>
          <a:p>
            <a:pPr marL="342900" indent="-342900" algn="l">
              <a:buFont typeface="Arial" panose="020B0604020202020204" pitchFamily="34" charset="0"/>
              <a:buChar char="•"/>
            </a:pPr>
            <a:endParaRPr lang="en-US" sz="1400" dirty="0">
              <a:solidFill>
                <a:srgbClr val="000000"/>
              </a:solidFill>
            </a:endParaRPr>
          </a:p>
        </p:txBody>
      </p:sp>
      <p:pic>
        <p:nvPicPr>
          <p:cNvPr id="8" name="Picture 7">
            <a:extLst>
              <a:ext uri="{FF2B5EF4-FFF2-40B4-BE49-F238E27FC236}">
                <a16:creationId xmlns:a16="http://schemas.microsoft.com/office/drawing/2014/main" id="{D6CF7F90-88E9-48D3-A067-4B1E2F997C7B}"/>
              </a:ext>
            </a:extLst>
          </p:cNvPr>
          <p:cNvPicPr>
            <a:picLocks noChangeAspect="1"/>
          </p:cNvPicPr>
          <p:nvPr/>
        </p:nvPicPr>
        <p:blipFill>
          <a:blip r:embed="rId3"/>
          <a:stretch>
            <a:fillRect/>
          </a:stretch>
        </p:blipFill>
        <p:spPr>
          <a:xfrm>
            <a:off x="3990109" y="616160"/>
            <a:ext cx="4768537" cy="3911180"/>
          </a:xfrm>
          <a:prstGeom prst="rect">
            <a:avLst/>
          </a:prstGeom>
        </p:spPr>
      </p:pic>
    </p:spTree>
    <p:extLst>
      <p:ext uri="{BB962C8B-B14F-4D97-AF65-F5344CB8AC3E}">
        <p14:creationId xmlns:p14="http://schemas.microsoft.com/office/powerpoint/2010/main" val="3114932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Verify Connectivity</a:t>
            </a:r>
            <a:br>
              <a:rPr lang="en-US" dirty="0"/>
            </a:br>
            <a:r>
              <a:rPr lang="en-US" sz="2400" dirty="0"/>
              <a:t>Verify Connectivity with Traceroute</a:t>
            </a:r>
          </a:p>
        </p:txBody>
      </p:sp>
      <p:sp>
        <p:nvSpPr>
          <p:cNvPr id="4" name="Content Placeholder 3">
            <a:extLst>
              <a:ext uri="{FF2B5EF4-FFF2-40B4-BE49-F238E27FC236}">
                <a16:creationId xmlns:a16="http://schemas.microsoft.com/office/drawing/2014/main" id="{B06288C0-797C-4446-90E4-651E1BB319F8}"/>
              </a:ext>
            </a:extLst>
          </p:cNvPr>
          <p:cNvSpPr>
            <a:spLocks noGrp="1"/>
          </p:cNvSpPr>
          <p:nvPr>
            <p:ph idx="1"/>
          </p:nvPr>
        </p:nvSpPr>
        <p:spPr>
          <a:xfrm>
            <a:off x="161926" y="731838"/>
            <a:ext cx="8592794" cy="1449388"/>
          </a:xfrm>
        </p:spPr>
        <p:txBody>
          <a:bodyPr/>
          <a:lstStyle/>
          <a:p>
            <a:pPr marL="0" indent="0" algn="l"/>
            <a:r>
              <a:rPr lang="en-US" sz="1600" dirty="0">
                <a:solidFill>
                  <a:srgbClr val="000000"/>
                </a:solidFill>
              </a:rPr>
              <a:t>The ping command is useful to quickly determine if there is a Layer 3 connectivity problem. However, it does not identify where the problem is located along the path.</a:t>
            </a:r>
          </a:p>
          <a:p>
            <a:pPr marL="285750" indent="-285750" algn="l">
              <a:buFont typeface="Arial" panose="020B0604020202020204" pitchFamily="34" charset="0"/>
              <a:buChar char="•"/>
            </a:pPr>
            <a:r>
              <a:rPr lang="en-US" sz="1600" dirty="0">
                <a:solidFill>
                  <a:srgbClr val="000000"/>
                </a:solidFill>
              </a:rPr>
              <a:t>Traceroute can help locate Layer 3 problem areas in a network. A trace returns a list of hops as a packet is routed through a network.</a:t>
            </a:r>
          </a:p>
          <a:p>
            <a:pPr marL="285750" indent="-285750" algn="l">
              <a:buFont typeface="Arial" panose="020B0604020202020204" pitchFamily="34" charset="0"/>
              <a:buChar char="•"/>
            </a:pPr>
            <a:r>
              <a:rPr lang="en-US" sz="1600" dirty="0">
                <a:solidFill>
                  <a:srgbClr val="000000"/>
                </a:solidFill>
              </a:rPr>
              <a:t>The syntax of the trace command varies between operating systems.</a:t>
            </a:r>
          </a:p>
        </p:txBody>
      </p:sp>
      <p:pic>
        <p:nvPicPr>
          <p:cNvPr id="5" name="Picture 4">
            <a:extLst>
              <a:ext uri="{FF2B5EF4-FFF2-40B4-BE49-F238E27FC236}">
                <a16:creationId xmlns:a16="http://schemas.microsoft.com/office/drawing/2014/main" id="{77065A9D-C3F8-4819-8891-F269C0BD3CEC}"/>
              </a:ext>
            </a:extLst>
          </p:cNvPr>
          <p:cNvPicPr>
            <a:picLocks noChangeAspect="1"/>
          </p:cNvPicPr>
          <p:nvPr/>
        </p:nvPicPr>
        <p:blipFill>
          <a:blip r:embed="rId3"/>
          <a:stretch>
            <a:fillRect/>
          </a:stretch>
        </p:blipFill>
        <p:spPr>
          <a:xfrm>
            <a:off x="1278731" y="2463747"/>
            <a:ext cx="6586537" cy="2295980"/>
          </a:xfrm>
          <a:prstGeom prst="rect">
            <a:avLst/>
          </a:prstGeom>
        </p:spPr>
      </p:pic>
    </p:spTree>
    <p:extLst>
      <p:ext uri="{BB962C8B-B14F-4D97-AF65-F5344CB8AC3E}">
        <p14:creationId xmlns:p14="http://schemas.microsoft.com/office/powerpoint/2010/main" val="6283622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Verify Connectivity</a:t>
            </a:r>
            <a:br>
              <a:rPr lang="en-US" dirty="0"/>
            </a:br>
            <a:r>
              <a:rPr lang="en-US" sz="2400" dirty="0"/>
              <a:t>Verify Connectivity with Traceroute (Cont.)</a:t>
            </a:r>
          </a:p>
        </p:txBody>
      </p:sp>
      <p:sp>
        <p:nvSpPr>
          <p:cNvPr id="4" name="Content Placeholder 3">
            <a:extLst>
              <a:ext uri="{FF2B5EF4-FFF2-40B4-BE49-F238E27FC236}">
                <a16:creationId xmlns:a16="http://schemas.microsoft.com/office/drawing/2014/main" id="{B06288C0-797C-4446-90E4-651E1BB319F8}"/>
              </a:ext>
            </a:extLst>
          </p:cNvPr>
          <p:cNvSpPr>
            <a:spLocks noGrp="1"/>
          </p:cNvSpPr>
          <p:nvPr>
            <p:ph idx="1"/>
          </p:nvPr>
        </p:nvSpPr>
        <p:spPr>
          <a:xfrm>
            <a:off x="474662" y="731838"/>
            <a:ext cx="8280057" cy="1741856"/>
          </a:xfrm>
        </p:spPr>
        <p:txBody>
          <a:bodyPr/>
          <a:lstStyle/>
          <a:p>
            <a:pPr marL="285750" indent="-285750" algn="l">
              <a:buFont typeface="Arial" panose="020B0604020202020204" pitchFamily="34" charset="0"/>
              <a:buChar char="•"/>
            </a:pPr>
            <a:r>
              <a:rPr lang="en-US" sz="1600" dirty="0">
                <a:solidFill>
                  <a:srgbClr val="000000"/>
                </a:solidFill>
              </a:rPr>
              <a:t>The following is a sample output of </a:t>
            </a:r>
            <a:r>
              <a:rPr lang="en-US" sz="1600" b="1" dirty="0">
                <a:solidFill>
                  <a:srgbClr val="000000"/>
                </a:solidFill>
              </a:rPr>
              <a:t>tracert</a:t>
            </a:r>
            <a:r>
              <a:rPr lang="en-US" sz="1600" dirty="0">
                <a:solidFill>
                  <a:srgbClr val="000000"/>
                </a:solidFill>
              </a:rPr>
              <a:t> command on a Windows 10 host.</a:t>
            </a:r>
          </a:p>
          <a:p>
            <a:pPr marL="0" indent="0" algn="l"/>
            <a:r>
              <a:rPr lang="en-US" sz="1600" dirty="0">
                <a:solidFill>
                  <a:srgbClr val="000000"/>
                </a:solidFill>
              </a:rPr>
              <a:t>		</a:t>
            </a:r>
            <a:r>
              <a:rPr lang="en-US" sz="1600" b="1" dirty="0">
                <a:solidFill>
                  <a:srgbClr val="000000"/>
                </a:solidFill>
              </a:rPr>
              <a:t>Note:</a:t>
            </a:r>
            <a:r>
              <a:rPr lang="en-US" sz="1600" dirty="0">
                <a:solidFill>
                  <a:srgbClr val="000000"/>
                </a:solidFill>
              </a:rPr>
              <a:t> Use </a:t>
            </a:r>
            <a:r>
              <a:rPr lang="en-US" sz="1600" b="1" dirty="0">
                <a:solidFill>
                  <a:srgbClr val="000000"/>
                </a:solidFill>
              </a:rPr>
              <a:t>Ctrl-C</a:t>
            </a:r>
            <a:r>
              <a:rPr lang="en-US" sz="1600" dirty="0">
                <a:solidFill>
                  <a:srgbClr val="000000"/>
                </a:solidFill>
              </a:rPr>
              <a:t> to interrupt a </a:t>
            </a:r>
            <a:r>
              <a:rPr lang="en-US" sz="1600" b="1" dirty="0">
                <a:solidFill>
                  <a:srgbClr val="000000"/>
                </a:solidFill>
              </a:rPr>
              <a:t>tracert</a:t>
            </a:r>
            <a:r>
              <a:rPr lang="en-US" sz="1600" dirty="0">
                <a:solidFill>
                  <a:srgbClr val="000000"/>
                </a:solidFill>
              </a:rPr>
              <a:t> in Windows.</a:t>
            </a:r>
          </a:p>
          <a:p>
            <a:pPr marL="342900" indent="-342900" algn="l">
              <a:buFont typeface="Arial" panose="020B0604020202020204" pitchFamily="34" charset="0"/>
              <a:buChar char="•"/>
            </a:pPr>
            <a:r>
              <a:rPr lang="en-US" sz="1600" dirty="0">
                <a:solidFill>
                  <a:srgbClr val="000000"/>
                </a:solidFill>
              </a:rPr>
              <a:t>The only successful response was from the gateway on R1. Trace requests to the next hop timed out as indicated by the asterisk (*), meaning that the next hop router did not respond or there is a failure in the network path. In this example there appears to be a problem between R1 and R2.</a:t>
            </a:r>
          </a:p>
          <a:p>
            <a:pPr marL="285750" indent="-285750" algn="l">
              <a:buFont typeface="Arial" panose="020B0604020202020204" pitchFamily="34" charset="0"/>
              <a:buChar char="•"/>
            </a:pPr>
            <a:endParaRPr lang="en-US" sz="1600" dirty="0">
              <a:solidFill>
                <a:srgbClr val="000000"/>
              </a:solidFill>
            </a:endParaRPr>
          </a:p>
        </p:txBody>
      </p:sp>
      <p:pic>
        <p:nvPicPr>
          <p:cNvPr id="2" name="Picture 1">
            <a:extLst>
              <a:ext uri="{FF2B5EF4-FFF2-40B4-BE49-F238E27FC236}">
                <a16:creationId xmlns:a16="http://schemas.microsoft.com/office/drawing/2014/main" id="{F6C74959-2FFC-428D-886D-AC9555B77575}"/>
              </a:ext>
            </a:extLst>
          </p:cNvPr>
          <p:cNvPicPr>
            <a:picLocks noChangeAspect="1"/>
          </p:cNvPicPr>
          <p:nvPr/>
        </p:nvPicPr>
        <p:blipFill>
          <a:blip r:embed="rId3"/>
          <a:stretch>
            <a:fillRect/>
          </a:stretch>
        </p:blipFill>
        <p:spPr>
          <a:xfrm>
            <a:off x="2274311" y="2576785"/>
            <a:ext cx="4143375" cy="1924050"/>
          </a:xfrm>
          <a:prstGeom prst="rect">
            <a:avLst/>
          </a:prstGeom>
        </p:spPr>
      </p:pic>
    </p:spTree>
    <p:extLst>
      <p:ext uri="{BB962C8B-B14F-4D97-AF65-F5344CB8AC3E}">
        <p14:creationId xmlns:p14="http://schemas.microsoft.com/office/powerpoint/2010/main" val="36051925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Verify Connectivity</a:t>
            </a:r>
            <a:br>
              <a:rPr lang="en-US" dirty="0"/>
            </a:br>
            <a:r>
              <a:rPr lang="en-US" sz="2400" dirty="0"/>
              <a:t>Verify Connectivity with Traceroute (Cont.)</a:t>
            </a:r>
          </a:p>
        </p:txBody>
      </p:sp>
      <p:sp>
        <p:nvSpPr>
          <p:cNvPr id="4" name="Content Placeholder 3">
            <a:extLst>
              <a:ext uri="{FF2B5EF4-FFF2-40B4-BE49-F238E27FC236}">
                <a16:creationId xmlns:a16="http://schemas.microsoft.com/office/drawing/2014/main" id="{B06288C0-797C-4446-90E4-651E1BB319F8}"/>
              </a:ext>
            </a:extLst>
          </p:cNvPr>
          <p:cNvSpPr>
            <a:spLocks noGrp="1"/>
          </p:cNvSpPr>
          <p:nvPr>
            <p:ph idx="1"/>
          </p:nvPr>
        </p:nvSpPr>
        <p:spPr>
          <a:xfrm>
            <a:off x="389281" y="731837"/>
            <a:ext cx="8754719" cy="314180"/>
          </a:xfrm>
        </p:spPr>
        <p:txBody>
          <a:bodyPr/>
          <a:lstStyle/>
          <a:p>
            <a:pPr marL="0" indent="0" algn="l"/>
            <a:r>
              <a:rPr lang="en-US" sz="1600" dirty="0">
                <a:solidFill>
                  <a:srgbClr val="000000"/>
                </a:solidFill>
              </a:rPr>
              <a:t>The following are sample outputs of traceroute command from R1:</a:t>
            </a:r>
          </a:p>
          <a:p>
            <a:pPr marL="285750" indent="-285750" algn="l">
              <a:buFont typeface="Arial" panose="020B0604020202020204" pitchFamily="34" charset="0"/>
              <a:buChar char="•"/>
            </a:pPr>
            <a:endParaRPr lang="en-US" sz="1600" dirty="0">
              <a:solidFill>
                <a:srgbClr val="000000"/>
              </a:solidFill>
            </a:endParaRPr>
          </a:p>
          <a:p>
            <a:pPr marL="285750" indent="-285750" algn="l">
              <a:buFont typeface="Arial" panose="020B0604020202020204" pitchFamily="34" charset="0"/>
              <a:buChar char="•"/>
            </a:pPr>
            <a:endParaRPr lang="en-US" sz="1600" dirty="0">
              <a:solidFill>
                <a:srgbClr val="000000"/>
              </a:solidFill>
            </a:endParaRPr>
          </a:p>
          <a:p>
            <a:pPr marL="285750" indent="-285750" algn="l">
              <a:buFont typeface="Arial" panose="020B0604020202020204" pitchFamily="34" charset="0"/>
              <a:buChar char="•"/>
            </a:pPr>
            <a:endParaRPr lang="en-US" sz="1600" dirty="0">
              <a:solidFill>
                <a:srgbClr val="000000"/>
              </a:solidFill>
            </a:endParaRPr>
          </a:p>
          <a:p>
            <a:pPr marL="285750" indent="-285750" algn="l">
              <a:buFont typeface="Arial" panose="020B0604020202020204" pitchFamily="34" charset="0"/>
              <a:buChar char="•"/>
            </a:pPr>
            <a:endParaRPr lang="en-US" sz="1600" dirty="0">
              <a:solidFill>
                <a:srgbClr val="000000"/>
              </a:solidFill>
            </a:endParaRPr>
          </a:p>
          <a:p>
            <a:pPr marL="285750" indent="-28575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p:txBody>
      </p:sp>
      <p:pic>
        <p:nvPicPr>
          <p:cNvPr id="5" name="Picture 4">
            <a:extLst>
              <a:ext uri="{FF2B5EF4-FFF2-40B4-BE49-F238E27FC236}">
                <a16:creationId xmlns:a16="http://schemas.microsoft.com/office/drawing/2014/main" id="{A0732355-332B-449D-9357-E0F48C454790}"/>
              </a:ext>
            </a:extLst>
          </p:cNvPr>
          <p:cNvPicPr>
            <a:picLocks noChangeAspect="1"/>
          </p:cNvPicPr>
          <p:nvPr/>
        </p:nvPicPr>
        <p:blipFill>
          <a:blip r:embed="rId3"/>
          <a:stretch>
            <a:fillRect/>
          </a:stretch>
        </p:blipFill>
        <p:spPr>
          <a:xfrm>
            <a:off x="1000124" y="1046018"/>
            <a:ext cx="2999221" cy="1671697"/>
          </a:xfrm>
          <a:prstGeom prst="rect">
            <a:avLst/>
          </a:prstGeom>
        </p:spPr>
      </p:pic>
      <p:pic>
        <p:nvPicPr>
          <p:cNvPr id="6" name="Picture 5">
            <a:extLst>
              <a:ext uri="{FF2B5EF4-FFF2-40B4-BE49-F238E27FC236}">
                <a16:creationId xmlns:a16="http://schemas.microsoft.com/office/drawing/2014/main" id="{3C36BF30-75BB-4311-A628-2FB7B10FE9A2}"/>
              </a:ext>
            </a:extLst>
          </p:cNvPr>
          <p:cNvPicPr>
            <a:picLocks noChangeAspect="1"/>
          </p:cNvPicPr>
          <p:nvPr/>
        </p:nvPicPr>
        <p:blipFill>
          <a:blip r:embed="rId4"/>
          <a:stretch>
            <a:fillRect/>
          </a:stretch>
        </p:blipFill>
        <p:spPr>
          <a:xfrm>
            <a:off x="4386595" y="1046017"/>
            <a:ext cx="2745820" cy="1671697"/>
          </a:xfrm>
          <a:prstGeom prst="rect">
            <a:avLst/>
          </a:prstGeom>
        </p:spPr>
      </p:pic>
      <p:sp>
        <p:nvSpPr>
          <p:cNvPr id="7" name="TextBox 6">
            <a:extLst>
              <a:ext uri="{FF2B5EF4-FFF2-40B4-BE49-F238E27FC236}">
                <a16:creationId xmlns:a16="http://schemas.microsoft.com/office/drawing/2014/main" id="{6585B9E8-F83C-4942-AF9A-29DA3B2866B1}"/>
              </a:ext>
            </a:extLst>
          </p:cNvPr>
          <p:cNvSpPr txBox="1"/>
          <p:nvPr/>
        </p:nvSpPr>
        <p:spPr>
          <a:xfrm>
            <a:off x="600364" y="2800349"/>
            <a:ext cx="8017163" cy="2215991"/>
          </a:xfrm>
          <a:prstGeom prst="rect">
            <a:avLst/>
          </a:prstGeom>
          <a:noFill/>
        </p:spPr>
        <p:txBody>
          <a:bodyPr wrap="square" rtlCol="0">
            <a:spAutoFit/>
          </a:bodyPr>
          <a:lstStyle/>
          <a:p>
            <a:pPr marL="358835" lvl="1" indent="-285750">
              <a:buFont typeface="Arial" panose="020B0604020202020204" pitchFamily="34" charset="0"/>
              <a:buChar char="•"/>
            </a:pPr>
            <a:r>
              <a:rPr lang="en-US" sz="1600" dirty="0">
                <a:solidFill>
                  <a:srgbClr val="000000"/>
                </a:solidFill>
              </a:rPr>
              <a:t>On the left, the trace validated that it could successfully reach PC B.</a:t>
            </a:r>
          </a:p>
          <a:p>
            <a:pPr marL="358835" lvl="1" indent="-285750">
              <a:buFont typeface="Arial" panose="020B0604020202020204" pitchFamily="34" charset="0"/>
              <a:buChar char="•"/>
            </a:pPr>
            <a:r>
              <a:rPr lang="en-US" sz="1600" dirty="0">
                <a:solidFill>
                  <a:srgbClr val="000000"/>
                </a:solidFill>
              </a:rPr>
              <a:t>On the right, the 10.1.1.10 host was not available, and the output shows asterisks where replies timed out. Timeouts indicate a potential network problem. </a:t>
            </a:r>
          </a:p>
          <a:p>
            <a:pPr marL="358835" lvl="1" indent="-285750">
              <a:buFont typeface="Arial" panose="020B0604020202020204" pitchFamily="34" charset="0"/>
              <a:buChar char="•"/>
            </a:pPr>
            <a:r>
              <a:rPr lang="en-US" sz="1600" dirty="0">
                <a:solidFill>
                  <a:srgbClr val="000000"/>
                </a:solidFill>
              </a:rPr>
              <a:t>Use </a:t>
            </a:r>
            <a:r>
              <a:rPr lang="en-US" sz="1600" b="1" dirty="0">
                <a:solidFill>
                  <a:srgbClr val="000000"/>
                </a:solidFill>
              </a:rPr>
              <a:t>Ctrl-Shift-6</a:t>
            </a:r>
            <a:r>
              <a:rPr lang="en-US" sz="1600" dirty="0">
                <a:solidFill>
                  <a:srgbClr val="000000"/>
                </a:solidFill>
              </a:rPr>
              <a:t> to interrupt a </a:t>
            </a:r>
            <a:r>
              <a:rPr lang="en-US" sz="1600" b="1" dirty="0">
                <a:solidFill>
                  <a:srgbClr val="000000"/>
                </a:solidFill>
              </a:rPr>
              <a:t>traceroute</a:t>
            </a:r>
            <a:r>
              <a:rPr lang="en-US" sz="1600" dirty="0">
                <a:solidFill>
                  <a:srgbClr val="000000"/>
                </a:solidFill>
              </a:rPr>
              <a:t> in Cisco IOS.</a:t>
            </a:r>
          </a:p>
          <a:p>
            <a:endParaRPr lang="en-US" sz="1400" b="1" dirty="0">
              <a:solidFill>
                <a:srgbClr val="000000"/>
              </a:solidFill>
            </a:endParaRPr>
          </a:p>
          <a:p>
            <a:r>
              <a:rPr lang="en-US" sz="1400" b="1" dirty="0">
                <a:solidFill>
                  <a:srgbClr val="000000"/>
                </a:solidFill>
              </a:rPr>
              <a:t>Note</a:t>
            </a:r>
            <a:r>
              <a:rPr lang="en-US" sz="1400" dirty="0">
                <a:solidFill>
                  <a:srgbClr val="000000"/>
                </a:solidFill>
              </a:rPr>
              <a:t>: Windows implementation of traceroute (tracert) sends ICMP Echo Requests. Cisco IOS and Linux use UDP with an invalid port number. The final destination will return an ICMP port unreachable message.</a:t>
            </a:r>
          </a:p>
          <a:p>
            <a:endParaRPr lang="en-US" dirty="0"/>
          </a:p>
        </p:txBody>
      </p:sp>
    </p:spTree>
    <p:extLst>
      <p:ext uri="{BB962C8B-B14F-4D97-AF65-F5344CB8AC3E}">
        <p14:creationId xmlns:p14="http://schemas.microsoft.com/office/powerpoint/2010/main" val="28310218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Verify Connectivity</a:t>
            </a:r>
            <a:br>
              <a:rPr lang="en-US" dirty="0"/>
            </a:br>
            <a:r>
              <a:rPr lang="en-US" sz="2400" dirty="0"/>
              <a:t>Extended Traceroute</a:t>
            </a:r>
          </a:p>
        </p:txBody>
      </p:sp>
      <p:sp>
        <p:nvSpPr>
          <p:cNvPr id="7" name="Content Placeholder 6">
            <a:extLst>
              <a:ext uri="{FF2B5EF4-FFF2-40B4-BE49-F238E27FC236}">
                <a16:creationId xmlns:a16="http://schemas.microsoft.com/office/drawing/2014/main" id="{0DDBD792-C3EC-49E8-BFF9-83E19B8F1159}"/>
              </a:ext>
            </a:extLst>
          </p:cNvPr>
          <p:cNvSpPr>
            <a:spLocks noGrp="1"/>
          </p:cNvSpPr>
          <p:nvPr>
            <p:ph idx="1"/>
          </p:nvPr>
        </p:nvSpPr>
        <p:spPr>
          <a:xfrm>
            <a:off x="443345" y="731838"/>
            <a:ext cx="8345488" cy="1839912"/>
          </a:xfrm>
        </p:spPr>
        <p:txBody>
          <a:bodyPr/>
          <a:lstStyle/>
          <a:p>
            <a:pPr marL="0" indent="0" algn="l"/>
            <a:r>
              <a:rPr lang="en-US" sz="1600" dirty="0">
                <a:solidFill>
                  <a:srgbClr val="000000"/>
                </a:solidFill>
              </a:rPr>
              <a:t>Like the extended </a:t>
            </a:r>
            <a:r>
              <a:rPr lang="en-US" sz="1600" b="1" dirty="0">
                <a:solidFill>
                  <a:srgbClr val="000000"/>
                </a:solidFill>
              </a:rPr>
              <a:t>ping</a:t>
            </a:r>
            <a:r>
              <a:rPr lang="en-US" sz="1600" dirty="0">
                <a:solidFill>
                  <a:srgbClr val="000000"/>
                </a:solidFill>
              </a:rPr>
              <a:t> command, there is also an extended </a:t>
            </a:r>
            <a:r>
              <a:rPr lang="en-US" sz="1600" b="1" dirty="0">
                <a:solidFill>
                  <a:srgbClr val="000000"/>
                </a:solidFill>
              </a:rPr>
              <a:t>traceroute</a:t>
            </a:r>
            <a:r>
              <a:rPr lang="en-US" sz="1600" dirty="0">
                <a:solidFill>
                  <a:srgbClr val="000000"/>
                </a:solidFill>
              </a:rPr>
              <a:t> command. It allows the administrator to adjust parameters related to the command operation. </a:t>
            </a:r>
          </a:p>
          <a:p>
            <a:pPr marL="0" indent="0" algn="l"/>
            <a:endParaRPr lang="en-US" sz="1600" dirty="0">
              <a:solidFill>
                <a:srgbClr val="000000"/>
              </a:solidFill>
            </a:endParaRPr>
          </a:p>
          <a:p>
            <a:pPr marL="0" indent="0" algn="l"/>
            <a:r>
              <a:rPr lang="en-US" sz="1600" dirty="0">
                <a:solidFill>
                  <a:srgbClr val="000000"/>
                </a:solidFill>
              </a:rPr>
              <a:t>The Windows </a:t>
            </a:r>
            <a:r>
              <a:rPr lang="en-US" sz="1600" b="1" dirty="0">
                <a:solidFill>
                  <a:srgbClr val="000000"/>
                </a:solidFill>
              </a:rPr>
              <a:t>tracert</a:t>
            </a:r>
            <a:r>
              <a:rPr lang="en-US" sz="1600" dirty="0">
                <a:solidFill>
                  <a:srgbClr val="000000"/>
                </a:solidFill>
              </a:rPr>
              <a:t> command allows the input of several parameters through options in the command line. However, it is not guided like the extended traceroute IOS command. The following output displays the available options for the Windows </a:t>
            </a:r>
            <a:r>
              <a:rPr lang="en-US" sz="1600" b="1" dirty="0">
                <a:solidFill>
                  <a:srgbClr val="000000"/>
                </a:solidFill>
              </a:rPr>
              <a:t>tracert</a:t>
            </a:r>
            <a:r>
              <a:rPr lang="en-US" sz="1600" dirty="0">
                <a:solidFill>
                  <a:srgbClr val="000000"/>
                </a:solidFill>
              </a:rPr>
              <a:t> command:</a:t>
            </a:r>
          </a:p>
          <a:p>
            <a:pPr marL="342900" indent="-342900" algn="l">
              <a:buFont typeface="Arial" panose="020B0604020202020204" pitchFamily="34" charset="0"/>
              <a:buChar char="•"/>
            </a:pPr>
            <a:endParaRPr lang="en-US" sz="1600" dirty="0">
              <a:solidFill>
                <a:srgbClr val="000000"/>
              </a:solidFill>
            </a:endParaRPr>
          </a:p>
        </p:txBody>
      </p:sp>
      <p:pic>
        <p:nvPicPr>
          <p:cNvPr id="8" name="Picture 7">
            <a:extLst>
              <a:ext uri="{FF2B5EF4-FFF2-40B4-BE49-F238E27FC236}">
                <a16:creationId xmlns:a16="http://schemas.microsoft.com/office/drawing/2014/main" id="{1C540DB7-F8D4-417D-80F4-EBDD8D5FF4E5}"/>
              </a:ext>
            </a:extLst>
          </p:cNvPr>
          <p:cNvPicPr>
            <a:picLocks noChangeAspect="1"/>
          </p:cNvPicPr>
          <p:nvPr/>
        </p:nvPicPr>
        <p:blipFill>
          <a:blip r:embed="rId3"/>
          <a:stretch>
            <a:fillRect/>
          </a:stretch>
        </p:blipFill>
        <p:spPr>
          <a:xfrm>
            <a:off x="2306565" y="2566278"/>
            <a:ext cx="4530869" cy="2371077"/>
          </a:xfrm>
          <a:prstGeom prst="rect">
            <a:avLst/>
          </a:prstGeom>
        </p:spPr>
      </p:pic>
    </p:spTree>
    <p:extLst>
      <p:ext uri="{BB962C8B-B14F-4D97-AF65-F5344CB8AC3E}">
        <p14:creationId xmlns:p14="http://schemas.microsoft.com/office/powerpoint/2010/main" val="18935248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Verify Connectivity</a:t>
            </a:r>
            <a:br>
              <a:rPr lang="en-US" dirty="0"/>
            </a:br>
            <a:r>
              <a:rPr lang="en-US" sz="2400" dirty="0"/>
              <a:t>Extended Traceroute (Cont.)</a:t>
            </a:r>
          </a:p>
        </p:txBody>
      </p:sp>
      <p:sp>
        <p:nvSpPr>
          <p:cNvPr id="4" name="Content Placeholder 3">
            <a:extLst>
              <a:ext uri="{FF2B5EF4-FFF2-40B4-BE49-F238E27FC236}">
                <a16:creationId xmlns:a16="http://schemas.microsoft.com/office/drawing/2014/main" id="{07861E12-DF1B-4298-BC04-F1489B20AB4B}"/>
              </a:ext>
            </a:extLst>
          </p:cNvPr>
          <p:cNvSpPr>
            <a:spLocks noGrp="1"/>
          </p:cNvSpPr>
          <p:nvPr>
            <p:ph idx="1"/>
          </p:nvPr>
        </p:nvSpPr>
        <p:spPr>
          <a:xfrm>
            <a:off x="474662" y="731837"/>
            <a:ext cx="5177993" cy="3689897"/>
          </a:xfrm>
        </p:spPr>
        <p:txBody>
          <a:bodyPr/>
          <a:lstStyle/>
          <a:p>
            <a:pPr marL="285750" indent="-285750" algn="l">
              <a:buFont typeface="Arial" panose="020B0604020202020204" pitchFamily="34" charset="0"/>
              <a:buChar char="•"/>
            </a:pPr>
            <a:r>
              <a:rPr lang="en-US" sz="1600" dirty="0">
                <a:solidFill>
                  <a:srgbClr val="000000"/>
                </a:solidFill>
              </a:rPr>
              <a:t>The Cisco IOS extended </a:t>
            </a:r>
            <a:r>
              <a:rPr lang="en-US" sz="1600" b="1" dirty="0">
                <a:solidFill>
                  <a:srgbClr val="000000"/>
                </a:solidFill>
              </a:rPr>
              <a:t>traceroute</a:t>
            </a:r>
            <a:r>
              <a:rPr lang="en-US" sz="1600" dirty="0">
                <a:solidFill>
                  <a:srgbClr val="000000"/>
                </a:solidFill>
              </a:rPr>
              <a:t> option enables the user to create a special type of trace by adjusting parameters related to the command operation. </a:t>
            </a:r>
          </a:p>
          <a:p>
            <a:pPr marL="285750" indent="-285750" algn="l">
              <a:buFont typeface="Arial" panose="020B0604020202020204" pitchFamily="34" charset="0"/>
              <a:buChar char="•"/>
            </a:pPr>
            <a:r>
              <a:rPr lang="en-US" sz="1600" dirty="0">
                <a:solidFill>
                  <a:srgbClr val="000000"/>
                </a:solidFill>
              </a:rPr>
              <a:t>Extended traceroute is entered in privileged EXEC mode by typing </a:t>
            </a:r>
            <a:r>
              <a:rPr lang="en-US" sz="1600" b="1" dirty="0">
                <a:solidFill>
                  <a:srgbClr val="000000"/>
                </a:solidFill>
              </a:rPr>
              <a:t>traceroute</a:t>
            </a:r>
            <a:r>
              <a:rPr lang="en-US" sz="1600" dirty="0">
                <a:solidFill>
                  <a:srgbClr val="000000"/>
                </a:solidFill>
              </a:rPr>
              <a:t> without a destination IP address. IOS will guide you through the command options by presenting a number of prompts related to the setting of all the different parameters.</a:t>
            </a:r>
          </a:p>
          <a:p>
            <a:pPr marL="285750" indent="-285750" algn="l">
              <a:buFont typeface="Arial" panose="020B0604020202020204" pitchFamily="34" charset="0"/>
              <a:buChar char="•"/>
            </a:pPr>
            <a:endParaRPr lang="en-US" sz="1600" dirty="0">
              <a:solidFill>
                <a:srgbClr val="000000"/>
              </a:solidFill>
            </a:endParaRPr>
          </a:p>
          <a:p>
            <a:pPr marL="285750" indent="-285750" algn="l">
              <a:buFont typeface="Arial" panose="020B0604020202020204" pitchFamily="34" charset="0"/>
              <a:buChar char="•"/>
            </a:pPr>
            <a:r>
              <a:rPr lang="en-US" sz="1600" b="1" dirty="0">
                <a:solidFill>
                  <a:srgbClr val="000000"/>
                </a:solidFill>
              </a:rPr>
              <a:t>Note</a:t>
            </a:r>
            <a:r>
              <a:rPr lang="en-US" sz="1600" dirty="0">
                <a:solidFill>
                  <a:srgbClr val="000000"/>
                </a:solidFill>
              </a:rPr>
              <a:t>: Pressing </a:t>
            </a:r>
            <a:r>
              <a:rPr lang="en-US" sz="1600" b="1" dirty="0">
                <a:solidFill>
                  <a:srgbClr val="000000"/>
                </a:solidFill>
              </a:rPr>
              <a:t>Enter</a:t>
            </a:r>
            <a:r>
              <a:rPr lang="en-US" sz="1600" dirty="0">
                <a:solidFill>
                  <a:srgbClr val="000000"/>
                </a:solidFill>
              </a:rPr>
              <a:t> accepts the indicated default values.</a:t>
            </a:r>
          </a:p>
        </p:txBody>
      </p:sp>
      <p:pic>
        <p:nvPicPr>
          <p:cNvPr id="5" name="Picture 4">
            <a:extLst>
              <a:ext uri="{FF2B5EF4-FFF2-40B4-BE49-F238E27FC236}">
                <a16:creationId xmlns:a16="http://schemas.microsoft.com/office/drawing/2014/main" id="{500D75D7-8A82-40C4-80CB-8860A41E3C65}"/>
              </a:ext>
            </a:extLst>
          </p:cNvPr>
          <p:cNvPicPr>
            <a:picLocks noChangeAspect="1"/>
          </p:cNvPicPr>
          <p:nvPr/>
        </p:nvPicPr>
        <p:blipFill>
          <a:blip r:embed="rId3"/>
          <a:stretch>
            <a:fillRect/>
          </a:stretch>
        </p:blipFill>
        <p:spPr>
          <a:xfrm>
            <a:off x="5797127" y="830023"/>
            <a:ext cx="3032259" cy="3493525"/>
          </a:xfrm>
          <a:prstGeom prst="rect">
            <a:avLst/>
          </a:prstGeom>
        </p:spPr>
      </p:pic>
    </p:spTree>
    <p:extLst>
      <p:ext uri="{BB962C8B-B14F-4D97-AF65-F5344CB8AC3E}">
        <p14:creationId xmlns:p14="http://schemas.microsoft.com/office/powerpoint/2010/main" val="36056010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Verify Connectivity</a:t>
            </a:r>
            <a:br>
              <a:rPr lang="en-US" dirty="0"/>
            </a:br>
            <a:r>
              <a:rPr lang="en-US" sz="2400" dirty="0"/>
              <a:t>Network Baseline</a:t>
            </a:r>
          </a:p>
        </p:txBody>
      </p:sp>
      <p:sp>
        <p:nvSpPr>
          <p:cNvPr id="6" name="Content Placeholder 5">
            <a:extLst>
              <a:ext uri="{FF2B5EF4-FFF2-40B4-BE49-F238E27FC236}">
                <a16:creationId xmlns:a16="http://schemas.microsoft.com/office/drawing/2014/main" id="{A78E6CE1-5A04-4670-B83B-B684916AEE63}"/>
              </a:ext>
            </a:extLst>
          </p:cNvPr>
          <p:cNvSpPr>
            <a:spLocks noGrp="1"/>
          </p:cNvSpPr>
          <p:nvPr>
            <p:ph idx="1"/>
          </p:nvPr>
        </p:nvSpPr>
        <p:spPr>
          <a:xfrm>
            <a:off x="257176" y="731837"/>
            <a:ext cx="8497544" cy="3689897"/>
          </a:xfrm>
        </p:spPr>
        <p:txBody>
          <a:bodyPr/>
          <a:lstStyle/>
          <a:p>
            <a:pPr marL="285750" indent="-285750" algn="l">
              <a:buFont typeface="Arial" panose="020B0604020202020204" pitchFamily="34" charset="0"/>
              <a:buChar char="•"/>
            </a:pPr>
            <a:r>
              <a:rPr lang="en-US" sz="1600" dirty="0">
                <a:solidFill>
                  <a:srgbClr val="000000"/>
                </a:solidFill>
              </a:rPr>
              <a:t>One of the most effective tools for monitoring and troubleshooting network performance is to establish a network baseline. </a:t>
            </a:r>
          </a:p>
          <a:p>
            <a:pPr marL="285750" indent="-285750" algn="l">
              <a:buFont typeface="Arial" panose="020B0604020202020204" pitchFamily="34" charset="0"/>
              <a:buChar char="•"/>
            </a:pPr>
            <a:r>
              <a:rPr lang="en-US" sz="1600" dirty="0">
                <a:solidFill>
                  <a:srgbClr val="000000"/>
                </a:solidFill>
              </a:rPr>
              <a:t>One method for starting a baseline is to copy and paste the results from an executed ping, trace, or other relevant commands into a text file. These text files can be time stamped with the date and saved into an archive for later retrieval and comparison.</a:t>
            </a:r>
          </a:p>
          <a:p>
            <a:pPr marL="285750" indent="-285750" algn="l">
              <a:buFont typeface="Arial" panose="020B0604020202020204" pitchFamily="34" charset="0"/>
              <a:buChar char="•"/>
            </a:pPr>
            <a:r>
              <a:rPr lang="en-US" sz="1600" dirty="0">
                <a:solidFill>
                  <a:srgbClr val="000000"/>
                </a:solidFill>
              </a:rPr>
              <a:t>Among items to consider are error messages and the response times from host to host.</a:t>
            </a:r>
          </a:p>
          <a:p>
            <a:pPr marL="285750" indent="-285750" algn="l">
              <a:buFont typeface="Arial" panose="020B0604020202020204" pitchFamily="34" charset="0"/>
              <a:buChar char="•"/>
            </a:pPr>
            <a:r>
              <a:rPr lang="en-US" sz="1600" dirty="0">
                <a:solidFill>
                  <a:srgbClr val="000000"/>
                </a:solidFill>
              </a:rPr>
              <a:t>Corporate networks should have extensive baselines; more extensive than we can describe in this course. Professional-grade software tools are available for storing and maintaining baseline information. </a:t>
            </a:r>
          </a:p>
        </p:txBody>
      </p:sp>
    </p:spTree>
    <p:extLst>
      <p:ext uri="{BB962C8B-B14F-4D97-AF65-F5344CB8AC3E}">
        <p14:creationId xmlns:p14="http://schemas.microsoft.com/office/powerpoint/2010/main" val="34259682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17.5 Host and IOS Commands</a:t>
            </a:r>
          </a:p>
        </p:txBody>
      </p:sp>
    </p:spTree>
    <p:custDataLst>
      <p:tags r:id="rId1"/>
    </p:custDataLst>
    <p:extLst>
      <p:ext uri="{BB962C8B-B14F-4D97-AF65-F5344CB8AC3E}">
        <p14:creationId xmlns:p14="http://schemas.microsoft.com/office/powerpoint/2010/main" val="2616802161"/>
      </p:ext>
    </p:extLst>
  </p:cSld>
  <p:clrMapOvr>
    <a:masterClrMapping/>
  </p:clrMapOvr>
  <p:transition spd="slow">
    <p:wip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Host and IOS Commands</a:t>
            </a:r>
            <a:br>
              <a:rPr lang="en-US" dirty="0"/>
            </a:br>
            <a:r>
              <a:rPr lang="en-US" sz="2400" dirty="0"/>
              <a:t>IP Configuration on a Windows Host</a:t>
            </a:r>
          </a:p>
        </p:txBody>
      </p:sp>
      <p:sp>
        <p:nvSpPr>
          <p:cNvPr id="4" name="Content Placeholder 3">
            <a:extLst>
              <a:ext uri="{FF2B5EF4-FFF2-40B4-BE49-F238E27FC236}">
                <a16:creationId xmlns:a16="http://schemas.microsoft.com/office/drawing/2014/main" id="{EDD73493-B9CF-4BB8-9069-546F872801FC}"/>
              </a:ext>
            </a:extLst>
          </p:cNvPr>
          <p:cNvSpPr>
            <a:spLocks noGrp="1"/>
          </p:cNvSpPr>
          <p:nvPr>
            <p:ph idx="1"/>
          </p:nvPr>
        </p:nvSpPr>
        <p:spPr>
          <a:xfrm>
            <a:off x="266700" y="731838"/>
            <a:ext cx="8553450" cy="2771484"/>
          </a:xfrm>
        </p:spPr>
        <p:txBody>
          <a:bodyPr/>
          <a:lstStyle/>
          <a:p>
            <a:pPr marL="0" indent="0" algn="l"/>
            <a:r>
              <a:rPr lang="en-US" sz="1500" dirty="0">
                <a:solidFill>
                  <a:srgbClr val="000000"/>
                </a:solidFill>
              </a:rPr>
              <a:t>In Windows 10, you can access the IP address details from the </a:t>
            </a:r>
            <a:r>
              <a:rPr lang="en-US" sz="1500" b="1" dirty="0">
                <a:solidFill>
                  <a:srgbClr val="000000"/>
                </a:solidFill>
              </a:rPr>
              <a:t>Network and Sharing Center</a:t>
            </a:r>
            <a:r>
              <a:rPr lang="en-US" sz="1500" dirty="0">
                <a:solidFill>
                  <a:srgbClr val="000000"/>
                </a:solidFill>
              </a:rPr>
              <a:t> to quickly view the four important settings: address, mask, router, and DNS. Or you can issue the </a:t>
            </a:r>
            <a:r>
              <a:rPr lang="en-US" sz="1500" b="1" dirty="0">
                <a:solidFill>
                  <a:srgbClr val="000000"/>
                </a:solidFill>
              </a:rPr>
              <a:t>ipconfig</a:t>
            </a:r>
            <a:r>
              <a:rPr lang="en-US" sz="1500" dirty="0">
                <a:solidFill>
                  <a:srgbClr val="000000"/>
                </a:solidFill>
              </a:rPr>
              <a:t> command at the command line of a Windows computer.</a:t>
            </a:r>
          </a:p>
          <a:p>
            <a:pPr marL="342900" indent="-342900" algn="l">
              <a:buFont typeface="Arial" panose="020B0604020202020204" pitchFamily="34" charset="0"/>
              <a:buChar char="•"/>
            </a:pPr>
            <a:r>
              <a:rPr lang="en-US" sz="1500" dirty="0">
                <a:solidFill>
                  <a:srgbClr val="000000"/>
                </a:solidFill>
              </a:rPr>
              <a:t>Use the </a:t>
            </a:r>
            <a:r>
              <a:rPr lang="en-US" sz="1500" b="1" dirty="0">
                <a:solidFill>
                  <a:srgbClr val="000000"/>
                </a:solidFill>
              </a:rPr>
              <a:t>ipconfig /all</a:t>
            </a:r>
            <a:r>
              <a:rPr lang="en-US" sz="1500" dirty="0">
                <a:solidFill>
                  <a:srgbClr val="000000"/>
                </a:solidFill>
              </a:rPr>
              <a:t> command to view the MAC address, as well as a number of details regarding the Layer 3 addressing of the device.</a:t>
            </a:r>
          </a:p>
          <a:p>
            <a:pPr marL="342900" indent="-342900" algn="l">
              <a:buFont typeface="Arial" panose="020B0604020202020204" pitchFamily="34" charset="0"/>
              <a:buChar char="•"/>
            </a:pPr>
            <a:r>
              <a:rPr lang="en-US" sz="1500" dirty="0">
                <a:solidFill>
                  <a:srgbClr val="000000"/>
                </a:solidFill>
              </a:rPr>
              <a:t>If a host is configured as a DHCP client, the IP address configuration can be renewed using the </a:t>
            </a:r>
            <a:r>
              <a:rPr lang="en-US" sz="1500" b="1" dirty="0">
                <a:solidFill>
                  <a:srgbClr val="000000"/>
                </a:solidFill>
              </a:rPr>
              <a:t>ipconfig /release</a:t>
            </a:r>
            <a:r>
              <a:rPr lang="en-US" sz="1500" dirty="0">
                <a:solidFill>
                  <a:srgbClr val="000000"/>
                </a:solidFill>
              </a:rPr>
              <a:t> and </a:t>
            </a:r>
            <a:r>
              <a:rPr lang="en-US" sz="1500" b="1" dirty="0">
                <a:solidFill>
                  <a:srgbClr val="000000"/>
                </a:solidFill>
              </a:rPr>
              <a:t>ipconfig /renew</a:t>
            </a:r>
            <a:r>
              <a:rPr lang="en-US" sz="1500" dirty="0">
                <a:solidFill>
                  <a:srgbClr val="000000"/>
                </a:solidFill>
              </a:rPr>
              <a:t> commands.</a:t>
            </a:r>
          </a:p>
          <a:p>
            <a:pPr marL="342900" indent="-342900" algn="l">
              <a:buFont typeface="Arial" panose="020B0604020202020204" pitchFamily="34" charset="0"/>
              <a:buChar char="•"/>
            </a:pPr>
            <a:r>
              <a:rPr lang="en-US" sz="1500" dirty="0">
                <a:solidFill>
                  <a:srgbClr val="000000"/>
                </a:solidFill>
              </a:rPr>
              <a:t>The DNS Client service on Windows PCs also optimizes the performance of DNS name resolution by storing previously resolved names in memory. The </a:t>
            </a:r>
            <a:r>
              <a:rPr lang="en-US" sz="1500" b="1" dirty="0">
                <a:solidFill>
                  <a:srgbClr val="000000"/>
                </a:solidFill>
              </a:rPr>
              <a:t>ipconfig /</a:t>
            </a:r>
            <a:r>
              <a:rPr lang="en-US" sz="1500" b="1" dirty="0" err="1">
                <a:solidFill>
                  <a:srgbClr val="000000"/>
                </a:solidFill>
              </a:rPr>
              <a:t>displaydns</a:t>
            </a:r>
            <a:r>
              <a:rPr lang="en-US" sz="1500" dirty="0">
                <a:solidFill>
                  <a:srgbClr val="000000"/>
                </a:solidFill>
              </a:rPr>
              <a:t> command displays all of the cached DNS entries on a Windows computer system.</a:t>
            </a:r>
          </a:p>
          <a:p>
            <a:pPr marL="342900" indent="-342900" algn="l">
              <a:buFont typeface="Arial" panose="020B0604020202020204" pitchFamily="34" charset="0"/>
              <a:buChar char="•"/>
            </a:pPr>
            <a:endParaRPr lang="en-US" sz="1400" dirty="0">
              <a:solidFill>
                <a:srgbClr val="000000"/>
              </a:solidFill>
            </a:endParaRPr>
          </a:p>
        </p:txBody>
      </p:sp>
      <p:pic>
        <p:nvPicPr>
          <p:cNvPr id="5" name="Picture 4">
            <a:extLst>
              <a:ext uri="{FF2B5EF4-FFF2-40B4-BE49-F238E27FC236}">
                <a16:creationId xmlns:a16="http://schemas.microsoft.com/office/drawing/2014/main" id="{0F893CF4-60E9-4E3D-99F3-F4100A64A537}"/>
              </a:ext>
            </a:extLst>
          </p:cNvPr>
          <p:cNvPicPr>
            <a:picLocks noChangeAspect="1"/>
          </p:cNvPicPr>
          <p:nvPr/>
        </p:nvPicPr>
        <p:blipFill>
          <a:blip r:embed="rId3"/>
          <a:stretch>
            <a:fillRect/>
          </a:stretch>
        </p:blipFill>
        <p:spPr>
          <a:xfrm>
            <a:off x="2532027" y="3503322"/>
            <a:ext cx="3281434" cy="1411433"/>
          </a:xfrm>
          <a:prstGeom prst="rect">
            <a:avLst/>
          </a:prstGeom>
        </p:spPr>
      </p:pic>
    </p:spTree>
    <p:extLst>
      <p:ext uri="{BB962C8B-B14F-4D97-AF65-F5344CB8AC3E}">
        <p14:creationId xmlns:p14="http://schemas.microsoft.com/office/powerpoint/2010/main" val="2132854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Host and IOS Commands</a:t>
            </a:r>
            <a:br>
              <a:rPr lang="en-US" dirty="0"/>
            </a:br>
            <a:r>
              <a:rPr lang="en-US" sz="2400" dirty="0"/>
              <a:t>IP Configuration on a Linux Host</a:t>
            </a:r>
          </a:p>
        </p:txBody>
      </p:sp>
      <p:sp>
        <p:nvSpPr>
          <p:cNvPr id="4" name="Content Placeholder 3">
            <a:extLst>
              <a:ext uri="{FF2B5EF4-FFF2-40B4-BE49-F238E27FC236}">
                <a16:creationId xmlns:a16="http://schemas.microsoft.com/office/drawing/2014/main" id="{EDD73493-B9CF-4BB8-9069-546F872801FC}"/>
              </a:ext>
            </a:extLst>
          </p:cNvPr>
          <p:cNvSpPr>
            <a:spLocks noGrp="1"/>
          </p:cNvSpPr>
          <p:nvPr>
            <p:ph idx="1"/>
          </p:nvPr>
        </p:nvSpPr>
        <p:spPr>
          <a:xfrm>
            <a:off x="200026" y="819151"/>
            <a:ext cx="4674322" cy="3602584"/>
          </a:xfrm>
        </p:spPr>
        <p:txBody>
          <a:bodyPr/>
          <a:lstStyle/>
          <a:p>
            <a:pPr marL="342900" indent="-342900" algn="l">
              <a:buFont typeface="Arial" panose="020B0604020202020204" pitchFamily="34" charset="0"/>
              <a:buChar char="•"/>
            </a:pPr>
            <a:r>
              <a:rPr lang="en-US" sz="1600" dirty="0">
                <a:solidFill>
                  <a:srgbClr val="000000"/>
                </a:solidFill>
              </a:rPr>
              <a:t>Verifying IP settings using the GUI on a Linux machine will differ depending on the Linux distribution and desktop interface.</a:t>
            </a:r>
          </a:p>
          <a:p>
            <a:pPr marL="342900" indent="-342900" algn="l">
              <a:buFont typeface="Arial" panose="020B0604020202020204" pitchFamily="34" charset="0"/>
              <a:buChar char="•"/>
            </a:pPr>
            <a:r>
              <a:rPr lang="en-US" sz="1600" dirty="0">
                <a:solidFill>
                  <a:srgbClr val="000000"/>
                </a:solidFill>
              </a:rPr>
              <a:t>On the command line, use the </a:t>
            </a:r>
            <a:r>
              <a:rPr lang="en-US" sz="1600" b="1" dirty="0">
                <a:solidFill>
                  <a:srgbClr val="000000"/>
                </a:solidFill>
              </a:rPr>
              <a:t>ifconfig</a:t>
            </a:r>
            <a:r>
              <a:rPr lang="en-US" sz="1600" dirty="0">
                <a:solidFill>
                  <a:srgbClr val="000000"/>
                </a:solidFill>
              </a:rPr>
              <a:t> command to display the status of the currently active interfaces and their IP configuration.</a:t>
            </a:r>
          </a:p>
          <a:p>
            <a:pPr marL="342900" indent="-342900" algn="l">
              <a:buFont typeface="Arial" panose="020B0604020202020204" pitchFamily="34" charset="0"/>
              <a:buChar char="•"/>
            </a:pPr>
            <a:r>
              <a:rPr lang="en-US" sz="1600" dirty="0">
                <a:solidFill>
                  <a:srgbClr val="000000"/>
                </a:solidFill>
              </a:rPr>
              <a:t>The Linux </a:t>
            </a:r>
            <a:r>
              <a:rPr lang="en-US" sz="1600" b="1" dirty="0" err="1">
                <a:solidFill>
                  <a:srgbClr val="000000"/>
                </a:solidFill>
              </a:rPr>
              <a:t>ip</a:t>
            </a:r>
            <a:r>
              <a:rPr lang="en-US" sz="1600" b="1" dirty="0">
                <a:solidFill>
                  <a:srgbClr val="000000"/>
                </a:solidFill>
              </a:rPr>
              <a:t> address</a:t>
            </a:r>
            <a:r>
              <a:rPr lang="en-US" sz="1600" dirty="0">
                <a:solidFill>
                  <a:srgbClr val="000000"/>
                </a:solidFill>
              </a:rPr>
              <a:t> command is used to display addresses and their properties. It can also be used to add or delete IP addresses.</a:t>
            </a:r>
          </a:p>
          <a:p>
            <a:pPr marL="0" indent="0" algn="l"/>
            <a:endParaRPr lang="en-US" sz="1600" b="1" dirty="0">
              <a:solidFill>
                <a:srgbClr val="000000"/>
              </a:solidFill>
            </a:endParaRPr>
          </a:p>
          <a:p>
            <a:pPr marL="0" indent="0" algn="l"/>
            <a:r>
              <a:rPr lang="en-US" sz="1600" b="1" dirty="0">
                <a:solidFill>
                  <a:srgbClr val="000000"/>
                </a:solidFill>
              </a:rPr>
              <a:t>Note:</a:t>
            </a:r>
            <a:r>
              <a:rPr lang="en-US" sz="1600" dirty="0">
                <a:solidFill>
                  <a:srgbClr val="000000"/>
                </a:solidFill>
              </a:rPr>
              <a:t> The output displayed may vary depending on the Linux distribution.</a:t>
            </a:r>
          </a:p>
          <a:p>
            <a:pPr marL="342900" indent="-342900" algn="l">
              <a:buFont typeface="Arial" panose="020B0604020202020204" pitchFamily="34" charset="0"/>
              <a:buChar char="•"/>
            </a:pPr>
            <a:endParaRPr lang="en-US" sz="1400" dirty="0">
              <a:solidFill>
                <a:srgbClr val="000000"/>
              </a:solidFill>
            </a:endParaRPr>
          </a:p>
        </p:txBody>
      </p:sp>
      <p:pic>
        <p:nvPicPr>
          <p:cNvPr id="2" name="Picture 1">
            <a:extLst>
              <a:ext uri="{FF2B5EF4-FFF2-40B4-BE49-F238E27FC236}">
                <a16:creationId xmlns:a16="http://schemas.microsoft.com/office/drawing/2014/main" id="{5D8F7B60-4A22-470D-88EE-376AE17104D4}"/>
              </a:ext>
            </a:extLst>
          </p:cNvPr>
          <p:cNvPicPr>
            <a:picLocks noChangeAspect="1"/>
          </p:cNvPicPr>
          <p:nvPr/>
        </p:nvPicPr>
        <p:blipFill>
          <a:blip r:embed="rId3"/>
          <a:stretch>
            <a:fillRect/>
          </a:stretch>
        </p:blipFill>
        <p:spPr>
          <a:xfrm>
            <a:off x="4874347" y="1131396"/>
            <a:ext cx="3794991" cy="2538903"/>
          </a:xfrm>
          <a:prstGeom prst="rect">
            <a:avLst/>
          </a:prstGeom>
        </p:spPr>
      </p:pic>
    </p:spTree>
    <p:extLst>
      <p:ext uri="{BB962C8B-B14F-4D97-AF65-F5344CB8AC3E}">
        <p14:creationId xmlns:p14="http://schemas.microsoft.com/office/powerpoint/2010/main" val="23268772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Host and IOS Commands</a:t>
            </a:r>
            <a:br>
              <a:rPr lang="en-US" dirty="0"/>
            </a:br>
            <a:r>
              <a:rPr lang="en-US" sz="2400" dirty="0"/>
              <a:t>IP Configuration on a macOS Host</a:t>
            </a:r>
          </a:p>
        </p:txBody>
      </p:sp>
      <p:sp>
        <p:nvSpPr>
          <p:cNvPr id="6" name="Content Placeholder 5">
            <a:extLst>
              <a:ext uri="{FF2B5EF4-FFF2-40B4-BE49-F238E27FC236}">
                <a16:creationId xmlns:a16="http://schemas.microsoft.com/office/drawing/2014/main" id="{E018F0E6-A545-473E-A9D3-201EC6272E44}"/>
              </a:ext>
            </a:extLst>
          </p:cNvPr>
          <p:cNvSpPr>
            <a:spLocks noGrp="1"/>
          </p:cNvSpPr>
          <p:nvPr>
            <p:ph idx="1"/>
          </p:nvPr>
        </p:nvSpPr>
        <p:spPr>
          <a:xfrm>
            <a:off x="474662" y="864899"/>
            <a:ext cx="4305605" cy="3556835"/>
          </a:xfrm>
        </p:spPr>
        <p:txBody>
          <a:bodyPr/>
          <a:lstStyle/>
          <a:p>
            <a:pPr marL="285750" indent="-285750" algn="l">
              <a:buFont typeface="Arial" panose="020B0604020202020204" pitchFamily="34" charset="0"/>
              <a:buChar char="•"/>
            </a:pPr>
            <a:r>
              <a:rPr lang="en-US" sz="1600" dirty="0">
                <a:solidFill>
                  <a:srgbClr val="000000"/>
                </a:solidFill>
              </a:rPr>
              <a:t>In the GUI of a Mac host, open </a:t>
            </a:r>
            <a:r>
              <a:rPr lang="en-US" sz="1600" b="1" dirty="0">
                <a:solidFill>
                  <a:srgbClr val="000000"/>
                </a:solidFill>
              </a:rPr>
              <a:t>Network Preferences &gt; Advanced</a:t>
            </a:r>
            <a:r>
              <a:rPr lang="en-US" sz="1600" dirty="0">
                <a:solidFill>
                  <a:srgbClr val="000000"/>
                </a:solidFill>
              </a:rPr>
              <a:t> to get the IP addressing information.</a:t>
            </a:r>
          </a:p>
          <a:p>
            <a:pPr marL="285750" indent="-285750" algn="l">
              <a:buFont typeface="Arial" panose="020B0604020202020204" pitchFamily="34" charset="0"/>
              <a:buChar char="•"/>
            </a:pPr>
            <a:r>
              <a:rPr lang="en-US" sz="1600" dirty="0">
                <a:solidFill>
                  <a:srgbClr val="000000"/>
                </a:solidFill>
              </a:rPr>
              <a:t>The </a:t>
            </a:r>
            <a:r>
              <a:rPr lang="en-US" sz="1600" b="1" dirty="0">
                <a:solidFill>
                  <a:srgbClr val="000000"/>
                </a:solidFill>
              </a:rPr>
              <a:t>ifconfig</a:t>
            </a:r>
            <a:r>
              <a:rPr lang="en-US" sz="1600" dirty="0">
                <a:solidFill>
                  <a:srgbClr val="000000"/>
                </a:solidFill>
              </a:rPr>
              <a:t> command can also be used to verify the interface IP configuration at the command line.</a:t>
            </a:r>
          </a:p>
          <a:p>
            <a:pPr marL="285750" indent="-285750" algn="l">
              <a:buFont typeface="Arial" panose="020B0604020202020204" pitchFamily="34" charset="0"/>
              <a:buChar char="•"/>
            </a:pPr>
            <a:r>
              <a:rPr lang="en-US" sz="1600" dirty="0">
                <a:solidFill>
                  <a:srgbClr val="000000"/>
                </a:solidFill>
              </a:rPr>
              <a:t>Other useful macOS commands to verify the host IP settings include </a:t>
            </a:r>
            <a:r>
              <a:rPr lang="en-US" sz="1600" b="1" dirty="0" err="1">
                <a:solidFill>
                  <a:srgbClr val="000000"/>
                </a:solidFill>
              </a:rPr>
              <a:t>networksetup</a:t>
            </a:r>
            <a:r>
              <a:rPr lang="en-US" sz="1600" b="1" dirty="0">
                <a:solidFill>
                  <a:srgbClr val="000000"/>
                </a:solidFill>
              </a:rPr>
              <a:t> -</a:t>
            </a:r>
            <a:r>
              <a:rPr lang="en-US" sz="1600" b="1" dirty="0" err="1">
                <a:solidFill>
                  <a:srgbClr val="000000"/>
                </a:solidFill>
              </a:rPr>
              <a:t>listallnetworkservices</a:t>
            </a:r>
            <a:r>
              <a:rPr lang="en-US" sz="1600" dirty="0">
                <a:solidFill>
                  <a:srgbClr val="000000"/>
                </a:solidFill>
              </a:rPr>
              <a:t> and the </a:t>
            </a:r>
            <a:r>
              <a:rPr lang="en-US" sz="1600" b="1" dirty="0" err="1">
                <a:solidFill>
                  <a:srgbClr val="000000"/>
                </a:solidFill>
              </a:rPr>
              <a:t>networksetup</a:t>
            </a:r>
            <a:r>
              <a:rPr lang="en-US" sz="1600" b="1" dirty="0">
                <a:solidFill>
                  <a:srgbClr val="000000"/>
                </a:solidFill>
              </a:rPr>
              <a:t> -</a:t>
            </a:r>
            <a:r>
              <a:rPr lang="en-US" sz="1600" b="1" dirty="0" err="1">
                <a:solidFill>
                  <a:srgbClr val="000000"/>
                </a:solidFill>
              </a:rPr>
              <a:t>getinfo</a:t>
            </a:r>
            <a:r>
              <a:rPr lang="en-US" sz="1600" b="1" dirty="0">
                <a:solidFill>
                  <a:srgbClr val="000000"/>
                </a:solidFill>
              </a:rPr>
              <a:t> &lt;</a:t>
            </a:r>
            <a:r>
              <a:rPr lang="en-US" sz="1600" i="1" dirty="0">
                <a:solidFill>
                  <a:srgbClr val="000000"/>
                </a:solidFill>
              </a:rPr>
              <a:t>network service</a:t>
            </a:r>
            <a:r>
              <a:rPr lang="en-US" sz="1600" b="1" dirty="0">
                <a:solidFill>
                  <a:srgbClr val="000000"/>
                </a:solidFill>
              </a:rPr>
              <a:t>&gt;</a:t>
            </a:r>
            <a:r>
              <a:rPr lang="en-US" sz="1600" dirty="0">
                <a:solidFill>
                  <a:srgbClr val="000000"/>
                </a:solidFill>
              </a:rPr>
              <a:t>.</a:t>
            </a:r>
          </a:p>
        </p:txBody>
      </p:sp>
      <p:pic>
        <p:nvPicPr>
          <p:cNvPr id="2" name="Obrázok 1">
            <a:extLst>
              <a:ext uri="{FF2B5EF4-FFF2-40B4-BE49-F238E27FC236}">
                <a16:creationId xmlns:a16="http://schemas.microsoft.com/office/drawing/2014/main" id="{920430C3-8F9F-DA4E-8BE3-75EFE41C69F6}"/>
              </a:ext>
            </a:extLst>
          </p:cNvPr>
          <p:cNvPicPr>
            <a:picLocks noChangeAspect="1"/>
          </p:cNvPicPr>
          <p:nvPr/>
        </p:nvPicPr>
        <p:blipFill>
          <a:blip r:embed="rId3"/>
          <a:stretch>
            <a:fillRect/>
          </a:stretch>
        </p:blipFill>
        <p:spPr>
          <a:xfrm>
            <a:off x="4369711" y="530024"/>
            <a:ext cx="5085454" cy="3556835"/>
          </a:xfrm>
          <a:prstGeom prst="rect">
            <a:avLst/>
          </a:prstGeom>
        </p:spPr>
      </p:pic>
      <p:pic>
        <p:nvPicPr>
          <p:cNvPr id="4" name="Obrázok 3">
            <a:extLst>
              <a:ext uri="{FF2B5EF4-FFF2-40B4-BE49-F238E27FC236}">
                <a16:creationId xmlns:a16="http://schemas.microsoft.com/office/drawing/2014/main" id="{DDED132B-F776-1D45-93EA-20D68CCD4C60}"/>
              </a:ext>
            </a:extLst>
          </p:cNvPr>
          <p:cNvPicPr>
            <a:picLocks noChangeAspect="1"/>
          </p:cNvPicPr>
          <p:nvPr/>
        </p:nvPicPr>
        <p:blipFill>
          <a:blip r:embed="rId4"/>
          <a:stretch>
            <a:fillRect/>
          </a:stretch>
        </p:blipFill>
        <p:spPr>
          <a:xfrm>
            <a:off x="5025739" y="2435267"/>
            <a:ext cx="4429426" cy="3098000"/>
          </a:xfrm>
          <a:prstGeom prst="rect">
            <a:avLst/>
          </a:prstGeom>
        </p:spPr>
      </p:pic>
    </p:spTree>
    <p:extLst>
      <p:ext uri="{BB962C8B-B14F-4D97-AF65-F5344CB8AC3E}">
        <p14:creationId xmlns:p14="http://schemas.microsoft.com/office/powerpoint/2010/main" val="3120388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Host and IOS Commands</a:t>
            </a:r>
            <a:br>
              <a:rPr lang="en-US" dirty="0"/>
            </a:br>
            <a:r>
              <a:rPr lang="en-US" sz="2400" dirty="0"/>
              <a:t>The </a:t>
            </a:r>
            <a:r>
              <a:rPr lang="en-US" sz="2400" dirty="0" err="1"/>
              <a:t>arp</a:t>
            </a:r>
            <a:r>
              <a:rPr lang="en-US" sz="2400" dirty="0"/>
              <a:t> Command</a:t>
            </a:r>
          </a:p>
        </p:txBody>
      </p:sp>
      <p:sp>
        <p:nvSpPr>
          <p:cNvPr id="4" name="Content Placeholder 3">
            <a:extLst>
              <a:ext uri="{FF2B5EF4-FFF2-40B4-BE49-F238E27FC236}">
                <a16:creationId xmlns:a16="http://schemas.microsoft.com/office/drawing/2014/main" id="{CE59173F-7994-4B5D-8201-E7BBC1B93ED9}"/>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The </a:t>
            </a:r>
            <a:r>
              <a:rPr lang="en-US" sz="1600" b="1" dirty="0" err="1">
                <a:solidFill>
                  <a:srgbClr val="000000"/>
                </a:solidFill>
              </a:rPr>
              <a:t>arp</a:t>
            </a:r>
            <a:r>
              <a:rPr lang="en-US" sz="1600" dirty="0">
                <a:solidFill>
                  <a:srgbClr val="000000"/>
                </a:solidFill>
              </a:rPr>
              <a:t> command is executed from the Windows, Linux, or Mac command prompt. The command lists all devices currently in the ARP cache of the host.</a:t>
            </a:r>
          </a:p>
          <a:p>
            <a:pPr marL="342900" indent="-342900" algn="l">
              <a:buFont typeface="Arial" panose="020B0604020202020204" pitchFamily="34" charset="0"/>
              <a:buChar char="•"/>
            </a:pPr>
            <a:r>
              <a:rPr lang="en-US" sz="1600" dirty="0">
                <a:solidFill>
                  <a:srgbClr val="000000"/>
                </a:solidFill>
              </a:rPr>
              <a:t>The </a:t>
            </a:r>
            <a:r>
              <a:rPr lang="en-US" sz="1600" b="1" dirty="0" err="1">
                <a:solidFill>
                  <a:srgbClr val="000000"/>
                </a:solidFill>
              </a:rPr>
              <a:t>arp</a:t>
            </a:r>
            <a:r>
              <a:rPr lang="en-US" sz="1600" b="1" dirty="0">
                <a:solidFill>
                  <a:srgbClr val="000000"/>
                </a:solidFill>
              </a:rPr>
              <a:t> -a</a:t>
            </a:r>
            <a:r>
              <a:rPr lang="en-US" sz="1600" dirty="0">
                <a:solidFill>
                  <a:srgbClr val="000000"/>
                </a:solidFill>
              </a:rPr>
              <a:t> command displays the known IP address and MAC address binding. The ARP cache only displays information from devices that have been recently accessed.</a:t>
            </a:r>
          </a:p>
          <a:p>
            <a:pPr marL="342900" indent="-342900" algn="l">
              <a:buFont typeface="Arial" panose="020B0604020202020204" pitchFamily="34" charset="0"/>
              <a:buChar char="•"/>
            </a:pPr>
            <a:r>
              <a:rPr lang="en-US" sz="1600" dirty="0">
                <a:solidFill>
                  <a:srgbClr val="000000"/>
                </a:solidFill>
              </a:rPr>
              <a:t>To ensure that the ARP cache is populated, </a:t>
            </a:r>
            <a:r>
              <a:rPr lang="en-US" sz="1600" b="1" dirty="0">
                <a:solidFill>
                  <a:srgbClr val="000000"/>
                </a:solidFill>
              </a:rPr>
              <a:t>ping</a:t>
            </a:r>
            <a:r>
              <a:rPr lang="en-US" sz="1600" dirty="0">
                <a:solidFill>
                  <a:srgbClr val="000000"/>
                </a:solidFill>
              </a:rPr>
              <a:t> a device so that it will have an entry in the ARP table.</a:t>
            </a:r>
          </a:p>
          <a:p>
            <a:pPr marL="342900" indent="-342900" algn="l">
              <a:buFont typeface="Arial" panose="020B0604020202020204" pitchFamily="34" charset="0"/>
              <a:buChar char="•"/>
            </a:pPr>
            <a:r>
              <a:rPr lang="en-US" sz="1600" dirty="0">
                <a:solidFill>
                  <a:srgbClr val="000000"/>
                </a:solidFill>
              </a:rPr>
              <a:t>The cache can be cleared by using the </a:t>
            </a:r>
            <a:r>
              <a:rPr lang="en-US" sz="1600" b="1" dirty="0" err="1">
                <a:solidFill>
                  <a:srgbClr val="000000"/>
                </a:solidFill>
              </a:rPr>
              <a:t>netsh</a:t>
            </a:r>
            <a:r>
              <a:rPr lang="en-US" sz="1600" b="1" dirty="0">
                <a:solidFill>
                  <a:srgbClr val="000000"/>
                </a:solidFill>
              </a:rPr>
              <a:t> interface </a:t>
            </a:r>
            <a:r>
              <a:rPr lang="en-US" sz="1600" b="1" dirty="0" err="1">
                <a:solidFill>
                  <a:srgbClr val="000000"/>
                </a:solidFill>
              </a:rPr>
              <a:t>ip</a:t>
            </a:r>
            <a:r>
              <a:rPr lang="en-US" sz="1600" b="1" dirty="0">
                <a:solidFill>
                  <a:srgbClr val="000000"/>
                </a:solidFill>
              </a:rPr>
              <a:t> delete </a:t>
            </a:r>
            <a:r>
              <a:rPr lang="en-US" sz="1600" b="1" dirty="0" err="1">
                <a:solidFill>
                  <a:srgbClr val="000000"/>
                </a:solidFill>
              </a:rPr>
              <a:t>arpcache</a:t>
            </a:r>
            <a:r>
              <a:rPr lang="en-US" sz="1600" dirty="0">
                <a:solidFill>
                  <a:srgbClr val="000000"/>
                </a:solidFill>
              </a:rPr>
              <a:t> command in the event the network administrator wants to repopulate the cache with updated information.</a:t>
            </a:r>
          </a:p>
          <a:p>
            <a:pPr marL="73085" lvl="1" indent="0">
              <a:buNone/>
            </a:pPr>
            <a:endParaRPr lang="en-US" sz="1600" b="1" dirty="0">
              <a:solidFill>
                <a:srgbClr val="000000"/>
              </a:solidFill>
            </a:endParaRPr>
          </a:p>
          <a:p>
            <a:pPr marL="73085" lvl="1" indent="0">
              <a:buNone/>
            </a:pPr>
            <a:r>
              <a:rPr lang="en-US" sz="1600" b="1" dirty="0">
                <a:solidFill>
                  <a:srgbClr val="000000"/>
                </a:solidFill>
              </a:rPr>
              <a:t>Note</a:t>
            </a:r>
            <a:r>
              <a:rPr lang="en-US" sz="1600" dirty="0">
                <a:solidFill>
                  <a:srgbClr val="000000"/>
                </a:solidFill>
              </a:rPr>
              <a:t>: You may need administrator access on the host to be able to use the </a:t>
            </a:r>
            <a:r>
              <a:rPr lang="en-US" sz="1600" b="1" dirty="0" err="1">
                <a:solidFill>
                  <a:srgbClr val="000000"/>
                </a:solidFill>
              </a:rPr>
              <a:t>netsh</a:t>
            </a:r>
            <a:r>
              <a:rPr lang="en-US" sz="1600" b="1" dirty="0">
                <a:solidFill>
                  <a:srgbClr val="000000"/>
                </a:solidFill>
              </a:rPr>
              <a:t> interface </a:t>
            </a:r>
            <a:r>
              <a:rPr lang="en-US" sz="1600" b="1" dirty="0" err="1">
                <a:solidFill>
                  <a:srgbClr val="000000"/>
                </a:solidFill>
              </a:rPr>
              <a:t>ip</a:t>
            </a:r>
            <a:r>
              <a:rPr lang="en-US" sz="1600" b="1" dirty="0">
                <a:solidFill>
                  <a:srgbClr val="000000"/>
                </a:solidFill>
              </a:rPr>
              <a:t> delete </a:t>
            </a:r>
            <a:r>
              <a:rPr lang="en-US" sz="1600" b="1" dirty="0" err="1">
                <a:solidFill>
                  <a:srgbClr val="000000"/>
                </a:solidFill>
              </a:rPr>
              <a:t>arpcache</a:t>
            </a:r>
            <a:r>
              <a:rPr lang="en-US" sz="1600" dirty="0">
                <a:solidFill>
                  <a:srgbClr val="000000"/>
                </a:solidFill>
              </a:rPr>
              <a:t> command.</a:t>
            </a:r>
          </a:p>
          <a:p>
            <a:pPr marL="342900" indent="-34290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38394982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Host and IOS Commands</a:t>
            </a:r>
            <a:br>
              <a:rPr lang="en-US" dirty="0"/>
            </a:br>
            <a:r>
              <a:rPr lang="en-US" sz="2400" dirty="0"/>
              <a:t>Common show Commands Revisited</a:t>
            </a:r>
          </a:p>
        </p:txBody>
      </p:sp>
      <p:graphicFrame>
        <p:nvGraphicFramePr>
          <p:cNvPr id="5" name="Table 5">
            <a:extLst>
              <a:ext uri="{FF2B5EF4-FFF2-40B4-BE49-F238E27FC236}">
                <a16:creationId xmlns:a16="http://schemas.microsoft.com/office/drawing/2014/main" id="{E81AC101-DAAD-474F-AC42-6015A977BDCC}"/>
              </a:ext>
            </a:extLst>
          </p:cNvPr>
          <p:cNvGraphicFramePr>
            <a:graphicFrameLocks noGrp="1"/>
          </p:cNvGraphicFramePr>
          <p:nvPr>
            <p:ph idx="1"/>
            <p:extLst>
              <p:ext uri="{D42A27DB-BD31-4B8C-83A1-F6EECF244321}">
                <p14:modId xmlns:p14="http://schemas.microsoft.com/office/powerpoint/2010/main" val="2423166792"/>
              </p:ext>
            </p:extLst>
          </p:nvPr>
        </p:nvGraphicFramePr>
        <p:xfrm>
          <a:off x="474663" y="1347788"/>
          <a:ext cx="8280400" cy="2966720"/>
        </p:xfrm>
        <a:graphic>
          <a:graphicData uri="http://schemas.openxmlformats.org/drawingml/2006/table">
            <a:tbl>
              <a:tblPr firstRow="1" bandRow="1">
                <a:tableStyleId>{5C22544A-7EE6-4342-B048-85BDC9FD1C3A}</a:tableStyleId>
              </a:tblPr>
              <a:tblGrid>
                <a:gridCol w="2970501">
                  <a:extLst>
                    <a:ext uri="{9D8B030D-6E8A-4147-A177-3AD203B41FA5}">
                      <a16:colId xmlns:a16="http://schemas.microsoft.com/office/drawing/2014/main" val="223375126"/>
                    </a:ext>
                  </a:extLst>
                </a:gridCol>
                <a:gridCol w="5309899">
                  <a:extLst>
                    <a:ext uri="{9D8B030D-6E8A-4147-A177-3AD203B41FA5}">
                      <a16:colId xmlns:a16="http://schemas.microsoft.com/office/drawing/2014/main" val="3464202880"/>
                    </a:ext>
                  </a:extLst>
                </a:gridCol>
              </a:tblGrid>
              <a:tr h="370840">
                <a:tc>
                  <a:txBody>
                    <a:bodyPr/>
                    <a:lstStyle/>
                    <a:p>
                      <a:r>
                        <a:rPr lang="en-US" dirty="0"/>
                        <a:t>Command</a:t>
                      </a:r>
                    </a:p>
                  </a:txBody>
                  <a:tcPr/>
                </a:tc>
                <a:tc>
                  <a:txBody>
                    <a:bodyPr/>
                    <a:lstStyle/>
                    <a:p>
                      <a:r>
                        <a:rPr lang="en-US" dirty="0"/>
                        <a:t>Description</a:t>
                      </a:r>
                    </a:p>
                  </a:txBody>
                  <a:tcPr/>
                </a:tc>
                <a:extLst>
                  <a:ext uri="{0D108BD9-81ED-4DB2-BD59-A6C34878D82A}">
                    <a16:rowId xmlns:a16="http://schemas.microsoft.com/office/drawing/2014/main" val="4117537356"/>
                  </a:ext>
                </a:extLst>
              </a:tr>
              <a:tr h="370840">
                <a:tc>
                  <a:txBody>
                    <a:bodyPr/>
                    <a:lstStyle/>
                    <a:p>
                      <a:r>
                        <a:rPr lang="en-US" dirty="0"/>
                        <a:t>show running-config</a:t>
                      </a:r>
                    </a:p>
                  </a:txBody>
                  <a:tcPr/>
                </a:tc>
                <a:tc>
                  <a:txBody>
                    <a:bodyPr/>
                    <a:lstStyle/>
                    <a:p>
                      <a:r>
                        <a:rPr lang="en-US" dirty="0"/>
                        <a:t>Verifies the current configuration and settings</a:t>
                      </a:r>
                    </a:p>
                  </a:txBody>
                  <a:tcPr/>
                </a:tc>
                <a:extLst>
                  <a:ext uri="{0D108BD9-81ED-4DB2-BD59-A6C34878D82A}">
                    <a16:rowId xmlns:a16="http://schemas.microsoft.com/office/drawing/2014/main" val="2176404569"/>
                  </a:ext>
                </a:extLst>
              </a:tr>
              <a:tr h="370840">
                <a:tc>
                  <a:txBody>
                    <a:bodyPr/>
                    <a:lstStyle/>
                    <a:p>
                      <a:r>
                        <a:rPr lang="en-US"/>
                        <a:t>show </a:t>
                      </a:r>
                      <a:r>
                        <a:rPr lang="en-US" dirty="0"/>
                        <a:t>interfaces</a:t>
                      </a:r>
                    </a:p>
                  </a:txBody>
                  <a:tcPr/>
                </a:tc>
                <a:tc>
                  <a:txBody>
                    <a:bodyPr/>
                    <a:lstStyle/>
                    <a:p>
                      <a:r>
                        <a:rPr lang="en-US" dirty="0"/>
                        <a:t>Verifies the interface status and displays any error messages</a:t>
                      </a:r>
                    </a:p>
                  </a:txBody>
                  <a:tcPr/>
                </a:tc>
                <a:extLst>
                  <a:ext uri="{0D108BD9-81ED-4DB2-BD59-A6C34878D82A}">
                    <a16:rowId xmlns:a16="http://schemas.microsoft.com/office/drawing/2014/main" val="910297493"/>
                  </a:ext>
                </a:extLst>
              </a:tr>
              <a:tr h="370840">
                <a:tc>
                  <a:txBody>
                    <a:bodyPr/>
                    <a:lstStyle/>
                    <a:p>
                      <a:r>
                        <a:rPr lang="en-US"/>
                        <a:t>show </a:t>
                      </a:r>
                      <a:r>
                        <a:rPr lang="en-US" dirty="0" err="1"/>
                        <a:t>ip</a:t>
                      </a:r>
                      <a:r>
                        <a:rPr lang="en-US" dirty="0"/>
                        <a:t> interface</a:t>
                      </a:r>
                    </a:p>
                  </a:txBody>
                  <a:tcPr/>
                </a:tc>
                <a:tc>
                  <a:txBody>
                    <a:bodyPr/>
                    <a:lstStyle/>
                    <a:p>
                      <a:r>
                        <a:rPr lang="en-US" dirty="0"/>
                        <a:t>Verifies the Layer 3 information of an interface</a:t>
                      </a:r>
                    </a:p>
                  </a:txBody>
                  <a:tcPr/>
                </a:tc>
                <a:extLst>
                  <a:ext uri="{0D108BD9-81ED-4DB2-BD59-A6C34878D82A}">
                    <a16:rowId xmlns:a16="http://schemas.microsoft.com/office/drawing/2014/main" val="1308024001"/>
                  </a:ext>
                </a:extLst>
              </a:tr>
              <a:tr h="370840">
                <a:tc>
                  <a:txBody>
                    <a:bodyPr/>
                    <a:lstStyle/>
                    <a:p>
                      <a:r>
                        <a:rPr lang="en-US" dirty="0"/>
                        <a:t>show </a:t>
                      </a:r>
                      <a:r>
                        <a:rPr lang="en-US" dirty="0" err="1"/>
                        <a:t>arp</a:t>
                      </a:r>
                      <a:endParaRPr lang="en-US" dirty="0"/>
                    </a:p>
                  </a:txBody>
                  <a:tcPr/>
                </a:tc>
                <a:tc>
                  <a:txBody>
                    <a:bodyPr/>
                    <a:lstStyle/>
                    <a:p>
                      <a:r>
                        <a:rPr lang="en-US" dirty="0"/>
                        <a:t>Verifies the list of known hosts on the local Ethernet LANs</a:t>
                      </a:r>
                    </a:p>
                  </a:txBody>
                  <a:tcPr/>
                </a:tc>
                <a:extLst>
                  <a:ext uri="{0D108BD9-81ED-4DB2-BD59-A6C34878D82A}">
                    <a16:rowId xmlns:a16="http://schemas.microsoft.com/office/drawing/2014/main" val="2805593407"/>
                  </a:ext>
                </a:extLst>
              </a:tr>
              <a:tr h="370840">
                <a:tc>
                  <a:txBody>
                    <a:bodyPr/>
                    <a:lstStyle/>
                    <a:p>
                      <a:r>
                        <a:rPr lang="en-US" dirty="0"/>
                        <a:t>show </a:t>
                      </a:r>
                      <a:r>
                        <a:rPr lang="en-US" dirty="0" err="1"/>
                        <a:t>ip</a:t>
                      </a:r>
                      <a:r>
                        <a:rPr lang="en-US" dirty="0"/>
                        <a:t> route</a:t>
                      </a:r>
                    </a:p>
                  </a:txBody>
                  <a:tcPr/>
                </a:tc>
                <a:tc>
                  <a:txBody>
                    <a:bodyPr/>
                    <a:lstStyle/>
                    <a:p>
                      <a:r>
                        <a:rPr lang="en-US" dirty="0"/>
                        <a:t>Verifies the Layer 3 routing information</a:t>
                      </a:r>
                    </a:p>
                  </a:txBody>
                  <a:tcPr/>
                </a:tc>
                <a:extLst>
                  <a:ext uri="{0D108BD9-81ED-4DB2-BD59-A6C34878D82A}">
                    <a16:rowId xmlns:a16="http://schemas.microsoft.com/office/drawing/2014/main" val="2189178930"/>
                  </a:ext>
                </a:extLst>
              </a:tr>
              <a:tr h="370840">
                <a:tc>
                  <a:txBody>
                    <a:bodyPr/>
                    <a:lstStyle/>
                    <a:p>
                      <a:r>
                        <a:rPr lang="en-US"/>
                        <a:t>show </a:t>
                      </a:r>
                      <a:r>
                        <a:rPr lang="en-US" dirty="0"/>
                        <a:t>protocols</a:t>
                      </a:r>
                    </a:p>
                  </a:txBody>
                  <a:tcPr/>
                </a:tc>
                <a:tc>
                  <a:txBody>
                    <a:bodyPr/>
                    <a:lstStyle/>
                    <a:p>
                      <a:r>
                        <a:rPr lang="en-US" dirty="0"/>
                        <a:t>Verifies which protocols are operational</a:t>
                      </a:r>
                    </a:p>
                  </a:txBody>
                  <a:tcPr/>
                </a:tc>
                <a:extLst>
                  <a:ext uri="{0D108BD9-81ED-4DB2-BD59-A6C34878D82A}">
                    <a16:rowId xmlns:a16="http://schemas.microsoft.com/office/drawing/2014/main" val="1028142805"/>
                  </a:ext>
                </a:extLst>
              </a:tr>
              <a:tr h="370840">
                <a:tc>
                  <a:txBody>
                    <a:bodyPr/>
                    <a:lstStyle/>
                    <a:p>
                      <a:r>
                        <a:rPr lang="en-US" dirty="0"/>
                        <a:t>show version</a:t>
                      </a:r>
                    </a:p>
                  </a:txBody>
                  <a:tcPr/>
                </a:tc>
                <a:tc>
                  <a:txBody>
                    <a:bodyPr/>
                    <a:lstStyle/>
                    <a:p>
                      <a:r>
                        <a:rPr lang="en-US" dirty="0"/>
                        <a:t>Verifies the memory, interfaces, and licenses of the device</a:t>
                      </a:r>
                    </a:p>
                  </a:txBody>
                  <a:tcPr/>
                </a:tc>
                <a:extLst>
                  <a:ext uri="{0D108BD9-81ED-4DB2-BD59-A6C34878D82A}">
                    <a16:rowId xmlns:a16="http://schemas.microsoft.com/office/drawing/2014/main" val="3332621555"/>
                  </a:ext>
                </a:extLst>
              </a:tr>
            </a:tbl>
          </a:graphicData>
        </a:graphic>
      </p:graphicFrame>
    </p:spTree>
    <p:extLst>
      <p:ext uri="{BB962C8B-B14F-4D97-AF65-F5344CB8AC3E}">
        <p14:creationId xmlns:p14="http://schemas.microsoft.com/office/powerpoint/2010/main" val="34141508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Host and IOS Commands</a:t>
            </a:r>
            <a:br>
              <a:rPr lang="en-US" dirty="0"/>
            </a:br>
            <a:r>
              <a:rPr lang="en-US" sz="2400" dirty="0"/>
              <a:t>The show </a:t>
            </a:r>
            <a:r>
              <a:rPr lang="en-US" sz="2400" dirty="0" err="1"/>
              <a:t>cdp</a:t>
            </a:r>
            <a:r>
              <a:rPr lang="en-US" sz="2400" dirty="0"/>
              <a:t> neighbors Command</a:t>
            </a:r>
          </a:p>
        </p:txBody>
      </p:sp>
      <p:sp>
        <p:nvSpPr>
          <p:cNvPr id="4" name="Content Placeholder 3">
            <a:extLst>
              <a:ext uri="{FF2B5EF4-FFF2-40B4-BE49-F238E27FC236}">
                <a16:creationId xmlns:a16="http://schemas.microsoft.com/office/drawing/2014/main" id="{682697CA-53E5-4917-B256-83476300494D}"/>
              </a:ext>
            </a:extLst>
          </p:cNvPr>
          <p:cNvSpPr>
            <a:spLocks noGrp="1"/>
          </p:cNvSpPr>
          <p:nvPr>
            <p:ph idx="1"/>
          </p:nvPr>
        </p:nvSpPr>
        <p:spPr>
          <a:xfrm>
            <a:off x="152400" y="731837"/>
            <a:ext cx="8602319" cy="2782888"/>
          </a:xfrm>
        </p:spPr>
        <p:txBody>
          <a:bodyPr/>
          <a:lstStyle/>
          <a:p>
            <a:pPr marL="0" indent="0" algn="l"/>
            <a:r>
              <a:rPr lang="en-US" sz="1600" dirty="0">
                <a:solidFill>
                  <a:srgbClr val="000000"/>
                </a:solidFill>
              </a:rPr>
              <a:t>CDP provides the following information about each CDP neighbor device:</a:t>
            </a:r>
          </a:p>
          <a:p>
            <a:pPr marL="415985" lvl="1" indent="-342900">
              <a:buFont typeface="Arial" panose="020B0604020202020204" pitchFamily="34" charset="0"/>
              <a:buChar char="•"/>
            </a:pPr>
            <a:r>
              <a:rPr lang="en-US" sz="1600" b="1" dirty="0">
                <a:solidFill>
                  <a:srgbClr val="000000"/>
                </a:solidFill>
              </a:rPr>
              <a:t>Device identifiers</a:t>
            </a:r>
            <a:r>
              <a:rPr lang="en-US" sz="1600" dirty="0">
                <a:solidFill>
                  <a:srgbClr val="000000"/>
                </a:solidFill>
              </a:rPr>
              <a:t> - The configured host name of a switch, router, or other device</a:t>
            </a:r>
          </a:p>
          <a:p>
            <a:pPr marL="415985" lvl="1" indent="-342900">
              <a:buFont typeface="Arial" panose="020B0604020202020204" pitchFamily="34" charset="0"/>
              <a:buChar char="•"/>
            </a:pPr>
            <a:r>
              <a:rPr lang="en-US" sz="1600" b="1" dirty="0">
                <a:solidFill>
                  <a:srgbClr val="000000"/>
                </a:solidFill>
              </a:rPr>
              <a:t>Address list</a:t>
            </a:r>
            <a:r>
              <a:rPr lang="en-US" sz="1600" dirty="0">
                <a:solidFill>
                  <a:srgbClr val="000000"/>
                </a:solidFill>
              </a:rPr>
              <a:t> - Up to one network layer address for each protocol supported</a:t>
            </a:r>
          </a:p>
          <a:p>
            <a:pPr marL="415985" lvl="1" indent="-342900">
              <a:buFont typeface="Arial" panose="020B0604020202020204" pitchFamily="34" charset="0"/>
              <a:buChar char="•"/>
            </a:pPr>
            <a:r>
              <a:rPr lang="en-US" sz="1600" b="1" dirty="0">
                <a:solidFill>
                  <a:srgbClr val="000000"/>
                </a:solidFill>
              </a:rPr>
              <a:t>Port identifier</a:t>
            </a:r>
            <a:r>
              <a:rPr lang="en-US" sz="1600" dirty="0">
                <a:solidFill>
                  <a:srgbClr val="000000"/>
                </a:solidFill>
              </a:rPr>
              <a:t> - The name of the local and remote port in the form of an ASCII character string, such as </a:t>
            </a:r>
            <a:r>
              <a:rPr lang="en-US" sz="1600" dirty="0" err="1">
                <a:solidFill>
                  <a:srgbClr val="000000"/>
                </a:solidFill>
              </a:rPr>
              <a:t>FastEthernet</a:t>
            </a:r>
            <a:r>
              <a:rPr lang="en-US" sz="1600" dirty="0">
                <a:solidFill>
                  <a:srgbClr val="000000"/>
                </a:solidFill>
              </a:rPr>
              <a:t> 0/0</a:t>
            </a:r>
          </a:p>
          <a:p>
            <a:pPr marL="415985" lvl="1" indent="-342900">
              <a:buFont typeface="Arial" panose="020B0604020202020204" pitchFamily="34" charset="0"/>
              <a:buChar char="•"/>
            </a:pPr>
            <a:r>
              <a:rPr lang="en-US" sz="1600" b="1" dirty="0">
                <a:solidFill>
                  <a:srgbClr val="000000"/>
                </a:solidFill>
              </a:rPr>
              <a:t>Capabilities list</a:t>
            </a:r>
            <a:r>
              <a:rPr lang="en-US" sz="1600" dirty="0">
                <a:solidFill>
                  <a:srgbClr val="000000"/>
                </a:solidFill>
              </a:rPr>
              <a:t> - Whether a specific device is a Layer 2 switch or a Layer 3 switch</a:t>
            </a:r>
          </a:p>
          <a:p>
            <a:pPr marL="415985" lvl="1" indent="-342900">
              <a:buFont typeface="Arial" panose="020B0604020202020204" pitchFamily="34" charset="0"/>
              <a:buChar char="•"/>
            </a:pPr>
            <a:r>
              <a:rPr lang="en-US" sz="1600" b="1" dirty="0">
                <a:solidFill>
                  <a:srgbClr val="000000"/>
                </a:solidFill>
              </a:rPr>
              <a:t>Platform</a:t>
            </a:r>
            <a:r>
              <a:rPr lang="en-US" sz="1600" dirty="0">
                <a:solidFill>
                  <a:srgbClr val="000000"/>
                </a:solidFill>
              </a:rPr>
              <a:t> - The hardware platform of the device.</a:t>
            </a:r>
          </a:p>
          <a:p>
            <a:pPr marL="73085" lvl="1" indent="0">
              <a:buNone/>
            </a:pPr>
            <a:r>
              <a:rPr lang="en-US" sz="1600" dirty="0">
                <a:solidFill>
                  <a:srgbClr val="000000"/>
                </a:solidFill>
              </a:rPr>
              <a:t>The </a:t>
            </a:r>
            <a:r>
              <a:rPr lang="en-US" sz="1600" b="1" dirty="0">
                <a:solidFill>
                  <a:srgbClr val="000000"/>
                </a:solidFill>
              </a:rPr>
              <a:t>show </a:t>
            </a:r>
            <a:r>
              <a:rPr lang="en-US" sz="1600" b="1" dirty="0" err="1">
                <a:solidFill>
                  <a:srgbClr val="000000"/>
                </a:solidFill>
              </a:rPr>
              <a:t>cdp</a:t>
            </a:r>
            <a:r>
              <a:rPr lang="en-US" sz="1600" b="1" dirty="0">
                <a:solidFill>
                  <a:srgbClr val="000000"/>
                </a:solidFill>
              </a:rPr>
              <a:t> neighbors detail</a:t>
            </a:r>
            <a:r>
              <a:rPr lang="en-US" sz="1600" dirty="0">
                <a:solidFill>
                  <a:srgbClr val="000000"/>
                </a:solidFill>
              </a:rPr>
              <a:t> command reveals the IP address of a neighboring device.</a:t>
            </a:r>
          </a:p>
        </p:txBody>
      </p:sp>
      <p:pic>
        <p:nvPicPr>
          <p:cNvPr id="5" name="Picture 4">
            <a:extLst>
              <a:ext uri="{FF2B5EF4-FFF2-40B4-BE49-F238E27FC236}">
                <a16:creationId xmlns:a16="http://schemas.microsoft.com/office/drawing/2014/main" id="{A3AB24B0-9083-40E2-B530-7804CE5CE215}"/>
              </a:ext>
            </a:extLst>
          </p:cNvPr>
          <p:cNvPicPr>
            <a:picLocks noChangeAspect="1"/>
          </p:cNvPicPr>
          <p:nvPr/>
        </p:nvPicPr>
        <p:blipFill>
          <a:blip r:embed="rId3"/>
          <a:stretch>
            <a:fillRect/>
          </a:stretch>
        </p:blipFill>
        <p:spPr>
          <a:xfrm>
            <a:off x="1816394" y="3328959"/>
            <a:ext cx="4712700" cy="1471353"/>
          </a:xfrm>
          <a:prstGeom prst="rect">
            <a:avLst/>
          </a:prstGeom>
        </p:spPr>
      </p:pic>
    </p:spTree>
    <p:extLst>
      <p:ext uri="{BB962C8B-B14F-4D97-AF65-F5344CB8AC3E}">
        <p14:creationId xmlns:p14="http://schemas.microsoft.com/office/powerpoint/2010/main" val="37491670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Host and IOS Commands</a:t>
            </a:r>
            <a:br>
              <a:rPr lang="en-US" dirty="0"/>
            </a:br>
            <a:r>
              <a:rPr lang="en-US" sz="2400" dirty="0"/>
              <a:t>The show </a:t>
            </a:r>
            <a:r>
              <a:rPr lang="en-US" sz="2400" dirty="0" err="1"/>
              <a:t>ip</a:t>
            </a:r>
            <a:r>
              <a:rPr lang="en-US" sz="2400" dirty="0"/>
              <a:t> interface brief Command</a:t>
            </a:r>
          </a:p>
        </p:txBody>
      </p:sp>
      <p:sp>
        <p:nvSpPr>
          <p:cNvPr id="6" name="Content Placeholder 5">
            <a:extLst>
              <a:ext uri="{FF2B5EF4-FFF2-40B4-BE49-F238E27FC236}">
                <a16:creationId xmlns:a16="http://schemas.microsoft.com/office/drawing/2014/main" id="{07860DBB-DE49-4AE4-8013-02A3A77F3FF2}"/>
              </a:ext>
            </a:extLst>
          </p:cNvPr>
          <p:cNvSpPr>
            <a:spLocks noGrp="1"/>
          </p:cNvSpPr>
          <p:nvPr>
            <p:ph idx="1"/>
          </p:nvPr>
        </p:nvSpPr>
        <p:spPr>
          <a:xfrm>
            <a:off x="474662" y="731838"/>
            <a:ext cx="8280057" cy="1030962"/>
          </a:xfrm>
        </p:spPr>
        <p:txBody>
          <a:bodyPr/>
          <a:lstStyle/>
          <a:p>
            <a:pPr marL="0" indent="0" algn="l"/>
            <a:r>
              <a:rPr lang="en-US" sz="1600" dirty="0">
                <a:solidFill>
                  <a:srgbClr val="000000"/>
                </a:solidFill>
              </a:rPr>
              <a:t>One of the most frequently used commands is the </a:t>
            </a:r>
            <a:r>
              <a:rPr lang="en-US" sz="1600" b="1" dirty="0">
                <a:solidFill>
                  <a:srgbClr val="000000"/>
                </a:solidFill>
              </a:rPr>
              <a:t>show </a:t>
            </a:r>
            <a:r>
              <a:rPr lang="en-US" sz="1600" b="1" dirty="0" err="1">
                <a:solidFill>
                  <a:srgbClr val="000000"/>
                </a:solidFill>
              </a:rPr>
              <a:t>ip</a:t>
            </a:r>
            <a:r>
              <a:rPr lang="en-US" sz="1600" b="1" dirty="0">
                <a:solidFill>
                  <a:srgbClr val="000000"/>
                </a:solidFill>
              </a:rPr>
              <a:t> interface brief</a:t>
            </a:r>
            <a:r>
              <a:rPr lang="en-US" sz="1600" dirty="0">
                <a:solidFill>
                  <a:srgbClr val="000000"/>
                </a:solidFill>
              </a:rPr>
              <a:t> command. This command provides a more abbreviated output than the </a:t>
            </a:r>
            <a:r>
              <a:rPr lang="en-US" sz="1600" b="1" dirty="0">
                <a:solidFill>
                  <a:srgbClr val="000000"/>
                </a:solidFill>
              </a:rPr>
              <a:t>show </a:t>
            </a:r>
            <a:r>
              <a:rPr lang="en-US" sz="1600" b="1" dirty="0" err="1">
                <a:solidFill>
                  <a:srgbClr val="000000"/>
                </a:solidFill>
              </a:rPr>
              <a:t>ip</a:t>
            </a:r>
            <a:r>
              <a:rPr lang="en-US" sz="1600" b="1" dirty="0">
                <a:solidFill>
                  <a:srgbClr val="000000"/>
                </a:solidFill>
              </a:rPr>
              <a:t> interface</a:t>
            </a:r>
            <a:r>
              <a:rPr lang="en-US" sz="1600" dirty="0">
                <a:solidFill>
                  <a:srgbClr val="000000"/>
                </a:solidFill>
              </a:rPr>
              <a:t> command. It provides a summary of the key information for all the network interfaces on a router.</a:t>
            </a:r>
          </a:p>
        </p:txBody>
      </p:sp>
      <p:pic>
        <p:nvPicPr>
          <p:cNvPr id="7" name="Picture 6">
            <a:extLst>
              <a:ext uri="{FF2B5EF4-FFF2-40B4-BE49-F238E27FC236}">
                <a16:creationId xmlns:a16="http://schemas.microsoft.com/office/drawing/2014/main" id="{F0647FC5-ABF0-438E-A9BB-833147EAD8E9}"/>
              </a:ext>
            </a:extLst>
          </p:cNvPr>
          <p:cNvPicPr>
            <a:picLocks noChangeAspect="1"/>
          </p:cNvPicPr>
          <p:nvPr/>
        </p:nvPicPr>
        <p:blipFill>
          <a:blip r:embed="rId3"/>
          <a:stretch>
            <a:fillRect/>
          </a:stretch>
        </p:blipFill>
        <p:spPr>
          <a:xfrm>
            <a:off x="474662" y="1762799"/>
            <a:ext cx="5019387" cy="1495296"/>
          </a:xfrm>
          <a:prstGeom prst="rect">
            <a:avLst/>
          </a:prstGeom>
        </p:spPr>
      </p:pic>
      <p:pic>
        <p:nvPicPr>
          <p:cNvPr id="8" name="Picture 7">
            <a:extLst>
              <a:ext uri="{FF2B5EF4-FFF2-40B4-BE49-F238E27FC236}">
                <a16:creationId xmlns:a16="http://schemas.microsoft.com/office/drawing/2014/main" id="{CAD498DC-FF3F-4E29-A019-771BE1DEF03D}"/>
              </a:ext>
            </a:extLst>
          </p:cNvPr>
          <p:cNvPicPr>
            <a:picLocks noChangeAspect="1"/>
          </p:cNvPicPr>
          <p:nvPr/>
        </p:nvPicPr>
        <p:blipFill>
          <a:blip r:embed="rId4"/>
          <a:stretch>
            <a:fillRect/>
          </a:stretch>
        </p:blipFill>
        <p:spPr>
          <a:xfrm>
            <a:off x="3367520" y="3258095"/>
            <a:ext cx="5202382" cy="1260943"/>
          </a:xfrm>
          <a:prstGeom prst="rect">
            <a:avLst/>
          </a:prstGeom>
        </p:spPr>
      </p:pic>
    </p:spTree>
    <p:extLst>
      <p:ext uri="{BB962C8B-B14F-4D97-AF65-F5344CB8AC3E}">
        <p14:creationId xmlns:p14="http://schemas.microsoft.com/office/powerpoint/2010/main" val="26480049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17.6 Troubleshooting Methodologies</a:t>
            </a:r>
          </a:p>
        </p:txBody>
      </p:sp>
    </p:spTree>
    <p:custDataLst>
      <p:tags r:id="rId1"/>
    </p:custDataLst>
    <p:extLst>
      <p:ext uri="{BB962C8B-B14F-4D97-AF65-F5344CB8AC3E}">
        <p14:creationId xmlns:p14="http://schemas.microsoft.com/office/powerpoint/2010/main" val="2608388123"/>
      </p:ext>
    </p:extLst>
  </p:cSld>
  <p:clrMapOvr>
    <a:masterClrMapping/>
  </p:clrMapOvr>
  <p:transition spd="slow">
    <p:wip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Troubleshooting Methodologies</a:t>
            </a:r>
            <a:br>
              <a:rPr lang="en-US" dirty="0"/>
            </a:br>
            <a:r>
              <a:rPr lang="en-US" sz="2400" dirty="0"/>
              <a:t>Basic Troubleshooting Approaches</a:t>
            </a:r>
          </a:p>
        </p:txBody>
      </p:sp>
      <p:graphicFrame>
        <p:nvGraphicFramePr>
          <p:cNvPr id="6" name="Table 6">
            <a:extLst>
              <a:ext uri="{FF2B5EF4-FFF2-40B4-BE49-F238E27FC236}">
                <a16:creationId xmlns:a16="http://schemas.microsoft.com/office/drawing/2014/main" id="{FCB8A362-58F7-4A60-8CA1-C114AA46E938}"/>
              </a:ext>
            </a:extLst>
          </p:cNvPr>
          <p:cNvGraphicFramePr>
            <a:graphicFrameLocks noGrp="1"/>
          </p:cNvGraphicFramePr>
          <p:nvPr>
            <p:extLst>
              <p:ext uri="{D42A27DB-BD31-4B8C-83A1-F6EECF244321}">
                <p14:modId xmlns:p14="http://schemas.microsoft.com/office/powerpoint/2010/main" val="3134048965"/>
              </p:ext>
            </p:extLst>
          </p:nvPr>
        </p:nvGraphicFramePr>
        <p:xfrm>
          <a:off x="332510" y="637310"/>
          <a:ext cx="8506690" cy="4099728"/>
        </p:xfrm>
        <a:graphic>
          <a:graphicData uri="http://schemas.openxmlformats.org/drawingml/2006/table">
            <a:tbl>
              <a:tblPr firstRow="1" bandRow="1">
                <a:tableStyleId>{5C22544A-7EE6-4342-B048-85BDC9FD1C3A}</a:tableStyleId>
              </a:tblPr>
              <a:tblGrid>
                <a:gridCol w="3038763">
                  <a:extLst>
                    <a:ext uri="{9D8B030D-6E8A-4147-A177-3AD203B41FA5}">
                      <a16:colId xmlns:a16="http://schemas.microsoft.com/office/drawing/2014/main" val="2245074904"/>
                    </a:ext>
                  </a:extLst>
                </a:gridCol>
                <a:gridCol w="5467927">
                  <a:extLst>
                    <a:ext uri="{9D8B030D-6E8A-4147-A177-3AD203B41FA5}">
                      <a16:colId xmlns:a16="http://schemas.microsoft.com/office/drawing/2014/main" val="1707349653"/>
                    </a:ext>
                  </a:extLst>
                </a:gridCol>
              </a:tblGrid>
              <a:tr h="338947">
                <a:tc>
                  <a:txBody>
                    <a:bodyPr/>
                    <a:lstStyle/>
                    <a:p>
                      <a:pPr algn="l" fontAlgn="ctr"/>
                      <a:r>
                        <a:rPr lang="en-US" sz="1200" dirty="0">
                          <a:effectLst/>
                        </a:rPr>
                        <a:t>Step</a:t>
                      </a:r>
                    </a:p>
                  </a:txBody>
                  <a:tcPr marL="47625" marR="47625" marT="47625" marB="47625" anchor="ctr"/>
                </a:tc>
                <a:tc>
                  <a:txBody>
                    <a:bodyPr/>
                    <a:lstStyle/>
                    <a:p>
                      <a:pPr algn="l" fontAlgn="ctr"/>
                      <a:r>
                        <a:rPr lang="en-US" sz="1200" b="1" dirty="0">
                          <a:effectLst/>
                        </a:rPr>
                        <a:t>Description</a:t>
                      </a:r>
                      <a:endParaRPr lang="en-US" sz="1200" dirty="0">
                        <a:effectLst/>
                      </a:endParaRPr>
                    </a:p>
                  </a:txBody>
                  <a:tcPr marL="47625" marR="47625" marT="47625" marB="47625" anchor="ctr"/>
                </a:tc>
                <a:extLst>
                  <a:ext uri="{0D108BD9-81ED-4DB2-BD59-A6C34878D82A}">
                    <a16:rowId xmlns:a16="http://schemas.microsoft.com/office/drawing/2014/main" val="972381799"/>
                  </a:ext>
                </a:extLst>
              </a:tr>
              <a:tr h="588515">
                <a:tc>
                  <a:txBody>
                    <a:bodyPr/>
                    <a:lstStyle/>
                    <a:p>
                      <a:pPr fontAlgn="ctr"/>
                      <a:r>
                        <a:rPr lang="en-US" sz="1200" b="1" dirty="0">
                          <a:effectLst/>
                        </a:rPr>
                        <a:t>Step 1. Identify the Problem</a:t>
                      </a:r>
                      <a:endParaRPr lang="en-US" sz="1200" b="0" dirty="0">
                        <a:effectLst/>
                      </a:endParaRPr>
                    </a:p>
                  </a:txBody>
                  <a:tcPr marL="47625" marR="47625" marT="47625" marB="47625" anchor="ctr"/>
                </a:tc>
                <a:tc>
                  <a:txBody>
                    <a:bodyPr/>
                    <a:lstStyle/>
                    <a:p>
                      <a:pPr fontAlgn="ctr">
                        <a:buFont typeface="Arial" panose="020B0604020202020204" pitchFamily="34" charset="0"/>
                        <a:buChar char="•"/>
                      </a:pPr>
                      <a:r>
                        <a:rPr lang="en-US" sz="1200" b="0" dirty="0">
                          <a:effectLst/>
                        </a:rPr>
                        <a:t>This is the first step in the troubleshooting process.</a:t>
                      </a:r>
                    </a:p>
                    <a:p>
                      <a:pPr fontAlgn="ctr">
                        <a:buFont typeface="Arial" panose="020B0604020202020204" pitchFamily="34" charset="0"/>
                        <a:buChar char="•"/>
                      </a:pPr>
                      <a:r>
                        <a:rPr lang="en-US" sz="1200" b="0" dirty="0">
                          <a:effectLst/>
                        </a:rPr>
                        <a:t>Although tools can be used in this step, a conversation with the user is often very helpful.</a:t>
                      </a:r>
                    </a:p>
                  </a:txBody>
                  <a:tcPr marL="47625" marR="47625" marT="47625" marB="47625" anchor="ctr"/>
                </a:tc>
                <a:extLst>
                  <a:ext uri="{0D108BD9-81ED-4DB2-BD59-A6C34878D82A}">
                    <a16:rowId xmlns:a16="http://schemas.microsoft.com/office/drawing/2014/main" val="1578081030"/>
                  </a:ext>
                </a:extLst>
              </a:tr>
              <a:tr h="421363">
                <a:tc>
                  <a:txBody>
                    <a:bodyPr/>
                    <a:lstStyle/>
                    <a:p>
                      <a:pPr fontAlgn="ctr"/>
                      <a:r>
                        <a:rPr lang="en-US" sz="1200" b="1">
                          <a:effectLst/>
                        </a:rPr>
                        <a:t>Step 2. Establish a Theory of Probable Causes</a:t>
                      </a:r>
                      <a:endParaRPr lang="en-US" sz="1200" b="0">
                        <a:effectLst/>
                      </a:endParaRPr>
                    </a:p>
                  </a:txBody>
                  <a:tcPr marL="47625" marR="47625" marT="47625" marB="47625" anchor="ctr"/>
                </a:tc>
                <a:tc>
                  <a:txBody>
                    <a:bodyPr/>
                    <a:lstStyle/>
                    <a:p>
                      <a:pPr fontAlgn="ctr">
                        <a:buFont typeface="Arial" panose="020B0604020202020204" pitchFamily="34" charset="0"/>
                        <a:buChar char="•"/>
                      </a:pPr>
                      <a:r>
                        <a:rPr lang="en-US" sz="1200" b="0" dirty="0">
                          <a:effectLst/>
                        </a:rPr>
                        <a:t>After the problem is identified, try to establish a theory of probable causes.</a:t>
                      </a:r>
                    </a:p>
                    <a:p>
                      <a:pPr fontAlgn="ctr">
                        <a:buFont typeface="Arial" panose="020B0604020202020204" pitchFamily="34" charset="0"/>
                        <a:buChar char="•"/>
                      </a:pPr>
                      <a:r>
                        <a:rPr lang="en-US" sz="1200" b="0" dirty="0">
                          <a:effectLst/>
                        </a:rPr>
                        <a:t>This step often yields more than a few probable causes to the problem.</a:t>
                      </a:r>
                    </a:p>
                  </a:txBody>
                  <a:tcPr marL="47625" marR="47625" marT="47625" marB="47625" anchor="ctr"/>
                </a:tc>
                <a:extLst>
                  <a:ext uri="{0D108BD9-81ED-4DB2-BD59-A6C34878D82A}">
                    <a16:rowId xmlns:a16="http://schemas.microsoft.com/office/drawing/2014/main" val="3071355853"/>
                  </a:ext>
                </a:extLst>
              </a:tr>
              <a:tr h="1089971">
                <a:tc>
                  <a:txBody>
                    <a:bodyPr/>
                    <a:lstStyle/>
                    <a:p>
                      <a:pPr fontAlgn="ctr"/>
                      <a:r>
                        <a:rPr lang="en-US" sz="1200" b="1">
                          <a:effectLst/>
                        </a:rPr>
                        <a:t>Step 3. Test the Theory to Determine Cause</a:t>
                      </a:r>
                      <a:endParaRPr lang="en-US" sz="1200" b="0">
                        <a:effectLst/>
                      </a:endParaRPr>
                    </a:p>
                  </a:txBody>
                  <a:tcPr marL="47625" marR="47625" marT="47625" marB="47625" anchor="ctr"/>
                </a:tc>
                <a:tc>
                  <a:txBody>
                    <a:bodyPr/>
                    <a:lstStyle/>
                    <a:p>
                      <a:pPr fontAlgn="ctr">
                        <a:buFont typeface="Arial" panose="020B0604020202020204" pitchFamily="34" charset="0"/>
                        <a:buChar char="•"/>
                      </a:pPr>
                      <a:r>
                        <a:rPr lang="en-US" sz="1200" b="0" dirty="0">
                          <a:effectLst/>
                        </a:rPr>
                        <a:t>Based on the probable causes, test your theories to determine which one is the cause of the problem.</a:t>
                      </a:r>
                    </a:p>
                    <a:p>
                      <a:pPr fontAlgn="ctr">
                        <a:buFont typeface="Arial" panose="020B0604020202020204" pitchFamily="34" charset="0"/>
                        <a:buChar char="•"/>
                      </a:pPr>
                      <a:r>
                        <a:rPr lang="en-US" sz="1200" b="0" dirty="0">
                          <a:effectLst/>
                        </a:rPr>
                        <a:t>A technician may apply a quick fix to test and see if it solves the problem.</a:t>
                      </a:r>
                    </a:p>
                    <a:p>
                      <a:pPr fontAlgn="ctr">
                        <a:buFont typeface="Arial" panose="020B0604020202020204" pitchFamily="34" charset="0"/>
                        <a:buChar char="•"/>
                      </a:pPr>
                      <a:r>
                        <a:rPr lang="en-US" sz="1200" b="0" dirty="0">
                          <a:effectLst/>
                        </a:rPr>
                        <a:t>If a quick fix does not correct the problem, you might need to research the problem further to establish the exact cause.</a:t>
                      </a:r>
                    </a:p>
                  </a:txBody>
                  <a:tcPr marL="47625" marR="47625" marT="47625" marB="47625" anchor="ctr"/>
                </a:tc>
                <a:extLst>
                  <a:ext uri="{0D108BD9-81ED-4DB2-BD59-A6C34878D82A}">
                    <a16:rowId xmlns:a16="http://schemas.microsoft.com/office/drawing/2014/main" val="2284438502"/>
                  </a:ext>
                </a:extLst>
              </a:tr>
              <a:tr h="421363">
                <a:tc>
                  <a:txBody>
                    <a:bodyPr/>
                    <a:lstStyle/>
                    <a:p>
                      <a:pPr fontAlgn="ctr"/>
                      <a:r>
                        <a:rPr lang="en-US" sz="1200" b="1">
                          <a:effectLst/>
                        </a:rPr>
                        <a:t>Step 4. Establish a Plan of Action and Implement the Solution</a:t>
                      </a:r>
                      <a:endParaRPr lang="en-US" sz="1200" b="0">
                        <a:effectLst/>
                      </a:endParaRPr>
                    </a:p>
                  </a:txBody>
                  <a:tcPr marL="47625" marR="47625" marT="47625" marB="47625" anchor="ctr"/>
                </a:tc>
                <a:tc>
                  <a:txBody>
                    <a:bodyPr/>
                    <a:lstStyle/>
                    <a:p>
                      <a:pPr fontAlgn="ctr"/>
                      <a:r>
                        <a:rPr lang="en-US" sz="1200" b="0" dirty="0">
                          <a:effectLst/>
                        </a:rPr>
                        <a:t>After you have determined the exact cause of the problem, establish a plan of action to resolve the problem and implement the solution.</a:t>
                      </a:r>
                    </a:p>
                  </a:txBody>
                  <a:tcPr marL="47625" marR="47625" marT="47625" marB="47625" anchor="ctr"/>
                </a:tc>
                <a:extLst>
                  <a:ext uri="{0D108BD9-81ED-4DB2-BD59-A6C34878D82A}">
                    <a16:rowId xmlns:a16="http://schemas.microsoft.com/office/drawing/2014/main" val="2107132597"/>
                  </a:ext>
                </a:extLst>
              </a:tr>
              <a:tr h="421363">
                <a:tc>
                  <a:txBody>
                    <a:bodyPr/>
                    <a:lstStyle/>
                    <a:p>
                      <a:pPr fontAlgn="ctr"/>
                      <a:r>
                        <a:rPr lang="en-US" sz="1200" b="1">
                          <a:effectLst/>
                        </a:rPr>
                        <a:t>Step 5. Verify Solution and Implement Preventive Measures</a:t>
                      </a:r>
                      <a:endParaRPr lang="en-US" sz="1200" b="0">
                        <a:effectLst/>
                      </a:endParaRPr>
                    </a:p>
                  </a:txBody>
                  <a:tcPr marL="47625" marR="47625" marT="47625" marB="47625" anchor="ctr"/>
                </a:tc>
                <a:tc>
                  <a:txBody>
                    <a:bodyPr/>
                    <a:lstStyle/>
                    <a:p>
                      <a:pPr fontAlgn="ctr">
                        <a:buFont typeface="Arial" panose="020B0604020202020204" pitchFamily="34" charset="0"/>
                        <a:buChar char="•"/>
                      </a:pPr>
                      <a:r>
                        <a:rPr lang="en-US" sz="1200" b="0" dirty="0">
                          <a:effectLst/>
                        </a:rPr>
                        <a:t>After you have corrected the problem, verify full functionality.</a:t>
                      </a:r>
                    </a:p>
                    <a:p>
                      <a:pPr fontAlgn="ctr">
                        <a:buFont typeface="Arial" panose="020B0604020202020204" pitchFamily="34" charset="0"/>
                        <a:buChar char="•"/>
                      </a:pPr>
                      <a:r>
                        <a:rPr lang="en-US" sz="1200" b="0" dirty="0">
                          <a:effectLst/>
                        </a:rPr>
                        <a:t>If applicable, implement preventive measures.</a:t>
                      </a:r>
                    </a:p>
                  </a:txBody>
                  <a:tcPr marL="47625" marR="47625" marT="47625" marB="47625" anchor="ctr"/>
                </a:tc>
                <a:extLst>
                  <a:ext uri="{0D108BD9-81ED-4DB2-BD59-A6C34878D82A}">
                    <a16:rowId xmlns:a16="http://schemas.microsoft.com/office/drawing/2014/main" val="3499597970"/>
                  </a:ext>
                </a:extLst>
              </a:tr>
              <a:tr h="588515">
                <a:tc>
                  <a:txBody>
                    <a:bodyPr/>
                    <a:lstStyle/>
                    <a:p>
                      <a:pPr fontAlgn="ctr"/>
                      <a:r>
                        <a:rPr lang="en-US" sz="1200" b="1" dirty="0">
                          <a:effectLst/>
                        </a:rPr>
                        <a:t>Step 6. Document Findings, Actions, and Outcomes</a:t>
                      </a:r>
                      <a:endParaRPr lang="en-US" sz="1200" b="0" dirty="0">
                        <a:effectLst/>
                      </a:endParaRPr>
                    </a:p>
                  </a:txBody>
                  <a:tcPr marL="47625" marR="47625" marT="47625" marB="47625" anchor="ctr"/>
                </a:tc>
                <a:tc>
                  <a:txBody>
                    <a:bodyPr/>
                    <a:lstStyle/>
                    <a:p>
                      <a:pPr fontAlgn="ctr">
                        <a:buFont typeface="Arial" panose="020B0604020202020204" pitchFamily="34" charset="0"/>
                        <a:buChar char="•"/>
                      </a:pPr>
                      <a:r>
                        <a:rPr lang="en-US" sz="1200" b="0" dirty="0">
                          <a:effectLst/>
                        </a:rPr>
                        <a:t>In the final step of the troubleshooting process, document your findings, actions, and outcomes.</a:t>
                      </a:r>
                    </a:p>
                    <a:p>
                      <a:pPr fontAlgn="ctr">
                        <a:buFont typeface="Arial" panose="020B0604020202020204" pitchFamily="34" charset="0"/>
                        <a:buChar char="•"/>
                      </a:pPr>
                      <a:r>
                        <a:rPr lang="en-US" sz="1200" b="0" dirty="0">
                          <a:effectLst/>
                        </a:rPr>
                        <a:t>This is very important for future reference.</a:t>
                      </a:r>
                    </a:p>
                  </a:txBody>
                  <a:tcPr marL="47625" marR="47625" marT="47625" marB="47625" anchor="ctr"/>
                </a:tc>
                <a:extLst>
                  <a:ext uri="{0D108BD9-81ED-4DB2-BD59-A6C34878D82A}">
                    <a16:rowId xmlns:a16="http://schemas.microsoft.com/office/drawing/2014/main" val="2247812322"/>
                  </a:ext>
                </a:extLst>
              </a:tr>
            </a:tbl>
          </a:graphicData>
        </a:graphic>
      </p:graphicFrame>
    </p:spTree>
    <p:extLst>
      <p:ext uri="{BB962C8B-B14F-4D97-AF65-F5344CB8AC3E}">
        <p14:creationId xmlns:p14="http://schemas.microsoft.com/office/powerpoint/2010/main" val="18652560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Troubleshooting Methodologies</a:t>
            </a:r>
            <a:br>
              <a:rPr lang="en-US" dirty="0"/>
            </a:br>
            <a:r>
              <a:rPr lang="en-US" sz="2400" dirty="0"/>
              <a:t>Resolve or Escalate?</a:t>
            </a:r>
          </a:p>
        </p:txBody>
      </p:sp>
      <p:sp>
        <p:nvSpPr>
          <p:cNvPr id="5" name="Content Placeholder 4">
            <a:extLst>
              <a:ext uri="{FF2B5EF4-FFF2-40B4-BE49-F238E27FC236}">
                <a16:creationId xmlns:a16="http://schemas.microsoft.com/office/drawing/2014/main" id="{30C19F0F-DCFC-46F1-B6A1-E7B4560DF0CF}"/>
              </a:ext>
            </a:extLst>
          </p:cNvPr>
          <p:cNvSpPr>
            <a:spLocks noGrp="1"/>
          </p:cNvSpPr>
          <p:nvPr>
            <p:ph idx="1"/>
          </p:nvPr>
        </p:nvSpPr>
        <p:spPr>
          <a:xfrm>
            <a:off x="474662" y="731837"/>
            <a:ext cx="8280057" cy="3689897"/>
          </a:xfrm>
        </p:spPr>
        <p:txBody>
          <a:bodyPr/>
          <a:lstStyle/>
          <a:p>
            <a:pPr marL="342900" indent="-342900" algn="l">
              <a:buFont typeface="Arial" panose="020B0604020202020204" pitchFamily="34" charset="0"/>
              <a:buChar char="•"/>
            </a:pPr>
            <a:r>
              <a:rPr lang="en-US" sz="1600" dirty="0">
                <a:solidFill>
                  <a:srgbClr val="000000"/>
                </a:solidFill>
              </a:rPr>
              <a:t>In some situations, it may not be possible to resolve the problem immediately. A problem should be escalated when it requires a manager decision, some specific expertise, or network access level unavailable to the troubleshooting technician.</a:t>
            </a:r>
          </a:p>
          <a:p>
            <a:pPr marL="342900" indent="-342900" algn="l">
              <a:buFont typeface="Arial" panose="020B0604020202020204" pitchFamily="34" charset="0"/>
              <a:buChar char="•"/>
            </a:pPr>
            <a:r>
              <a:rPr lang="en-US" sz="1600" dirty="0">
                <a:solidFill>
                  <a:srgbClr val="000000"/>
                </a:solidFill>
              </a:rPr>
              <a:t>A company policy should clearly state when and how a technician should escalate a problem.</a:t>
            </a:r>
          </a:p>
          <a:p>
            <a:pPr marL="342900" indent="-342900" algn="l">
              <a:buFont typeface="Arial" panose="020B0604020202020204" pitchFamily="34" charset="0"/>
              <a:buChar char="•"/>
            </a:pPr>
            <a:endParaRPr lang="en-US" sz="1400" dirty="0">
              <a:solidFill>
                <a:srgbClr val="000000"/>
              </a:solidFill>
            </a:endParaRPr>
          </a:p>
        </p:txBody>
      </p:sp>
    </p:spTree>
    <p:extLst>
      <p:ext uri="{BB962C8B-B14F-4D97-AF65-F5344CB8AC3E}">
        <p14:creationId xmlns:p14="http://schemas.microsoft.com/office/powerpoint/2010/main" val="3926971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Troubleshooting Methodologies</a:t>
            </a:r>
            <a:br>
              <a:rPr lang="en-US" dirty="0"/>
            </a:br>
            <a:r>
              <a:rPr lang="en-US" sz="2400" dirty="0"/>
              <a:t>The debug Command</a:t>
            </a:r>
          </a:p>
        </p:txBody>
      </p:sp>
      <p:sp>
        <p:nvSpPr>
          <p:cNvPr id="4" name="Content Placeholder 3">
            <a:extLst>
              <a:ext uri="{FF2B5EF4-FFF2-40B4-BE49-F238E27FC236}">
                <a16:creationId xmlns:a16="http://schemas.microsoft.com/office/drawing/2014/main" id="{055810E9-59A6-4F1D-9857-313BB3E519C4}"/>
              </a:ext>
            </a:extLst>
          </p:cNvPr>
          <p:cNvSpPr>
            <a:spLocks noGrp="1"/>
          </p:cNvSpPr>
          <p:nvPr>
            <p:ph idx="1"/>
          </p:nvPr>
        </p:nvSpPr>
        <p:spPr>
          <a:xfrm>
            <a:off x="474662" y="731837"/>
            <a:ext cx="8280057" cy="3689897"/>
          </a:xfrm>
        </p:spPr>
        <p:txBody>
          <a:bodyPr/>
          <a:lstStyle/>
          <a:p>
            <a:pPr marL="342900" indent="-342900" algn="l">
              <a:buFont typeface="Arial" panose="020B0604020202020204" pitchFamily="34" charset="0"/>
              <a:buChar char="•"/>
            </a:pPr>
            <a:r>
              <a:rPr lang="en-US" sz="1400" dirty="0">
                <a:solidFill>
                  <a:srgbClr val="000000"/>
                </a:solidFill>
              </a:rPr>
              <a:t>The IOS </a:t>
            </a:r>
            <a:r>
              <a:rPr lang="en-US" sz="1400" b="1" dirty="0">
                <a:solidFill>
                  <a:srgbClr val="000000"/>
                </a:solidFill>
              </a:rPr>
              <a:t>debug</a:t>
            </a:r>
            <a:r>
              <a:rPr lang="en-US" sz="1400" dirty="0">
                <a:solidFill>
                  <a:srgbClr val="000000"/>
                </a:solidFill>
              </a:rPr>
              <a:t> command allows the administrator to display OS process, protocol, mechanism and event messages in real-time for analysis. </a:t>
            </a:r>
          </a:p>
          <a:p>
            <a:pPr marL="342900" indent="-342900" algn="l">
              <a:buFont typeface="Arial" panose="020B0604020202020204" pitchFamily="34" charset="0"/>
              <a:buChar char="•"/>
            </a:pPr>
            <a:r>
              <a:rPr lang="en-US" sz="1400" dirty="0">
                <a:solidFill>
                  <a:srgbClr val="000000"/>
                </a:solidFill>
              </a:rPr>
              <a:t>All </a:t>
            </a:r>
            <a:r>
              <a:rPr lang="en-US" sz="1400" b="1" dirty="0">
                <a:solidFill>
                  <a:srgbClr val="000000"/>
                </a:solidFill>
              </a:rPr>
              <a:t>debug</a:t>
            </a:r>
            <a:r>
              <a:rPr lang="en-US" sz="1400" dirty="0">
                <a:solidFill>
                  <a:srgbClr val="000000"/>
                </a:solidFill>
              </a:rPr>
              <a:t> commands are entered in privileged EXEC mode. The Cisco IOS allows for narrowing the output of </a:t>
            </a:r>
            <a:r>
              <a:rPr lang="en-US" sz="1400" b="1" dirty="0">
                <a:solidFill>
                  <a:srgbClr val="000000"/>
                </a:solidFill>
              </a:rPr>
              <a:t>debug</a:t>
            </a:r>
            <a:r>
              <a:rPr lang="en-US" sz="1400" dirty="0">
                <a:solidFill>
                  <a:srgbClr val="000000"/>
                </a:solidFill>
              </a:rPr>
              <a:t> to include only the relevant feature or </a:t>
            </a:r>
            <a:r>
              <a:rPr lang="en-US" sz="1400" dirty="0" err="1">
                <a:solidFill>
                  <a:srgbClr val="000000"/>
                </a:solidFill>
              </a:rPr>
              <a:t>subfeature</a:t>
            </a:r>
            <a:r>
              <a:rPr lang="en-US" sz="1400" dirty="0">
                <a:solidFill>
                  <a:srgbClr val="000000"/>
                </a:solidFill>
              </a:rPr>
              <a:t>. Use </a:t>
            </a:r>
            <a:r>
              <a:rPr lang="en-US" sz="1400" b="1" dirty="0">
                <a:solidFill>
                  <a:srgbClr val="000000"/>
                </a:solidFill>
              </a:rPr>
              <a:t>debug</a:t>
            </a:r>
            <a:r>
              <a:rPr lang="en-US" sz="1400" dirty="0">
                <a:solidFill>
                  <a:srgbClr val="000000"/>
                </a:solidFill>
              </a:rPr>
              <a:t> commands only to troubleshoot specific problems.</a:t>
            </a:r>
          </a:p>
          <a:p>
            <a:pPr marL="415985" lvl="1" indent="-342900">
              <a:buFont typeface="Arial" panose="020B0604020202020204" pitchFamily="34" charset="0"/>
              <a:buChar char="•"/>
            </a:pPr>
            <a:r>
              <a:rPr lang="en-US" dirty="0">
                <a:solidFill>
                  <a:srgbClr val="000000"/>
                </a:solidFill>
              </a:rPr>
              <a:t>To list a brief description of all the debugging command options, use the </a:t>
            </a:r>
            <a:r>
              <a:rPr lang="en-US" b="1" dirty="0">
                <a:solidFill>
                  <a:srgbClr val="000000"/>
                </a:solidFill>
              </a:rPr>
              <a:t>debug ?</a:t>
            </a:r>
            <a:r>
              <a:rPr lang="en-US" dirty="0">
                <a:solidFill>
                  <a:srgbClr val="000000"/>
                </a:solidFill>
              </a:rPr>
              <a:t> command in privileged EXEC mode at the command line.</a:t>
            </a:r>
          </a:p>
          <a:p>
            <a:pPr marL="415985" lvl="1" indent="-342900">
              <a:buFont typeface="Arial" panose="020B0604020202020204" pitchFamily="34" charset="0"/>
              <a:buChar char="•"/>
            </a:pPr>
            <a:r>
              <a:rPr lang="en-US" dirty="0">
                <a:solidFill>
                  <a:srgbClr val="000000"/>
                </a:solidFill>
              </a:rPr>
              <a:t>To turn off a specific debugging feature, add the </a:t>
            </a:r>
            <a:r>
              <a:rPr lang="en-US" b="1" dirty="0">
                <a:solidFill>
                  <a:srgbClr val="000000"/>
                </a:solidFill>
              </a:rPr>
              <a:t>no</a:t>
            </a:r>
            <a:r>
              <a:rPr lang="en-US" dirty="0">
                <a:solidFill>
                  <a:srgbClr val="000000"/>
                </a:solidFill>
              </a:rPr>
              <a:t> keyword in front of the </a:t>
            </a:r>
            <a:r>
              <a:rPr lang="en-US" b="1" dirty="0">
                <a:solidFill>
                  <a:srgbClr val="000000"/>
                </a:solidFill>
              </a:rPr>
              <a:t>debug</a:t>
            </a:r>
            <a:r>
              <a:rPr lang="en-US" dirty="0">
                <a:solidFill>
                  <a:srgbClr val="000000"/>
                </a:solidFill>
              </a:rPr>
              <a:t> command</a:t>
            </a:r>
          </a:p>
          <a:p>
            <a:pPr marL="415985" lvl="1" indent="-342900">
              <a:buFont typeface="Arial" panose="020B0604020202020204" pitchFamily="34" charset="0"/>
              <a:buChar char="•"/>
            </a:pPr>
            <a:r>
              <a:rPr lang="en-US" dirty="0">
                <a:solidFill>
                  <a:srgbClr val="000000"/>
                </a:solidFill>
              </a:rPr>
              <a:t>Alternatively, you can enter the </a:t>
            </a:r>
            <a:r>
              <a:rPr lang="en-US" b="1" dirty="0" err="1">
                <a:solidFill>
                  <a:srgbClr val="000000"/>
                </a:solidFill>
              </a:rPr>
              <a:t>undebug</a:t>
            </a:r>
            <a:r>
              <a:rPr lang="en-US" dirty="0">
                <a:solidFill>
                  <a:srgbClr val="000000"/>
                </a:solidFill>
              </a:rPr>
              <a:t> form of the command in privileged EXEC mode.</a:t>
            </a:r>
          </a:p>
          <a:p>
            <a:pPr marL="415985" lvl="1" indent="-342900">
              <a:buFont typeface="Arial" panose="020B0604020202020204" pitchFamily="34" charset="0"/>
              <a:buChar char="•"/>
            </a:pPr>
            <a:r>
              <a:rPr lang="en-US" dirty="0">
                <a:solidFill>
                  <a:srgbClr val="000000"/>
                </a:solidFill>
              </a:rPr>
              <a:t>To turn off all active debug commands at once, use the </a:t>
            </a:r>
            <a:r>
              <a:rPr lang="en-US" b="1" dirty="0" err="1">
                <a:solidFill>
                  <a:srgbClr val="000000"/>
                </a:solidFill>
              </a:rPr>
              <a:t>undebug</a:t>
            </a:r>
            <a:r>
              <a:rPr lang="en-US" b="1" dirty="0">
                <a:solidFill>
                  <a:srgbClr val="000000"/>
                </a:solidFill>
              </a:rPr>
              <a:t> all</a:t>
            </a:r>
            <a:r>
              <a:rPr lang="en-US" dirty="0">
                <a:solidFill>
                  <a:srgbClr val="000000"/>
                </a:solidFill>
              </a:rPr>
              <a:t> command.</a:t>
            </a:r>
          </a:p>
          <a:p>
            <a:pPr marL="342900" indent="-342900" algn="l">
              <a:buFont typeface="Arial" panose="020B0604020202020204" pitchFamily="34" charset="0"/>
              <a:buChar char="•"/>
            </a:pPr>
            <a:r>
              <a:rPr lang="en-US" sz="1400" dirty="0">
                <a:solidFill>
                  <a:srgbClr val="000000"/>
                </a:solidFill>
              </a:rPr>
              <a:t>Be cautious using some </a:t>
            </a:r>
            <a:r>
              <a:rPr lang="en-US" sz="1400" b="1" dirty="0">
                <a:solidFill>
                  <a:srgbClr val="000000"/>
                </a:solidFill>
              </a:rPr>
              <a:t>debug</a:t>
            </a:r>
            <a:r>
              <a:rPr lang="en-US" sz="1400" dirty="0">
                <a:solidFill>
                  <a:srgbClr val="000000"/>
                </a:solidFill>
              </a:rPr>
              <a:t> commands, as they may generate a substantial amount of output and use a large portion of system resources. The router could get so busy displaying </a:t>
            </a:r>
            <a:r>
              <a:rPr lang="en-US" sz="1400" b="1" dirty="0">
                <a:solidFill>
                  <a:srgbClr val="000000"/>
                </a:solidFill>
              </a:rPr>
              <a:t>debug</a:t>
            </a:r>
            <a:r>
              <a:rPr lang="en-US" sz="1400" dirty="0">
                <a:solidFill>
                  <a:srgbClr val="000000"/>
                </a:solidFill>
              </a:rPr>
              <a:t> messages that it would not have enough processing power to perform its network functions, or even listen to commands to turn off debugging. </a:t>
            </a:r>
          </a:p>
        </p:txBody>
      </p:sp>
    </p:spTree>
    <p:extLst>
      <p:ext uri="{BB962C8B-B14F-4D97-AF65-F5344CB8AC3E}">
        <p14:creationId xmlns:p14="http://schemas.microsoft.com/office/powerpoint/2010/main" val="3872995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Troubleshooting Methodologies</a:t>
            </a:r>
            <a:br>
              <a:rPr lang="en-US" dirty="0"/>
            </a:br>
            <a:r>
              <a:rPr lang="en-US" sz="2400" dirty="0"/>
              <a:t>The terminal monitor Command</a:t>
            </a:r>
          </a:p>
        </p:txBody>
      </p:sp>
      <p:sp>
        <p:nvSpPr>
          <p:cNvPr id="5" name="Content Placeholder 4">
            <a:extLst>
              <a:ext uri="{FF2B5EF4-FFF2-40B4-BE49-F238E27FC236}">
                <a16:creationId xmlns:a16="http://schemas.microsoft.com/office/drawing/2014/main" id="{67D403C5-B81D-431B-B2D2-68B008D495BC}"/>
              </a:ext>
            </a:extLst>
          </p:cNvPr>
          <p:cNvSpPr>
            <a:spLocks noGrp="1"/>
          </p:cNvSpPr>
          <p:nvPr>
            <p:ph idx="1"/>
          </p:nvPr>
        </p:nvSpPr>
        <p:spPr>
          <a:xfrm>
            <a:off x="474662" y="731837"/>
            <a:ext cx="3857193" cy="3689897"/>
          </a:xfrm>
        </p:spPr>
        <p:txBody>
          <a:bodyPr/>
          <a:lstStyle/>
          <a:p>
            <a:pPr marL="342900" indent="-342900" algn="l">
              <a:buFont typeface="Arial" panose="020B0604020202020204" pitchFamily="34" charset="0"/>
              <a:buChar char="•"/>
            </a:pPr>
            <a:r>
              <a:rPr lang="en-US" sz="1600" b="1" dirty="0">
                <a:solidFill>
                  <a:srgbClr val="000000"/>
                </a:solidFill>
              </a:rPr>
              <a:t>debug</a:t>
            </a:r>
            <a:r>
              <a:rPr lang="en-US" sz="1600" dirty="0">
                <a:solidFill>
                  <a:srgbClr val="000000"/>
                </a:solidFill>
              </a:rPr>
              <a:t>  and certain other IOS message output is not automatically displayed on remote connections. This is because log messages are prevented from being displayed on </a:t>
            </a:r>
            <a:r>
              <a:rPr lang="en-US" sz="1600" dirty="0" err="1">
                <a:solidFill>
                  <a:srgbClr val="000000"/>
                </a:solidFill>
              </a:rPr>
              <a:t>vty</a:t>
            </a:r>
            <a:r>
              <a:rPr lang="en-US" sz="1600" dirty="0">
                <a:solidFill>
                  <a:srgbClr val="000000"/>
                </a:solidFill>
              </a:rPr>
              <a:t> lines.</a:t>
            </a:r>
          </a:p>
          <a:p>
            <a:pPr marL="342900" indent="-342900" algn="l">
              <a:buFont typeface="Arial" panose="020B0604020202020204" pitchFamily="34" charset="0"/>
              <a:buChar char="•"/>
            </a:pPr>
            <a:r>
              <a:rPr lang="en-US" sz="1600" dirty="0">
                <a:solidFill>
                  <a:srgbClr val="000000"/>
                </a:solidFill>
              </a:rPr>
              <a:t>To display log messages on a terminal (virtual console), use the </a:t>
            </a:r>
            <a:r>
              <a:rPr lang="en-US" sz="1600" b="1" dirty="0">
                <a:solidFill>
                  <a:srgbClr val="000000"/>
                </a:solidFill>
              </a:rPr>
              <a:t>terminal monitor</a:t>
            </a:r>
            <a:r>
              <a:rPr lang="en-US" sz="1600" dirty="0">
                <a:solidFill>
                  <a:srgbClr val="000000"/>
                </a:solidFill>
              </a:rPr>
              <a:t> privileged EXEC command. To stop logging messages on a terminal, use the </a:t>
            </a:r>
            <a:r>
              <a:rPr lang="en-US" sz="1600" b="1" dirty="0">
                <a:solidFill>
                  <a:srgbClr val="000000"/>
                </a:solidFill>
              </a:rPr>
              <a:t>terminal no monitor</a:t>
            </a:r>
            <a:r>
              <a:rPr lang="en-US" sz="1600" dirty="0">
                <a:solidFill>
                  <a:srgbClr val="000000"/>
                </a:solidFill>
              </a:rPr>
              <a:t> privileged EXEC command.</a:t>
            </a:r>
          </a:p>
        </p:txBody>
      </p:sp>
      <p:pic>
        <p:nvPicPr>
          <p:cNvPr id="7" name="Picture 6">
            <a:extLst>
              <a:ext uri="{FF2B5EF4-FFF2-40B4-BE49-F238E27FC236}">
                <a16:creationId xmlns:a16="http://schemas.microsoft.com/office/drawing/2014/main" id="{B3CB0FC6-F496-4FA2-BA44-D4FC2FBF18F2}"/>
              </a:ext>
            </a:extLst>
          </p:cNvPr>
          <p:cNvPicPr>
            <a:picLocks noChangeAspect="1"/>
          </p:cNvPicPr>
          <p:nvPr/>
        </p:nvPicPr>
        <p:blipFill>
          <a:blip r:embed="rId3"/>
          <a:stretch>
            <a:fillRect/>
          </a:stretch>
        </p:blipFill>
        <p:spPr>
          <a:xfrm>
            <a:off x="4465061" y="715869"/>
            <a:ext cx="4204277" cy="1693666"/>
          </a:xfrm>
          <a:prstGeom prst="rect">
            <a:avLst/>
          </a:prstGeom>
        </p:spPr>
      </p:pic>
      <p:pic>
        <p:nvPicPr>
          <p:cNvPr id="6" name="Picture 5">
            <a:extLst>
              <a:ext uri="{FF2B5EF4-FFF2-40B4-BE49-F238E27FC236}">
                <a16:creationId xmlns:a16="http://schemas.microsoft.com/office/drawing/2014/main" id="{F40D03CD-3EBA-4C21-AC9F-01C7FA500418}"/>
              </a:ext>
            </a:extLst>
          </p:cNvPr>
          <p:cNvPicPr>
            <a:picLocks noChangeAspect="1"/>
          </p:cNvPicPr>
          <p:nvPr/>
        </p:nvPicPr>
        <p:blipFill>
          <a:blip r:embed="rId4"/>
          <a:stretch>
            <a:fillRect/>
          </a:stretch>
        </p:blipFill>
        <p:spPr>
          <a:xfrm>
            <a:off x="4465061" y="2428902"/>
            <a:ext cx="4204277" cy="2196785"/>
          </a:xfrm>
          <a:prstGeom prst="rect">
            <a:avLst/>
          </a:prstGeom>
        </p:spPr>
      </p:pic>
    </p:spTree>
    <p:extLst>
      <p:ext uri="{BB962C8B-B14F-4D97-AF65-F5344CB8AC3E}">
        <p14:creationId xmlns:p14="http://schemas.microsoft.com/office/powerpoint/2010/main" val="578813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17.7 Troubleshooting Scenarios</a:t>
            </a:r>
          </a:p>
        </p:txBody>
      </p:sp>
    </p:spTree>
    <p:custDataLst>
      <p:tags r:id="rId1"/>
    </p:custDataLst>
    <p:extLst>
      <p:ext uri="{BB962C8B-B14F-4D97-AF65-F5344CB8AC3E}">
        <p14:creationId xmlns:p14="http://schemas.microsoft.com/office/powerpoint/2010/main" val="3969494417"/>
      </p:ext>
    </p:extLst>
  </p:cSld>
  <p:clrMapOvr>
    <a:masterClrMapping/>
  </p:clrMapOvr>
  <p:transition spd="slow">
    <p:wip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Troubleshooting Scenarios</a:t>
            </a:r>
            <a:br>
              <a:rPr lang="en-US" sz="1600" dirty="0"/>
            </a:br>
            <a:r>
              <a:rPr lang="en-US" sz="2400" dirty="0"/>
              <a:t>Duplex Operation and Mismatch Issues</a:t>
            </a:r>
          </a:p>
        </p:txBody>
      </p:sp>
      <p:sp>
        <p:nvSpPr>
          <p:cNvPr id="4" name="Content Placeholder 3">
            <a:extLst>
              <a:ext uri="{FF2B5EF4-FFF2-40B4-BE49-F238E27FC236}">
                <a16:creationId xmlns:a16="http://schemas.microsoft.com/office/drawing/2014/main" id="{75F3AEFC-34C7-446B-AB27-8AE657AE5B78}"/>
              </a:ext>
            </a:extLst>
          </p:cNvPr>
          <p:cNvSpPr>
            <a:spLocks noGrp="1"/>
          </p:cNvSpPr>
          <p:nvPr>
            <p:ph idx="1"/>
          </p:nvPr>
        </p:nvSpPr>
        <p:spPr>
          <a:xfrm>
            <a:off x="474662" y="731837"/>
            <a:ext cx="8280057" cy="3689897"/>
          </a:xfrm>
        </p:spPr>
        <p:txBody>
          <a:bodyPr/>
          <a:lstStyle/>
          <a:p>
            <a:pPr marL="285750" indent="-285750" algn="l">
              <a:buFont typeface="Arial" panose="020B0604020202020204" pitchFamily="34" charset="0"/>
              <a:buChar char="•"/>
            </a:pPr>
            <a:r>
              <a:rPr lang="en-US" sz="1600" dirty="0">
                <a:solidFill>
                  <a:srgbClr val="000000"/>
                </a:solidFill>
              </a:rPr>
              <a:t>Interconnecting Ethernet interfaces must operate in the same duplex mode for best communication performance and to avoid inefficiency and latency on the link.</a:t>
            </a:r>
          </a:p>
          <a:p>
            <a:pPr marL="285750" indent="-285750" algn="l">
              <a:buFont typeface="Arial" panose="020B0604020202020204" pitchFamily="34" charset="0"/>
              <a:buChar char="•"/>
            </a:pPr>
            <a:r>
              <a:rPr lang="en-US" sz="1600" dirty="0">
                <a:solidFill>
                  <a:srgbClr val="000000"/>
                </a:solidFill>
              </a:rPr>
              <a:t>The Ethernet </a:t>
            </a:r>
            <a:r>
              <a:rPr lang="en-US" sz="1600" dirty="0" err="1">
                <a:solidFill>
                  <a:srgbClr val="000000"/>
                </a:solidFill>
              </a:rPr>
              <a:t>autonegotiation</a:t>
            </a:r>
            <a:r>
              <a:rPr lang="en-US" sz="1600" dirty="0">
                <a:solidFill>
                  <a:srgbClr val="000000"/>
                </a:solidFill>
              </a:rPr>
              <a:t> feature facilitates configuration, minimizes problems and maximizes link performance between two interconnecting Ethernet links. The connected devices first announce their supported capabilities and then choose the highest performance mode supported by both ends.</a:t>
            </a:r>
          </a:p>
          <a:p>
            <a:pPr marL="285750" indent="-285750" algn="l">
              <a:buFont typeface="Arial" panose="020B0604020202020204" pitchFamily="34" charset="0"/>
              <a:buChar char="•"/>
            </a:pPr>
            <a:r>
              <a:rPr lang="en-US" sz="1600" dirty="0">
                <a:solidFill>
                  <a:srgbClr val="000000"/>
                </a:solidFill>
              </a:rPr>
              <a:t>If one of the two connected devices is operating in full-duplex and the other is operating in half-duplex, a duplex mismatch occurs. While data communication will occur through a link with a duplex mismatch, link performance will be very poor.</a:t>
            </a:r>
          </a:p>
          <a:p>
            <a:pPr marL="285750" indent="-285750" algn="l">
              <a:buFont typeface="Arial" panose="020B0604020202020204" pitchFamily="34" charset="0"/>
              <a:buChar char="•"/>
            </a:pPr>
            <a:r>
              <a:rPr lang="en-US" sz="1600" dirty="0">
                <a:solidFill>
                  <a:srgbClr val="000000"/>
                </a:solidFill>
              </a:rPr>
              <a:t>Duplex mismatches are typically caused by a misconfigured interface or in rare instances by a failed </a:t>
            </a:r>
            <a:r>
              <a:rPr lang="en-US" sz="1600" dirty="0" err="1">
                <a:solidFill>
                  <a:srgbClr val="000000"/>
                </a:solidFill>
              </a:rPr>
              <a:t>autonegotiation</a:t>
            </a:r>
            <a:r>
              <a:rPr lang="en-US" sz="1600" dirty="0">
                <a:solidFill>
                  <a:srgbClr val="000000"/>
                </a:solidFill>
              </a:rPr>
              <a:t>. Duplex mismatches may be difficult to troubleshoot as the communication between devices still occurs.</a:t>
            </a:r>
          </a:p>
          <a:p>
            <a:pPr marL="285750" indent="-285750" algn="l">
              <a:buFont typeface="Arial" panose="020B0604020202020204" pitchFamily="34" charset="0"/>
              <a:buChar char="•"/>
            </a:pPr>
            <a:endParaRPr lang="en-US" sz="1400" dirty="0">
              <a:solidFill>
                <a:srgbClr val="000000"/>
              </a:solidFill>
            </a:endParaRPr>
          </a:p>
          <a:p>
            <a:pPr marL="285750" indent="-285750" algn="l">
              <a:buFont typeface="Arial" panose="020B0604020202020204" pitchFamily="34" charset="0"/>
              <a:buChar char="•"/>
            </a:pPr>
            <a:endParaRPr lang="en-US" sz="1400" dirty="0">
              <a:solidFill>
                <a:srgbClr val="000000"/>
              </a:solidFill>
            </a:endParaRPr>
          </a:p>
        </p:txBody>
      </p:sp>
    </p:spTree>
    <p:extLst>
      <p:ext uri="{BB962C8B-B14F-4D97-AF65-F5344CB8AC3E}">
        <p14:creationId xmlns:p14="http://schemas.microsoft.com/office/powerpoint/2010/main" val="10972209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Troubleshooting Scenarios</a:t>
            </a:r>
            <a:br>
              <a:rPr lang="en-US" sz="1600" dirty="0"/>
            </a:br>
            <a:r>
              <a:rPr lang="en-US" sz="2400" dirty="0"/>
              <a:t>IP Addressing Issues on IOS Devices</a:t>
            </a:r>
          </a:p>
        </p:txBody>
      </p:sp>
      <p:sp>
        <p:nvSpPr>
          <p:cNvPr id="5" name="Content Placeholder 4">
            <a:extLst>
              <a:ext uri="{FF2B5EF4-FFF2-40B4-BE49-F238E27FC236}">
                <a16:creationId xmlns:a16="http://schemas.microsoft.com/office/drawing/2014/main" id="{4089B99F-CCB5-409E-A46F-AD649A1893BE}"/>
              </a:ext>
            </a:extLst>
          </p:cNvPr>
          <p:cNvSpPr>
            <a:spLocks noGrp="1"/>
          </p:cNvSpPr>
          <p:nvPr>
            <p:ph idx="1"/>
          </p:nvPr>
        </p:nvSpPr>
        <p:spPr>
          <a:xfrm>
            <a:off x="474662" y="731838"/>
            <a:ext cx="8280057" cy="1907598"/>
          </a:xfrm>
        </p:spPr>
        <p:txBody>
          <a:bodyPr/>
          <a:lstStyle/>
          <a:p>
            <a:pPr marL="342900" indent="-342900" algn="l">
              <a:buFont typeface="Arial" panose="020B0604020202020204" pitchFamily="34" charset="0"/>
              <a:buChar char="•"/>
            </a:pPr>
            <a:r>
              <a:rPr lang="en-US" sz="1400" dirty="0">
                <a:solidFill>
                  <a:srgbClr val="000000"/>
                </a:solidFill>
              </a:rPr>
              <a:t>Two common causes of incorrect IPv4 assignment are manual assignment mistakes or DHCP-related issues.</a:t>
            </a:r>
          </a:p>
          <a:p>
            <a:pPr marL="342900" indent="-342900" algn="l">
              <a:buFont typeface="Arial" panose="020B0604020202020204" pitchFamily="34" charset="0"/>
              <a:buChar char="•"/>
            </a:pPr>
            <a:r>
              <a:rPr lang="en-US" sz="1400" dirty="0">
                <a:solidFill>
                  <a:srgbClr val="000000"/>
                </a:solidFill>
              </a:rPr>
              <a:t>Network administrators often have to manually assign IP addresses to devices such as servers and routers. If a mistake is made during the assignment, then communications issues with the device are very likely to occur.</a:t>
            </a:r>
          </a:p>
          <a:p>
            <a:pPr marL="342900" indent="-342900" algn="l">
              <a:buFont typeface="Arial" panose="020B0604020202020204" pitchFamily="34" charset="0"/>
              <a:buChar char="•"/>
            </a:pPr>
            <a:r>
              <a:rPr lang="en-US" sz="1400" dirty="0">
                <a:solidFill>
                  <a:srgbClr val="000000"/>
                </a:solidFill>
              </a:rPr>
              <a:t>On an IOS device, use the </a:t>
            </a:r>
            <a:r>
              <a:rPr lang="en-US" sz="1400" b="1" dirty="0">
                <a:solidFill>
                  <a:srgbClr val="000000"/>
                </a:solidFill>
              </a:rPr>
              <a:t>show </a:t>
            </a:r>
            <a:r>
              <a:rPr lang="en-US" sz="1400" b="1" dirty="0" err="1">
                <a:solidFill>
                  <a:srgbClr val="000000"/>
                </a:solidFill>
              </a:rPr>
              <a:t>ip</a:t>
            </a:r>
            <a:r>
              <a:rPr lang="en-US" sz="1400" b="1" dirty="0">
                <a:solidFill>
                  <a:srgbClr val="000000"/>
                </a:solidFill>
              </a:rPr>
              <a:t> interface</a:t>
            </a:r>
            <a:r>
              <a:rPr lang="en-US" sz="1400" dirty="0">
                <a:solidFill>
                  <a:srgbClr val="000000"/>
                </a:solidFill>
              </a:rPr>
              <a:t> or </a:t>
            </a:r>
            <a:r>
              <a:rPr lang="en-US" sz="1400" b="1" dirty="0">
                <a:solidFill>
                  <a:srgbClr val="000000"/>
                </a:solidFill>
              </a:rPr>
              <a:t>show </a:t>
            </a:r>
            <a:r>
              <a:rPr lang="en-US" sz="1400" b="1" dirty="0" err="1">
                <a:solidFill>
                  <a:srgbClr val="000000"/>
                </a:solidFill>
              </a:rPr>
              <a:t>ip</a:t>
            </a:r>
            <a:r>
              <a:rPr lang="en-US" sz="1400" b="1" dirty="0">
                <a:solidFill>
                  <a:srgbClr val="000000"/>
                </a:solidFill>
              </a:rPr>
              <a:t> interface brief</a:t>
            </a:r>
            <a:r>
              <a:rPr lang="en-US" sz="1400" dirty="0">
                <a:solidFill>
                  <a:srgbClr val="000000"/>
                </a:solidFill>
              </a:rPr>
              <a:t> commands to verify what IPv4 addresses are assigned to the network interfaces. For example, issuing the </a:t>
            </a:r>
            <a:r>
              <a:rPr lang="en-US" sz="1400" b="1" dirty="0">
                <a:solidFill>
                  <a:srgbClr val="000000"/>
                </a:solidFill>
              </a:rPr>
              <a:t>show </a:t>
            </a:r>
            <a:r>
              <a:rPr lang="en-US" sz="1400" b="1" dirty="0" err="1">
                <a:solidFill>
                  <a:srgbClr val="000000"/>
                </a:solidFill>
              </a:rPr>
              <a:t>ip</a:t>
            </a:r>
            <a:r>
              <a:rPr lang="en-US" sz="1400" b="1" dirty="0">
                <a:solidFill>
                  <a:srgbClr val="000000"/>
                </a:solidFill>
              </a:rPr>
              <a:t> interface</a:t>
            </a:r>
            <a:r>
              <a:rPr lang="en-US" sz="1400" dirty="0">
                <a:solidFill>
                  <a:srgbClr val="000000"/>
                </a:solidFill>
              </a:rPr>
              <a:t> </a:t>
            </a:r>
            <a:r>
              <a:rPr lang="en-US" sz="1400" b="1" dirty="0">
                <a:solidFill>
                  <a:srgbClr val="000000"/>
                </a:solidFill>
              </a:rPr>
              <a:t>brief</a:t>
            </a:r>
            <a:r>
              <a:rPr lang="en-US" sz="1400" dirty="0">
                <a:solidFill>
                  <a:srgbClr val="000000"/>
                </a:solidFill>
              </a:rPr>
              <a:t> command as shown would validate the interface status on R1.</a:t>
            </a:r>
          </a:p>
          <a:p>
            <a:pPr marL="342900" indent="-342900" algn="l">
              <a:buFont typeface="Arial" panose="020B0604020202020204" pitchFamily="34" charset="0"/>
              <a:buChar char="•"/>
            </a:pPr>
            <a:endParaRPr lang="en-US" sz="1400" dirty="0">
              <a:solidFill>
                <a:srgbClr val="000000"/>
              </a:solidFill>
            </a:endParaRPr>
          </a:p>
        </p:txBody>
      </p:sp>
      <p:pic>
        <p:nvPicPr>
          <p:cNvPr id="6" name="Picture 5">
            <a:extLst>
              <a:ext uri="{FF2B5EF4-FFF2-40B4-BE49-F238E27FC236}">
                <a16:creationId xmlns:a16="http://schemas.microsoft.com/office/drawing/2014/main" id="{B1698732-E985-4F83-A567-32F90E36D49D}"/>
              </a:ext>
            </a:extLst>
          </p:cNvPr>
          <p:cNvPicPr>
            <a:picLocks noChangeAspect="1"/>
          </p:cNvPicPr>
          <p:nvPr/>
        </p:nvPicPr>
        <p:blipFill>
          <a:blip r:embed="rId3"/>
          <a:stretch>
            <a:fillRect/>
          </a:stretch>
        </p:blipFill>
        <p:spPr>
          <a:xfrm>
            <a:off x="1485727" y="2639435"/>
            <a:ext cx="6257925" cy="1933575"/>
          </a:xfrm>
          <a:prstGeom prst="rect">
            <a:avLst/>
          </a:prstGeom>
        </p:spPr>
      </p:pic>
    </p:spTree>
    <p:extLst>
      <p:ext uri="{BB962C8B-B14F-4D97-AF65-F5344CB8AC3E}">
        <p14:creationId xmlns:p14="http://schemas.microsoft.com/office/powerpoint/2010/main" val="11760141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Troubleshooting Scenarios</a:t>
            </a:r>
            <a:br>
              <a:rPr lang="en-US" sz="1600" dirty="0"/>
            </a:br>
            <a:r>
              <a:rPr lang="en-US" sz="2400" dirty="0"/>
              <a:t>IP Addressing Issues on End Devices</a:t>
            </a:r>
          </a:p>
        </p:txBody>
      </p:sp>
      <p:sp>
        <p:nvSpPr>
          <p:cNvPr id="4" name="Content Placeholder 3">
            <a:extLst>
              <a:ext uri="{FF2B5EF4-FFF2-40B4-BE49-F238E27FC236}">
                <a16:creationId xmlns:a16="http://schemas.microsoft.com/office/drawing/2014/main" id="{7ED07164-DA0A-44EF-A4C1-36A79B33BB69}"/>
              </a:ext>
            </a:extLst>
          </p:cNvPr>
          <p:cNvSpPr>
            <a:spLocks noGrp="1"/>
          </p:cNvSpPr>
          <p:nvPr>
            <p:ph idx="1"/>
          </p:nvPr>
        </p:nvSpPr>
        <p:spPr>
          <a:xfrm>
            <a:off x="474662" y="731837"/>
            <a:ext cx="8280057" cy="3689897"/>
          </a:xfrm>
        </p:spPr>
        <p:txBody>
          <a:bodyPr/>
          <a:lstStyle/>
          <a:p>
            <a:pPr marL="342900" indent="-342900" algn="l">
              <a:buFont typeface="Arial" panose="020B0604020202020204" pitchFamily="34" charset="0"/>
              <a:buChar char="•"/>
            </a:pPr>
            <a:r>
              <a:rPr lang="en-US" sz="1500" dirty="0">
                <a:solidFill>
                  <a:srgbClr val="000000"/>
                </a:solidFill>
              </a:rPr>
              <a:t>On Windows-based machines, when the device cannot contact a DHCP server, Windows will automatically assign an address belonging to the 169.254.0.0/16 range. This feature is called Automatic Private IP Addressing (APIPA). </a:t>
            </a:r>
          </a:p>
          <a:p>
            <a:pPr marL="342900" indent="-342900" algn="l">
              <a:buFont typeface="Arial" panose="020B0604020202020204" pitchFamily="34" charset="0"/>
              <a:buChar char="•"/>
            </a:pPr>
            <a:r>
              <a:rPr lang="en-US" sz="1500" dirty="0">
                <a:solidFill>
                  <a:srgbClr val="000000"/>
                </a:solidFill>
              </a:rPr>
              <a:t>A computer with an APIPA address will not be able to communicate with other devices in the network because those devices will most likely not belong to the 169.254.0.0/16 network. </a:t>
            </a:r>
          </a:p>
          <a:p>
            <a:pPr marL="415985" lvl="1" indent="-342900">
              <a:buFont typeface="Arial" panose="020B0604020202020204" pitchFamily="34" charset="0"/>
              <a:buChar char="•"/>
            </a:pPr>
            <a:r>
              <a:rPr lang="en-US" b="1" dirty="0">
                <a:solidFill>
                  <a:srgbClr val="000000"/>
                </a:solidFill>
              </a:rPr>
              <a:t>Note</a:t>
            </a:r>
            <a:r>
              <a:rPr lang="en-US" dirty="0">
                <a:solidFill>
                  <a:srgbClr val="000000"/>
                </a:solidFill>
              </a:rPr>
              <a:t>: Other operating systems, such Linux and OS X, do not use APIPA.</a:t>
            </a:r>
          </a:p>
          <a:p>
            <a:pPr marL="342900" indent="-342900" algn="l">
              <a:buFont typeface="Arial" panose="020B0604020202020204" pitchFamily="34" charset="0"/>
              <a:buChar char="•"/>
            </a:pPr>
            <a:r>
              <a:rPr lang="en-US" sz="1500" dirty="0">
                <a:solidFill>
                  <a:srgbClr val="000000"/>
                </a:solidFill>
              </a:rPr>
              <a:t>If the device is unable to communicate with the DHCP server, then the server cannot assign an IPv4 address for the specific network and the device will not be able to communicate.</a:t>
            </a:r>
          </a:p>
          <a:p>
            <a:pPr marL="342900" indent="-342900" algn="l">
              <a:buFont typeface="Arial" panose="020B0604020202020204" pitchFamily="34" charset="0"/>
              <a:buChar char="•"/>
            </a:pPr>
            <a:r>
              <a:rPr lang="en-US" sz="1500" dirty="0">
                <a:solidFill>
                  <a:srgbClr val="000000"/>
                </a:solidFill>
              </a:rPr>
              <a:t>To verify the IP addresses assigned to a Windows-based computer, use the </a:t>
            </a:r>
            <a:r>
              <a:rPr lang="en-US" sz="1500" b="1" dirty="0">
                <a:solidFill>
                  <a:srgbClr val="000000"/>
                </a:solidFill>
              </a:rPr>
              <a:t>ipconfig</a:t>
            </a:r>
            <a:r>
              <a:rPr lang="en-US" sz="1500" dirty="0">
                <a:solidFill>
                  <a:srgbClr val="000000"/>
                </a:solidFill>
              </a:rPr>
              <a:t> command.</a:t>
            </a:r>
          </a:p>
          <a:p>
            <a:pPr marL="342900" indent="-342900" algn="l">
              <a:buFont typeface="Arial" panose="020B0604020202020204" pitchFamily="34" charset="0"/>
              <a:buChar char="•"/>
            </a:pPr>
            <a:endParaRPr lang="en-US" sz="1400" dirty="0">
              <a:solidFill>
                <a:srgbClr val="000000"/>
              </a:solidFill>
            </a:endParaRPr>
          </a:p>
        </p:txBody>
      </p:sp>
    </p:spTree>
    <p:extLst>
      <p:ext uri="{BB962C8B-B14F-4D97-AF65-F5344CB8AC3E}">
        <p14:creationId xmlns:p14="http://schemas.microsoft.com/office/powerpoint/2010/main" val="36045017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Troubleshooting Scenarios</a:t>
            </a:r>
            <a:br>
              <a:rPr lang="en-US" sz="1600" dirty="0"/>
            </a:br>
            <a:r>
              <a:rPr lang="en-US" sz="2400" dirty="0"/>
              <a:t>Default Gateway Issues</a:t>
            </a:r>
          </a:p>
        </p:txBody>
      </p:sp>
      <p:sp>
        <p:nvSpPr>
          <p:cNvPr id="4" name="Content Placeholder 3">
            <a:extLst>
              <a:ext uri="{FF2B5EF4-FFF2-40B4-BE49-F238E27FC236}">
                <a16:creationId xmlns:a16="http://schemas.microsoft.com/office/drawing/2014/main" id="{7ED07164-DA0A-44EF-A4C1-36A79B33BB69}"/>
              </a:ext>
            </a:extLst>
          </p:cNvPr>
          <p:cNvSpPr>
            <a:spLocks noGrp="1"/>
          </p:cNvSpPr>
          <p:nvPr>
            <p:ph idx="1"/>
          </p:nvPr>
        </p:nvSpPr>
        <p:spPr>
          <a:xfrm>
            <a:off x="474662" y="731837"/>
            <a:ext cx="8280057" cy="3689897"/>
          </a:xfrm>
        </p:spPr>
        <p:txBody>
          <a:bodyPr/>
          <a:lstStyle/>
          <a:p>
            <a:pPr marL="342900" indent="-342900" algn="l">
              <a:buFont typeface="Arial" panose="020B0604020202020204" pitchFamily="34" charset="0"/>
              <a:buChar char="•"/>
            </a:pPr>
            <a:r>
              <a:rPr lang="en-US" sz="1500" dirty="0">
                <a:solidFill>
                  <a:srgbClr val="000000"/>
                </a:solidFill>
              </a:rPr>
              <a:t>The default gateway for an end device is the closest networking device, belonging to the same network as the end device, that can forward traffic to other networks. If a device has an incorrect or nonexistent default gateway address, it will not be able to communicate with devices in remote networks. </a:t>
            </a:r>
          </a:p>
          <a:p>
            <a:pPr marL="342900" indent="-342900" algn="l">
              <a:buFont typeface="Arial" panose="020B0604020202020204" pitchFamily="34" charset="0"/>
              <a:buChar char="•"/>
            </a:pPr>
            <a:r>
              <a:rPr lang="en-US" sz="1500" dirty="0">
                <a:solidFill>
                  <a:srgbClr val="000000"/>
                </a:solidFill>
              </a:rPr>
              <a:t>Similar to IPv4 addressing issues, default gateway problems can be related to misconfiguration (in the case of manual assignment) or DHCP problems (if automatic assignment is in use).</a:t>
            </a:r>
          </a:p>
          <a:p>
            <a:pPr marL="342900" indent="-342900" algn="l">
              <a:buFont typeface="Arial" panose="020B0604020202020204" pitchFamily="34" charset="0"/>
              <a:buChar char="•"/>
            </a:pPr>
            <a:r>
              <a:rPr lang="en-US" sz="1500" dirty="0">
                <a:solidFill>
                  <a:srgbClr val="000000"/>
                </a:solidFill>
              </a:rPr>
              <a:t>To verify the default gateway on Windows-based computers, use the </a:t>
            </a:r>
            <a:r>
              <a:rPr lang="en-US" sz="1500" b="1" dirty="0">
                <a:solidFill>
                  <a:srgbClr val="000000"/>
                </a:solidFill>
              </a:rPr>
              <a:t>ipconfig</a:t>
            </a:r>
            <a:r>
              <a:rPr lang="en-US" sz="1500" dirty="0">
                <a:solidFill>
                  <a:srgbClr val="000000"/>
                </a:solidFill>
              </a:rPr>
              <a:t> command.</a:t>
            </a:r>
          </a:p>
          <a:p>
            <a:pPr marL="342900" indent="-342900" algn="l">
              <a:buFont typeface="Arial" panose="020B0604020202020204" pitchFamily="34" charset="0"/>
              <a:buChar char="•"/>
            </a:pPr>
            <a:r>
              <a:rPr lang="en-US" sz="1500" dirty="0">
                <a:solidFill>
                  <a:srgbClr val="000000"/>
                </a:solidFill>
              </a:rPr>
              <a:t>On a router, use the </a:t>
            </a:r>
            <a:r>
              <a:rPr lang="en-US" sz="1500" b="1" dirty="0">
                <a:solidFill>
                  <a:srgbClr val="000000"/>
                </a:solidFill>
              </a:rPr>
              <a:t>show </a:t>
            </a:r>
            <a:r>
              <a:rPr lang="en-US" sz="1500" b="1" dirty="0" err="1">
                <a:solidFill>
                  <a:srgbClr val="000000"/>
                </a:solidFill>
              </a:rPr>
              <a:t>ip</a:t>
            </a:r>
            <a:r>
              <a:rPr lang="en-US" sz="1500" b="1" dirty="0">
                <a:solidFill>
                  <a:srgbClr val="000000"/>
                </a:solidFill>
              </a:rPr>
              <a:t> route </a:t>
            </a:r>
            <a:r>
              <a:rPr lang="en-US" sz="1500" dirty="0">
                <a:solidFill>
                  <a:srgbClr val="000000"/>
                </a:solidFill>
              </a:rPr>
              <a:t>command to list the routing table and verify that the default gateway, known as a default route, has been set. This route is used when the destination address of the packet does not match any other routes in its routing table.</a:t>
            </a:r>
          </a:p>
          <a:p>
            <a:pPr marL="342900" indent="-342900" algn="l">
              <a:buFont typeface="Arial" panose="020B0604020202020204" pitchFamily="34" charset="0"/>
              <a:buChar char="•"/>
            </a:pPr>
            <a:endParaRPr lang="en-US" sz="1400" dirty="0">
              <a:solidFill>
                <a:srgbClr val="000000"/>
              </a:solidFill>
            </a:endParaRPr>
          </a:p>
          <a:p>
            <a:pPr marL="342900" indent="-342900" algn="l">
              <a:buFont typeface="Arial" panose="020B0604020202020204" pitchFamily="34" charset="0"/>
              <a:buChar char="•"/>
            </a:pPr>
            <a:endParaRPr lang="en-US" sz="1400" dirty="0">
              <a:solidFill>
                <a:srgbClr val="000000"/>
              </a:solidFill>
            </a:endParaRPr>
          </a:p>
        </p:txBody>
      </p:sp>
    </p:spTree>
    <p:extLst>
      <p:ext uri="{BB962C8B-B14F-4D97-AF65-F5344CB8AC3E}">
        <p14:creationId xmlns:p14="http://schemas.microsoft.com/office/powerpoint/2010/main" val="8044620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Troubleshooting Scenarios</a:t>
            </a:r>
            <a:br>
              <a:rPr lang="en-US" sz="1600" dirty="0"/>
            </a:br>
            <a:r>
              <a:rPr lang="en-US" sz="2400" dirty="0"/>
              <a:t>Troubleshooting DNS Issues</a:t>
            </a:r>
          </a:p>
        </p:txBody>
      </p:sp>
      <p:sp>
        <p:nvSpPr>
          <p:cNvPr id="5" name="Content Placeholder 4">
            <a:extLst>
              <a:ext uri="{FF2B5EF4-FFF2-40B4-BE49-F238E27FC236}">
                <a16:creationId xmlns:a16="http://schemas.microsoft.com/office/drawing/2014/main" id="{A0557B6B-70FF-4372-BD6F-76E2BCF4EBCC}"/>
              </a:ext>
            </a:extLst>
          </p:cNvPr>
          <p:cNvSpPr>
            <a:spLocks noGrp="1"/>
          </p:cNvSpPr>
          <p:nvPr>
            <p:ph idx="1"/>
          </p:nvPr>
        </p:nvSpPr>
        <p:spPr>
          <a:xfrm>
            <a:off x="474662" y="731836"/>
            <a:ext cx="8280057" cy="3689897"/>
          </a:xfrm>
        </p:spPr>
        <p:txBody>
          <a:bodyPr/>
          <a:lstStyle/>
          <a:p>
            <a:pPr marL="342900" indent="-342900" algn="l">
              <a:buFont typeface="Arial" panose="020B0604020202020204" pitchFamily="34" charset="0"/>
              <a:buChar char="•"/>
            </a:pPr>
            <a:r>
              <a:rPr lang="en-US" sz="1400" dirty="0">
                <a:solidFill>
                  <a:srgbClr val="000000"/>
                </a:solidFill>
              </a:rPr>
              <a:t>It is common for users to mistakenly relate the operation of an internet link to the availability of the DNS. </a:t>
            </a:r>
          </a:p>
          <a:p>
            <a:pPr marL="342900" indent="-342900" algn="l">
              <a:buFont typeface="Arial" panose="020B0604020202020204" pitchFamily="34" charset="0"/>
              <a:buChar char="•"/>
            </a:pPr>
            <a:r>
              <a:rPr lang="en-US" sz="1400" dirty="0">
                <a:solidFill>
                  <a:srgbClr val="000000"/>
                </a:solidFill>
              </a:rPr>
              <a:t>DNS server addresses can be manually or automatically assigned via DHCP.</a:t>
            </a:r>
          </a:p>
          <a:p>
            <a:pPr marL="342900" indent="-342900" algn="l">
              <a:buFont typeface="Arial" panose="020B0604020202020204" pitchFamily="34" charset="0"/>
              <a:buChar char="•"/>
            </a:pPr>
            <a:r>
              <a:rPr lang="en-US" sz="1400" dirty="0">
                <a:solidFill>
                  <a:srgbClr val="000000"/>
                </a:solidFill>
              </a:rPr>
              <a:t>Although it is common for companies and organizations to manage their own DNS servers, any reachable DNS server can be used to resolve names. </a:t>
            </a:r>
          </a:p>
          <a:p>
            <a:pPr marL="342900" indent="-342900" algn="l">
              <a:buFont typeface="Arial" panose="020B0604020202020204" pitchFamily="34" charset="0"/>
              <a:buChar char="•"/>
            </a:pPr>
            <a:r>
              <a:rPr lang="en-US" sz="1400" dirty="0">
                <a:solidFill>
                  <a:srgbClr val="000000"/>
                </a:solidFill>
              </a:rPr>
              <a:t>Cisco offers OpenDNS which provides secure DNS service by filtering phishing and some malware sites. OpenDNS addresses are 208.67.222.222 and 208.67.220.220. Advanced features such as web content filtering and security are available to families and businesses.</a:t>
            </a:r>
          </a:p>
          <a:p>
            <a:pPr marL="342900" indent="-342900" algn="l">
              <a:buFont typeface="Arial" panose="020B0604020202020204" pitchFamily="34" charset="0"/>
              <a:buChar char="•"/>
            </a:pPr>
            <a:r>
              <a:rPr lang="en-US" sz="1400" dirty="0">
                <a:solidFill>
                  <a:srgbClr val="000000"/>
                </a:solidFill>
              </a:rPr>
              <a:t>Use the </a:t>
            </a:r>
            <a:r>
              <a:rPr lang="en-US" sz="1400" b="1" dirty="0">
                <a:solidFill>
                  <a:srgbClr val="000000"/>
                </a:solidFill>
              </a:rPr>
              <a:t>ipconfig /all </a:t>
            </a:r>
            <a:r>
              <a:rPr lang="en-US" sz="1400" dirty="0">
                <a:solidFill>
                  <a:srgbClr val="000000"/>
                </a:solidFill>
              </a:rPr>
              <a:t>as shown to verify which DNS server is in use by the Windows computer.</a:t>
            </a:r>
          </a:p>
          <a:p>
            <a:pPr marL="342900" indent="-342900" algn="l">
              <a:buFont typeface="Arial" panose="020B0604020202020204" pitchFamily="34" charset="0"/>
              <a:buChar char="•"/>
            </a:pPr>
            <a:r>
              <a:rPr lang="en-US" sz="1400" dirty="0">
                <a:solidFill>
                  <a:srgbClr val="000000"/>
                </a:solidFill>
              </a:rPr>
              <a:t>The </a:t>
            </a:r>
            <a:r>
              <a:rPr lang="en-US" sz="1400" b="1" dirty="0" err="1">
                <a:solidFill>
                  <a:srgbClr val="000000"/>
                </a:solidFill>
              </a:rPr>
              <a:t>nslookup</a:t>
            </a:r>
            <a:r>
              <a:rPr lang="en-US" sz="1400" dirty="0">
                <a:solidFill>
                  <a:srgbClr val="000000"/>
                </a:solidFill>
              </a:rPr>
              <a:t> command is another useful DNS troubleshooting tool for PCs. With </a:t>
            </a:r>
            <a:r>
              <a:rPr lang="en-US" sz="1400" b="1" dirty="0" err="1">
                <a:solidFill>
                  <a:srgbClr val="000000"/>
                </a:solidFill>
              </a:rPr>
              <a:t>nslookup</a:t>
            </a:r>
            <a:r>
              <a:rPr lang="en-US" sz="1400" dirty="0">
                <a:solidFill>
                  <a:srgbClr val="000000"/>
                </a:solidFill>
              </a:rPr>
              <a:t> a user can manually place DNS queries and analyze the DNS response. </a:t>
            </a:r>
          </a:p>
        </p:txBody>
      </p:sp>
    </p:spTree>
    <p:extLst>
      <p:ext uri="{BB962C8B-B14F-4D97-AF65-F5344CB8AC3E}">
        <p14:creationId xmlns:p14="http://schemas.microsoft.com/office/powerpoint/2010/main" val="18102381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4190828277"/>
      </p:ext>
    </p:extLst>
  </p:cSld>
  <p:clrMapOvr>
    <a:masterClrMapping/>
  </p:clrMapOvr>
  <p:transition spd="slow">
    <p:wipe/>
  </p:transition>
</p:sld>
</file>

<file path=ppt/tags/tag1.xml><?xml version="1.0" encoding="utf-8"?>
<p:tagLst xmlns:a="http://schemas.openxmlformats.org/drawingml/2006/main" xmlns:r="http://schemas.openxmlformats.org/officeDocument/2006/relationships" xmlns:p="http://schemas.openxmlformats.org/presentationml/2006/main">
  <p:tag name="ARTICULATE_SLIDE_COUNT" val="65"/>
  <p:tag name="ARTICULATE_PROJECT_OPEN" val="0"/>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Default Theme">
  <a:themeElements>
    <a:clrScheme name="Custom 6">
      <a:dk1>
        <a:srgbClr val="58585B"/>
      </a:dk1>
      <a:lt1>
        <a:srgbClr val="FFFFFF"/>
      </a:lt1>
      <a:dk2>
        <a:srgbClr val="58585B"/>
      </a:dk2>
      <a:lt2>
        <a:srgbClr val="81C569"/>
      </a:lt2>
      <a:accent1>
        <a:srgbClr val="004C69"/>
      </a:accent1>
      <a:accent2>
        <a:srgbClr val="9E0B0F"/>
      </a:accent2>
      <a:accent3>
        <a:srgbClr val="FFFFFF"/>
      </a:accent3>
      <a:accent4>
        <a:srgbClr val="367187"/>
      </a:accent4>
      <a:accent5>
        <a:srgbClr val="38C6F4"/>
      </a:accent5>
      <a:accent6>
        <a:srgbClr val="FBAB18"/>
      </a:accent6>
      <a:hlink>
        <a:srgbClr val="38C6F4"/>
      </a:hlink>
      <a:folHlink>
        <a:srgbClr val="81C569"/>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6A4D7"/>
        </a:solidFill>
        <a:ln>
          <a:noFill/>
        </a:ln>
        <a:effectLst/>
      </a:spPr>
      <a:bodyPr rtlCol="0" anchor="ctr"/>
      <a:lstStyle>
        <a:defPPr algn="ctr">
          <a:defRPr dirty="0" smtClean="0"/>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ITE7_Chp1_Example-1" id="{4A20ED44-3835-F149-9AE4-C332C230E09E}" vid="{AFB5BC48-58F8-AD45-912F-AE2AD65EB6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8625</TotalTime>
  <Words>5165</Words>
  <Application>Microsoft Macintosh PowerPoint</Application>
  <PresentationFormat>Prezentácia na obrazovke (16:9)</PresentationFormat>
  <Paragraphs>448</Paragraphs>
  <Slides>46</Slides>
  <Notes>46</Notes>
  <HiddenSlides>0</HiddenSlides>
  <MMClips>0</MMClips>
  <ScaleCrop>false</ScaleCrop>
  <HeadingPairs>
    <vt:vector size="6" baseType="variant">
      <vt:variant>
        <vt:lpstr>Použité písma</vt:lpstr>
      </vt:variant>
      <vt:variant>
        <vt:i4>3</vt:i4>
      </vt:variant>
      <vt:variant>
        <vt:lpstr>Motív</vt:lpstr>
      </vt:variant>
      <vt:variant>
        <vt:i4>1</vt:i4>
      </vt:variant>
      <vt:variant>
        <vt:lpstr>Nadpisy snímok</vt:lpstr>
      </vt:variant>
      <vt:variant>
        <vt:i4>46</vt:i4>
      </vt:variant>
    </vt:vector>
  </HeadingPairs>
  <TitlesOfParts>
    <vt:vector size="50" baseType="lpstr">
      <vt:lpstr>Arial</vt:lpstr>
      <vt:lpstr>Calibri</vt:lpstr>
      <vt:lpstr>CiscoSans ExtraLight</vt:lpstr>
      <vt:lpstr>Default Theme</vt:lpstr>
      <vt:lpstr>Module 17: Build a Small Network</vt:lpstr>
      <vt:lpstr>17.1 Devices in a Small Network</vt:lpstr>
      <vt:lpstr>Devices in a Small Network Small Network Topologies</vt:lpstr>
      <vt:lpstr>Devices in a Small Network Device Selection for a Small Network</vt:lpstr>
      <vt:lpstr>Devices in a Small Network IP Addressing for a Small Network</vt:lpstr>
      <vt:lpstr>Devices in a Small Network Redundancy in a Small Network</vt:lpstr>
      <vt:lpstr>Devices in a Small Network Traffic Management</vt:lpstr>
      <vt:lpstr>17.2 Small Network Applications and Protocols</vt:lpstr>
      <vt:lpstr>Small Network Applications and Protocols Common Applications</vt:lpstr>
      <vt:lpstr>Small Network Applications and Protocols Common Protocols</vt:lpstr>
      <vt:lpstr>Small Network Applications and Protocols Common Protocols (Cont.)</vt:lpstr>
      <vt:lpstr>Small Network Applications and Protocols Voice and Video Applications</vt:lpstr>
      <vt:lpstr>17.3 Scale to Larger Networks</vt:lpstr>
      <vt:lpstr>Scale to Larger Networks Small Network Growth</vt:lpstr>
      <vt:lpstr>Scale to Larger Networks Protocol Analysis</vt:lpstr>
      <vt:lpstr>Scale to Larger Networks Employee Network Utilization</vt:lpstr>
      <vt:lpstr>17.4 Verify Connectivity</vt:lpstr>
      <vt:lpstr>Verify Connectivity Verify Connectivity with Ping</vt:lpstr>
      <vt:lpstr>Verify Connectivity Verify Connectivity with Ping (Cont.)</vt:lpstr>
      <vt:lpstr>Verify Connectivity Extended Ping</vt:lpstr>
      <vt:lpstr>Verify Connectivity Verify Connectivity with Traceroute</vt:lpstr>
      <vt:lpstr>Verify Connectivity Verify Connectivity with Traceroute (Cont.)</vt:lpstr>
      <vt:lpstr>Verify Connectivity Verify Connectivity with Traceroute (Cont.)</vt:lpstr>
      <vt:lpstr>Verify Connectivity Extended Traceroute</vt:lpstr>
      <vt:lpstr>Verify Connectivity Extended Traceroute (Cont.)</vt:lpstr>
      <vt:lpstr>Verify Connectivity Network Baseline</vt:lpstr>
      <vt:lpstr>17.5 Host and IOS Commands</vt:lpstr>
      <vt:lpstr>Host and IOS Commands IP Configuration on a Windows Host</vt:lpstr>
      <vt:lpstr>Host and IOS Commands IP Configuration on a Linux Host</vt:lpstr>
      <vt:lpstr>Host and IOS Commands IP Configuration on a macOS Host</vt:lpstr>
      <vt:lpstr>Host and IOS Commands The arp Command</vt:lpstr>
      <vt:lpstr>Host and IOS Commands Common show Commands Revisited</vt:lpstr>
      <vt:lpstr>Host and IOS Commands The show cdp neighbors Command</vt:lpstr>
      <vt:lpstr>Host and IOS Commands The show ip interface brief Command</vt:lpstr>
      <vt:lpstr>17.6 Troubleshooting Methodologies</vt:lpstr>
      <vt:lpstr>Troubleshooting Methodologies Basic Troubleshooting Approaches</vt:lpstr>
      <vt:lpstr>Troubleshooting Methodologies Resolve or Escalate?</vt:lpstr>
      <vt:lpstr>Troubleshooting Methodologies The debug Command</vt:lpstr>
      <vt:lpstr>Troubleshooting Methodologies The terminal monitor Command</vt:lpstr>
      <vt:lpstr>17.7 Troubleshooting Scenarios</vt:lpstr>
      <vt:lpstr>Troubleshooting Scenarios Duplex Operation and Mismatch Issues</vt:lpstr>
      <vt:lpstr>Troubleshooting Scenarios IP Addressing Issues on IOS Devices</vt:lpstr>
      <vt:lpstr>Troubleshooting Scenarios IP Addressing Issues on End Devices</vt:lpstr>
      <vt:lpstr>Troubleshooting Scenarios Default Gateway Issues</vt:lpstr>
      <vt:lpstr>Troubleshooting Scenarios Troubleshooting DNS Issues</vt:lpstr>
      <vt:lpstr>Prezentácia programu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Basic Switch and End Device Configuration</dc:title>
  <dc:creator>Stephanie Harvey</dc:creator>
  <cp:lastModifiedBy>Julius Barath</cp:lastModifiedBy>
  <cp:revision>308</cp:revision>
  <dcterms:created xsi:type="dcterms:W3CDTF">2019-10-18T06:21:22Z</dcterms:created>
  <dcterms:modified xsi:type="dcterms:W3CDTF">2022-04-27T11:34:53Z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ffisync_ProviderInitializationData">
    <vt:lpwstr>https://cisco.jiveon.com</vt:lpwstr>
  </property>
  <property fmtid="{D5CDD505-2E9C-101B-9397-08002B2CF9AE}" pid="3" name="Offisync_UpdateToken">
    <vt:lpwstr>1</vt:lpwstr>
  </property>
  <property fmtid="{D5CDD505-2E9C-101B-9397-08002B2CF9AE}" pid="4" name="Offisync_ServerID">
    <vt:lpwstr>07841bbc-cd3c-4a76-827f-75a2226890f4</vt:lpwstr>
  </property>
  <property fmtid="{D5CDD505-2E9C-101B-9397-08002B2CF9AE}" pid="5" name="Offisync_UniqueId">
    <vt:lpwstr>1702406</vt:lpwstr>
  </property>
  <property fmtid="{D5CDD505-2E9C-101B-9397-08002B2CF9AE}" pid="6" name="Jive_VersionGuid">
    <vt:lpwstr>fd96a0b3-f68d-4727-8e4f-2128d37ed30a</vt:lpwstr>
  </property>
  <property fmtid="{D5CDD505-2E9C-101B-9397-08002B2CF9AE}" pid="7" name="Jive_LatestUserAccountName">
    <vt:lpwstr>alljohns</vt:lpwstr>
  </property>
  <property fmtid="{D5CDD505-2E9C-101B-9397-08002B2CF9AE}" pid="8" name="ArticulateGUID">
    <vt:lpwstr>F9A496F7-57D7-4028-9572-D40DFDF3715A</vt:lpwstr>
  </property>
  <property fmtid="{D5CDD505-2E9C-101B-9397-08002B2CF9AE}" pid="9" name="ArticulatePath">
    <vt:lpwstr>ITE7_Chp9_by_jg</vt:lpwstr>
  </property>
</Properties>
</file>
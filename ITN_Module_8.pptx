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tags/tag7.xml" ContentType="application/vnd.openxmlformats-officedocument.presentationml.tags+xml"/>
  <Override PartName="/ppt/notesSlides/notesSlide12.xml" ContentType="application/vnd.openxmlformats-officedocument.presentationml.notesSlide+xml"/>
  <Override PartName="/ppt/tags/tag8.xml" ContentType="application/vnd.openxmlformats-officedocument.presentationml.tags+xml"/>
  <Override PartName="/ppt/notesSlides/notesSlide13.xml" ContentType="application/vnd.openxmlformats-officedocument.presentationml.notesSlide+xml"/>
  <Override PartName="/ppt/tags/tag9.xml" ContentType="application/vnd.openxmlformats-officedocument.presentationml.tags+xml"/>
  <Override PartName="/ppt/notesSlides/notesSlide14.xml" ContentType="application/vnd.openxmlformats-officedocument.presentationml.notesSlide+xml"/>
  <Override PartName="/ppt/tags/tag10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11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ags/tag12.xml" ContentType="application/vnd.openxmlformats-officedocument.presentationml.tag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5"/>
  </p:notesMasterIdLst>
  <p:sldIdLst>
    <p:sldId id="876" r:id="rId2"/>
    <p:sldId id="925" r:id="rId3"/>
    <p:sldId id="759" r:id="rId4"/>
    <p:sldId id="628" r:id="rId5"/>
    <p:sldId id="926" r:id="rId6"/>
    <p:sldId id="1059" r:id="rId7"/>
    <p:sldId id="1060" r:id="rId8"/>
    <p:sldId id="1061" r:id="rId9"/>
    <p:sldId id="1062" r:id="rId10"/>
    <p:sldId id="1123" r:id="rId11"/>
    <p:sldId id="927" r:id="rId12"/>
    <p:sldId id="788" r:id="rId13"/>
    <p:sldId id="1070" r:id="rId14"/>
    <p:sldId id="1124" r:id="rId15"/>
    <p:sldId id="886" r:id="rId16"/>
    <p:sldId id="936" r:id="rId17"/>
    <p:sldId id="1072" r:id="rId18"/>
    <p:sldId id="1074" r:id="rId19"/>
    <p:sldId id="1075" r:id="rId20"/>
    <p:sldId id="1125" r:id="rId21"/>
    <p:sldId id="942" r:id="rId22"/>
    <p:sldId id="957" r:id="rId23"/>
    <p:sldId id="1126" r:id="rId24"/>
    <p:sldId id="1078" r:id="rId25"/>
    <p:sldId id="1079" r:id="rId26"/>
    <p:sldId id="1081" r:id="rId27"/>
    <p:sldId id="952" r:id="rId28"/>
    <p:sldId id="966" r:id="rId29"/>
    <p:sldId id="1082" r:id="rId30"/>
    <p:sldId id="1083" r:id="rId31"/>
    <p:sldId id="1127" r:id="rId32"/>
    <p:sldId id="1087" r:id="rId33"/>
    <p:sldId id="1121" r:id="rId34"/>
  </p:sldIdLst>
  <p:sldSz cx="9144000" cy="5143500" type="screen16x9"/>
  <p:notesSz cx="6858000" cy="9144000"/>
  <p:custDataLst>
    <p:tags r:id="rId36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/>
  <p:cmAuthor id="2" name="Bob Vachon" initials="BV" lastIdx="24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E48F51-5CF3-6B4A-BDC8-8EB3F8F31AA4}" v="2" dt="2020-03-06T10:22:12.46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7900" autoAdjust="0"/>
    <p:restoredTop sz="84898" autoAdjust="0"/>
  </p:normalViewPr>
  <p:slideViewPr>
    <p:cSldViewPr snapToGrid="0" showGuides="1">
      <p:cViewPr varScale="1">
        <p:scale>
          <a:sx n="144" d="100"/>
          <a:sy n="144" d="100"/>
        </p:scale>
        <p:origin x="1752" y="184"/>
      </p:cViewPr>
      <p:guideLst>
        <p:guide orient="horz" pos="1620"/>
        <p:guide pos="3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úlius Baráth" userId="e650c4ab-697e-4750-bd58-c1531aabce95" providerId="ADAL" clId="{20E48F51-5CF3-6B4A-BDC8-8EB3F8F31AA4}"/>
    <pc:docChg chg="delSld modSld">
      <pc:chgData name="Július Baráth" userId="e650c4ab-697e-4750-bd58-c1531aabce95" providerId="ADAL" clId="{20E48F51-5CF3-6B4A-BDC8-8EB3F8F31AA4}" dt="2020-03-06T10:23:49.067" v="9" actId="2696"/>
      <pc:docMkLst>
        <pc:docMk/>
      </pc:docMkLst>
      <pc:sldChg chg="del">
        <pc:chgData name="Július Baráth" userId="e650c4ab-697e-4750-bd58-c1531aabce95" providerId="ADAL" clId="{20E48F51-5CF3-6B4A-BDC8-8EB3F8F31AA4}" dt="2020-03-06T10:23:49.055" v="6" actId="2696"/>
        <pc:sldMkLst>
          <pc:docMk/>
          <pc:sldMk cId="4122653524" sldId="980"/>
        </pc:sldMkLst>
      </pc:sldChg>
      <pc:sldChg chg="modSp">
        <pc:chgData name="Július Baráth" userId="e650c4ab-697e-4750-bd58-c1531aabce95" providerId="ADAL" clId="{20E48F51-5CF3-6B4A-BDC8-8EB3F8F31AA4}" dt="2020-03-06T10:22:12.460" v="1" actId="1036"/>
        <pc:sldMkLst>
          <pc:docMk/>
          <pc:sldMk cId="1675267657" sldId="1061"/>
        </pc:sldMkLst>
        <pc:spChg chg="mod">
          <ac:chgData name="Július Baráth" userId="e650c4ab-697e-4750-bd58-c1531aabce95" providerId="ADAL" clId="{20E48F51-5CF3-6B4A-BDC8-8EB3F8F31AA4}" dt="2020-03-06T10:22:12.460" v="1" actId="1036"/>
          <ac:spMkLst>
            <pc:docMk/>
            <pc:sldMk cId="1675267657" sldId="1061"/>
            <ac:spMk id="8195" creationId="{00000000-0000-0000-0000-000000000000}"/>
          </ac:spMkLst>
        </pc:spChg>
      </pc:sldChg>
      <pc:sldChg chg="modSp">
        <pc:chgData name="Július Baráth" userId="e650c4ab-697e-4750-bd58-c1531aabce95" providerId="ADAL" clId="{20E48F51-5CF3-6B4A-BDC8-8EB3F8F31AA4}" dt="2020-03-06T10:22:29.696" v="2" actId="6549"/>
        <pc:sldMkLst>
          <pc:docMk/>
          <pc:sldMk cId="703112685" sldId="1070"/>
        </pc:sldMkLst>
        <pc:spChg chg="mod">
          <ac:chgData name="Július Baráth" userId="e650c4ab-697e-4750-bd58-c1531aabce95" providerId="ADAL" clId="{20E48F51-5CF3-6B4A-BDC8-8EB3F8F31AA4}" dt="2020-03-06T10:22:29.696" v="2" actId="6549"/>
          <ac:spMkLst>
            <pc:docMk/>
            <pc:sldMk cId="703112685" sldId="1070"/>
            <ac:spMk id="8195" creationId="{00000000-0000-0000-0000-000000000000}"/>
          </ac:spMkLst>
        </pc:spChg>
      </pc:sldChg>
      <pc:sldChg chg="del">
        <pc:chgData name="Július Baráth" userId="e650c4ab-697e-4750-bd58-c1531aabce95" providerId="ADAL" clId="{20E48F51-5CF3-6B4A-BDC8-8EB3F8F31AA4}" dt="2020-03-06T10:22:52.941" v="3" actId="2696"/>
        <pc:sldMkLst>
          <pc:docMk/>
          <pc:sldMk cId="2574144685" sldId="1071"/>
        </pc:sldMkLst>
      </pc:sldChg>
      <pc:sldChg chg="del">
        <pc:chgData name="Július Baráth" userId="e650c4ab-697e-4750-bd58-c1531aabce95" providerId="ADAL" clId="{20E48F51-5CF3-6B4A-BDC8-8EB3F8F31AA4}" dt="2020-03-06T10:23:10.135" v="4" actId="2696"/>
        <pc:sldMkLst>
          <pc:docMk/>
          <pc:sldMk cId="1532752531" sldId="1076"/>
        </pc:sldMkLst>
      </pc:sldChg>
      <pc:sldChg chg="del">
        <pc:chgData name="Július Baráth" userId="e650c4ab-697e-4750-bd58-c1531aabce95" providerId="ADAL" clId="{20E48F51-5CF3-6B4A-BDC8-8EB3F8F31AA4}" dt="2020-03-06T10:23:27.230" v="5" actId="2696"/>
        <pc:sldMkLst>
          <pc:docMk/>
          <pc:sldMk cId="3462195043" sldId="1086"/>
        </pc:sldMkLst>
      </pc:sldChg>
      <pc:sldChg chg="del">
        <pc:chgData name="Július Baráth" userId="e650c4ab-697e-4750-bd58-c1531aabce95" providerId="ADAL" clId="{20E48F51-5CF3-6B4A-BDC8-8EB3F8F31AA4}" dt="2020-03-06T10:23:49.059" v="7" actId="2696"/>
        <pc:sldMkLst>
          <pc:docMk/>
          <pc:sldMk cId="1069723964" sldId="1107"/>
        </pc:sldMkLst>
      </pc:sldChg>
      <pc:sldChg chg="del">
        <pc:chgData name="Július Baráth" userId="e650c4ab-697e-4750-bd58-c1531aabce95" providerId="ADAL" clId="{20E48F51-5CF3-6B4A-BDC8-8EB3F8F31AA4}" dt="2020-03-06T10:23:49.064" v="8" actId="2696"/>
        <pc:sldMkLst>
          <pc:docMk/>
          <pc:sldMk cId="494180527" sldId="1129"/>
        </pc:sldMkLst>
      </pc:sldChg>
      <pc:sldChg chg="del">
        <pc:chgData name="Július Baráth" userId="e650c4ab-697e-4750-bd58-c1531aabce95" providerId="ADAL" clId="{20E48F51-5CF3-6B4A-BDC8-8EB3F8F31AA4}" dt="2020-03-06T10:23:49.067" v="9" actId="2696"/>
        <pc:sldMkLst>
          <pc:docMk/>
          <pc:sldMk cId="1301599263" sldId="11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3/6/20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dirty="0"/>
              <a:t>Introduction to Networks v7.0 (ITN)</a:t>
            </a:r>
          </a:p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0A313ED8-785B-4D16-9B17-4143385249B9}" type="slidenum">
              <a:rPr lang="en-US" sz="800" b="0"/>
              <a:pPr algn="r"/>
              <a:t>2</a:t>
            </a:fld>
            <a:endParaRPr lang="en-US" sz="800" b="0" dirty="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8.0 – Introduction</a:t>
            </a:r>
            <a:endParaRPr lang="en-GB" b="0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8.0.2 –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What</a:t>
            </a:r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will I learn to do in this module?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79240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/>
              <a:pPr/>
              <a:t>4</a:t>
            </a:fld>
            <a:endParaRPr lang="en-US" altLang="en-US" sz="800" dirty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8.1.1 –  </a:t>
            </a:r>
            <a:r>
              <a:rPr lang="en-US" altLang="en-US" dirty="0"/>
              <a:t>The Network Layer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1901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5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8.1.2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IP Encapsulation</a:t>
            </a:r>
            <a:endParaRPr lang="en-US" baseline="0" dirty="0">
              <a:latin typeface="Arial" charset="0"/>
            </a:endParaRPr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6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8.1.3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Characteristics of 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7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8.1.4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Connectionless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8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8.1.5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 </a:t>
            </a:r>
            <a:r>
              <a:rPr lang="en-US" altLang="en-US" dirty="0"/>
              <a:t>Best Effort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9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59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10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8.1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 Characteristics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8.1.6</a:t>
            </a:r>
            <a:r>
              <a:rPr lang="en-US" baseline="0" dirty="0">
                <a:latin typeface="Arial" charset="0"/>
              </a:rPr>
              <a:t> </a:t>
            </a:r>
            <a:r>
              <a:rPr lang="en-US" sz="1200" b="0" dirty="0"/>
              <a:t>–</a:t>
            </a:r>
            <a:r>
              <a:rPr lang="en-US" sz="1200" b="0" baseline="0" dirty="0"/>
              <a:t> </a:t>
            </a:r>
            <a:r>
              <a:rPr lang="en-US" altLang="en-US" dirty="0"/>
              <a:t>Media Independent</a:t>
            </a:r>
            <a:endParaRPr lang="en-US" sz="1200" b="0" dirty="0"/>
          </a:p>
          <a:p>
            <a:pPr>
              <a:buFontTx/>
              <a:buNone/>
            </a:pPr>
            <a:r>
              <a:rPr lang="en-US" dirty="0"/>
              <a:t>8.1.7</a:t>
            </a:r>
            <a:r>
              <a:rPr lang="en-US" baseline="0" dirty="0"/>
              <a:t>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  <a:effectLst/>
              </a:rPr>
              <a:t>IP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Characteristics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286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12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8.2.1 – </a:t>
            </a:r>
            <a:r>
              <a:rPr lang="en-US" altLang="en-US" dirty="0"/>
              <a:t>IPv4 Packet Header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13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26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26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26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265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267211-205D-47E8-9F29-7E4C01D43DC3}" type="slidenum">
              <a:rPr lang="en-US" altLang="en-US" sz="800" smtClean="0">
                <a:solidFill>
                  <a:prstClr val="black"/>
                </a:solidFill>
              </a:rPr>
              <a:pPr/>
              <a:t>14</a:t>
            </a:fld>
            <a:endParaRPr lang="en-US" altLang="en-US" sz="800" dirty="0">
              <a:solidFill>
                <a:prstClr val="black"/>
              </a:solidFill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8.2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IPv4 Packet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8.2.2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IPv4 Packet Header Fields</a:t>
            </a:r>
            <a:endParaRPr lang="en-US" sz="1200" kern="1200" dirty="0">
              <a:solidFill>
                <a:schemeClr val="tx1"/>
              </a:solidFill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5545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8.3.1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Limitations of IPv4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8.3.2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IPv6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8.3.3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 IPv4 Packet Header Fields in the 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19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8.3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IPv6 Packets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8.3.4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– </a:t>
            </a:r>
            <a:r>
              <a:rPr lang="en-US" altLang="en-US" dirty="0"/>
              <a:t>IPv6 Packet Header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5876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8.4.1</a:t>
            </a:r>
            <a:r>
              <a:rPr lang="en-US" baseline="0" dirty="0"/>
              <a:t> – </a:t>
            </a:r>
            <a:r>
              <a:rPr lang="en-US" altLang="en-US" dirty="0"/>
              <a:t>Host Forwarding Decision (Cont.)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8.4.2</a:t>
            </a:r>
            <a:r>
              <a:rPr lang="en-US" baseline="0" dirty="0"/>
              <a:t> – </a:t>
            </a:r>
            <a:r>
              <a:rPr lang="en-US" altLang="en-US" dirty="0"/>
              <a:t>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8.4.3</a:t>
            </a:r>
            <a:r>
              <a:rPr lang="en-US" baseline="0" dirty="0"/>
              <a:t> – </a:t>
            </a:r>
            <a:r>
              <a:rPr lang="en-US" altLang="en-US" dirty="0"/>
              <a:t>A Host Routes to the Default Gateway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8.4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r>
              <a:rPr lang="en-US" dirty="0"/>
              <a:t>8.4.4</a:t>
            </a:r>
            <a:r>
              <a:rPr lang="en-US" baseline="0" dirty="0"/>
              <a:t> – </a:t>
            </a:r>
            <a:r>
              <a:rPr lang="en-US" altLang="en-US" dirty="0"/>
              <a:t>Host Routing Tables</a:t>
            </a:r>
          </a:p>
          <a:p>
            <a:pPr>
              <a:buFontTx/>
              <a:buNone/>
            </a:pPr>
            <a:r>
              <a:rPr lang="en-US" sz="1200" kern="120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8.4.5</a:t>
            </a:r>
            <a:r>
              <a:rPr lang="en-US" sz="1200" kern="1200" baseline="0" dirty="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rPr>
              <a:t> </a:t>
            </a:r>
            <a:r>
              <a:rPr lang="en-US" sz="1200" dirty="0">
                <a:effectLst/>
              </a:rPr>
              <a:t>– 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How a Host Routes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4409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27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1813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8.5.1 – </a:t>
            </a:r>
            <a:r>
              <a:rPr lang="en-US" altLang="en-US" dirty="0"/>
              <a:t>Router Packet Forwarding Decision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28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8.5.2 – </a:t>
            </a:r>
            <a:r>
              <a:rPr lang="en-US" altLang="en-US" dirty="0"/>
              <a:t>IP Router Routing Table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29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8.5.3 – </a:t>
            </a:r>
            <a:r>
              <a:rPr lang="en-US" altLang="en-US" sz="1200" dirty="0"/>
              <a:t>Static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8.5.4 – </a:t>
            </a:r>
            <a:r>
              <a:rPr lang="en-US" altLang="en-US" sz="1200" dirty="0"/>
              <a:t>Dynamic Routing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31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</a:t>
            </a:r>
            <a:r>
              <a:rPr lang="en-US" sz="1200" baseline="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– </a:t>
            </a:r>
            <a:r>
              <a:rPr lang="en-US" sz="12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Network Layer</a:t>
            </a:r>
            <a:endParaRPr lang="en-US" dirty="0"/>
          </a:p>
          <a:p>
            <a:pPr>
              <a:buFontTx/>
              <a:buNone/>
            </a:pPr>
            <a:r>
              <a:rPr lang="en-US" sz="1200" b="0" dirty="0"/>
              <a:t>8.5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r>
              <a:rPr lang="en-US" dirty="0">
                <a:latin typeface="Arial" charset="0"/>
              </a:rPr>
              <a:t>8.5.6 – </a:t>
            </a:r>
            <a:r>
              <a:rPr lang="en-US" altLang="en-US" dirty="0"/>
              <a:t>Introduction to an IPv4 Routing Table</a:t>
            </a:r>
            <a:endParaRPr lang="en-US" dirty="0">
              <a:latin typeface="Arial" charset="0"/>
            </a:endParaRPr>
          </a:p>
          <a:p>
            <a:pPr marL="0" marR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 charset="0"/>
              </a:rPr>
              <a:t>8.5.7 – </a:t>
            </a:r>
            <a:r>
              <a:rPr lang="en-US" sz="1200" dirty="0">
                <a:effectLst/>
              </a:rPr>
              <a:t>Check Your Understanding – </a:t>
            </a:r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Routing</a:t>
            </a:r>
            <a:endParaRPr lang="en-US" dirty="0"/>
          </a:p>
          <a:p>
            <a:pPr>
              <a:lnSpc>
                <a:spcPct val="80000"/>
              </a:lnSpc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>
                <a:solidFill>
                  <a:prstClr val="black"/>
                </a:solidFill>
              </a:rPr>
              <a:pPr/>
              <a:t>32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9574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 dirty="0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 dirty="0">
                <a:sym typeface="Arial" pitchFamily="34" charset="0"/>
              </a:rPr>
              <a:t>Second level</a:t>
            </a:r>
          </a:p>
          <a:p>
            <a:pPr lvl="2"/>
            <a:r>
              <a:rPr lang="en-US" dirty="0">
                <a:sym typeface="Arial" pitchFamily="34" charset="0"/>
              </a:rPr>
              <a:t>Third level</a:t>
            </a:r>
          </a:p>
          <a:p>
            <a:pPr lvl="3"/>
            <a:r>
              <a:rPr lang="en-US" dirty="0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 dirty="0">
                <a:sym typeface="Arial" pitchFamily="34" charset="0"/>
              </a:rP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91366" y="2125682"/>
            <a:ext cx="7237590" cy="1270941"/>
          </a:xfrm>
        </p:spPr>
        <p:txBody>
          <a:bodyPr/>
          <a:lstStyle/>
          <a:p>
            <a:r>
              <a:rPr lang="en-US" sz="46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8: Network Layer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3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12812"/>
          </a:xfrm>
        </p:spPr>
        <p:txBody>
          <a:bodyPr/>
          <a:lstStyle/>
          <a:p>
            <a:pPr eaLnBrk="1" hangingPunct="1"/>
            <a:r>
              <a:rPr lang="en-US" dirty="0"/>
              <a:t>Module 8: Topics</a:t>
            </a:r>
          </a:p>
        </p:txBody>
      </p:sp>
      <p:sp>
        <p:nvSpPr>
          <p:cNvPr id="6147" name="Rectangle 34"/>
          <p:cNvSpPr>
            <a:spLocks noGrp="1" noChangeArrowheads="1"/>
          </p:cNvSpPr>
          <p:nvPr>
            <p:ph idx="1"/>
          </p:nvPr>
        </p:nvSpPr>
        <p:spPr>
          <a:xfrm>
            <a:off x="99461" y="654206"/>
            <a:ext cx="8769026" cy="281711"/>
          </a:xfrm>
        </p:spPr>
        <p:txBody>
          <a:bodyPr/>
          <a:lstStyle/>
          <a:p>
            <a:pPr marL="0" indent="0">
              <a:spcBef>
                <a:spcPct val="30000"/>
              </a:spcBef>
              <a:buNone/>
            </a:pPr>
            <a:r>
              <a:rPr lang="en-US" dirty="0"/>
              <a:t>What will I learn to do in this module?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  <a:p>
            <a:pPr marL="89297" indent="0">
              <a:spcBef>
                <a:spcPct val="30000"/>
              </a:spcBef>
              <a:buNone/>
            </a:pP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38170"/>
              </p:ext>
            </p:extLst>
          </p:nvPr>
        </p:nvGraphicFramePr>
        <p:xfrm>
          <a:off x="522512" y="1140033"/>
          <a:ext cx="8348355" cy="28351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1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3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216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Topic Title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Topic Objective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 dirty="0"/>
                        <a:t>Network Layer Characteristics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how the network layer uses IP protocols for reliable communications.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/>
                        <a:t>IPv4 Packet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the role of the major header fields in the IPv4 packet.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431">
                <a:tc>
                  <a:txBody>
                    <a:bodyPr/>
                    <a:lstStyle/>
                    <a:p>
                      <a:r>
                        <a:rPr lang="en-US" b="1"/>
                        <a:t>IPv6 Packet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the role of the major header fields in the IPv6 packet.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r>
                        <a:rPr lang="en-US" b="1"/>
                        <a:t>How a Host Routes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Explain how network devices use routing tables to direct packets to a destination network.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647">
                <a:tc>
                  <a:txBody>
                    <a:bodyPr/>
                    <a:lstStyle/>
                    <a:p>
                      <a:r>
                        <a:rPr lang="en-US" b="1"/>
                        <a:t>Router Routing Tables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Explain the function of fields in the routing table of a router.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381894665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8.1 Network Layer Characteristics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3"/>
            <a:ext cx="5270088" cy="789880"/>
          </a:xfrm>
        </p:spPr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The Network Layer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8753" y="834570"/>
            <a:ext cx="5151336" cy="31769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Provides services to allow end devices to exchange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version 4 (IPv4) and IP version 6 (IPv6) are the principle network layer communication protocols.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network layer performs four basic operations: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Addressing end devices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Encapsulation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Routing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De-encapsulation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1862" y="100234"/>
            <a:ext cx="3067269" cy="201651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0088" y="2355550"/>
            <a:ext cx="3230819" cy="245814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4247823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IP Encapsulation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9" y="905949"/>
            <a:ext cx="3700139" cy="376437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encapsulates the transport layer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can use either an IPv4 or IPv6 packet and not impact the layer 4 segment.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packet will be examined by all layer 3 devices as it traverses the network.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 addressing does not change from source to destination.</a:t>
            </a:r>
          </a:p>
          <a:p>
            <a:pPr marL="0" indent="0">
              <a:buNone/>
            </a:pPr>
            <a:r>
              <a:rPr lang="en-US" sz="1600" b="1" dirty="0"/>
              <a:t>Note: </a:t>
            </a:r>
            <a:r>
              <a:rPr lang="en-US" sz="1600" dirty="0"/>
              <a:t>NAT will change addressing, but will be discussed in a later module.</a:t>
            </a:r>
          </a:p>
          <a:p>
            <a:pPr lvl="1"/>
            <a:endParaRPr lang="en-US" dirty="0">
              <a:effectLst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747" y="905949"/>
            <a:ext cx="5126909" cy="290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12767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 err="1"/>
              <a:t>Characteristics</a:t>
            </a:r>
            <a:r>
              <a:rPr lang="en-US" altLang="en-US" dirty="0"/>
              <a:t> of IP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24608" y="894073"/>
            <a:ext cx="9019391" cy="19474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IP is meant to have low overhead and may be described as:</a:t>
            </a:r>
          </a:p>
          <a:p>
            <a:pPr lvl="1"/>
            <a:r>
              <a:rPr lang="en-US" sz="1800" dirty="0"/>
              <a:t>Connectionless </a:t>
            </a:r>
          </a:p>
          <a:p>
            <a:pPr lvl="1"/>
            <a:r>
              <a:rPr lang="en-US" sz="1800" dirty="0"/>
              <a:t>Best Effort</a:t>
            </a:r>
          </a:p>
          <a:p>
            <a:pPr lvl="1"/>
            <a:r>
              <a:rPr lang="en-US" sz="1800" dirty="0"/>
              <a:t>Media Independent</a:t>
            </a:r>
          </a:p>
        </p:txBody>
      </p:sp>
    </p:spTree>
    <p:extLst>
      <p:ext uri="{BB962C8B-B14F-4D97-AF65-F5344CB8AC3E}">
        <p14:creationId xmlns:p14="http://schemas.microsoft.com/office/powerpoint/2010/main" val="322054925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Connectionless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6"/>
            <a:ext cx="8853286" cy="2110086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Connectionless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establish a connection with the destination before sending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There is no control information needed (synchronizations, acknowledgments,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destination will receive the packet when it arrives, but no pre-notifications are sent by IP.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If there is a need for connection-oriented traffic, then another protocol will handle this (typically TCP at the transport layer).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823" y="3028034"/>
            <a:ext cx="5884353" cy="1731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774427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Best Effort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67323"/>
            <a:ext cx="3773052" cy="3633655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 is Best Effort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will not guarantee delivery of the packet.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has reduced overhead since there is no mechanism to resend data that is not received.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expect acknowledgments.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IP does not know if the other device is operational or if it received the packet.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0503" y="858446"/>
            <a:ext cx="4831504" cy="2849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6765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798945"/>
            <a:ext cx="4028689" cy="385171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IP is unreliable:  </a:t>
            </a:r>
          </a:p>
          <a:p>
            <a:pPr lvl="1"/>
            <a:r>
              <a:rPr lang="en-US" sz="1500" dirty="0"/>
              <a:t>It cannot manage or fix undelivered or corrupt packets.</a:t>
            </a:r>
          </a:p>
          <a:p>
            <a:pPr lvl="1"/>
            <a:r>
              <a:rPr lang="en-US" sz="1500" dirty="0"/>
              <a:t>IP cannot retransmit after an error.</a:t>
            </a:r>
          </a:p>
          <a:p>
            <a:pPr lvl="1"/>
            <a:r>
              <a:rPr lang="en-US" sz="1500" dirty="0"/>
              <a:t>IP cannot realign out of sequence packets.</a:t>
            </a:r>
          </a:p>
          <a:p>
            <a:pPr lvl="1"/>
            <a:r>
              <a:rPr lang="en-US" sz="1500" dirty="0"/>
              <a:t>IP must rely on other protocols for these functions.</a:t>
            </a:r>
          </a:p>
          <a:p>
            <a:pPr marL="0" indent="0">
              <a:buNone/>
            </a:pPr>
            <a:r>
              <a:rPr lang="en-US" dirty="0"/>
              <a:t>IP is media Independent:</a:t>
            </a:r>
          </a:p>
          <a:p>
            <a:pPr lvl="1"/>
            <a:r>
              <a:rPr lang="en-US" sz="1500" dirty="0"/>
              <a:t>IP does not concern itself with the type of frame required at the data link layer or the media type at the physical layer.</a:t>
            </a:r>
          </a:p>
          <a:p>
            <a:pPr lvl="1"/>
            <a:r>
              <a:rPr lang="en-US" sz="1500" dirty="0"/>
              <a:t>IP can be sent over any media type: copper, fiber, or wireless.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615737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Network Layer Characteristics</a:t>
            </a:r>
            <a:br>
              <a:rPr lang="en-US" altLang="en-US" dirty="0"/>
            </a:br>
            <a:r>
              <a:rPr lang="en-US" altLang="en-US" dirty="0"/>
              <a:t>Media Independent (Contd.)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0858" y="858445"/>
            <a:ext cx="4028689" cy="379221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The network layer will establish the Maximum Transmission Unit (MTU).</a:t>
            </a:r>
          </a:p>
          <a:p>
            <a:pPr lvl="1"/>
            <a:r>
              <a:rPr lang="en-US" sz="1600" dirty="0"/>
              <a:t>Network layer receives this from control information sent by the data link layer.</a:t>
            </a:r>
          </a:p>
          <a:p>
            <a:pPr lvl="1"/>
            <a:r>
              <a:rPr lang="en-US" sz="1600" dirty="0"/>
              <a:t>The network then establishes the MTU size.</a:t>
            </a:r>
          </a:p>
          <a:p>
            <a:pPr marL="0" indent="0">
              <a:buNone/>
            </a:pPr>
            <a:r>
              <a:rPr lang="en-US" sz="1600" dirty="0"/>
              <a:t>Fragmentation is when Layer 3 splits the IPv4 packet into smaller units.</a:t>
            </a:r>
          </a:p>
          <a:p>
            <a:pPr lvl="1"/>
            <a:r>
              <a:rPr lang="en-US" sz="1600" dirty="0"/>
              <a:t>Fragmenting causes latency.</a:t>
            </a:r>
          </a:p>
          <a:p>
            <a:pPr lvl="1"/>
            <a:r>
              <a:rPr lang="en-US" sz="1600" dirty="0"/>
              <a:t>IPv6 does not fragment packets.</a:t>
            </a:r>
          </a:p>
          <a:p>
            <a:pPr lvl="1"/>
            <a:r>
              <a:rPr lang="en-US" sz="1600" dirty="0"/>
              <a:t>Example: Router goes from Ethernet to a slow WAN with a smaller MTU</a:t>
            </a:r>
          </a:p>
          <a:p>
            <a:pPr lvl="1"/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199" y="1104038"/>
            <a:ext cx="4774017" cy="317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30875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8.2 IPv4 Packet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833744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246742" y="798946"/>
            <a:ext cx="8184025" cy="349728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dirty="0"/>
              <a:t>IPv4 is the primary communication protocol for the network layer.</a:t>
            </a:r>
          </a:p>
          <a:p>
            <a:pPr marL="0" indent="0">
              <a:buNone/>
            </a:pPr>
            <a:r>
              <a:rPr lang="en-US" altLang="en-US" sz="1600" dirty="0"/>
              <a:t>The network header has many purposes:</a:t>
            </a:r>
          </a:p>
          <a:p>
            <a:pPr lvl="1"/>
            <a:r>
              <a:rPr lang="en-US" altLang="en-US" sz="1600" dirty="0"/>
              <a:t>It ensures the packet is sent in the correct direction (to the destination).</a:t>
            </a:r>
          </a:p>
          <a:p>
            <a:pPr lvl="1"/>
            <a:r>
              <a:rPr lang="en-US" altLang="en-US" sz="1600" dirty="0"/>
              <a:t>It contains information for network layer processing in various fields.</a:t>
            </a:r>
          </a:p>
          <a:p>
            <a:pPr lvl="1"/>
            <a:r>
              <a:rPr lang="en-US" altLang="en-US" sz="1600" dirty="0"/>
              <a:t>The information in the header is used by all layer 3 devices that handle the packet</a:t>
            </a:r>
          </a:p>
          <a:p>
            <a:pPr lvl="1"/>
            <a:endParaRPr lang="en-US" altLang="en-US" sz="1600" dirty="0"/>
          </a:p>
          <a:p>
            <a:pPr marL="0" indent="0">
              <a:buNone/>
            </a:pPr>
            <a:r>
              <a:rPr lang="en-US" altLang="ja-JP" sz="16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223303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09728" y="792335"/>
            <a:ext cx="4690872" cy="288355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The IPv4 network header characteristics:</a:t>
            </a:r>
          </a:p>
          <a:p>
            <a:pPr lvl="1"/>
            <a:r>
              <a:rPr lang="en-US" altLang="ja-JP" sz="1600" dirty="0"/>
              <a:t>It is in binary.</a:t>
            </a:r>
          </a:p>
          <a:p>
            <a:pPr lvl="1"/>
            <a:r>
              <a:rPr lang="en-US" altLang="ja-JP" sz="1600" dirty="0"/>
              <a:t>Contains several fields of information</a:t>
            </a:r>
          </a:p>
          <a:p>
            <a:pPr lvl="1"/>
            <a:r>
              <a:rPr lang="en-US" altLang="ja-JP" sz="1600" dirty="0"/>
              <a:t>Diagram is read from left to right, 4 bytes per line</a:t>
            </a:r>
          </a:p>
          <a:p>
            <a:pPr lvl="1"/>
            <a:r>
              <a:rPr lang="en-US" altLang="ja-JP" sz="1600" dirty="0"/>
              <a:t>The two most important fields are the source and destination.</a:t>
            </a:r>
          </a:p>
          <a:p>
            <a:pPr marL="0" indent="0">
              <a:buNone/>
            </a:pPr>
            <a:endParaRPr lang="en-US" altLang="ja-JP" sz="1600" dirty="0"/>
          </a:p>
          <a:p>
            <a:pPr marL="0" indent="0">
              <a:buNone/>
            </a:pPr>
            <a:r>
              <a:rPr lang="en-US" altLang="ja-JP" sz="1600" dirty="0"/>
              <a:t>Protocols may have one or more functions.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313" y="841248"/>
            <a:ext cx="4251960" cy="4080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03112685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3999" cy="731520"/>
          </a:xfrm>
        </p:spPr>
        <p:txBody>
          <a:bodyPr/>
          <a:lstStyle/>
          <a:p>
            <a:r>
              <a:rPr lang="en-US" altLang="en-US" sz="1600" dirty="0"/>
              <a:t>IPv4 Packet</a:t>
            </a:r>
            <a:br>
              <a:rPr lang="en-US" altLang="en-US" dirty="0"/>
            </a:br>
            <a:r>
              <a:rPr lang="en-US" altLang="en-US" dirty="0"/>
              <a:t>IPv4 Packet Header Fields</a:t>
            </a:r>
          </a:p>
        </p:txBody>
      </p:sp>
      <p:sp>
        <p:nvSpPr>
          <p:cNvPr id="8195" name="Rectangle 6"/>
          <p:cNvSpPr>
            <a:spLocks noGrp="1" noChangeArrowheads="1"/>
          </p:cNvSpPr>
          <p:nvPr>
            <p:ph idx="1"/>
          </p:nvPr>
        </p:nvSpPr>
        <p:spPr>
          <a:xfrm>
            <a:off x="155448" y="792335"/>
            <a:ext cx="8723376" cy="542689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  <a:endParaRPr lang="en-US" altLang="ja-JP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451830"/>
              </p:ext>
            </p:extLst>
          </p:nvPr>
        </p:nvGraphicFramePr>
        <p:xfrm>
          <a:off x="164592" y="1417319"/>
          <a:ext cx="8750808" cy="28346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v4, as opposed to v6, a 4 bit field= 0100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Differentiated Services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or the older </a:t>
                      </a:r>
                      <a:r>
                        <a:rPr lang="en-US" baseline="0" dirty="0" err="1"/>
                        <a:t>IntServ</a:t>
                      </a:r>
                      <a:r>
                        <a:rPr lang="en-US" baseline="0" dirty="0"/>
                        <a:t> – </a:t>
                      </a:r>
                      <a:r>
                        <a:rPr lang="en-US" baseline="0" dirty="0" err="1"/>
                        <a:t>ToS</a:t>
                      </a:r>
                      <a:r>
                        <a:rPr lang="en-US" baseline="0" dirty="0"/>
                        <a:t> or Type of Service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Header Checksum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Detect corruption in the IPv4 header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Time to Live (TTL)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Layer 3 hop count. When it becomes zero the router</a:t>
                      </a:r>
                      <a:r>
                        <a:rPr lang="en-US" baseline="0" dirty="0"/>
                        <a:t> will discard the packet.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Protocol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8414312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8.3 IPv6 Packets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985433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Limitations of IPv4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672954" cy="357342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IPv4 has three major limitations:</a:t>
            </a:r>
          </a:p>
          <a:p>
            <a:pPr lvl="1"/>
            <a:r>
              <a:rPr lang="en-US" sz="1600" dirty="0"/>
              <a:t>IPv4 address depletion – We have basically run out of IPv4 addressing.</a:t>
            </a:r>
          </a:p>
          <a:p>
            <a:pPr lvl="1"/>
            <a:r>
              <a:rPr lang="en-US" sz="1600" dirty="0"/>
              <a:t>Lack of end-to-end connectivity – To make IPv4 survive this long, private addressing and NAT were created. This ended direct communications with public addressing.</a:t>
            </a:r>
          </a:p>
          <a:p>
            <a:pPr lvl="1"/>
            <a:r>
              <a:rPr lang="en-US" sz="1600" dirty="0"/>
              <a:t>Increased network complexity – NAT was meant as temporary solution and creates issues on the network as a side effect of manipulating the network headers addressing. NAT causes latency and troubleshooting issues.</a:t>
            </a:r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</p:spTree>
    <p:extLst>
      <p:ext uri="{BB962C8B-B14F-4D97-AF65-F5344CB8AC3E}">
        <p14:creationId xmlns:p14="http://schemas.microsoft.com/office/powerpoint/2010/main" val="1047103102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Overview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6"/>
            <a:ext cx="3997630" cy="384121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was developed by Internet Engineering Task Force (IETF).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IPv6 overcomes the limitations of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Improvements that IPv6 provides: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Increased address space </a:t>
            </a:r>
            <a:r>
              <a:rPr lang="en-US" sz="1500" dirty="0"/>
              <a:t>– based on 128 bit address, not 32 bits</a:t>
            </a:r>
            <a:endParaRPr lang="fr-FR" sz="15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Improved packet handling </a:t>
            </a:r>
            <a:r>
              <a:rPr lang="en-US" sz="1500" dirty="0"/>
              <a:t>– simplified header with fewer fields</a:t>
            </a:r>
            <a:endParaRPr lang="en-US" sz="1500" b="1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500" b="1" dirty="0"/>
              <a:t>Eliminates the need for NAT </a:t>
            </a:r>
            <a:r>
              <a:rPr lang="en-US" sz="1500" dirty="0"/>
              <a:t>– since there is a huge amount of addressing, there is no need to use private addressing internally and be mapped to a shared public address</a:t>
            </a:r>
            <a:endParaRPr lang="en-CA" altLang="en-US" sz="1500" dirty="0"/>
          </a:p>
          <a:p>
            <a:pPr lvl="1"/>
            <a:endParaRPr lang="en-CA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004" y="804672"/>
            <a:ext cx="4886995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630264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IPv4 Packet Header Fields in the 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3359855" cy="373308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IPv6 header is simplified, but not smaller.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The header is fixed at 40 Bytes or octets long.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Several IPv4 fields were removed to improve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IPv4 fields were removed to improve performance:</a:t>
            </a:r>
          </a:p>
          <a:p>
            <a:pPr lvl="1"/>
            <a:r>
              <a:rPr lang="en-US" sz="1600" dirty="0"/>
              <a:t>Flag</a:t>
            </a:r>
          </a:p>
          <a:p>
            <a:pPr lvl="1"/>
            <a:r>
              <a:rPr lang="en-US" sz="1600" dirty="0"/>
              <a:t>Fragment Offset</a:t>
            </a:r>
          </a:p>
          <a:p>
            <a:pPr lvl="1"/>
            <a:r>
              <a:rPr lang="en-US" sz="1600" dirty="0"/>
              <a:t>Header Checksum</a:t>
            </a:r>
          </a:p>
          <a:p>
            <a:pPr lvl="1"/>
            <a:endParaRPr lang="en-CA" alt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7245" y="969264"/>
            <a:ext cx="5526755" cy="3579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2725155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Packet Header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457933"/>
          </a:xfrm>
        </p:spPr>
        <p:txBody>
          <a:bodyPr/>
          <a:lstStyle/>
          <a:p>
            <a:pPr marL="0" indent="0">
              <a:buNone/>
            </a:pPr>
            <a:r>
              <a:rPr lang="en-US" altLang="ja-JP" sz="1600" dirty="0"/>
              <a:t>Significant fields in the IPv4 header:</a:t>
            </a:r>
          </a:p>
          <a:p>
            <a:pPr lvl="1"/>
            <a:endParaRPr lang="en-CA" alt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482612"/>
              </p:ext>
            </p:extLst>
          </p:nvPr>
        </p:nvGraphicFramePr>
        <p:xfrm>
          <a:off x="219456" y="1449174"/>
          <a:ext cx="8750808" cy="3366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9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1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9993">
                <a:tc>
                  <a:txBody>
                    <a:bodyPr/>
                    <a:lstStyle/>
                    <a:p>
                      <a:r>
                        <a:rPr lang="en-US" dirty="0"/>
                        <a:t>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52">
                <a:tc>
                  <a:txBody>
                    <a:bodyPr/>
                    <a:lstStyle/>
                    <a:p>
                      <a:r>
                        <a:rPr lang="en-US" b="1" dirty="0"/>
                        <a:t>Version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</a:t>
                      </a:r>
                      <a:r>
                        <a:rPr lang="en-US" baseline="0" dirty="0"/>
                        <a:t> will be for v6, as opposed to v4, a 4 bit field= 0110 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071">
                <a:tc>
                  <a:txBody>
                    <a:bodyPr/>
                    <a:lstStyle/>
                    <a:p>
                      <a:r>
                        <a:rPr lang="en-US" b="1" dirty="0"/>
                        <a:t>Traffic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Used for </a:t>
                      </a:r>
                      <a:r>
                        <a:rPr lang="en-US" dirty="0" err="1"/>
                        <a:t>QoS</a:t>
                      </a:r>
                      <a:r>
                        <a:rPr lang="en-US" baseline="0" dirty="0"/>
                        <a:t>: Equivalent to </a:t>
                      </a:r>
                      <a:r>
                        <a:rPr lang="en-US" baseline="0" dirty="0" err="1"/>
                        <a:t>DiffServ</a:t>
                      </a:r>
                      <a:r>
                        <a:rPr lang="en-US" baseline="0" dirty="0"/>
                        <a:t> – DS field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716">
                <a:tc>
                  <a:txBody>
                    <a:bodyPr/>
                    <a:lstStyle/>
                    <a:p>
                      <a:r>
                        <a:rPr lang="en-US" b="1" dirty="0"/>
                        <a:t>Flow Label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aseline="0" dirty="0"/>
                        <a:t>Informs device to handle identical flow labels the same way, </a:t>
                      </a:r>
                      <a:r>
                        <a:rPr lang="en-US" dirty="0"/>
                        <a:t>20 bit field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068">
                <a:tc>
                  <a:txBody>
                    <a:bodyPr/>
                    <a:lstStyle/>
                    <a:p>
                      <a:r>
                        <a:rPr lang="en-US" b="1" dirty="0"/>
                        <a:t>Payload Length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This 16-bit field indicates the length of the data portion or payload of the IPv6 packet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Next Header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I.D.s next level</a:t>
                      </a:r>
                      <a:r>
                        <a:rPr lang="en-US" baseline="0" dirty="0"/>
                        <a:t> protocol: ICMP, TCP, UDP, etc.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909">
                <a:tc>
                  <a:txBody>
                    <a:bodyPr/>
                    <a:lstStyle/>
                    <a:p>
                      <a:r>
                        <a:rPr lang="en-US" b="1" dirty="0"/>
                        <a:t>Hop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Replaces</a:t>
                      </a:r>
                      <a:r>
                        <a:rPr lang="en-US" baseline="0" dirty="0"/>
                        <a:t> TTL field </a:t>
                      </a:r>
                      <a:r>
                        <a:rPr lang="en-US" dirty="0"/>
                        <a:t>Layer 3 hop count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Source IPv4 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source address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66">
                <a:tc>
                  <a:txBody>
                    <a:bodyPr/>
                    <a:lstStyle/>
                    <a:p>
                      <a:r>
                        <a:rPr lang="en-US" b="1" dirty="0"/>
                        <a:t>Destination IPV4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128 bit destination</a:t>
                      </a:r>
                      <a:r>
                        <a:rPr lang="en-US" baseline="0" dirty="0"/>
                        <a:t> 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041384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IPv6 Packets</a:t>
            </a:r>
            <a:br>
              <a:rPr lang="en-US" altLang="en-US" dirty="0"/>
            </a:br>
            <a:r>
              <a:rPr lang="en-US" altLang="en-US" dirty="0"/>
              <a:t>IPv6 Packet Header (Cont.)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23574" y="867947"/>
            <a:ext cx="8243186" cy="3073117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IPv6 packet may also contain extension headers (EH). </a:t>
            </a:r>
          </a:p>
          <a:p>
            <a:pPr marL="0" indent="0">
              <a:buNone/>
            </a:pPr>
            <a:r>
              <a:rPr lang="en-US" sz="1600" dirty="0"/>
              <a:t>EH headers characteristics: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provide optional network layer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optional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are placed between IPv6 header and the payload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1600" dirty="0"/>
              <a:t>may be used for fragmentation, security, mobility support, etc.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en-US" sz="1600" dirty="0"/>
          </a:p>
          <a:p>
            <a:pPr marL="0" indent="0">
              <a:buNone/>
            </a:pPr>
            <a:r>
              <a:rPr lang="en-US" altLang="en-US" sz="1600" b="1" dirty="0"/>
              <a:t>Note: </a:t>
            </a:r>
            <a:r>
              <a:rPr lang="en-US" altLang="en-US" sz="1600" dirty="0"/>
              <a:t>Unlike IPv4, routers do not fragment IPv6 packets.</a:t>
            </a:r>
            <a:endParaRPr lang="en-CA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392983842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8.4 How a Host Routes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9772822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516566" cy="22508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Packets are always created at the source.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Each host devices creates their own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 host can send packets to the following:</a:t>
            </a:r>
          </a:p>
          <a:p>
            <a:pPr lvl="1"/>
            <a:r>
              <a:rPr lang="en-US" sz="1700" dirty="0"/>
              <a:t>Itself – 127.0.0.1 (IPv4), ::1 (IPv6)</a:t>
            </a:r>
          </a:p>
          <a:p>
            <a:pPr lvl="1"/>
            <a:r>
              <a:rPr lang="en-US" sz="1700" dirty="0"/>
              <a:t>Local Hosts – destination is on the same LAN</a:t>
            </a:r>
          </a:p>
          <a:p>
            <a:pPr lvl="1"/>
            <a:r>
              <a:rPr lang="en-US" sz="1700" dirty="0"/>
              <a:t>Remote Hosts – devices are not on the same LAN 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1070" y="3072057"/>
            <a:ext cx="4799457" cy="1922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00830764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"/>
            <a:ext cx="9144000" cy="685800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Host Forwarding Decision (Cont.)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728" y="711504"/>
            <a:ext cx="8915400" cy="25304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Source device determines whether the destination is local or remote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Method of determination: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IPv4 – Source uses its own IP address and Subnet mask, along with the destination IP address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IPv6 – Source uses the network address and prefix advertised by the local router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Local traffic is dumped out the host interface to be handled by an intermediary device.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Remote traffic is forwarded directly to the default gateway on the LAN.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2003" y="3329608"/>
            <a:ext cx="4296537" cy="1545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0649388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5760" y="821052"/>
            <a:ext cx="8535435" cy="3376044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router or layer 3 switch can be a default-gateway.</a:t>
            </a:r>
          </a:p>
          <a:p>
            <a:pPr marL="0" indent="0">
              <a:buNone/>
            </a:pPr>
            <a:r>
              <a:rPr lang="en-US" sz="1800" dirty="0"/>
              <a:t>Features of a default gateway (DGW):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must have an IP address in the same range as the rest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accept data from the LAN and is capable of forwarding traffic off of the LAN.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It can route to other networks.</a:t>
            </a:r>
          </a:p>
          <a:p>
            <a:pPr marL="0" indent="0">
              <a:buNone/>
            </a:pPr>
            <a:r>
              <a:rPr lang="en-US" sz="1800" dirty="0"/>
              <a:t>If a device has no default gateway or a bad default gateway, its traffic will not be able to leave the LAN.</a:t>
            </a:r>
          </a:p>
          <a:p>
            <a:pPr lvl="1"/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4121643246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</a:t>
            </a:r>
            <a:br>
              <a:rPr lang="en-US" altLang="en-US" sz="1600" dirty="0"/>
            </a:br>
            <a:r>
              <a:rPr lang="en-US" altLang="en-US" dirty="0"/>
              <a:t>A Host Routes to the Default Gateway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4115747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 host will know the default gateway (DGW) either statically or through DHCP in IPv4.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IPv6 sends the DGW through a router solicitation (RS) or can be configured manually.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 A DGW is static route which will be a last resort route in the routing table.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All device on the LAN will need the DGW of the router if they intend to send traffic remotely.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870" y="1501170"/>
            <a:ext cx="4765834" cy="2229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5191498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57551"/>
          </a:xfrm>
        </p:spPr>
        <p:txBody>
          <a:bodyPr/>
          <a:lstStyle/>
          <a:p>
            <a:r>
              <a:rPr lang="en-US" altLang="en-US" sz="1600" dirty="0"/>
              <a:t>How a Host Routes </a:t>
            </a:r>
            <a:br>
              <a:rPr lang="en-US" altLang="en-US" sz="1600" dirty="0"/>
            </a:br>
            <a:r>
              <a:rPr lang="en-US" altLang="en-US" dirty="0"/>
              <a:t>Host Routing Tables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6115" y="821051"/>
            <a:ext cx="2819110" cy="379449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On Windows, route print or </a:t>
            </a:r>
            <a:r>
              <a:rPr lang="en-US" sz="1700" dirty="0" err="1"/>
              <a:t>netstat</a:t>
            </a:r>
            <a:r>
              <a:rPr lang="en-US" sz="1700" dirty="0"/>
              <a:t>  -r to display the PC routing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 dirty="0"/>
              <a:t>Three sections displayed by these two commands:</a:t>
            </a:r>
          </a:p>
          <a:p>
            <a:pPr lvl="1"/>
            <a:r>
              <a:rPr lang="en-US" sz="1600" dirty="0"/>
              <a:t>Interface List – all potential interfaces and MAC addressing</a:t>
            </a:r>
          </a:p>
          <a:p>
            <a:pPr lvl="1"/>
            <a:r>
              <a:rPr lang="en-US" sz="1600" dirty="0"/>
              <a:t>IPv4 Routing Table</a:t>
            </a:r>
          </a:p>
          <a:p>
            <a:pPr lvl="1"/>
            <a:r>
              <a:rPr lang="en-US" sz="1600" dirty="0"/>
              <a:t>IPv6 Routing Table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864" y="932688"/>
            <a:ext cx="5485829" cy="3738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58614824"/>
      </p:ext>
    </p:extLst>
  </p:cSld>
  <p:clrMapOvr>
    <a:masterClrMapping/>
  </p:clrMapOvr>
  <p:transition spd="slow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8231464" cy="1802391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8.5 Introduction to Routing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20016951"/>
      </p:ext>
    </p:extLst>
  </p:cSld>
  <p:clrMapOvr>
    <a:masterClrMapping/>
  </p:clrMapOvr>
  <p:transition spd="slow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Router Packet Forwarding Decision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73255" y="822098"/>
            <a:ext cx="8807116" cy="53896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happens when the router receives the frame from the host device?</a:t>
            </a:r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55" y="1361067"/>
            <a:ext cx="5439072" cy="331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411" y="2162150"/>
            <a:ext cx="2983832" cy="187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408560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IP Router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290286" y="798943"/>
            <a:ext cx="8853715" cy="242294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three types of routes in a router’s routing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Directly Connected </a:t>
            </a:r>
            <a:r>
              <a:rPr lang="en-US" altLang="en-US" dirty="0"/>
              <a:t>– These routes are automatically added by the router, provided the interface is active and has addressing.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Remote</a:t>
            </a:r>
            <a:r>
              <a:rPr lang="en-US" altLang="en-US" dirty="0"/>
              <a:t> – These are the routes the router does not have a direct connection and may be learned: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Manually – with a static route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dirty="0"/>
              <a:t>Dynamically – by using a routing protocol to have the routers share their information with each other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b="1" dirty="0"/>
              <a:t>Default Route </a:t>
            </a:r>
            <a:r>
              <a:rPr lang="en-US" altLang="en-US" dirty="0"/>
              <a:t>– this forwards all traffic to a specific direction when there is not a match in the routing table </a:t>
            </a:r>
            <a:endParaRPr lang="en-CA" altLang="en-US" dirty="0"/>
          </a:p>
          <a:p>
            <a:pPr lvl="1"/>
            <a:endParaRPr lang="en-CA" altLang="en-US" dirty="0"/>
          </a:p>
          <a:p>
            <a:pPr lvl="1"/>
            <a:endParaRPr lang="en-CA" alt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543" y="3221887"/>
            <a:ext cx="5351646" cy="152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1866069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sz="2400" dirty="0"/>
              <a:t>Static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306647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Static Route 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configured manually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Must be adjusted manually by the administrator when there is a change in the topology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Good for small non-redundant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Often used in conjunction with a dynamic routing protocol for configuring a default route</a:t>
            </a:r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28982"/>
            <a:ext cx="5007756" cy="238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687848"/>
            <a:ext cx="5007757" cy="21177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5251992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" y="41393"/>
            <a:ext cx="3080083" cy="757551"/>
          </a:xfrm>
        </p:spPr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sz="1600" dirty="0"/>
            </a:br>
            <a:r>
              <a:rPr lang="en-US" altLang="en-US" dirty="0"/>
              <a:t>Dynamic Routing</a:t>
            </a:r>
            <a:endParaRPr lang="en-CA" alt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065" y="798945"/>
            <a:ext cx="3846044" cy="2962564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Dynamic Routes Automatically: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Discover remote networks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Maintain up-to-date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Choose the best path to the destination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 new best paths when there is a topology change</a:t>
            </a:r>
          </a:p>
          <a:p>
            <a:pPr marL="0" indent="0">
              <a:buNone/>
            </a:pPr>
            <a:r>
              <a:rPr lang="en-US" sz="1600" dirty="0"/>
              <a:t>Dynamic routing can also share static default routes with the other routers.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358055"/>
            <a:ext cx="5007757" cy="1928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0109" y="2312213"/>
            <a:ext cx="4644736" cy="24706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97906835"/>
      </p:ext>
    </p:extLst>
  </p:cSld>
  <p:clrMapOvr>
    <a:masterClrMapping/>
  </p:clrMapOvr>
  <p:transition spd="slow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1600" dirty="0"/>
              <a:t>Introduction to Routing</a:t>
            </a:r>
            <a:br>
              <a:rPr lang="en-US" altLang="en-US" dirty="0"/>
            </a:br>
            <a:r>
              <a:rPr lang="en-US" altLang="en-US" dirty="0"/>
              <a:t>Introduction to an IPv4 Routing Table</a:t>
            </a:r>
            <a:endParaRPr lang="en-CA" alt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35082" y="817311"/>
            <a:ext cx="3979718" cy="3723515"/>
          </a:xfrm>
        </p:spPr>
        <p:txBody>
          <a:bodyPr/>
          <a:lstStyle/>
          <a:p>
            <a:pPr marL="0" indent="0">
              <a:buNone/>
            </a:pPr>
            <a:r>
              <a:rPr lang="en-CA" altLang="en-US" dirty="0"/>
              <a:t>The </a:t>
            </a:r>
            <a:r>
              <a:rPr lang="en-US" b="1" dirty="0"/>
              <a:t>show ip route </a:t>
            </a:r>
            <a:r>
              <a:rPr lang="en-US" dirty="0"/>
              <a:t>command shows the following route sources:</a:t>
            </a:r>
          </a:p>
          <a:p>
            <a:pPr lvl="1"/>
            <a:r>
              <a:rPr lang="en-US" b="1" dirty="0"/>
              <a:t>L</a:t>
            </a:r>
            <a:r>
              <a:rPr lang="en-US" dirty="0"/>
              <a:t> - Directly connected local interface IP address</a:t>
            </a:r>
          </a:p>
          <a:p>
            <a:pPr lvl="1"/>
            <a:r>
              <a:rPr lang="en-US" b="1" dirty="0"/>
              <a:t>C</a:t>
            </a:r>
            <a:r>
              <a:rPr lang="en-US" dirty="0"/>
              <a:t> – Directly connected network</a:t>
            </a:r>
          </a:p>
          <a:p>
            <a:pPr lvl="1"/>
            <a:r>
              <a:rPr lang="en-US" b="1" dirty="0"/>
              <a:t>S</a:t>
            </a:r>
            <a:r>
              <a:rPr lang="en-US" dirty="0"/>
              <a:t> – Static route was manually configured by an administrator</a:t>
            </a:r>
          </a:p>
          <a:p>
            <a:pPr lvl="1"/>
            <a:r>
              <a:rPr lang="en-US" b="1" dirty="0"/>
              <a:t>O</a:t>
            </a:r>
            <a:r>
              <a:rPr lang="en-US" dirty="0"/>
              <a:t> –  OSPF</a:t>
            </a:r>
          </a:p>
          <a:p>
            <a:pPr lvl="1"/>
            <a:r>
              <a:rPr lang="en-US" b="1" dirty="0"/>
              <a:t>D</a:t>
            </a:r>
            <a:r>
              <a:rPr lang="en-US" dirty="0"/>
              <a:t> – EIGRP</a:t>
            </a:r>
          </a:p>
          <a:p>
            <a:pPr marL="0" indent="0">
              <a:buNone/>
            </a:pPr>
            <a:r>
              <a:rPr lang="en-CA" altLang="en-US" dirty="0"/>
              <a:t>This command shows types of routes:</a:t>
            </a:r>
          </a:p>
          <a:p>
            <a:pPr lvl="1"/>
            <a:r>
              <a:rPr lang="en-CA" altLang="en-US" dirty="0"/>
              <a:t>Directly Connected – C and L</a:t>
            </a:r>
          </a:p>
          <a:p>
            <a:pPr lvl="1"/>
            <a:r>
              <a:rPr lang="en-CA" altLang="en-US" dirty="0"/>
              <a:t>Remote Routes – O, D, etc.</a:t>
            </a:r>
          </a:p>
          <a:p>
            <a:pPr lvl="1"/>
            <a:r>
              <a:rPr lang="en-CA" altLang="en-US" dirty="0"/>
              <a:t>Default Routes – S* 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9491" y="817312"/>
            <a:ext cx="4904509" cy="3900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737095"/>
      </p:ext>
    </p:extLst>
  </p:cSld>
  <p:clrMapOvr>
    <a:masterClrMapping/>
  </p:clrMapOvr>
  <p:transition spd="slow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918512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7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efault Theme" id="{A3178FD6-045E-43BB-9FF9-79BDC55288A1}" vid="{B3635A64-254C-4D4D-B1C2-6197525273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21040</TotalTime>
  <Words>2402</Words>
  <Application>Microsoft Macintosh PowerPoint</Application>
  <PresentationFormat>Prezentácia na obrazovke (16:9)</PresentationFormat>
  <Paragraphs>349</Paragraphs>
  <Slides>33</Slides>
  <Notes>32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33</vt:i4>
      </vt:variant>
    </vt:vector>
  </HeadingPairs>
  <TitlesOfParts>
    <vt:vector size="38" baseType="lpstr">
      <vt:lpstr>Arial</vt:lpstr>
      <vt:lpstr>Calibri</vt:lpstr>
      <vt:lpstr>CiscoSans ExtraLight</vt:lpstr>
      <vt:lpstr>Wingdings</vt:lpstr>
      <vt:lpstr>Default Theme</vt:lpstr>
      <vt:lpstr>Module 8: Network Layer</vt:lpstr>
      <vt:lpstr>Module 8: Topics</vt:lpstr>
      <vt:lpstr>8.1 Network Layer Characteristics</vt:lpstr>
      <vt:lpstr>Network Layer Characteristics The Network Layer</vt:lpstr>
      <vt:lpstr>Network Layer Characteristics IP Encapsulation</vt:lpstr>
      <vt:lpstr>Network Layer Characteristics Characteristics of IP</vt:lpstr>
      <vt:lpstr>Network Layer Characteristics Connectionless</vt:lpstr>
      <vt:lpstr>Network Layer Characteristics Best Effort</vt:lpstr>
      <vt:lpstr>Network Layer Characteristics Media Independent</vt:lpstr>
      <vt:lpstr>Network Layer Characteristics Media Independent (Contd.)</vt:lpstr>
      <vt:lpstr>8.2 IPv4 Packet</vt:lpstr>
      <vt:lpstr>IPv4 Packet IPv4 Packet Header</vt:lpstr>
      <vt:lpstr>IPv4 Packet IPv4 Packet Header Fields</vt:lpstr>
      <vt:lpstr>IPv4 Packet IPv4 Packet Header Fields</vt:lpstr>
      <vt:lpstr>8.3 IPv6 Packets</vt:lpstr>
      <vt:lpstr>IPv6 Packets Limitations of IPv4</vt:lpstr>
      <vt:lpstr>IPv6 Packets IPv6 Overview</vt:lpstr>
      <vt:lpstr>IPv6 Packets IPv4 Packet Header Fields in the IPv6 Packet Header</vt:lpstr>
      <vt:lpstr>IPv6 Packets IPv6 Packet Header</vt:lpstr>
      <vt:lpstr>IPv6 Packets IPv6 Packet Header (Cont.)</vt:lpstr>
      <vt:lpstr>8.4 How a Host Routes</vt:lpstr>
      <vt:lpstr>How a Host Routes Host Forwarding Decision</vt:lpstr>
      <vt:lpstr>How a Host Routes Host Forwarding Decision (Cont.)</vt:lpstr>
      <vt:lpstr>How a Host Routes Default Gateway</vt:lpstr>
      <vt:lpstr>How a Host Routes A Host Routes to the Default Gateway</vt:lpstr>
      <vt:lpstr>How a Host Routes  Host Routing Tables</vt:lpstr>
      <vt:lpstr>8.5 Introduction to Routing</vt:lpstr>
      <vt:lpstr>Introduction to Routing Router Packet Forwarding Decision</vt:lpstr>
      <vt:lpstr>Introduction to Routing IP Router Routing Table</vt:lpstr>
      <vt:lpstr>Introduction to Routing Static Routing</vt:lpstr>
      <vt:lpstr>Introduction to Routing Dynamic Routing</vt:lpstr>
      <vt:lpstr>Introduction to Routing Introduction to an IPv4 Routing Table</vt:lpstr>
      <vt:lpstr>Prezentácia programu PowerPoint</vt:lpstr>
    </vt:vector>
  </TitlesOfParts>
  <Company>Cisco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bvachon@cisco.com</dc:creator>
  <cp:lastModifiedBy>Julius Barath</cp:lastModifiedBy>
  <cp:revision>1031</cp:revision>
  <dcterms:created xsi:type="dcterms:W3CDTF">2016-08-22T22:27:36Z</dcterms:created>
  <dcterms:modified xsi:type="dcterms:W3CDTF">2020-03-06T10:23:59Z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
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webextensions/webextension1.xml" ContentType="application/vnd.ms-office.webextension+xml"/>
  <Override PartName="/ppt/tags/tag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webextensions/webextension2.xml" ContentType="application/vnd.ms-office.webextension+xml"/>
  <Override PartName="/ppt/tags/tag8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webextensions/webextension3.xml" ContentType="application/vnd.ms-office.webextension+xml"/>
  <Override PartName="/ppt/tags/tag9.xml" ContentType="application/vnd.openxmlformats-officedocument.presentationml.tags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3"/>
  </p:notesMasterIdLst>
  <p:sldIdLst>
    <p:sldId id="876" r:id="rId2"/>
    <p:sldId id="1096" r:id="rId3"/>
    <p:sldId id="759" r:id="rId4"/>
    <p:sldId id="1164" r:id="rId5"/>
    <p:sldId id="1165" r:id="rId6"/>
    <p:sldId id="1166" r:id="rId7"/>
    <p:sldId id="1167" r:id="rId8"/>
    <p:sldId id="1168" r:id="rId9"/>
    <p:sldId id="1169" r:id="rId10"/>
    <p:sldId id="1170" r:id="rId11"/>
    <p:sldId id="1171" r:id="rId12"/>
    <p:sldId id="1056" r:id="rId13"/>
    <p:sldId id="1103" r:id="rId14"/>
    <p:sldId id="1176" r:id="rId15"/>
    <p:sldId id="1177" r:id="rId16"/>
    <p:sldId id="1178" r:id="rId17"/>
    <p:sldId id="1179" r:id="rId18"/>
    <p:sldId id="1180" r:id="rId19"/>
    <p:sldId id="1181" r:id="rId20"/>
    <p:sldId id="1205" r:id="rId21"/>
    <p:sldId id="1161" r:id="rId22"/>
    <p:sldId id="1173" r:id="rId23"/>
    <p:sldId id="1182" r:id="rId24"/>
    <p:sldId id="1183" r:id="rId25"/>
    <p:sldId id="1184" r:id="rId26"/>
    <p:sldId id="1162" r:id="rId27"/>
    <p:sldId id="1174" r:id="rId28"/>
    <p:sldId id="1202" r:id="rId29"/>
    <p:sldId id="1185" r:id="rId30"/>
    <p:sldId id="1203" r:id="rId31"/>
    <p:sldId id="1186" r:id="rId32"/>
    <p:sldId id="1204" r:id="rId33"/>
    <p:sldId id="1187" r:id="rId34"/>
    <p:sldId id="1188" r:id="rId35"/>
    <p:sldId id="1189" r:id="rId36"/>
    <p:sldId id="1206" r:id="rId37"/>
    <p:sldId id="1163" r:id="rId38"/>
    <p:sldId id="1175" r:id="rId39"/>
    <p:sldId id="1190" r:id="rId40"/>
    <p:sldId id="1191" r:id="rId41"/>
    <p:sldId id="1192" r:id="rId42"/>
    <p:sldId id="1193" r:id="rId43"/>
    <p:sldId id="1194" r:id="rId44"/>
    <p:sldId id="1195" r:id="rId45"/>
    <p:sldId id="1196" r:id="rId46"/>
    <p:sldId id="1197" r:id="rId47"/>
    <p:sldId id="1198" r:id="rId48"/>
    <p:sldId id="1199" r:id="rId49"/>
    <p:sldId id="1200" r:id="rId50"/>
    <p:sldId id="1207" r:id="rId51"/>
    <p:sldId id="291" r:id="rId52"/>
  </p:sldIdLst>
  <p:sldSz cx="9144000" cy="5143500" type="screen16x9"/>
  <p:notesSz cx="6858000" cy="9144000"/>
  <p:custDataLst>
    <p:tags r:id="rId5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C81A6E-4CC2-4A4D-B06C-4B4B63283F84}" v="14" dt="2024-10-07T06:28:02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06" autoAdjust="0"/>
    <p:restoredTop sz="97219" autoAdjust="0"/>
  </p:normalViewPr>
  <p:slideViewPr>
    <p:cSldViewPr snapToGrid="0" showGuides="1">
      <p:cViewPr varScale="1">
        <p:scale>
          <a:sx n="127" d="100"/>
          <a:sy n="127" d="100"/>
        </p:scale>
        <p:origin x="184" y="183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72C81A6E-4CC2-4A4D-B06C-4B4B63283F84}"/>
    <pc:docChg chg="addSld modSld">
      <pc:chgData name="Baráth, Július" userId="aebde9b9-dccc-4475-a9ac-c05e78323d7a" providerId="ADAL" clId="{72C81A6E-4CC2-4A4D-B06C-4B4B63283F84}" dt="2024-10-07T06:28:09.838" v="17" actId="14100"/>
      <pc:docMkLst>
        <pc:docMk/>
      </pc:docMkLst>
      <pc:sldChg chg="addSp delSp modSp new">
        <pc:chgData name="Baráth, Július" userId="aebde9b9-dccc-4475-a9ac-c05e78323d7a" providerId="ADAL" clId="{72C81A6E-4CC2-4A4D-B06C-4B4B63283F84}" dt="2024-10-07T06:23:32.242" v="3"/>
        <pc:sldMkLst>
          <pc:docMk/>
          <pc:sldMk cId="3944594773" sldId="1205"/>
        </pc:sldMkLst>
        <pc:spChg chg="del mod">
          <ac:chgData name="Baráth, Július" userId="aebde9b9-dccc-4475-a9ac-c05e78323d7a" providerId="ADAL" clId="{72C81A6E-4CC2-4A4D-B06C-4B4B63283F84}" dt="2024-10-07T06:23:32.242" v="3"/>
          <ac:spMkLst>
            <pc:docMk/>
            <pc:sldMk cId="3944594773" sldId="1205"/>
            <ac:spMk id="2" creationId="{179426FB-491D-229C-52F0-576C524EF0AF}"/>
          </ac:spMkLst>
        </pc:spChg>
        <pc:spChg chg="del">
          <ac:chgData name="Baráth, Július" userId="aebde9b9-dccc-4475-a9ac-c05e78323d7a" providerId="ADAL" clId="{72C81A6E-4CC2-4A4D-B06C-4B4B63283F84}" dt="2024-10-07T06:23:24.638" v="1" actId="478"/>
          <ac:spMkLst>
            <pc:docMk/>
            <pc:sldMk cId="3944594773" sldId="1205"/>
            <ac:spMk id="3" creationId="{6E69BC85-87E1-8643-6823-CF76DB7BE0D6}"/>
          </ac:spMkLst>
        </pc:spChg>
        <pc:graphicFrameChg chg="add mod">
          <ac:chgData name="Baráth, Július" userId="aebde9b9-dccc-4475-a9ac-c05e78323d7a" providerId="ADAL" clId="{72C81A6E-4CC2-4A4D-B06C-4B4B63283F84}" dt="2024-10-07T06:23:32.242" v="3"/>
          <ac:graphicFrameMkLst>
            <pc:docMk/>
            <pc:sldMk cId="3944594773" sldId="1205"/>
            <ac:graphicFrameMk id="4" creationId="{4983C884-9F4A-7E16-FF05-18B90874379E}"/>
          </ac:graphicFrameMkLst>
        </pc:graphicFrameChg>
      </pc:sldChg>
      <pc:sldChg chg="addSp delSp modSp new mod">
        <pc:chgData name="Baráth, Július" userId="aebde9b9-dccc-4475-a9ac-c05e78323d7a" providerId="ADAL" clId="{72C81A6E-4CC2-4A4D-B06C-4B4B63283F84}" dt="2024-10-07T06:25:20.863" v="10" actId="14100"/>
        <pc:sldMkLst>
          <pc:docMk/>
          <pc:sldMk cId="1277508005" sldId="1206"/>
        </pc:sldMkLst>
        <pc:spChg chg="del mod">
          <ac:chgData name="Baráth, Július" userId="aebde9b9-dccc-4475-a9ac-c05e78323d7a" providerId="ADAL" clId="{72C81A6E-4CC2-4A4D-B06C-4B4B63283F84}" dt="2024-10-07T06:25:01.245" v="8"/>
          <ac:spMkLst>
            <pc:docMk/>
            <pc:sldMk cId="1277508005" sldId="1206"/>
            <ac:spMk id="2" creationId="{60CA8C92-540D-239F-5C24-C1DF0FBD9BDE}"/>
          </ac:spMkLst>
        </pc:spChg>
        <pc:spChg chg="del">
          <ac:chgData name="Baráth, Július" userId="aebde9b9-dccc-4475-a9ac-c05e78323d7a" providerId="ADAL" clId="{72C81A6E-4CC2-4A4D-B06C-4B4B63283F84}" dt="2024-10-07T06:24:52.005" v="5" actId="478"/>
          <ac:spMkLst>
            <pc:docMk/>
            <pc:sldMk cId="1277508005" sldId="1206"/>
            <ac:spMk id="3" creationId="{40362083-F8C3-AA88-3BD1-469E0FB4E935}"/>
          </ac:spMkLst>
        </pc:spChg>
        <pc:graphicFrameChg chg="add mod">
          <ac:chgData name="Baráth, Július" userId="aebde9b9-dccc-4475-a9ac-c05e78323d7a" providerId="ADAL" clId="{72C81A6E-4CC2-4A4D-B06C-4B4B63283F84}" dt="2024-10-07T06:25:20.863" v="10" actId="14100"/>
          <ac:graphicFrameMkLst>
            <pc:docMk/>
            <pc:sldMk cId="1277508005" sldId="1206"/>
            <ac:graphicFrameMk id="4" creationId="{C4445E28-8D15-53EA-35A0-FB0353493C35}"/>
          </ac:graphicFrameMkLst>
        </pc:graphicFrameChg>
      </pc:sldChg>
      <pc:sldChg chg="addSp delSp modSp new mod">
        <pc:chgData name="Baráth, Július" userId="aebde9b9-dccc-4475-a9ac-c05e78323d7a" providerId="ADAL" clId="{72C81A6E-4CC2-4A4D-B06C-4B4B63283F84}" dt="2024-10-07T06:28:09.838" v="17" actId="14100"/>
        <pc:sldMkLst>
          <pc:docMk/>
          <pc:sldMk cId="4098014666" sldId="1207"/>
        </pc:sldMkLst>
        <pc:spChg chg="del mod">
          <ac:chgData name="Baráth, Július" userId="aebde9b9-dccc-4475-a9ac-c05e78323d7a" providerId="ADAL" clId="{72C81A6E-4CC2-4A4D-B06C-4B4B63283F84}" dt="2024-10-07T06:27:44.295" v="15"/>
          <ac:spMkLst>
            <pc:docMk/>
            <pc:sldMk cId="4098014666" sldId="1207"/>
            <ac:spMk id="2" creationId="{AE7289CB-9EF8-B14A-BED1-67BD1BD7C55C}"/>
          </ac:spMkLst>
        </pc:spChg>
        <pc:spChg chg="del">
          <ac:chgData name="Baráth, Július" userId="aebde9b9-dccc-4475-a9ac-c05e78323d7a" providerId="ADAL" clId="{72C81A6E-4CC2-4A4D-B06C-4B4B63283F84}" dt="2024-10-07T06:27:33.846" v="12" actId="478"/>
          <ac:spMkLst>
            <pc:docMk/>
            <pc:sldMk cId="4098014666" sldId="1207"/>
            <ac:spMk id="3" creationId="{68B6401B-5333-98A3-FA46-07DECC0AB784}"/>
          </ac:spMkLst>
        </pc:spChg>
        <pc:graphicFrameChg chg="add mod">
          <ac:chgData name="Baráth, Július" userId="aebde9b9-dccc-4475-a9ac-c05e78323d7a" providerId="ADAL" clId="{72C81A6E-4CC2-4A4D-B06C-4B4B63283F84}" dt="2024-10-07T06:28:09.838" v="17" actId="14100"/>
          <ac:graphicFrameMkLst>
            <pc:docMk/>
            <pc:sldMk cId="4098014666" sldId="1207"/>
            <ac:graphicFrameMk id="4" creationId="{8CE5BA9A-314A-A044-59D6-8CE1CA0F4925}"/>
          </ac:graphicFrameMkLst>
        </pc:graphicFrameChg>
      </pc:sldChg>
    </pc:docChg>
  </pc:docChgLst>
  <pc:docChgLst>
    <pc:chgData name="Július Baráth" userId="e650c4ab-697e-4750-bd58-c1531aabce95" providerId="ADAL" clId="{AA89C34D-03BE-354E-91B8-32D6AB6F3FAE}"/>
    <pc:docChg chg="modSld">
      <pc:chgData name="Július Baráth" userId="e650c4ab-697e-4750-bd58-c1531aabce95" providerId="ADAL" clId="{AA89C34D-03BE-354E-91B8-32D6AB6F3FAE}" dt="2022-11-22T07:27:52.703" v="18" actId="6549"/>
      <pc:docMkLst>
        <pc:docMk/>
      </pc:docMkLst>
      <pc:sldChg chg="modSp mod">
        <pc:chgData name="Július Baráth" userId="e650c4ab-697e-4750-bd58-c1531aabce95" providerId="ADAL" clId="{AA89C34D-03BE-354E-91B8-32D6AB6F3FAE}" dt="2022-11-21T14:00:29.452" v="2" actId="113"/>
        <pc:sldMkLst>
          <pc:docMk/>
          <pc:sldMk cId="2560129153" sldId="1164"/>
        </pc:sldMkLst>
        <pc:spChg chg="mod">
          <ac:chgData name="Július Baráth" userId="e650c4ab-697e-4750-bd58-c1531aabce95" providerId="ADAL" clId="{AA89C34D-03BE-354E-91B8-32D6AB6F3FAE}" dt="2022-11-21T14:00:29.452" v="2" actId="113"/>
          <ac:spMkLst>
            <pc:docMk/>
            <pc:sldMk cId="2560129153" sldId="1164"/>
            <ac:spMk id="4" creationId="{50693879-5816-3444-9D50-A12F1F37F5DE}"/>
          </ac:spMkLst>
        </pc:spChg>
      </pc:sldChg>
      <pc:sldChg chg="addSp modSp mod">
        <pc:chgData name="Július Baráth" userId="e650c4ab-697e-4750-bd58-c1531aabce95" providerId="ADAL" clId="{AA89C34D-03BE-354E-91B8-32D6AB6F3FAE}" dt="2022-11-21T14:05:45.390" v="17" actId="1076"/>
        <pc:sldMkLst>
          <pc:docMk/>
          <pc:sldMk cId="500473766" sldId="1177"/>
        </pc:sldMkLst>
        <pc:spChg chg="add mod">
          <ac:chgData name="Július Baráth" userId="e650c4ab-697e-4750-bd58-c1531aabce95" providerId="ADAL" clId="{AA89C34D-03BE-354E-91B8-32D6AB6F3FAE}" dt="2022-11-21T14:05:45.390" v="17" actId="1076"/>
          <ac:spMkLst>
            <pc:docMk/>
            <pc:sldMk cId="500473766" sldId="1177"/>
            <ac:spMk id="5" creationId="{5DC3506F-A7B2-7743-845E-D0C704E722BC}"/>
          </ac:spMkLst>
        </pc:spChg>
        <pc:graphicFrameChg chg="modGraphic">
          <ac:chgData name="Július Baráth" userId="e650c4ab-697e-4750-bd58-c1531aabce95" providerId="ADAL" clId="{AA89C34D-03BE-354E-91B8-32D6AB6F3FAE}" dt="2022-11-21T14:05:27.450" v="3" actId="20577"/>
          <ac:graphicFrameMkLst>
            <pc:docMk/>
            <pc:sldMk cId="500473766" sldId="1177"/>
            <ac:graphicFrameMk id="2" creationId="{444A3B28-E7D7-48D4-93AA-DA54273E20F9}"/>
          </ac:graphicFrameMkLst>
        </pc:graphicFrameChg>
      </pc:sldChg>
      <pc:sldChg chg="modSp mod">
        <pc:chgData name="Július Baráth" userId="e650c4ab-697e-4750-bd58-c1531aabce95" providerId="ADAL" clId="{AA89C34D-03BE-354E-91B8-32D6AB6F3FAE}" dt="2022-11-22T07:27:52.703" v="18" actId="6549"/>
        <pc:sldMkLst>
          <pc:docMk/>
          <pc:sldMk cId="4060402133" sldId="1185"/>
        </pc:sldMkLst>
        <pc:graphicFrameChg chg="modGraphic">
          <ac:chgData name="Július Baráth" userId="e650c4ab-697e-4750-bd58-c1531aabce95" providerId="ADAL" clId="{AA89C34D-03BE-354E-91B8-32D6AB6F3FAE}" dt="2022-11-22T07:27:52.703" v="18" actId="6549"/>
          <ac:graphicFrameMkLst>
            <pc:docMk/>
            <pc:sldMk cId="4060402133" sldId="1185"/>
            <ac:graphicFrameMk id="5" creationId="{A9FBA682-77FB-4E59-8D3F-904E7C831C8E}"/>
          </ac:graphicFrameMkLst>
        </pc:graphicFrameChg>
      </pc:sldChg>
    </pc:docChg>
  </pc:docChgLst>
  <pc:docChgLst>
    <pc:chgData name="Július Baráth" userId="e650c4ab-697e-4750-bd58-c1531aabce95" providerId="ADAL" clId="{C36E8796-A0DF-46B3-9870-9C2E1DFDE621}"/>
    <pc:docChg chg="modSld sldOrd">
      <pc:chgData name="Július Baráth" userId="e650c4ab-697e-4750-bd58-c1531aabce95" providerId="ADAL" clId="{C36E8796-A0DF-46B3-9870-9C2E1DFDE621}" dt="2020-10-21T05:05:08.924" v="1"/>
      <pc:docMkLst>
        <pc:docMk/>
      </pc:docMkLst>
      <pc:sldChg chg="ord">
        <pc:chgData name="Július Baráth" userId="e650c4ab-697e-4750-bd58-c1531aabce95" providerId="ADAL" clId="{C36E8796-A0DF-46B3-9870-9C2E1DFDE621}" dt="2020-10-21T05:05:08.924" v="1"/>
        <pc:sldMkLst>
          <pc:docMk/>
          <pc:sldMk cId="673099643" sldId="759"/>
        </pc:sldMkLst>
      </pc:sldChg>
    </pc:docChg>
  </pc:docChgLst>
  <pc:docChgLst>
    <pc:chgData name="Július Baráth" userId="e650c4ab-697e-4750-bd58-c1531aabce95" providerId="ADAL" clId="{558A4A7F-1B0C-1044-A42B-02F0AC206B05}"/>
    <pc:docChg chg="modSld">
      <pc:chgData name="Július Baráth" userId="e650c4ab-697e-4750-bd58-c1531aabce95" providerId="ADAL" clId="{558A4A7F-1B0C-1044-A42B-02F0AC206B05}" dt="2021-11-02T07:41:39.575" v="26" actId="113"/>
      <pc:docMkLst>
        <pc:docMk/>
      </pc:docMkLst>
      <pc:sldChg chg="modSp mod">
        <pc:chgData name="Július Baráth" userId="e650c4ab-697e-4750-bd58-c1531aabce95" providerId="ADAL" clId="{558A4A7F-1B0C-1044-A42B-02F0AC206B05}" dt="2021-11-02T07:18:30.446" v="1" actId="113"/>
        <pc:sldMkLst>
          <pc:docMk/>
          <pc:sldMk cId="2508214099" sldId="1167"/>
        </pc:sldMkLst>
        <pc:spChg chg="mod">
          <ac:chgData name="Július Baráth" userId="e650c4ab-697e-4750-bd58-c1531aabce95" providerId="ADAL" clId="{558A4A7F-1B0C-1044-A42B-02F0AC206B05}" dt="2021-11-02T07:18:30.446" v="1" actId="113"/>
          <ac:spMkLst>
            <pc:docMk/>
            <pc:sldMk cId="2508214099" sldId="1167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20:02.631" v="2" actId="113"/>
        <pc:sldMkLst>
          <pc:docMk/>
          <pc:sldMk cId="3107187356" sldId="1168"/>
        </pc:sldMkLst>
        <pc:spChg chg="mod">
          <ac:chgData name="Július Baráth" userId="e650c4ab-697e-4750-bd58-c1531aabce95" providerId="ADAL" clId="{558A4A7F-1B0C-1044-A42B-02F0AC206B05}" dt="2021-11-02T07:20:02.631" v="2" actId="113"/>
          <ac:spMkLst>
            <pc:docMk/>
            <pc:sldMk cId="3107187356" sldId="1168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21:41.908" v="4" actId="113"/>
        <pc:sldMkLst>
          <pc:docMk/>
          <pc:sldMk cId="3321588878" sldId="1170"/>
        </pc:sldMkLst>
        <pc:spChg chg="mod">
          <ac:chgData name="Július Baráth" userId="e650c4ab-697e-4750-bd58-c1531aabce95" providerId="ADAL" clId="{558A4A7F-1B0C-1044-A42B-02F0AC206B05}" dt="2021-11-02T07:21:41.908" v="4" actId="113"/>
          <ac:spMkLst>
            <pc:docMk/>
            <pc:sldMk cId="3321588878" sldId="1170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29:05.405" v="15" actId="108"/>
        <pc:sldMkLst>
          <pc:docMk/>
          <pc:sldMk cId="1519952198" sldId="1171"/>
        </pc:sldMkLst>
        <pc:graphicFrameChg chg="mod modGraphic">
          <ac:chgData name="Július Baráth" userId="e650c4ab-697e-4750-bd58-c1531aabce95" providerId="ADAL" clId="{558A4A7F-1B0C-1044-A42B-02F0AC206B05}" dt="2021-11-02T07:29:05.405" v="15" actId="108"/>
          <ac:graphicFrameMkLst>
            <pc:docMk/>
            <pc:sldMk cId="1519952198" sldId="1171"/>
            <ac:graphicFrameMk id="2" creationId="{1691795A-845D-4379-ABF4-179B6DB31E24}"/>
          </ac:graphicFrameMkLst>
        </pc:graphicFrameChg>
      </pc:sldChg>
      <pc:sldChg chg="modSp mod">
        <pc:chgData name="Július Baráth" userId="e650c4ab-697e-4750-bd58-c1531aabce95" providerId="ADAL" clId="{558A4A7F-1B0C-1044-A42B-02F0AC206B05}" dt="2021-11-02T07:36:16.845" v="16" actId="113"/>
        <pc:sldMkLst>
          <pc:docMk/>
          <pc:sldMk cId="3794833059" sldId="1174"/>
        </pc:sldMkLst>
        <pc:spChg chg="mod">
          <ac:chgData name="Július Baráth" userId="e650c4ab-697e-4750-bd58-c1531aabce95" providerId="ADAL" clId="{558A4A7F-1B0C-1044-A42B-02F0AC206B05}" dt="2021-11-02T07:36:16.845" v="16" actId="113"/>
          <ac:spMkLst>
            <pc:docMk/>
            <pc:sldMk cId="3794833059" sldId="1174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36:45.537" v="20" actId="113"/>
        <pc:sldMkLst>
          <pc:docMk/>
          <pc:sldMk cId="4060402133" sldId="1185"/>
        </pc:sldMkLst>
        <pc:spChg chg="mod">
          <ac:chgData name="Július Baráth" userId="e650c4ab-697e-4750-bd58-c1531aabce95" providerId="ADAL" clId="{558A4A7F-1B0C-1044-A42B-02F0AC206B05}" dt="2021-11-02T07:36:45.537" v="20" actId="113"/>
          <ac:spMkLst>
            <pc:docMk/>
            <pc:sldMk cId="4060402133" sldId="1185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37:22.699" v="23" actId="113"/>
        <pc:sldMkLst>
          <pc:docMk/>
          <pc:sldMk cId="2330208364" sldId="1186"/>
        </pc:sldMkLst>
        <pc:spChg chg="mod">
          <ac:chgData name="Július Baráth" userId="e650c4ab-697e-4750-bd58-c1531aabce95" providerId="ADAL" clId="{558A4A7F-1B0C-1044-A42B-02F0AC206B05}" dt="2021-11-02T07:37:22.699" v="23" actId="113"/>
          <ac:spMkLst>
            <pc:docMk/>
            <pc:sldMk cId="2330208364" sldId="1186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41:39.575" v="26" actId="113"/>
        <pc:sldMkLst>
          <pc:docMk/>
          <pc:sldMk cId="1805163124" sldId="1194"/>
        </pc:sldMkLst>
        <pc:spChg chg="mod">
          <ac:chgData name="Július Baráth" userId="e650c4ab-697e-4750-bd58-c1531aabce95" providerId="ADAL" clId="{558A4A7F-1B0C-1044-A42B-02F0AC206B05}" dt="2021-11-02T07:41:39.575" v="26" actId="113"/>
          <ac:spMkLst>
            <pc:docMk/>
            <pc:sldMk cId="1805163124" sldId="1194"/>
            <ac:spMk id="6" creationId="{FB7D0949-C710-4098-96EF-2A57D80A53A4}"/>
          </ac:spMkLst>
        </pc:spChg>
      </pc:sldChg>
      <pc:sldChg chg="modSp mod">
        <pc:chgData name="Július Baráth" userId="e650c4ab-697e-4750-bd58-c1531aabce95" providerId="ADAL" clId="{558A4A7F-1B0C-1044-A42B-02F0AC206B05}" dt="2021-11-02T07:40:55.543" v="25" actId="113"/>
        <pc:sldMkLst>
          <pc:docMk/>
          <pc:sldMk cId="3931821678" sldId="1196"/>
        </pc:sldMkLst>
        <pc:spChg chg="mod">
          <ac:chgData name="Július Baráth" userId="e650c4ab-697e-4750-bd58-c1531aabce95" providerId="ADAL" clId="{558A4A7F-1B0C-1044-A42B-02F0AC206B05}" dt="2021-11-02T07:40:55.543" v="25" actId="113"/>
          <ac:spMkLst>
            <pc:docMk/>
            <pc:sldMk cId="3931821678" sldId="1196"/>
            <ac:spMk id="5" creationId="{50E68B1B-BD17-4412-AAD9-42CFB91C918A}"/>
          </ac:spMkLst>
        </pc:spChg>
      </pc:sldChg>
      <pc:sldChg chg="modSp mod">
        <pc:chgData name="Július Baráth" userId="e650c4ab-697e-4750-bd58-c1531aabce95" providerId="ADAL" clId="{558A4A7F-1B0C-1044-A42B-02F0AC206B05}" dt="2021-11-02T07:36:35.187" v="19" actId="1076"/>
        <pc:sldMkLst>
          <pc:docMk/>
          <pc:sldMk cId="455863122" sldId="1202"/>
        </pc:sldMkLst>
        <pc:spChg chg="mod">
          <ac:chgData name="Július Baráth" userId="e650c4ab-697e-4750-bd58-c1531aabce95" providerId="ADAL" clId="{558A4A7F-1B0C-1044-A42B-02F0AC206B05}" dt="2021-11-02T07:36:35.187" v="19" actId="1076"/>
          <ac:spMkLst>
            <pc:docMk/>
            <pc:sldMk cId="455863122" sldId="1202"/>
            <ac:spMk id="3" creationId="{C02AA8F8-1E43-384B-8982-C0BB94049B5C}"/>
          </ac:spMkLst>
        </pc:spChg>
        <pc:spChg chg="mod">
          <ac:chgData name="Július Baráth" userId="e650c4ab-697e-4750-bd58-c1531aabce95" providerId="ADAL" clId="{558A4A7F-1B0C-1044-A42B-02F0AC206B05}" dt="2021-11-02T07:36:30.262" v="17" actId="113"/>
          <ac:spMkLst>
            <pc:docMk/>
            <pc:sldMk cId="455863122" sldId="1202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37:00.089" v="21" actId="113"/>
        <pc:sldMkLst>
          <pc:docMk/>
          <pc:sldMk cId="4207830889" sldId="1203"/>
        </pc:sldMkLst>
        <pc:spChg chg="mod">
          <ac:chgData name="Július Baráth" userId="e650c4ab-697e-4750-bd58-c1531aabce95" providerId="ADAL" clId="{558A4A7F-1B0C-1044-A42B-02F0AC206B05}" dt="2021-11-02T07:37:00.089" v="21" actId="113"/>
          <ac:spMkLst>
            <pc:docMk/>
            <pc:sldMk cId="4207830889" sldId="1203"/>
            <ac:spMk id="4" creationId="{50693879-5816-3444-9D50-A12F1F37F5DE}"/>
          </ac:spMkLst>
        </pc:spChg>
      </pc:sldChg>
      <pc:sldChg chg="modSp mod">
        <pc:chgData name="Július Baráth" userId="e650c4ab-697e-4750-bd58-c1531aabce95" providerId="ADAL" clId="{558A4A7F-1B0C-1044-A42B-02F0AC206B05}" dt="2021-11-02T07:37:47.383" v="24" actId="113"/>
        <pc:sldMkLst>
          <pc:docMk/>
          <pc:sldMk cId="3522246422" sldId="1204"/>
        </pc:sldMkLst>
        <pc:spChg chg="mod">
          <ac:chgData name="Július Baráth" userId="e650c4ab-697e-4750-bd58-c1531aabce95" providerId="ADAL" clId="{558A4A7F-1B0C-1044-A42B-02F0AC206B05}" dt="2021-11-02T07:37:47.383" v="24" actId="113"/>
          <ac:spMkLst>
            <pc:docMk/>
            <pc:sldMk cId="3522246422" sldId="1204"/>
            <ac:spMk id="4" creationId="{50693879-5816-3444-9D50-A12F1F37F5DE}"/>
          </ac:spMkLst>
        </pc:spChg>
      </pc:sldChg>
    </pc:docChg>
  </pc:docChgLst>
  <pc:docChgLst>
    <pc:chgData name="Július Baráth" userId="e650c4ab-697e-4750-bd58-c1531aabce95" providerId="ADAL" clId="{CBA23D8A-5C55-B941-9713-0A8EB47BBB79}"/>
    <pc:docChg chg="delSld">
      <pc:chgData name="Július Baráth" userId="e650c4ab-697e-4750-bd58-c1531aabce95" providerId="ADAL" clId="{CBA23D8A-5C55-B941-9713-0A8EB47BBB79}" dt="2020-09-17T07:53:51.278" v="15" actId="2696"/>
      <pc:docMkLst>
        <pc:docMk/>
      </pc:docMkLst>
      <pc:sldChg chg="del">
        <pc:chgData name="Július Baráth" userId="e650c4ab-697e-4750-bd58-c1531aabce95" providerId="ADAL" clId="{CBA23D8A-5C55-B941-9713-0A8EB47BBB79}" dt="2020-09-17T07:52:14.316" v="0" actId="2696"/>
        <pc:sldMkLst>
          <pc:docMk/>
          <pc:sldMk cId="343650477" sldId="513"/>
        </pc:sldMkLst>
      </pc:sldChg>
      <pc:sldChg chg="del">
        <pc:chgData name="Július Baráth" userId="e650c4ab-697e-4750-bd58-c1531aabce95" providerId="ADAL" clId="{CBA23D8A-5C55-B941-9713-0A8EB47BBB79}" dt="2020-09-17T07:52:14.349" v="4" actId="2696"/>
        <pc:sldMkLst>
          <pc:docMk/>
          <pc:sldMk cId="3599581950" sldId="730"/>
        </pc:sldMkLst>
      </pc:sldChg>
      <pc:sldChg chg="del">
        <pc:chgData name="Július Baráth" userId="e650c4ab-697e-4750-bd58-c1531aabce95" providerId="ADAL" clId="{CBA23D8A-5C55-B941-9713-0A8EB47BBB79}" dt="2020-09-17T07:52:14.377" v="7" actId="2696"/>
        <pc:sldMkLst>
          <pc:docMk/>
          <pc:sldMk cId="2145273728" sldId="763"/>
        </pc:sldMkLst>
      </pc:sldChg>
      <pc:sldChg chg="del">
        <pc:chgData name="Július Baráth" userId="e650c4ab-697e-4750-bd58-c1531aabce95" providerId="ADAL" clId="{CBA23D8A-5C55-B941-9713-0A8EB47BBB79}" dt="2020-09-17T07:53:51.273" v="14" actId="2696"/>
        <pc:sldMkLst>
          <pc:docMk/>
          <pc:sldMk cId="3271745509" sldId="874"/>
        </pc:sldMkLst>
      </pc:sldChg>
      <pc:sldChg chg="del">
        <pc:chgData name="Július Baráth" userId="e650c4ab-697e-4750-bd58-c1531aabce95" providerId="ADAL" clId="{CBA23D8A-5C55-B941-9713-0A8EB47BBB79}" dt="2020-09-17T07:53:51.267" v="13" actId="2696"/>
        <pc:sldMkLst>
          <pc:docMk/>
          <pc:sldMk cId="410599242" sldId="957"/>
        </pc:sldMkLst>
      </pc:sldChg>
      <pc:sldChg chg="del">
        <pc:chgData name="Július Baráth" userId="e650c4ab-697e-4750-bd58-c1531aabce95" providerId="ADAL" clId="{CBA23D8A-5C55-B941-9713-0A8EB47BBB79}" dt="2020-09-17T07:53:51.278" v="15" actId="2696"/>
        <pc:sldMkLst>
          <pc:docMk/>
          <pc:sldMk cId="2548999575" sldId="958"/>
        </pc:sldMkLst>
      </pc:sldChg>
      <pc:sldChg chg="del">
        <pc:chgData name="Július Baráth" userId="e650c4ab-697e-4750-bd58-c1531aabce95" providerId="ADAL" clId="{CBA23D8A-5C55-B941-9713-0A8EB47BBB79}" dt="2020-09-17T07:52:14.367" v="6" actId="2696"/>
        <pc:sldMkLst>
          <pc:docMk/>
          <pc:sldMk cId="2109317603" sldId="1052"/>
        </pc:sldMkLst>
      </pc:sldChg>
      <pc:sldChg chg="del">
        <pc:chgData name="Július Baráth" userId="e650c4ab-697e-4750-bd58-c1531aabce95" providerId="ADAL" clId="{CBA23D8A-5C55-B941-9713-0A8EB47BBB79}" dt="2020-09-17T07:52:14.358" v="5" actId="2696"/>
        <pc:sldMkLst>
          <pc:docMk/>
          <pc:sldMk cId="1736058053" sldId="1071"/>
        </pc:sldMkLst>
      </pc:sldChg>
      <pc:sldChg chg="del">
        <pc:chgData name="Július Baráth" userId="e650c4ab-697e-4750-bd58-c1531aabce95" providerId="ADAL" clId="{CBA23D8A-5C55-B941-9713-0A8EB47BBB79}" dt="2020-09-17T07:53:51.261" v="12" actId="2696"/>
        <pc:sldMkLst>
          <pc:docMk/>
          <pc:sldMk cId="2556431342" sldId="1155"/>
        </pc:sldMkLst>
      </pc:sldChg>
      <pc:sldChg chg="del">
        <pc:chgData name="Július Baráth" userId="e650c4ab-697e-4750-bd58-c1531aabce95" providerId="ADAL" clId="{CBA23D8A-5C55-B941-9713-0A8EB47BBB79}" dt="2020-09-17T07:53:51.245" v="9" actId="2696"/>
        <pc:sldMkLst>
          <pc:docMk/>
          <pc:sldMk cId="2173612742" sldId="1201"/>
        </pc:sldMkLst>
      </pc:sldChg>
      <pc:sldChg chg="del">
        <pc:chgData name="Július Baráth" userId="e650c4ab-697e-4750-bd58-c1531aabce95" providerId="ADAL" clId="{CBA23D8A-5C55-B941-9713-0A8EB47BBB79}" dt="2020-09-17T07:53:51.251" v="10" actId="2696"/>
        <pc:sldMkLst>
          <pc:docMk/>
          <pc:sldMk cId="1182261541" sldId="1205"/>
        </pc:sldMkLst>
      </pc:sldChg>
      <pc:sldChg chg="del">
        <pc:chgData name="Július Baráth" userId="e650c4ab-697e-4750-bd58-c1531aabce95" providerId="ADAL" clId="{CBA23D8A-5C55-B941-9713-0A8EB47BBB79}" dt="2020-09-17T07:52:14.341" v="3" actId="2696"/>
        <pc:sldMkLst>
          <pc:docMk/>
          <pc:sldMk cId="1732821050" sldId="1206"/>
        </pc:sldMkLst>
      </pc:sldChg>
      <pc:sldChg chg="del">
        <pc:chgData name="Július Baráth" userId="e650c4ab-697e-4750-bd58-c1531aabce95" providerId="ADAL" clId="{CBA23D8A-5C55-B941-9713-0A8EB47BBB79}" dt="2020-09-17T07:52:14.333" v="2" actId="2696"/>
        <pc:sldMkLst>
          <pc:docMk/>
          <pc:sldMk cId="1434731956" sldId="1207"/>
        </pc:sldMkLst>
      </pc:sldChg>
      <pc:sldChg chg="del">
        <pc:chgData name="Július Baráth" userId="e650c4ab-697e-4750-bd58-c1531aabce95" providerId="ADAL" clId="{CBA23D8A-5C55-B941-9713-0A8EB47BBB79}" dt="2020-09-17T07:52:14.324" v="1" actId="2696"/>
        <pc:sldMkLst>
          <pc:docMk/>
          <pc:sldMk cId="122153960" sldId="1272"/>
        </pc:sldMkLst>
      </pc:sldChg>
      <pc:sldChg chg="del">
        <pc:chgData name="Július Baráth" userId="e650c4ab-697e-4750-bd58-c1531aabce95" providerId="ADAL" clId="{CBA23D8A-5C55-B941-9713-0A8EB47BBB79}" dt="2020-09-17T07:52:14.386" v="8" actId="2696"/>
        <pc:sldMkLst>
          <pc:docMk/>
          <pc:sldMk cId="3054383092" sldId="1273"/>
        </pc:sldMkLst>
      </pc:sldChg>
      <pc:sldChg chg="del">
        <pc:chgData name="Július Baráth" userId="e650c4ab-697e-4750-bd58-c1531aabce95" providerId="ADAL" clId="{CBA23D8A-5C55-B941-9713-0A8EB47BBB79}" dt="2020-09-17T07:53:51.256" v="11" actId="2696"/>
        <pc:sldMkLst>
          <pc:docMk/>
          <pc:sldMk cId="2600992622" sldId="1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Enterprise Networking, Security, and Automation v</a:t>
            </a:r>
            <a:r>
              <a:rPr lang="en-US" b="0" dirty="0"/>
              <a:t>7.0 (ENSA)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CA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12.0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CA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12.1 – </a:t>
            </a:r>
            <a:r>
              <a:rPr lang="en-CA" dirty="0"/>
              <a:t>Network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12.1.1 – </a:t>
            </a:r>
            <a:r>
              <a:rPr lang="en-US" sz="1200" dirty="0"/>
              <a:t>Documentation Overview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69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12.1.2 – Network Topology Diagrams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65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12.1.3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Device Documentation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491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 a Network Baseline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918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12.1.5 – </a:t>
            </a:r>
            <a:r>
              <a:rPr lang="en-CA" dirty="0"/>
              <a:t>Step 1 - Determine What Types of Data to Collect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98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2 - Identify Devices and Ports of Interest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09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12.1.7 – </a:t>
            </a:r>
            <a:r>
              <a:rPr lang="en-CA" dirty="0"/>
              <a:t>Step 3 - Determine the Baseline Duration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22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12.1 – Network Documentation</a:t>
            </a:r>
          </a:p>
          <a:p>
            <a:r>
              <a:rPr lang="en-US" dirty="0"/>
              <a:t>12.1.8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Measurement</a:t>
            </a:r>
          </a:p>
          <a:p>
            <a:r>
              <a:rPr lang="en-US" dirty="0"/>
              <a:t>12.1.9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Network Documentation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91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12.2 – </a:t>
            </a:r>
            <a:r>
              <a:rPr lang="en-CA" dirty="0"/>
              <a:t>Troubleshooting Process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r>
              <a:rPr lang="en-US" dirty="0"/>
              <a:t>12.2.1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 Troubleshooting Procedures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57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r>
              <a:rPr lang="en-US" dirty="0"/>
              <a:t>12.2.2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Seven-Step Troubleshooting Process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101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12.2.3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 End Users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00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Gather Information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667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12.2.5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Troubleshooting with Layered Models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487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Troubleshooting Methods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05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12.2 – Troubleshooting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Guidelines for Selecting a Troubleshooting Method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Troubleshooting Process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6010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12.3 – </a:t>
            </a:r>
            <a:r>
              <a:rPr lang="en-CA" dirty="0"/>
              <a:t>Troubleshooting Process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240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12.3.1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Troubleshooting Tools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564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 Analyzers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786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r>
              <a:rPr lang="en-US" dirty="0"/>
              <a:t>12.3.3 – Hardware Troubleshooting Tools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63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12.3 – Troubleshooting Tools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Syslog Server as a Troubleshooting Tool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12.3.5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Troubleshooting Tools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20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12.4 – </a:t>
            </a:r>
            <a:r>
              <a:rPr lang="en-CA" dirty="0"/>
              <a:t>Symptoms and Causes of Network Problems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3754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12.4.1 – Physical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689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12.4.1 – Physical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687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12.4.2 – Data Link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748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12.4.2 – Data Link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5553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12.4.3 – Network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803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r>
              <a:rPr lang="en-US" dirty="0"/>
              <a:t>12.4.3 – Network Layer Troubleshooting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365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12.4.4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Layer Troubleshooting - ACLs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2076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12.4.5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Layer Troubleshooting - NAT for IPv4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051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12.4 – Symptoms and Causes of Network Problems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12.4.6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Layer Troubleshooting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12.4.7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Symptoms and Causes of Network Problems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7436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</a:t>
            </a:r>
            <a:r>
              <a:rPr lang="en-CA" dirty="0"/>
              <a:t>Network Troubleshooting</a:t>
            </a:r>
            <a:endParaRPr lang="en-US" dirty="0"/>
          </a:p>
          <a:p>
            <a:r>
              <a:rPr lang="en-US" dirty="0"/>
              <a:t>12.5 – </a:t>
            </a:r>
            <a:r>
              <a:rPr lang="en-CA" dirty="0"/>
              <a:t>Troubleshooting IP Connectivity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291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12.5.1 – </a:t>
            </a:r>
            <a:r>
              <a:rPr lang="en-CA" dirty="0"/>
              <a:t>Components of Troubleshooting End-to-End Connectivity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474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End-to-End Connectivity Problem Initiates Troubleshooting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2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12.5.3 – </a:t>
            </a:r>
            <a:r>
              <a:rPr lang="en-CA" dirty="0"/>
              <a:t>Step 1 - Verify the Physical Layer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882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12.5.4 – </a:t>
            </a:r>
            <a:r>
              <a:rPr lang="en-CA" dirty="0"/>
              <a:t>Step 2 - Check for Duplex Mismatches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133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12.5.5 – </a:t>
            </a:r>
            <a:r>
              <a:rPr lang="en-CA" dirty="0"/>
              <a:t>Step 3 - Verify Addressing on the Local Network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081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12.5.6 – Troubleshoot VLAN Assignment Example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067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r>
              <a:rPr lang="en-US" dirty="0"/>
              <a:t>12.5.7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4 - Verify Default Gateway</a:t>
            </a:r>
          </a:p>
          <a:p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296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12.5.8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Troubleshoot IPv6 Default Gateway Example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313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12.5.9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5 - Verify Correct Path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925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12.5.10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6 - Verify the Transport Layer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174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12.5.11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7 - Verify ACLs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371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12 – Network Troubleshooting</a:t>
            </a:r>
          </a:p>
          <a:p>
            <a:r>
              <a:rPr lang="en-CA" dirty="0"/>
              <a:t>12.5 – Troubleshooting IP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12.5.12 –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8 - Verify DNS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809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2012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2012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58416" cy="1080143"/>
          </a:xfrm>
        </p:spPr>
        <p:txBody>
          <a:bodyPr/>
          <a:lstStyle/>
          <a:p>
            <a:r>
              <a:rPr lang="en-US" sz="4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</a:t>
            </a:r>
            <a:r>
              <a:rPr lang="en-CA" sz="4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Troubleshooting</a:t>
            </a:r>
            <a:endParaRPr lang="en-US" sz="4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3985545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Enterprise Networking, Security, and Automation v7.0 (ENSA)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769893"/>
            <a:ext cx="8804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C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Network Troubleshooting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CA" altLang="en-US" sz="16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Troubleshoot enterprise networks.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241157"/>
              </p:ext>
            </p:extLst>
          </p:nvPr>
        </p:nvGraphicFramePr>
        <p:xfrm>
          <a:off x="396000" y="1620000"/>
          <a:ext cx="8328900" cy="30134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000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20890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Topic Title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Topic Objective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Network Documentation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network documentation is developed and used to troubleshoot network issues.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Troubleshooting 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troubleshooting methods that use a systematic, layered approach.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Troubleshooting Tools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different networking troubleshooting tools.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345525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Symptoms and Causes of Network Problems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the symptoms and causes of network problems using a layered model.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5451415"/>
                  </a:ext>
                </a:extLst>
              </a:tr>
              <a:tr h="5593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Troubleshooting IP Connectivity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Troubleshoot a network using the layered model.</a:t>
                      </a:r>
                      <a:endParaRPr lang="en-US" sz="1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67435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457091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791910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12.1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Documentation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Documentation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45794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Accurate and complete network documentation is required to effectively monitor and troubleshoot networks.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b="1" dirty="0">
                <a:solidFill>
                  <a:srgbClr val="000000"/>
                </a:solidFill>
              </a:rPr>
              <a:t>Common network documentation includes the following: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Physical and logical network topology diagrams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Network device documentation that records all pertinent device information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</a:rPr>
              <a:t>Network performance baseline documentation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All network documentation should be kept in a </a:t>
            </a:r>
            <a:r>
              <a:rPr lang="en-CA" sz="1600" b="1" dirty="0">
                <a:solidFill>
                  <a:srgbClr val="000000"/>
                </a:solidFill>
              </a:rPr>
              <a:t>single location</a:t>
            </a:r>
            <a:r>
              <a:rPr lang="en-CA" sz="1600" dirty="0">
                <a:solidFill>
                  <a:srgbClr val="000000"/>
                </a:solidFill>
              </a:rPr>
              <a:t> and backup documentation should be maintained and kept in a </a:t>
            </a:r>
            <a:r>
              <a:rPr lang="en-CA" sz="1600" b="1" dirty="0">
                <a:solidFill>
                  <a:srgbClr val="000000"/>
                </a:solidFill>
              </a:rPr>
              <a:t>separate location</a:t>
            </a:r>
            <a:r>
              <a:rPr lang="en-CA" sz="1600" dirty="0">
                <a:solidFill>
                  <a:srgbClr val="000000"/>
                </a:solidFill>
              </a:rPr>
              <a:t>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Network Topology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5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There are two types of network topology diagrams: physical and logical.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CAFFD-E120-40E3-A1E4-91FD6A24FEAF}"/>
              </a:ext>
            </a:extLst>
          </p:cNvPr>
          <p:cNvSpPr/>
          <p:nvPr/>
        </p:nvSpPr>
        <p:spPr>
          <a:xfrm>
            <a:off x="328134" y="1214134"/>
            <a:ext cx="4060111" cy="34348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rgbClr val="000000"/>
                </a:solidFill>
              </a:rPr>
              <a:t>Physical Topology</a:t>
            </a:r>
            <a:endParaRPr lang="en-CA" b="1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3BF26-11A9-4B9C-826C-F9D012C3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6" y="1690997"/>
            <a:ext cx="3758238" cy="27479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5329ED-3E2A-43E1-8470-CB933F55DFB8}"/>
              </a:ext>
            </a:extLst>
          </p:cNvPr>
          <p:cNvSpPr/>
          <p:nvPr/>
        </p:nvSpPr>
        <p:spPr>
          <a:xfrm>
            <a:off x="4661833" y="1214134"/>
            <a:ext cx="4060111" cy="34348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rgbClr val="000000"/>
                </a:solidFill>
              </a:rPr>
              <a:t>Logical Topology</a:t>
            </a:r>
            <a:endParaRPr lang="en-CA" b="1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DBD1B-F3C1-479C-A636-2E8E0A0B2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59" y="1891538"/>
            <a:ext cx="3987826" cy="253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7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Network Device Documentation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2406671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Network device documentation should contain accurate, up-to-date records of the network hardware and software.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Documentation should include all pertinent information about the network devices.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BC2FEB-9ACF-4340-80B7-B913FD563C31}"/>
              </a:ext>
            </a:extLst>
          </p:cNvPr>
          <p:cNvSpPr/>
          <p:nvPr/>
        </p:nvSpPr>
        <p:spPr>
          <a:xfrm>
            <a:off x="3089708" y="606463"/>
            <a:ext cx="5672795" cy="12341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rgbClr val="000000"/>
                </a:solidFill>
              </a:rPr>
              <a:t>Router Device </a:t>
            </a:r>
          </a:p>
          <a:p>
            <a:r>
              <a:rPr lang="en-CA" sz="1200" b="1" dirty="0">
                <a:solidFill>
                  <a:srgbClr val="000000"/>
                </a:solidFill>
              </a:rPr>
              <a:t>Documentation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11694-E374-4599-8DA7-6302BC37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58" y="633454"/>
            <a:ext cx="4206305" cy="11820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271C85-8ED5-43A7-B2EE-4B589FF29A8E}"/>
              </a:ext>
            </a:extLst>
          </p:cNvPr>
          <p:cNvSpPr/>
          <p:nvPr/>
        </p:nvSpPr>
        <p:spPr>
          <a:xfrm>
            <a:off x="3089708" y="1955992"/>
            <a:ext cx="5672795" cy="14197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rgbClr val="000000"/>
                </a:solidFill>
              </a:rPr>
              <a:t>Switch Device </a:t>
            </a:r>
          </a:p>
          <a:p>
            <a:r>
              <a:rPr lang="en-CA" sz="1200" b="1" dirty="0">
                <a:solidFill>
                  <a:srgbClr val="000000"/>
                </a:solidFill>
              </a:rPr>
              <a:t>Documentation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6E8C5-78C0-4282-B5CD-EBB78DC85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309" y="1972890"/>
            <a:ext cx="4254719" cy="13780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BA5CFF-18B1-4081-9189-61AE2CFF4D1C}"/>
              </a:ext>
            </a:extLst>
          </p:cNvPr>
          <p:cNvSpPr/>
          <p:nvPr/>
        </p:nvSpPr>
        <p:spPr>
          <a:xfrm>
            <a:off x="3089708" y="3450632"/>
            <a:ext cx="5672795" cy="13111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rgbClr val="000000"/>
                </a:solidFill>
              </a:rPr>
              <a:t>End-System </a:t>
            </a:r>
          </a:p>
          <a:p>
            <a:r>
              <a:rPr lang="en-CA" sz="1200" b="1" dirty="0">
                <a:solidFill>
                  <a:srgbClr val="000000"/>
                </a:solidFill>
              </a:rPr>
              <a:t>Documentation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3D777-BD26-4159-A9B6-2E86C2D4C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309" y="3477520"/>
            <a:ext cx="4248368" cy="12573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7910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Establish a Network Baseline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 network baseline is used to establish normal network performance to determine the “personality” of a network under normal conditions. Establishing a network performance baseline requires collecting performance data from the ports and devices that are essential to network operation.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baseline data is as follows: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Provides insight into whether the current network design can meet business requirements. 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Can reveal </a:t>
            </a:r>
            <a:r>
              <a:rPr lang="en-CA" sz="1600" b="1" dirty="0">
                <a:solidFill>
                  <a:srgbClr val="000000"/>
                </a:solidFill>
              </a:rPr>
              <a:t>areas of congestion </a:t>
            </a:r>
            <a:r>
              <a:rPr lang="en-CA" sz="1600" dirty="0">
                <a:solidFill>
                  <a:srgbClr val="000000"/>
                </a:solidFill>
              </a:rPr>
              <a:t>or areas in the network that are </a:t>
            </a:r>
            <a:r>
              <a:rPr lang="en-CA" sz="1600" b="1" dirty="0">
                <a:solidFill>
                  <a:srgbClr val="000000"/>
                </a:solidFill>
              </a:rPr>
              <a:t>underutilized</a:t>
            </a:r>
            <a:r>
              <a:rPr lang="en-CA" sz="1600" dirty="0">
                <a:solidFill>
                  <a:srgbClr val="000000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21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CA" sz="2400" dirty="0"/>
              <a:t>Step 1 - Determine What Types of Data to Collect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conducting the initial baseline, start by selecting a few variables that represent the defined policies.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If too many data points are selected, the amount of data can be overwhelming, making analysis of the collected data difficult.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Start out simply and fine-tune along the way.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Some good starting variables are interface </a:t>
            </a:r>
            <a:r>
              <a:rPr lang="en-CA" sz="1600" b="1" dirty="0">
                <a:solidFill>
                  <a:srgbClr val="000000"/>
                </a:solidFill>
              </a:rPr>
              <a:t>utilization and CPU utilization</a:t>
            </a:r>
            <a:r>
              <a:rPr lang="en-CA" sz="1600" dirty="0">
                <a:solidFill>
                  <a:srgbClr val="000000"/>
                </a:solidFill>
              </a:rPr>
              <a:t>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8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CA" sz="2400" dirty="0"/>
              <a:t>Step 2 - Identify Devices and Ports of Interest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266155" cy="63850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 logical network topology can be useful in identifying key devices and ports to monitor.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0A6D0E7-4433-44E3-BE50-BDD1373ABB54}"/>
              </a:ext>
            </a:extLst>
          </p:cNvPr>
          <p:cNvSpPr txBox="1">
            <a:spLocks/>
          </p:cNvSpPr>
          <p:nvPr/>
        </p:nvSpPr>
        <p:spPr>
          <a:xfrm>
            <a:off x="431971" y="1493923"/>
            <a:ext cx="4013905" cy="266078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As shown in the sample topology, the devices and ports of interest include: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PC1 (the Admin terminal)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Two servers (i.e., Srv1 and Svr2)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Router interfaces </a:t>
            </a:r>
          </a:p>
          <a:p>
            <a:pPr marL="358835" lvl="1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Key ports on switches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DC8728-D326-4DFD-ADA1-49AC65E8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268578"/>
            <a:ext cx="4159464" cy="26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CA" sz="2400" dirty="0"/>
              <a:t>Step 3 - Determine the Baseline Duration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capturing data for analysis, the period specified should be: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At a minimum, </a:t>
            </a:r>
            <a:r>
              <a:rPr lang="en-CA" sz="1600" b="1" dirty="0">
                <a:solidFill>
                  <a:srgbClr val="000000"/>
                </a:solidFill>
              </a:rPr>
              <a:t>seven days long</a:t>
            </a:r>
            <a:r>
              <a:rPr lang="en-CA" sz="1600" dirty="0">
                <a:solidFill>
                  <a:srgbClr val="000000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Last no more than six weeks, unless specific long-term trends need to be measured.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Generally, a </a:t>
            </a:r>
            <a:r>
              <a:rPr lang="en-CA" sz="1600" b="1" dirty="0">
                <a:solidFill>
                  <a:srgbClr val="000000"/>
                </a:solidFill>
              </a:rPr>
              <a:t>two-to-four-week</a:t>
            </a:r>
            <a:r>
              <a:rPr lang="en-CA" sz="1600" dirty="0">
                <a:solidFill>
                  <a:srgbClr val="000000"/>
                </a:solidFill>
              </a:rPr>
              <a:t> baseline is adequate.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Conduct an annual analysis of the entire network, or baseline different sections of the network on a rotating basis.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Analysis must be conducted regularly to understand how the network is affected by growth and other changes.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58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Network Documentation</a:t>
            </a:r>
            <a:br>
              <a:rPr lang="en-US" dirty="0"/>
            </a:br>
            <a:r>
              <a:rPr lang="en-US" sz="2400" dirty="0"/>
              <a:t>Data Measurement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8540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some of the most common Cisco IOS commands used for data collection.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91795A-845D-4379-ABF4-179B6DB31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889522"/>
              </p:ext>
            </p:extLst>
          </p:nvPr>
        </p:nvGraphicFramePr>
        <p:xfrm>
          <a:off x="508226" y="1214135"/>
          <a:ext cx="8345488" cy="351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574">
                  <a:extLst>
                    <a:ext uri="{9D8B030D-6E8A-4147-A177-3AD203B41FA5}">
                      <a16:colId xmlns:a16="http://schemas.microsoft.com/office/drawing/2014/main" val="2018599688"/>
                    </a:ext>
                  </a:extLst>
                </a:gridCol>
                <a:gridCol w="4738914">
                  <a:extLst>
                    <a:ext uri="{9D8B030D-6E8A-4147-A177-3AD203B41FA5}">
                      <a16:colId xmlns:a16="http://schemas.microsoft.com/office/drawing/2014/main" val="1451271533"/>
                    </a:ext>
                  </a:extLst>
                </a:gridCol>
              </a:tblGrid>
              <a:tr h="34365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Command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62881758"/>
                  </a:ext>
                </a:extLst>
              </a:tr>
              <a:tr h="284512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version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uptime, version information for device software and hardware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75893446"/>
                  </a:ext>
                </a:extLst>
              </a:tr>
              <a:tr h="343650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brief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b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brief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all the configuration options that are set on an interface.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825478387"/>
                  </a:ext>
                </a:extLst>
              </a:tr>
              <a:tr h="265387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detailed output for each interface.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41581414"/>
                  </a:ext>
                </a:extLst>
              </a:tr>
              <a:tr h="355418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eigrp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ospf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b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static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eigrp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ospf 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</a:t>
                      </a: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routing table content listing directly connected networks and learned remote networks.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38563347"/>
                  </a:ext>
                </a:extLst>
              </a:tr>
              <a:tr h="308823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cdp neighbors detail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detailed information about directly connected Cisco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35387363"/>
                  </a:ext>
                </a:extLst>
              </a:tr>
              <a:tr h="341296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arp</a:t>
                      </a:r>
                      <a:br>
                        <a:rPr lang="en-CA" sz="10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neighbors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contents of the ARP table (IPv4) and the neighbor table (IPv6) - </a:t>
                      </a:r>
                      <a:r>
                        <a:rPr lang="sk-SK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IPv6 </a:t>
                      </a:r>
                      <a:r>
                        <a:rPr lang="sk-SK" sz="105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neighbor</a:t>
                      </a:r>
                      <a:r>
                        <a:rPr lang="sk-SK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sk-SK" sz="105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discovery</a:t>
                      </a:r>
                      <a:r>
                        <a:rPr lang="sk-SK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ND.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86036008"/>
                  </a:ext>
                </a:extLst>
              </a:tr>
              <a:tr h="273353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running-config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current configuration.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89815858"/>
                  </a:ext>
                </a:extLst>
              </a:tr>
              <a:tr h="253553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vlan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status of VLANs on a switch.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668031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port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status of ports on a switch.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4089341"/>
                  </a:ext>
                </a:extLst>
              </a:tr>
              <a:tr h="355418">
                <a:tc>
                  <a:txBody>
                    <a:bodyPr/>
                    <a:lstStyle/>
                    <a:p>
                      <a:pPr rtl="0" fontAlgn="ctr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tech-support</a:t>
                      </a:r>
                      <a:endParaRPr lang="en-CA" sz="1000" b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 collect a large amount of information using multiple </a:t>
                      </a:r>
                      <a:r>
                        <a:rPr lang="en-CA" sz="105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</a:t>
                      </a: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commands for technical support reporting purposes.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20307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5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12.2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Troubleshooting Process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General Troubleshooting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359104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Troubleshooting can be time consuming because networks differ, problems differ, and troubleshooting experience varies.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Using a structured troubleshooting method will shorten overall troubleshooting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There are several troubleshooting processes that can be used to solve a problem.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displays the logic flowchart of a simplified three-stage troubleshooting process.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F6A288-952E-4240-94C0-A9B1C9AFC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5" y="647943"/>
            <a:ext cx="4116932" cy="364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Seven-Step Troubleshooting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358896" cy="582683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figure displays a more detailed seven-step troubleshooting process.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6DD679-458C-4339-A53C-0D2BFAFE8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105321"/>
              </p:ext>
            </p:extLst>
          </p:nvPr>
        </p:nvGraphicFramePr>
        <p:xfrm>
          <a:off x="533400" y="1646238"/>
          <a:ext cx="8178628" cy="279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588">
                  <a:extLst>
                    <a:ext uri="{9D8B030D-6E8A-4147-A177-3AD203B41FA5}">
                      <a16:colId xmlns:a16="http://schemas.microsoft.com/office/drawing/2014/main" val="1047834271"/>
                    </a:ext>
                  </a:extLst>
                </a:gridCol>
                <a:gridCol w="6598040">
                  <a:extLst>
                    <a:ext uri="{9D8B030D-6E8A-4147-A177-3AD203B41FA5}">
                      <a16:colId xmlns:a16="http://schemas.microsoft.com/office/drawing/2014/main" val="1512075306"/>
                    </a:ext>
                  </a:extLst>
                </a:gridCol>
              </a:tblGrid>
              <a:tr h="239712">
                <a:tc>
                  <a:txBody>
                    <a:bodyPr/>
                    <a:lstStyle/>
                    <a:p>
                      <a:r>
                        <a:rPr lang="en-US" sz="1100" dirty="0"/>
                        <a:t>Steps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  <a:endParaRPr lang="en-CA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367653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Define the Problem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Verify that there is a problem and then properly define what the problem 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92894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Gather Information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Targets (i.e., hosts, devices) are identified, accessed, and information gathered.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269490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Analyze Information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Identify possible causes </a:t>
                      </a: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using network documentation, network baselines, knowledge bases, and peers.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877854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Eliminate Possible Causes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Progressively eliminate possible causes to eventually identify the most probable cause.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296886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Propose Hypothesis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When the most probable cause has been identified, a solution must be formulated.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431469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Test Hypothesis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Assess the urgency of the problem, create a rollback plan, implement the solution, and verify outcome.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147565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Solve the Problem</a:t>
                      </a:r>
                      <a:endParaRPr lang="en-CA" sz="105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When solved, inform all involved and document the cause and solution to help solve future problems.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774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1ACE55-26FD-480B-A54D-7E7958AC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699" y="579383"/>
            <a:ext cx="4019757" cy="10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8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Question End Users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provides questioning guidelines and sample open ended end-user questions.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4A3B28-E7D7-48D4-93AA-DA54273E2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706834"/>
              </p:ext>
            </p:extLst>
          </p:nvPr>
        </p:nvGraphicFramePr>
        <p:xfrm>
          <a:off x="609600" y="1214135"/>
          <a:ext cx="8102428" cy="341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5283028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20753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Guidelines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Example Open Ended End-User Questions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61672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Ask pertinent questions.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does not work?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exactly is the problem?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you trying to accomplish?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435162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the scope of the problem.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 does this issue affect? Is it just you or others?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device is this happening on?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616720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when the problem occurred / occurs.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exactly does the problem occur?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was the problem first noticed?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Were there any error message(s) displayed?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452453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if the problem is constant or intermittent*.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you reproduce the problem?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you send me a screenshot or video of the problem?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420753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Determine if anything has changed.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has changed since the last time it did work?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  <a:tr h="452453">
                <a:tc>
                  <a:txBody>
                    <a:bodyPr/>
                    <a:lstStyle/>
                    <a:p>
                      <a:pPr fontAlgn="ctr"/>
                      <a:r>
                        <a:rPr lang="en-CA" sz="1100" b="0" dirty="0">
                          <a:solidFill>
                            <a:srgbClr val="000000"/>
                          </a:solidFill>
                          <a:effectLst/>
                        </a:rPr>
                        <a:t>Use questions to eliminate or discover possible problems.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works?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does not work?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62862871"/>
                  </a:ext>
                </a:extLst>
              </a:tr>
            </a:tbl>
          </a:graphicData>
        </a:graphic>
      </p:graphicFrame>
      <p:sp>
        <p:nvSpPr>
          <p:cNvPr id="5" name="BlokTextu 4">
            <a:extLst>
              <a:ext uri="{FF2B5EF4-FFF2-40B4-BE49-F238E27FC236}">
                <a16:creationId xmlns:a16="http://schemas.microsoft.com/office/drawing/2014/main" id="{5DC3506F-A7B2-7743-845E-D0C704E722BC}"/>
              </a:ext>
            </a:extLst>
          </p:cNvPr>
          <p:cNvSpPr txBox="1"/>
          <p:nvPr/>
        </p:nvSpPr>
        <p:spPr>
          <a:xfrm>
            <a:off x="1107232" y="4629149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*prerušovaný</a:t>
            </a:r>
          </a:p>
        </p:txBody>
      </p:sp>
    </p:spTree>
    <p:extLst>
      <p:ext uri="{BB962C8B-B14F-4D97-AF65-F5344CB8AC3E}">
        <p14:creationId xmlns:p14="http://schemas.microsoft.com/office/powerpoint/2010/main" val="50047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Gather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Common Cisco IOS commands used to gather network problem symptoms.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C696C3-5F8B-48F8-887C-DA0DFB005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52713"/>
              </p:ext>
            </p:extLst>
          </p:nvPr>
        </p:nvGraphicFramePr>
        <p:xfrm>
          <a:off x="508226" y="1214135"/>
          <a:ext cx="8345488" cy="285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699">
                  <a:extLst>
                    <a:ext uri="{9D8B030D-6E8A-4147-A177-3AD203B41FA5}">
                      <a16:colId xmlns:a16="http://schemas.microsoft.com/office/drawing/2014/main" val="2018599688"/>
                    </a:ext>
                  </a:extLst>
                </a:gridCol>
                <a:gridCol w="6024789">
                  <a:extLst>
                    <a:ext uri="{9D8B030D-6E8A-4147-A177-3AD203B41FA5}">
                      <a16:colId xmlns:a16="http://schemas.microsoft.com/office/drawing/2014/main" val="1451271533"/>
                    </a:ext>
                  </a:extLst>
                </a:gridCol>
              </a:tblGrid>
              <a:tr h="34365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Command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62881758"/>
                  </a:ext>
                </a:extLst>
              </a:tr>
              <a:tr h="284512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ping </a:t>
                      </a:r>
                      <a:r>
                        <a:rPr lang="en-CA" sz="10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CA" sz="1000" i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en-CA" sz="10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|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ip-address</a:t>
                      </a: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Sends an echo request packet to an address, then waits for a reply.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75893446"/>
                  </a:ext>
                </a:extLst>
              </a:tr>
              <a:tr h="343650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traceroute 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destination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Identifies the path a packet takes through the networks.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825478387"/>
                  </a:ext>
                </a:extLst>
              </a:tr>
              <a:tr h="265387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telnet {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| 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ip-address</a:t>
                      </a: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Connects to an IP address using the Telnet application (Note: Use SSH whenever possible).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41581414"/>
                  </a:ext>
                </a:extLst>
              </a:tr>
              <a:tr h="355418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ssh -l </a:t>
                      </a:r>
                      <a:r>
                        <a:rPr lang="en-CA" sz="1000" b="0" i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user-id ip-address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Connects to an IP address using SSH.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38563347"/>
                  </a:ext>
                </a:extLst>
              </a:tr>
              <a:tr h="30882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 interface brief </a:t>
                      </a:r>
                      <a:b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a summary status of all interfaces on a device.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35387363"/>
                  </a:ext>
                </a:extLst>
              </a:tr>
              <a:tr h="34129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 route</a:t>
                      </a:r>
                      <a:b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current IPv4 and IPv6 routing tables.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86036008"/>
                  </a:ext>
                </a:extLst>
              </a:tr>
              <a:tr h="27335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protocols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the global and interface-specific status of any configured Layer 3 protocol.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89815858"/>
                  </a:ext>
                </a:extLst>
              </a:tr>
              <a:tr h="25355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000" b="1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debug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a list of options for enabling or disabling debugging events.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6680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2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Troubleshooting with Layered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74370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OSI and TCP/IP models can be applied to isolate network problems when troubleshooting.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92CE7DC-0CA8-4337-8499-875108DC262E}"/>
              </a:ext>
            </a:extLst>
          </p:cNvPr>
          <p:cNvSpPr txBox="1">
            <a:spLocks/>
          </p:cNvSpPr>
          <p:nvPr/>
        </p:nvSpPr>
        <p:spPr>
          <a:xfrm>
            <a:off x="431970" y="1684094"/>
            <a:ext cx="3387555" cy="289152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figure shows some common devices and the OSI layers that must be examined during the troubleshooting process for that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50092C-8DC9-4A15-A546-B5341C351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714" y="1355450"/>
            <a:ext cx="4896314" cy="336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6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US" sz="2400" dirty="0"/>
              <a:t>Structured Troubleshooting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9411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Different troubleshooting approaches that can be used include the following.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3F09D2-6836-4B12-991C-13C96D03F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951368"/>
              </p:ext>
            </p:extLst>
          </p:nvPr>
        </p:nvGraphicFramePr>
        <p:xfrm>
          <a:off x="333375" y="1214135"/>
          <a:ext cx="8477250" cy="294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1770144010"/>
                    </a:ext>
                  </a:extLst>
                </a:gridCol>
                <a:gridCol w="6838950">
                  <a:extLst>
                    <a:ext uri="{9D8B030D-6E8A-4147-A177-3AD203B41FA5}">
                      <a16:colId xmlns:a16="http://schemas.microsoft.com/office/drawing/2014/main" val="2892143209"/>
                    </a:ext>
                  </a:extLst>
                </a:gridCol>
              </a:tblGrid>
              <a:tr h="354852">
                <a:tc>
                  <a:txBody>
                    <a:bodyPr/>
                    <a:lstStyle/>
                    <a:p>
                      <a:r>
                        <a:rPr lang="en-US" sz="1200" dirty="0"/>
                        <a:t>Troubleshooting Approach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  <a:endParaRPr lang="en-CA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04604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Bottom-Up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Good approach to use when the problem is suspected to be a physical 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34682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Top-Down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 this approach for simpler problems, or when you think the problem is with a piece of software.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95843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Divide-and-Conquer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Start at a middle layer (i.e, Layer 3) and tests in both directions from that layer.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94702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Follow-the-Path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Used to discover the actual traffic path from source to destination to reduce the scope of troubleshooting.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686385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Substitution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You physically swap a suspected problematic device with a known, working one.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4837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Comparison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Attempts to resolve the problem by comparing a nonoperational element with the working one.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758700"/>
                  </a:ext>
                </a:extLst>
              </a:tr>
              <a:tr h="35485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Educated guess</a:t>
                      </a:r>
                      <a:endParaRPr lang="en-CA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1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Success of this method varies based on your troubleshooting experience and 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97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1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Process</a:t>
            </a:r>
            <a:br>
              <a:rPr lang="en-US" dirty="0"/>
            </a:br>
            <a:r>
              <a:rPr lang="en-CA" sz="2400" dirty="0"/>
              <a:t>Guidelines for Selecting a Troubleshooting Method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682954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To quickly resolve network problems, take the time to select the most effective network troubleshooting method.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illustrates which method could be used when a certain type of problem is discovered.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Troubleshooting is a skill that is developed by doing it.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Every network problem you identify and solve gets added to your skill set.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06F81F-DE41-4532-BF2E-A94AC0054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855418"/>
            <a:ext cx="3733875" cy="340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6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Zástupný objekt pre obsah 3">
                <a:extLst>
                  <a:ext uri="{FF2B5EF4-FFF2-40B4-BE49-F238E27FC236}">
                    <a16:creationId xmlns:a16="http://schemas.microsoft.com/office/drawing/2014/main" id="{4983C884-9F4A-7E16-FF05-18B90874379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46241847"/>
                  </p:ext>
                </p:extLst>
              </p:nvPr>
            </p:nvGraphicFramePr>
            <p:xfrm>
              <a:off x="144463" y="111125"/>
              <a:ext cx="8853487" cy="484346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Zástupný objekt pre obsah 3">
                <a:extLst>
                  <a:ext uri="{FF2B5EF4-FFF2-40B4-BE49-F238E27FC236}">
                    <a16:creationId xmlns:a16="http://schemas.microsoft.com/office/drawing/2014/main" id="{4983C884-9F4A-7E16-FF05-18B9087437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463" y="111125"/>
                <a:ext cx="8853487" cy="48434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459477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12.3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Troubleshooting Process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39007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US" sz="2400" dirty="0"/>
              <a:t>Software Troubleshooting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77079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Common software troubleshooting tools include the following: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4885A9-ED3C-48E3-A4DC-F73D8909E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58118"/>
              </p:ext>
            </p:extLst>
          </p:nvPr>
        </p:nvGraphicFramePr>
        <p:xfrm>
          <a:off x="609600" y="1638301"/>
          <a:ext cx="8102428" cy="2272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454603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36194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Software Tool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608816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Network Management System Tools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software include device-level monitoring, configuration, and fault-management tools.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can be used to investigate and correct network problems.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65096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Knowledge Bases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network device vendor knowledge bases have become indispensable sources of information. 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vendor-based knowledge bases are combined with internet search engines, a network administrator has access to a vast pool of experience-based information.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65096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Baselining Tools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Many tools for automating the network documentation and baselining process are available. 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Baselining tools help with common documentation tasks such as network diagrams, update network software and hardware documentation, and cost-effectively measure baseline network bandwidth use.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7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US" sz="2400" dirty="0"/>
              <a:t>Protocol Analyzers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2711279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 protocol analyzer can capture and display the physical layer to the application layer information contained in a packet.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Protocol analyzers, such as Wireshark, can help troubleshoot network performance problems.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B1248-B074-416F-B646-520FE2FA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521" y="855419"/>
            <a:ext cx="5857553" cy="365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6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US" sz="2400" dirty="0"/>
              <a:t>Hardware Troubleshooting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9411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There are multiple types of hardware troubleshooting tools.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50CEB0-36C1-4F1F-86E8-EC43EBF0C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55932"/>
              </p:ext>
            </p:extLst>
          </p:nvPr>
        </p:nvGraphicFramePr>
        <p:xfrm>
          <a:off x="609600" y="1214135"/>
          <a:ext cx="8102428" cy="2962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454603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20753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Hardware Tools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Digital Multimeters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Devices measure electrical values of voltage, current, and resistance.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Cable Testers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Handheld devices are designed for testing the various types of data communication cabling.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Cable Analyzers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Multifunctional handheld devices used to test and certify copper and fiber cables.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Portable Network Analyzers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Specialized device used for troubleshooting switched networks and VLANs.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50836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Cisco Prime NAM</a:t>
                      </a:r>
                      <a:endParaRPr lang="en-CA" sz="11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05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Browser-based interface that displays device performance analysis in a switched and routed environment.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8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Tools</a:t>
            </a:r>
            <a:br>
              <a:rPr lang="en-US" dirty="0"/>
            </a:br>
            <a:r>
              <a:rPr lang="en-CA" sz="2400" dirty="0"/>
              <a:t>Syslog Server as a Troubleshooting Tool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6828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Syslog is used by syslog clients to send text-based log messages to a syslog server.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B227259-C385-48D1-B6EF-4BBF584C01EE}"/>
              </a:ext>
            </a:extLst>
          </p:cNvPr>
          <p:cNvSpPr txBox="1">
            <a:spLocks/>
          </p:cNvSpPr>
          <p:nvPr/>
        </p:nvSpPr>
        <p:spPr>
          <a:xfrm>
            <a:off x="431972" y="1390650"/>
            <a:ext cx="6330778" cy="213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Log messages can be sent to the console, VTY lines, memory buffer, or syslog server.</a:t>
            </a: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Cisco IOS log messages fall into one of eight levels.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lower the level number, the higher the severity level.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By default, the console displays level 6 (debugging) messages.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 the command output, level 0 (emergencies) to 5 (notifications) are sent to the syslog server at 209.165.200.225.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4C30B-F6F3-4940-A64F-15B49CF9C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45" y="3722984"/>
            <a:ext cx="3286608" cy="86489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60D6CF-D9B0-4C5A-9010-9111C9658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05627"/>
              </p:ext>
            </p:extLst>
          </p:nvPr>
        </p:nvGraphicFramePr>
        <p:xfrm>
          <a:off x="6831013" y="1433209"/>
          <a:ext cx="1514475" cy="197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00005128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311946324"/>
                    </a:ext>
                  </a:extLst>
                </a:gridCol>
              </a:tblGrid>
              <a:tr h="230251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Level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Keyword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6754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Emergencies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39275109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Alerts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988615813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783399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Errors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830655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Warnings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3156923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Notifications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18440137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Informational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535039655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000" b="0" dirty="0">
                          <a:solidFill>
                            <a:srgbClr val="000000"/>
                          </a:solidFill>
                          <a:effectLst/>
                        </a:rPr>
                        <a:t>Debugging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592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70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12.4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Symptoms and Causes of Network Problems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974829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Physical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91737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</a:t>
            </a:r>
            <a:r>
              <a:rPr lang="en-CA" sz="1600" b="1" dirty="0">
                <a:solidFill>
                  <a:srgbClr val="000000"/>
                </a:solidFill>
              </a:rPr>
              <a:t>common symptoms </a:t>
            </a:r>
            <a:r>
              <a:rPr lang="en-CA" sz="1600" dirty="0">
                <a:solidFill>
                  <a:srgbClr val="000000"/>
                </a:solidFill>
              </a:rPr>
              <a:t>of physical layer network problems.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B73388-F71D-4000-BD84-1DEAAAE84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579653"/>
              </p:ext>
            </p:extLst>
          </p:nvPr>
        </p:nvGraphicFramePr>
        <p:xfrm>
          <a:off x="256032" y="1318181"/>
          <a:ext cx="8631936" cy="29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891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988045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287677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Symptom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62693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lower than baseline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previous baselines for comparison.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most common reasons include overloaded or underpowered servers, unsuitable switch or router configurations, traffic congestion on a low-capacity link, and chronic frame loss.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of connectivity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of connectivity could be due to a failed or disconnected cable.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verified using a simple </a:t>
                      </a: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ping </a:t>
                      </a: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Intermittent connectivity loss can indicate a loose or oxidized connection.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bottlenecks or congestion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route fails, routing protocols could redirect traffic to sub-optimal routes.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can result in congestion or bottlenecks in parts of the network.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CPU utilization rates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CPU utilization rates indicates that a device is operating at or exceeding its design limits.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not addressed quickly, CPU overloading can cause a device to shut down or fail.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48105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error messages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 messages reported on the device console could indicate a physical layer problem.</a:t>
                      </a:r>
                    </a:p>
                    <a:p>
                      <a:pPr marL="85725" indent="-85725" algn="l" defTabSz="685777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messages should be logged to a central syslog server.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83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Physical Layer Troubleshooting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731837"/>
            <a:ext cx="8280057" cy="298941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</a:t>
            </a:r>
            <a:r>
              <a:rPr lang="en-CA" sz="1600" b="1" dirty="0">
                <a:solidFill>
                  <a:srgbClr val="000000"/>
                </a:solidFill>
              </a:rPr>
              <a:t>issues that commonly cause network problems</a:t>
            </a:r>
            <a:r>
              <a:rPr lang="en-CA" sz="1600" dirty="0">
                <a:solidFill>
                  <a:srgbClr val="000000"/>
                </a:solidFill>
              </a:rPr>
              <a:t> at the physical layer.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B73388-F71D-4000-BD84-1DEAAAE84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201727"/>
              </p:ext>
            </p:extLst>
          </p:nvPr>
        </p:nvGraphicFramePr>
        <p:xfrm>
          <a:off x="201167" y="1128791"/>
          <a:ext cx="8741664" cy="369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29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963835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265352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Problem Cause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225847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Power-related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operation of the fans and ensure that the chassis intake and exhaust vents are clear.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faults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Faulty or corrupt NIC driver files, bad cabling, or grounding problems can cause network transmission errors such as late collisions, short frames, and jabber.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31934780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Cabling faults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Look for damaged cables, improper cable, and poorly crimped connectors.</a:t>
                      </a:r>
                    </a:p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Suspect cables should be tested or exchanged with a known functioning cable.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64157572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Attenuation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Attenuation can be caused if a cable length exceeds the design limit for the media, or when there is a poor connection resulting from a loose cable, or dirty or oxidized contacts.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68781421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electromagnetic interference (EMI) can be generated by many sources, such as crosstalk, nearby electric cables, large electric motors, FM radio stations, police radio, and more.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configuration errors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Causes can include incorrect clock rate, incorrect clock source, and interface not being turned on.</a:t>
                      </a:r>
                    </a:p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causes a loss of connectivity with attached network segments.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359760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Exceeding design limits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component could operate sub-optimally if it is being utilized beyond specifications.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  <a:tr h="513031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overload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Symptoms include processes with high CPU utilization percentages, input queue drops, slow performance, SNMP timeouts, no remote access, no DHCP services, Telnet, and pings are slow or fail to respond.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759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86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Data Link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</a:t>
            </a:r>
            <a:r>
              <a:rPr lang="en-CA" sz="1600" b="1" dirty="0">
                <a:solidFill>
                  <a:srgbClr val="000000"/>
                </a:solidFill>
              </a:rPr>
              <a:t>common symptoms </a:t>
            </a:r>
            <a:r>
              <a:rPr lang="en-CA" sz="1600" dirty="0">
                <a:solidFill>
                  <a:srgbClr val="000000"/>
                </a:solidFill>
              </a:rPr>
              <a:t>of data link layer network problems.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FBA682-77FB-4E59-8D3F-904E7C83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920684"/>
              </p:ext>
            </p:extLst>
          </p:nvPr>
        </p:nvGraphicFramePr>
        <p:xfrm>
          <a:off x="219456" y="1214135"/>
          <a:ext cx="8668512" cy="3424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523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232989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48527"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Symptom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200" b="1" dirty="0">
                          <a:effectLst/>
                        </a:rPr>
                        <a:t>Description</a:t>
                      </a:r>
                      <a:endParaRPr lang="en-CA" sz="12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586303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functionality or connectivity at the network layer or above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 Layer 2 problems can stop the exchange of frames across a link, while others only cause network performance to degrade.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588511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is operating below baseline performance levels 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Frames can take a suboptimal path to their destination but still arrive causing the network to experience unexpected high-bandwidth usage on links. 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extended or continuous ping can help reveal if frames are being dropped.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2269619013"/>
                  </a:ext>
                </a:extLst>
              </a:tr>
              <a:tr h="781737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Excessive broadcasts 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 systems use broadcasts and multicasts extensively. 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Generally, excessive broadcasts are the result of a poorly programmed or configured applications, a large Layer 2 broadcast domains, or an underlying network problems.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4186411143"/>
                  </a:ext>
                </a:extLst>
              </a:tr>
              <a:tr h="977171">
                <a:tc>
                  <a:txBody>
                    <a:bodyPr/>
                    <a:lstStyle/>
                    <a:p>
                      <a:pPr marL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messages </a:t>
                      </a:r>
                    </a:p>
                  </a:txBody>
                  <a:tcPr marL="35809" marR="35809" marT="0" marB="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Routers send messages when it detects a problem with interpreting incoming frames (encapsulation or framing problems) or when keepalives are expected but do not arrive. 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most common console message that indicates a Layer 2 problem is a line protocol down message</a:t>
                      </a:r>
                    </a:p>
                  </a:txBody>
                  <a:tcPr marL="35809" marR="35809" marT="0" marB="0" anchor="ctr"/>
                </a:tc>
                <a:extLst>
                  <a:ext uri="{0D108BD9-81ED-4DB2-BD59-A6C34878D82A}">
                    <a16:rowId xmlns:a16="http://schemas.microsoft.com/office/drawing/2014/main" val="2449721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40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Data Link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0050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</a:t>
            </a:r>
            <a:r>
              <a:rPr lang="en-CA" sz="1600" b="1" dirty="0">
                <a:solidFill>
                  <a:srgbClr val="000000"/>
                </a:solidFill>
              </a:rPr>
              <a:t>issues that commonly cause network problems </a:t>
            </a:r>
            <a:r>
              <a:rPr lang="en-CA" sz="1600" dirty="0">
                <a:solidFill>
                  <a:srgbClr val="000000"/>
                </a:solidFill>
              </a:rPr>
              <a:t>at the data link layer.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833A4D-CC8C-41FA-BF90-44555E224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41151"/>
              </p:ext>
            </p:extLst>
          </p:nvPr>
        </p:nvGraphicFramePr>
        <p:xfrm>
          <a:off x="609600" y="1226327"/>
          <a:ext cx="8102428" cy="3098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25">
                  <a:extLst>
                    <a:ext uri="{9D8B030D-6E8A-4147-A177-3AD203B41FA5}">
                      <a16:colId xmlns:a16="http://schemas.microsoft.com/office/drawing/2014/main" val="217029517"/>
                    </a:ext>
                  </a:extLst>
                </a:gridCol>
                <a:gridCol w="6302203">
                  <a:extLst>
                    <a:ext uri="{9D8B030D-6E8A-4147-A177-3AD203B41FA5}">
                      <a16:colId xmlns:a16="http://schemas.microsoft.com/office/drawing/2014/main" val="1252993372"/>
                    </a:ext>
                  </a:extLst>
                </a:gridCol>
              </a:tblGrid>
              <a:tr h="403314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Problem Cause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Description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9792799"/>
                  </a:ext>
                </a:extLst>
              </a:tr>
              <a:tr h="3432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Encapsulation errors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Occurs when bits placed in a field by the sender are not what the receiver expects to see.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1185609"/>
                  </a:ext>
                </a:extLst>
              </a:tr>
              <a:tr h="487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 mapping errors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Occurs when Layer 2 and Layer addressing is not available.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1934780"/>
                  </a:ext>
                </a:extLst>
              </a:tr>
              <a:tr h="487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Framing errors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Framing errors can be caused by a noisy serial line, an improperly designed cable, faulty NIC, duplex mismatch, or an incorrectly configured channel service unit (CSU) line clock.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4157572"/>
                  </a:ext>
                </a:extLst>
              </a:tr>
              <a:tr h="7032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STP failures or loops</a:t>
                      </a:r>
                      <a:endParaRPr lang="en-CA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 STP problems are related to forwarding loops that occur when no ports in a redundant topology are blocked and traffic is forwarded in circles indefinitely, excessive flooding because of a high rate of STP topology changes.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878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83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192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Network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507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</a:t>
            </a:r>
            <a:r>
              <a:rPr lang="en-CA" sz="1600" b="1" dirty="0">
                <a:solidFill>
                  <a:srgbClr val="000000"/>
                </a:solidFill>
              </a:rPr>
              <a:t>common</a:t>
            </a:r>
            <a:r>
              <a:rPr lang="en-CA" sz="1600" dirty="0">
                <a:solidFill>
                  <a:srgbClr val="000000"/>
                </a:solidFill>
              </a:rPr>
              <a:t> </a:t>
            </a:r>
            <a:r>
              <a:rPr lang="en-CA" sz="1600" b="1" dirty="0">
                <a:solidFill>
                  <a:srgbClr val="000000"/>
                </a:solidFill>
              </a:rPr>
              <a:t>symptoms</a:t>
            </a:r>
            <a:r>
              <a:rPr lang="en-CA" sz="1600" dirty="0">
                <a:solidFill>
                  <a:srgbClr val="000000"/>
                </a:solidFill>
              </a:rPr>
              <a:t> of network layer network problems.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37A068-B473-454B-A79E-BB455269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67767"/>
              </p:ext>
            </p:extLst>
          </p:nvPr>
        </p:nvGraphicFramePr>
        <p:xfrm>
          <a:off x="385590" y="1370012"/>
          <a:ext cx="8526762" cy="315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810">
                  <a:extLst>
                    <a:ext uri="{9D8B030D-6E8A-4147-A177-3AD203B41FA5}">
                      <a16:colId xmlns:a16="http://schemas.microsoft.com/office/drawing/2014/main" val="3623608735"/>
                    </a:ext>
                  </a:extLst>
                </a:gridCol>
                <a:gridCol w="6473952">
                  <a:extLst>
                    <a:ext uri="{9D8B030D-6E8A-4147-A177-3AD203B41FA5}">
                      <a16:colId xmlns:a16="http://schemas.microsoft.com/office/drawing/2014/main" val="2624756040"/>
                    </a:ext>
                  </a:extLst>
                </a:gridCol>
              </a:tblGrid>
              <a:tr h="570120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Symptom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Description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1381194"/>
                  </a:ext>
                </a:extLst>
              </a:tr>
              <a:tr h="944458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Network failure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Occurs when the network is nearly or completely non-functional, affecting all users and applications on the network.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failures are usually noticed quickly by users and network administrators and are obviously critical to the productivity of a company.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6185210"/>
                  </a:ext>
                </a:extLst>
              </a:tr>
              <a:tr h="944458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Suboptimal performance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 involve a subset of users, applications, destinations, or a type of traffic.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 issues can be difficult to detect and even harder to isolate and diagnose.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because they usually involve multiple layers, or even a single host computer.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Determining that the problem is a network layer problem can take time.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9970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20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Network Layer Troubleshooting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</a:t>
            </a:r>
            <a:r>
              <a:rPr lang="en-CA" sz="1600" b="1" dirty="0">
                <a:solidFill>
                  <a:srgbClr val="000000"/>
                </a:solidFill>
              </a:rPr>
              <a:t>common symptoms </a:t>
            </a:r>
            <a:r>
              <a:rPr lang="en-CA" sz="1600" dirty="0">
                <a:solidFill>
                  <a:srgbClr val="000000"/>
                </a:solidFill>
              </a:rPr>
              <a:t>of network layer network problems.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37A068-B473-454B-A79E-BB455269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080338"/>
              </p:ext>
            </p:extLst>
          </p:nvPr>
        </p:nvGraphicFramePr>
        <p:xfrm>
          <a:off x="520785" y="1214135"/>
          <a:ext cx="8102428" cy="3784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615">
                  <a:extLst>
                    <a:ext uri="{9D8B030D-6E8A-4147-A177-3AD203B41FA5}">
                      <a16:colId xmlns:a16="http://schemas.microsoft.com/office/drawing/2014/main" val="3623608735"/>
                    </a:ext>
                  </a:extLst>
                </a:gridCol>
                <a:gridCol w="6184813">
                  <a:extLst>
                    <a:ext uri="{9D8B030D-6E8A-4147-A177-3AD203B41FA5}">
                      <a16:colId xmlns:a16="http://schemas.microsoft.com/office/drawing/2014/main" val="2624756040"/>
                    </a:ext>
                  </a:extLst>
                </a:gridCol>
              </a:tblGrid>
              <a:tr h="268623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Problem Cause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dirty="0">
                          <a:effectLst/>
                        </a:rPr>
                        <a:t>Description</a:t>
                      </a:r>
                      <a:endParaRPr lang="en-CA" sz="140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1381194"/>
                  </a:ext>
                </a:extLst>
              </a:tr>
              <a:tr h="615569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General network issues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Often a change in the topology may unknowingly have effects on other areas of the network.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whether anything in the network has recently changed, and if there is anyone currently working on the network infrastructure.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6185210"/>
                  </a:ext>
                </a:extLst>
              </a:tr>
              <a:tr h="615569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Connectivity issues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for any equipment and connectivity problems, including power problems, environmental problems, and Layer 1 problems, such as cabling problems, bad ports, and ISP problems.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63477630"/>
                  </a:ext>
                </a:extLst>
              </a:tr>
              <a:tr h="492553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Routing table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routing table for anything unexpected, such as missing routes or unexpected routes.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27490049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Neighbor issues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to see if there are any problems with the routers forming neighbor adjacencies.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21656052"/>
                  </a:ext>
                </a:extLst>
              </a:tr>
              <a:tr h="509190">
                <a:tc>
                  <a:txBody>
                    <a:bodyPr/>
                    <a:lstStyle/>
                    <a:p>
                      <a:pPr fontAlgn="ctr"/>
                      <a:r>
                        <a:rPr lang="en-CA" sz="1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Topology database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4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table for anything unexpected, such as missing entries or unexpected entries.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9970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24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Transport Layer Troubleshooting - ACLs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24092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areas where ACL misconfigurations commonly occur.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CF5E66-89DC-45B8-8307-8DAEE958D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39738"/>
              </p:ext>
            </p:extLst>
          </p:nvPr>
        </p:nvGraphicFramePr>
        <p:xfrm>
          <a:off x="581025" y="1179511"/>
          <a:ext cx="8102428" cy="3554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541">
                  <a:extLst>
                    <a:ext uri="{9D8B030D-6E8A-4147-A177-3AD203B41FA5}">
                      <a16:colId xmlns:a16="http://schemas.microsoft.com/office/drawing/2014/main" val="3623608735"/>
                    </a:ext>
                  </a:extLst>
                </a:gridCol>
                <a:gridCol w="5695887">
                  <a:extLst>
                    <a:ext uri="{9D8B030D-6E8A-4147-A177-3AD203B41FA5}">
                      <a16:colId xmlns:a16="http://schemas.microsoft.com/office/drawing/2014/main" val="2624756040"/>
                    </a:ext>
                  </a:extLst>
                </a:gridCol>
              </a:tblGrid>
              <a:tr h="222272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Misconfigurations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1381194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Selection of traffic flow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ACL must be applied to the correct interface in the correct traffic direction.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9040433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Order of access control entries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entries in an ACL should be from specific to general.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19303435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Implicit deny any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implicit ACE can be the cause of an ACL misconfiguration.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99130747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Addresses and IPv4 wildcard masks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IPv4 wildcard masks are more efficient, but are more subject to configuration errors.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66185210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Selection of transport layer protocol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important that only the correct transport layer protocol be specified in an ACE.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63477630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Source and destination ports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Ensuring that the correct inbound and outbound ports are specified in an ACE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627490049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Use of the established keyword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</a:t>
                      </a:r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established</a:t>
                      </a: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keyword applied incorrectly, can provide unexpected results.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21656052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Uncommon protocols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Misconfigured ACLs often cause problems for protocols other than TCP and UDP.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9970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04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CA" sz="2400" dirty="0"/>
              <a:t>Transport Layer Troubleshooting - NAT for IPv4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5871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lists common interoperability areas with NAT.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76FCBD-3CC8-4D14-BF07-181618BA6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742323"/>
              </p:ext>
            </p:extLst>
          </p:nvPr>
        </p:nvGraphicFramePr>
        <p:xfrm>
          <a:off x="609600" y="1214135"/>
          <a:ext cx="8102428" cy="3444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541">
                  <a:extLst>
                    <a:ext uri="{9D8B030D-6E8A-4147-A177-3AD203B41FA5}">
                      <a16:colId xmlns:a16="http://schemas.microsoft.com/office/drawing/2014/main" val="3606254890"/>
                    </a:ext>
                  </a:extLst>
                </a:gridCol>
                <a:gridCol w="5695887">
                  <a:extLst>
                    <a:ext uri="{9D8B030D-6E8A-4147-A177-3AD203B41FA5}">
                      <a16:colId xmlns:a16="http://schemas.microsoft.com/office/drawing/2014/main" val="2502156337"/>
                    </a:ext>
                  </a:extLst>
                </a:gridCol>
              </a:tblGrid>
              <a:tr h="222272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Symptom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21230603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BOOTP and DHCP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DHCP-Request packet has a source IPv4 address of 0.0.0.0.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However, NAT requires both a valid destination and source IPv4 address, therefore, BOOTP and DHCP can have difficulty operating over a router running either static or dynamic NAT.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Configuring the IPv4 helper feature can help solve this problem.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69814655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DNS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DNS server outside the NAT router does not have an accurate representation of the network inside the router.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Configuring the IPv4 helper feature can help solve this problem.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24454070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SNMP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SNMP management station on one side of a NAT router may not be able to contact SNMP agents on the other side of the NAT router.</a:t>
                      </a:r>
                    </a:p>
                    <a:p>
                      <a:pPr marL="85725" lvl="0" indent="-85725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Configuring the IPv4 helper feature can help solve this problem.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963168104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fontAlgn="ctr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Tunneling and encryption protocols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Encryption and tunneling protocols often require that traffic be sourced from a specific UDP or TCP port, or use a protocol at the transport layer that cannot be processed by NAT.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88276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42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Symptoms and Causes of Network Problems</a:t>
            </a:r>
            <a:br>
              <a:rPr lang="en-US" dirty="0"/>
            </a:br>
            <a:r>
              <a:rPr lang="en-US" sz="2400" dirty="0"/>
              <a:t>Application Layer Troubleshooting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731837"/>
            <a:ext cx="8280057" cy="51459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table provides a short description of these application layer protocols.</a:t>
            </a: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D33E78-8D4E-48B5-9567-A7ECBFA5E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437445"/>
              </p:ext>
            </p:extLst>
          </p:nvPr>
        </p:nvGraphicFramePr>
        <p:xfrm>
          <a:off x="609600" y="1223709"/>
          <a:ext cx="8102428" cy="339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984">
                  <a:extLst>
                    <a:ext uri="{9D8B030D-6E8A-4147-A177-3AD203B41FA5}">
                      <a16:colId xmlns:a16="http://schemas.microsoft.com/office/drawing/2014/main" val="2323637086"/>
                    </a:ext>
                  </a:extLst>
                </a:gridCol>
                <a:gridCol w="6689444">
                  <a:extLst>
                    <a:ext uri="{9D8B030D-6E8A-4147-A177-3AD203B41FA5}">
                      <a16:colId xmlns:a16="http://schemas.microsoft.com/office/drawing/2014/main" val="1225337320"/>
                    </a:ext>
                  </a:extLst>
                </a:gridCol>
              </a:tblGrid>
              <a:tr h="190064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6257651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SSH/Telnet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Enables users to establish terminal session connections with remote hosts.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1228563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HTTP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Supports the exchanging of text, graphic images, sound, video, and other multimedia files on the web.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13515621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FTP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Performs interactive file transfers between hosts.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35664994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TFTP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Performs basic interactive file transfers typically between hosts and networking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863822605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SMTP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Supports basic message delivery services.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782620958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POP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Connects to mail servers and downloads email.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93505641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SNMP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Collects management information from network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0090278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DNS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Maps IP addresses to the names assigned to network devices.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36323343"/>
                  </a:ext>
                </a:extLst>
              </a:tr>
              <a:tr h="332906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CA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NFS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marL="0" lvl="0" indent="0" algn="l" defTabSz="685777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CA" sz="12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File System (NFS) enables computers to mount and use drives on remote hosts. 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230724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2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Zástupný objekt pre obsah 3">
                <a:extLst>
                  <a:ext uri="{FF2B5EF4-FFF2-40B4-BE49-F238E27FC236}">
                    <a16:creationId xmlns:a16="http://schemas.microsoft.com/office/drawing/2014/main" id="{C4445E28-8D15-53EA-35A0-FB0353493C3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85130420"/>
                  </p:ext>
                </p:extLst>
              </p:nvPr>
            </p:nvGraphicFramePr>
            <p:xfrm>
              <a:off x="474663" y="120579"/>
              <a:ext cx="8280400" cy="4722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Zástupný objekt pre obsah 3">
                <a:extLst>
                  <a:ext uri="{FF2B5EF4-FFF2-40B4-BE49-F238E27FC236}">
                    <a16:creationId xmlns:a16="http://schemas.microsoft.com/office/drawing/2014/main" id="{C4445E28-8D15-53EA-35A0-FB0353493C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663" y="120579"/>
                <a:ext cx="8280400" cy="4722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75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12.5 </a:t>
            </a:r>
            <a: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Troubleshooting IP Connectivity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63184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Components of Troubleshooting End-to-End Connectivity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Bottom-up approach steps when there is no end-to-end connectivity are as follows: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Check physical connectivity at the point where network communication stops.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Check for duplex mismatches.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Check data link and network layer addressing on the local network.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Verify that the default gateway is correct.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Ensure that devices are determining the correct path from the source to the destination.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Verify the transport layer is functioning properly. 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Verify that there are no ACLs blocking traffic.</a:t>
            </a:r>
          </a:p>
          <a:p>
            <a:pPr marL="442913" indent="-250825" algn="l">
              <a:buFont typeface="+mj-lt"/>
              <a:buAutoNum type="arabicPeriod"/>
            </a:pPr>
            <a:r>
              <a:rPr lang="en-CA" sz="1600" dirty="0">
                <a:solidFill>
                  <a:srgbClr val="000000"/>
                </a:solidFill>
              </a:rPr>
              <a:t>Ensure that DNS settings are correct. 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5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End-to-End Connectivity Problem Initiates Troubleshooting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3742864" cy="3073946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Usually what initiates a troubleshooting effort is the discovery that there is a problem with end-to-end connectivity.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Two of the most common utilities used to verify a problem with end-to-end connectivity are </a:t>
            </a:r>
            <a:r>
              <a:rPr lang="en-CA" sz="1600" b="1" dirty="0">
                <a:solidFill>
                  <a:srgbClr val="000000"/>
                </a:solidFill>
              </a:rPr>
              <a:t>ping</a:t>
            </a:r>
            <a:r>
              <a:rPr lang="en-CA" sz="1600" dirty="0">
                <a:solidFill>
                  <a:srgbClr val="000000"/>
                </a:solidFill>
              </a:rPr>
              <a:t> and </a:t>
            </a:r>
            <a:r>
              <a:rPr lang="en-CA" sz="1600" b="1" dirty="0">
                <a:solidFill>
                  <a:srgbClr val="000000"/>
                </a:solidFill>
              </a:rPr>
              <a:t>traceroute</a:t>
            </a:r>
            <a:r>
              <a:rPr lang="en-CA" sz="1600" dirty="0">
                <a:solidFill>
                  <a:srgbClr val="000000"/>
                </a:solidFill>
              </a:rPr>
              <a:t>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6938AD-A52B-492A-B23E-8C4D655C5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292" y="978712"/>
            <a:ext cx="4675736" cy="329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6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1 - Verify the Physical Layer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8"/>
            <a:ext cx="3948440" cy="3681747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</a:t>
            </a:r>
            <a:r>
              <a:rPr lang="en-CA" sz="1600" b="1" dirty="0">
                <a:solidFill>
                  <a:srgbClr val="000000"/>
                </a:solidFill>
              </a:rPr>
              <a:t>show interfaces </a:t>
            </a:r>
            <a:r>
              <a:rPr lang="en-CA" sz="1600" dirty="0">
                <a:solidFill>
                  <a:srgbClr val="000000"/>
                </a:solidFill>
              </a:rPr>
              <a:t>command is useful when troubleshooting performance-related issues and hardware is suspected to be at fault.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Of interest in the output are the: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Interface status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Input queue drops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Output queue drops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Input errors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Output errors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D05DCA-732E-4039-9F74-D83B29EEC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6437"/>
            <a:ext cx="4419485" cy="31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2 - Check for Duplex Mismatches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35487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IEEE 802.3ab Gigabit Ethernet standard mandates the use of autonegotiation for speed and duplex and practically all Fast Ethernet NICs also use autonegotiation by default. 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Problems can occur when there is a duplex mismatch.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2EBBC3-541E-425B-A475-FC92B4520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14" y="2355058"/>
            <a:ext cx="4200789" cy="1109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DB8B40-9AEA-4182-925B-BD20D0402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714" y="2346812"/>
            <a:ext cx="4173554" cy="135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7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3 - Verify Addressing on the Local Network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345487" cy="651164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</a:t>
            </a:r>
            <a:r>
              <a:rPr lang="en-CA" sz="1600" b="1" dirty="0">
                <a:solidFill>
                  <a:srgbClr val="000000"/>
                </a:solidFill>
              </a:rPr>
              <a:t>arp</a:t>
            </a:r>
            <a:r>
              <a:rPr lang="en-CA" sz="1600" dirty="0">
                <a:solidFill>
                  <a:srgbClr val="000000"/>
                </a:solidFill>
              </a:rPr>
              <a:t> Windows command displays and modifies entries in the ARP cache that are used to store IPv4 addresses and their resolved Ethernet physical (MAC) addresses. 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D26D25-4B17-44D3-B91F-0CDD27AD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107" y="1822726"/>
            <a:ext cx="3293785" cy="149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8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US" sz="2400" dirty="0"/>
              <a:t>Troubleshoot VLAN Assignment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78999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Another issue to consider when troubleshooting end-to-end connectivity is VLAN assignment.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13FF74-A7F3-4AB2-AC7D-C305FDB58572}"/>
              </a:ext>
            </a:extLst>
          </p:cNvPr>
          <p:cNvSpPr/>
          <p:nvPr/>
        </p:nvSpPr>
        <p:spPr>
          <a:xfrm>
            <a:off x="476899" y="1515171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B7D0949-C710-4098-96EF-2A57D80A53A4}"/>
              </a:ext>
            </a:extLst>
          </p:cNvPr>
          <p:cNvSpPr txBox="1">
            <a:spLocks/>
          </p:cNvSpPr>
          <p:nvPr/>
        </p:nvSpPr>
        <p:spPr>
          <a:xfrm>
            <a:off x="431971" y="1520348"/>
            <a:ext cx="3964538" cy="73474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For example, the MAC address on </a:t>
            </a:r>
            <a:r>
              <a:rPr lang="en-CA" sz="1400" b="1" dirty="0">
                <a:solidFill>
                  <a:srgbClr val="000000"/>
                </a:solidFill>
              </a:rPr>
              <a:t>Fa0/1 should be in VLAN 10</a:t>
            </a:r>
            <a:r>
              <a:rPr lang="en-CA" sz="1400" dirty="0">
                <a:solidFill>
                  <a:srgbClr val="000000"/>
                </a:solidFill>
              </a:rPr>
              <a:t> instead of VLAN 1.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286F01-456E-4C0C-B080-2B5B9F8BA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14" y="2571750"/>
            <a:ext cx="2594852" cy="15383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BA7166-F0A9-4D3B-855F-26750F1512AD}"/>
              </a:ext>
            </a:extLst>
          </p:cNvPr>
          <p:cNvSpPr/>
          <p:nvPr/>
        </p:nvSpPr>
        <p:spPr>
          <a:xfrm>
            <a:off x="4665604" y="1510553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ACC9D2E-698F-47FD-B0F0-2A89EFE242EB}"/>
              </a:ext>
            </a:extLst>
          </p:cNvPr>
          <p:cNvSpPr txBox="1">
            <a:spLocks/>
          </p:cNvSpPr>
          <p:nvPr/>
        </p:nvSpPr>
        <p:spPr>
          <a:xfrm>
            <a:off x="4747490" y="1520348"/>
            <a:ext cx="3964538" cy="48574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The following configuration changes Fa0/1 to VLAN 10 and verifies the change.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8CF0A-A873-42AB-8DDF-14A169BB0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200" y="2082225"/>
            <a:ext cx="2544137" cy="223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6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4 - Verify Default Gateway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20238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Misconfigured or missing default gateways can cause connectivity problems.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2106BBF-BF6D-4F05-99CF-9528BCD36DEF}"/>
              </a:ext>
            </a:extLst>
          </p:cNvPr>
          <p:cNvSpPr txBox="1">
            <a:spLocks/>
          </p:cNvSpPr>
          <p:nvPr/>
        </p:nvSpPr>
        <p:spPr>
          <a:xfrm>
            <a:off x="431971" y="1435805"/>
            <a:ext cx="3890648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In the figure for example, the default gateways for: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R1 is 192.168.1.2 (R2)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PC1 is 10.1.10.1 (R1 G0/0/0)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Useful commands to verify the default gateway on: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R1: </a:t>
            </a:r>
            <a:r>
              <a:rPr lang="en-CA" sz="1600" b="1" dirty="0">
                <a:solidFill>
                  <a:srgbClr val="000000"/>
                </a:solidFill>
              </a:rPr>
              <a:t>show ip route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PC1: </a:t>
            </a:r>
            <a:r>
              <a:rPr lang="en-CA" sz="1600" b="1" dirty="0">
                <a:solidFill>
                  <a:srgbClr val="000000"/>
                </a:solidFill>
              </a:rPr>
              <a:t>route print </a:t>
            </a:r>
            <a:r>
              <a:rPr lang="en-CA" sz="1600" dirty="0">
                <a:solidFill>
                  <a:srgbClr val="000000"/>
                </a:solidFill>
              </a:rPr>
              <a:t>(or </a:t>
            </a:r>
            <a:r>
              <a:rPr lang="en-CA" sz="1600" b="1" dirty="0">
                <a:solidFill>
                  <a:srgbClr val="000000"/>
                </a:solidFill>
              </a:rPr>
              <a:t>netstat –r</a:t>
            </a:r>
            <a:r>
              <a:rPr lang="en-CA" sz="1600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942DF8-4C97-477A-A719-66D0FD7F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586" y="1476526"/>
            <a:ext cx="4472027" cy="278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Troubleshoot IPv6 Default Gateway Example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09809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An IPv6default gateway can be configured manually, using SLAAC, or by using DHCPv6.</a:t>
            </a:r>
          </a:p>
          <a:p>
            <a:pPr marL="0" indent="0" algn="l"/>
            <a:endParaRPr lang="en-CA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02EB29-50D4-453C-A159-6A1D860435BE}"/>
              </a:ext>
            </a:extLst>
          </p:cNvPr>
          <p:cNvSpPr/>
          <p:nvPr/>
        </p:nvSpPr>
        <p:spPr>
          <a:xfrm>
            <a:off x="476899" y="1380835"/>
            <a:ext cx="3851215" cy="3177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0E68B1B-BD17-4412-AAD9-42CFB91C918A}"/>
              </a:ext>
            </a:extLst>
          </p:cNvPr>
          <p:cNvSpPr txBox="1">
            <a:spLocks/>
          </p:cNvSpPr>
          <p:nvPr/>
        </p:nvSpPr>
        <p:spPr>
          <a:xfrm>
            <a:off x="431971" y="1376218"/>
            <a:ext cx="3964538" cy="96376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For example, a PC is unable to acquire its IPv6 configuration using SLAAC. The command output is </a:t>
            </a:r>
            <a:r>
              <a:rPr lang="en-CA" sz="1400" b="1" dirty="0">
                <a:solidFill>
                  <a:srgbClr val="000000"/>
                </a:solidFill>
              </a:rPr>
              <a:t>missing the all IPv6-router multicast group (FF02::2).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5682F7-C99B-4F8B-9EEC-B14CB724B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15" y="2455587"/>
            <a:ext cx="3287582" cy="17473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E2EE43-D37E-4498-A22C-F0F1E19CB2F4}"/>
              </a:ext>
            </a:extLst>
          </p:cNvPr>
          <p:cNvSpPr/>
          <p:nvPr/>
        </p:nvSpPr>
        <p:spPr>
          <a:xfrm>
            <a:off x="4887276" y="1376217"/>
            <a:ext cx="3851215" cy="3177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C2C46A6-5889-4BE1-B95C-055B0BBDBFBB}"/>
              </a:ext>
            </a:extLst>
          </p:cNvPr>
          <p:cNvSpPr txBox="1">
            <a:spLocks/>
          </p:cNvSpPr>
          <p:nvPr/>
        </p:nvSpPr>
        <p:spPr>
          <a:xfrm>
            <a:off x="4969162" y="1376218"/>
            <a:ext cx="3964538" cy="83566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R1 is enabled as an IPv6 router and now the output verifies that R1 is a member of ff02::2, the All-IPv6-Routers multicast group.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C649DD-7653-4C2A-BDB8-E52726D2F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307" y="2211879"/>
            <a:ext cx="3074584" cy="20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2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5 - Verify Correct Path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72490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When troubleshooting, it is often necessary to verify the path to the destination network.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A99E1BD-959E-47FA-BCE1-C8013A56DEC9}"/>
              </a:ext>
            </a:extLst>
          </p:cNvPr>
          <p:cNvSpPr txBox="1">
            <a:spLocks/>
          </p:cNvSpPr>
          <p:nvPr/>
        </p:nvSpPr>
        <p:spPr>
          <a:xfrm>
            <a:off x="431972" y="1298408"/>
            <a:ext cx="4064208" cy="275453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figure describes the process for both the IPv4 and IPv6 routing tables.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process of forwarding IPv4 and IPv6 packets is based on the longest bit match or longest prefix match.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routing table process will attempt to forward the packet using an entry in the routing table with the greatest number of leftmost matching bits.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The number of matching bits is indicated by the prefix length of the route.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335A78-07D8-4FCB-8EA9-034FE9CD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822" y="1322030"/>
            <a:ext cx="4064209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0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CA" sz="2400" dirty="0"/>
              <a:t>Step 6 - Verify the Transport Layer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417518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Two of the most common issues that affect transport layer connectivity include ACL configurations and NAT configurations.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A common tool for testing transport layer functionality is the Telnet utility.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For example, the administrator attempts to Telnet to R2 using port 80.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E229F-F56F-419F-90BD-CD48FF086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918" y="2392392"/>
            <a:ext cx="4737681" cy="216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US" sz="2400" dirty="0"/>
              <a:t>Step 7 - Verify ACLs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44761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On routers, there may be ACLs that prohibit protocols from passing through the interface in the inbound or outbound direction.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74636-680F-4FDD-963E-41F50070BA1D}"/>
              </a:ext>
            </a:extLst>
          </p:cNvPr>
          <p:cNvSpPr/>
          <p:nvPr/>
        </p:nvSpPr>
        <p:spPr>
          <a:xfrm>
            <a:off x="476899" y="1515171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8755B66-F896-4815-8137-7E0F139DFF96}"/>
              </a:ext>
            </a:extLst>
          </p:cNvPr>
          <p:cNvSpPr txBox="1">
            <a:spLocks/>
          </p:cNvSpPr>
          <p:nvPr/>
        </p:nvSpPr>
        <p:spPr>
          <a:xfrm>
            <a:off x="431971" y="1520348"/>
            <a:ext cx="3964538" cy="71856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In this example, ACL 100 has been incorrectly configured inbound on the G0/0/0 instead of inbound on S0/1/1.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275BE-B08D-46E1-A322-7E8A90163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86" y="2359076"/>
            <a:ext cx="3211868" cy="16904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3DF755-2EB6-418C-BED7-78027DAD9B69}"/>
              </a:ext>
            </a:extLst>
          </p:cNvPr>
          <p:cNvSpPr/>
          <p:nvPr/>
        </p:nvSpPr>
        <p:spPr>
          <a:xfrm>
            <a:off x="4665604" y="1510553"/>
            <a:ext cx="3851215" cy="2911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4137328-7AB6-4661-B7FC-37C33AC72DCB}"/>
              </a:ext>
            </a:extLst>
          </p:cNvPr>
          <p:cNvSpPr txBox="1">
            <a:spLocks/>
          </p:cNvSpPr>
          <p:nvPr/>
        </p:nvSpPr>
        <p:spPr>
          <a:xfrm>
            <a:off x="4747490" y="1520348"/>
            <a:ext cx="3964538" cy="71856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CA" sz="1400" dirty="0">
                <a:solidFill>
                  <a:srgbClr val="000000"/>
                </a:solidFill>
              </a:rPr>
              <a:t>The ACL is removed from G0/0/0 and configured inbound on S0/1/1.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0E929-3031-4963-85A2-0758C52B5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986" y="2412703"/>
            <a:ext cx="2400449" cy="110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6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CA" sz="1600" dirty="0"/>
              <a:t>Troubleshooting IP Connectivity</a:t>
            </a:r>
            <a:br>
              <a:rPr lang="en-US" dirty="0"/>
            </a:br>
            <a:r>
              <a:rPr lang="en-US" sz="2400" dirty="0"/>
              <a:t>Step 8 - Verify DNS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069175"/>
          </a:xfrm>
        </p:spPr>
        <p:txBody>
          <a:bodyPr/>
          <a:lstStyle/>
          <a:p>
            <a:pPr marL="0" indent="0" algn="l"/>
            <a:r>
              <a:rPr lang="en-CA" sz="1600" dirty="0">
                <a:solidFill>
                  <a:srgbClr val="000000"/>
                </a:solidFill>
              </a:rPr>
              <a:t>The DNS protocol controls the DNS, a distributed database with which you can map hostnames to IP addresses.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When you configure DNS on the device, you can substitute the hostname for the IP address with all IP commands, such as ping or telnet. command output.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0FCF3A-58C1-4341-95DC-D517375E6966}"/>
              </a:ext>
            </a:extLst>
          </p:cNvPr>
          <p:cNvSpPr txBox="1">
            <a:spLocks/>
          </p:cNvSpPr>
          <p:nvPr/>
        </p:nvSpPr>
        <p:spPr>
          <a:xfrm>
            <a:off x="431971" y="2019095"/>
            <a:ext cx="4250865" cy="226898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Use the </a:t>
            </a:r>
            <a:r>
              <a:rPr lang="en-CA" sz="1600" b="1" dirty="0">
                <a:solidFill>
                  <a:srgbClr val="000000"/>
                </a:solidFill>
              </a:rPr>
              <a:t>ip host </a:t>
            </a:r>
            <a:r>
              <a:rPr lang="en-CA" sz="1600" dirty="0">
                <a:solidFill>
                  <a:srgbClr val="000000"/>
                </a:solidFill>
              </a:rPr>
              <a:t>global configuration command to enter a name to be used instead of the IPv4 address of the switch or router, as shown in the command output.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</a:rPr>
              <a:t>Use the </a:t>
            </a:r>
            <a:r>
              <a:rPr lang="en-CA" sz="1600" b="1" dirty="0">
                <a:solidFill>
                  <a:srgbClr val="000000"/>
                </a:solidFill>
              </a:rPr>
              <a:t>nslookup </a:t>
            </a:r>
            <a:r>
              <a:rPr lang="en-CA" sz="1600" dirty="0">
                <a:solidFill>
                  <a:srgbClr val="000000"/>
                </a:solidFill>
              </a:rPr>
              <a:t>Windows command to display the name-to-IP-address mapping information.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F71B17-8CAE-4724-857F-45F1DB566561}"/>
              </a:ext>
            </a:extLst>
          </p:cNvPr>
          <p:cNvGrpSpPr/>
          <p:nvPr/>
        </p:nvGrpSpPr>
        <p:grpSpPr>
          <a:xfrm>
            <a:off x="4995973" y="2088448"/>
            <a:ext cx="3820434" cy="1346850"/>
            <a:chOff x="-243053" y="2805802"/>
            <a:chExt cx="3820434" cy="13468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0537CC-0B7B-43E8-AC0C-821E2F3A9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3053" y="3248257"/>
              <a:ext cx="3820433" cy="9043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97D663-EED2-4ED0-B38A-6DA133C9B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43052" y="2805802"/>
              <a:ext cx="3820433" cy="5071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648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Zástupný objekt pre obsah 3">
                <a:extLst>
                  <a:ext uri="{FF2B5EF4-FFF2-40B4-BE49-F238E27FC236}">
                    <a16:creationId xmlns:a16="http://schemas.microsoft.com/office/drawing/2014/main" id="{8CE5BA9A-314A-A044-59D6-8CE1CA0F492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28151111"/>
                  </p:ext>
                </p:extLst>
              </p:nvPr>
            </p:nvGraphicFramePr>
            <p:xfrm>
              <a:off x="474663" y="211015"/>
              <a:ext cx="8280400" cy="475287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Zástupný objekt pre obsah 3">
                <a:extLst>
                  <a:ext uri="{FF2B5EF4-FFF2-40B4-BE49-F238E27FC236}">
                    <a16:creationId xmlns:a16="http://schemas.microsoft.com/office/drawing/2014/main" id="{8CE5BA9A-314A-A044-59D6-8CE1CA0F49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663" y="211015"/>
                <a:ext cx="8280400" cy="47528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801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webextensions/webextension1.xml><?xml version="1.0" encoding="utf-8"?>
<we:webextension xmlns:we="http://schemas.microsoft.com/office/webextensions/webextension/2010/11" id="{3EC3BBB1-E75A-9A4A-B5EA-2054D3CF7A77}">
  <we:reference id="wa104218073" version="3.0.0.1" store="sk-SK" storeType="OMEX"/>
  <we:alternateReferences>
    <we:reference id="WA104218073" version="3.0.0.1" store="" storeType="OMEX"/>
  </we:alternateReferences>
  <we:properties>
    <we:property name="appSlideData" value="{&quot;slideId&quot;:1205,&quot;confidenceLevel&quot;:2}"/>
    <we:property name="url" value="&quot;multiple_choice_poll/wxsBNYVM1T64Utj2MqPTy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3A362161-D533-CC40-AE54-84B0C2D18261}">
  <we:reference id="wa104218073" version="3.0.0.1" store="sk-SK" storeType="OMEX"/>
  <we:alternateReferences>
    <we:reference id="WA104218073" version="3.0.0.1" store="" storeType="OMEX"/>
  </we:alternateReferences>
  <we:properties>
    <we:property name="appSlideData" value="{&quot;slideId&quot;:1206,&quot;confidenceLevel&quot;:2}"/>
    <we:property name="url" value="&quot;multiple_choice_poll/I3z62wKLR1WgAAGTRGnu9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D13E8D5B-56F9-5540-9723-59FD92A3990C}">
  <we:reference id="wa104218073" version="3.0.0.1" store="sk-SK" storeType="OMEX"/>
  <we:alternateReferences>
    <we:reference id="WA104218073" version="3.0.0.1" store="" storeType="OMEX"/>
  </we:alternateReferences>
  <we:properties>
    <we:property name="appSlideData" value="{&quot;slideId&quot;:1207,&quot;confidenceLevel&quot;:2}"/>
    <we:property name="url" value="&quot;multiple_choice_poll/doUj51OOw1lHZYcnRllkG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15882</TotalTime>
  <Words>5122</Words>
  <Application>Microsoft Macintosh PowerPoint</Application>
  <PresentationFormat>Prezentácia na obrazovke (16:9)</PresentationFormat>
  <Paragraphs>667</Paragraphs>
  <Slides>51</Slides>
  <Notes>48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51</vt:i4>
      </vt:variant>
    </vt:vector>
  </HeadingPairs>
  <TitlesOfParts>
    <vt:vector size="57" baseType="lpstr">
      <vt:lpstr>Arial</vt:lpstr>
      <vt:lpstr>Calibri</vt:lpstr>
      <vt:lpstr>CiscoSans ExtraLight</vt:lpstr>
      <vt:lpstr>Courier New</vt:lpstr>
      <vt:lpstr>Wingdings</vt:lpstr>
      <vt:lpstr>Default Theme</vt:lpstr>
      <vt:lpstr>Module 12: Network Troubleshooting</vt:lpstr>
      <vt:lpstr>Module Objectives</vt:lpstr>
      <vt:lpstr>12.1 Network Documentation</vt:lpstr>
      <vt:lpstr>Network Documentation Documentation Overview</vt:lpstr>
      <vt:lpstr>Network Documentation Network Topology Diagrams</vt:lpstr>
      <vt:lpstr>Network Documentation Network Device Documentation</vt:lpstr>
      <vt:lpstr>Network Documentation Establish a Network Baseline</vt:lpstr>
      <vt:lpstr>Network Documentation Step 1 - Determine What Types of Data to Collect</vt:lpstr>
      <vt:lpstr>Network Documentation Step 2 - Identify Devices and Ports of Interest</vt:lpstr>
      <vt:lpstr>Network Documentation Step 3 - Determine the Baseline Duration</vt:lpstr>
      <vt:lpstr>Network Documentation Data Measurement</vt:lpstr>
      <vt:lpstr>12.2 Troubleshooting Process</vt:lpstr>
      <vt:lpstr>Troubleshooting Process General Troubleshooting Procedures</vt:lpstr>
      <vt:lpstr>Troubleshooting Process Seven-Step Troubleshooting Process</vt:lpstr>
      <vt:lpstr>Troubleshooting Process Question End Users</vt:lpstr>
      <vt:lpstr>Troubleshooting Process Gather Information</vt:lpstr>
      <vt:lpstr>Troubleshooting Process Troubleshooting with Layered Models</vt:lpstr>
      <vt:lpstr>Troubleshooting Process Structured Troubleshooting Methods</vt:lpstr>
      <vt:lpstr>Troubleshooting Process Guidelines for Selecting a Troubleshooting Method</vt:lpstr>
      <vt:lpstr>Prezentácia programu PowerPoint</vt:lpstr>
      <vt:lpstr>12.3 Troubleshooting Process</vt:lpstr>
      <vt:lpstr>Troubleshooting Tools Software Troubleshooting Tools</vt:lpstr>
      <vt:lpstr>Troubleshooting Tools Protocol Analyzers</vt:lpstr>
      <vt:lpstr>Troubleshooting Tools Hardware Troubleshooting Tools</vt:lpstr>
      <vt:lpstr>Troubleshooting Tools Syslog Server as a Troubleshooting Tool</vt:lpstr>
      <vt:lpstr>12.4 Symptoms and Causes of Network Problems</vt:lpstr>
      <vt:lpstr>Symptoms and Causes of Network Problems Physical Layer Troubleshooting</vt:lpstr>
      <vt:lpstr>Symptoms and Causes of Network Problems Physical Layer Troubleshooting (Cont.)</vt:lpstr>
      <vt:lpstr>Symptoms and Causes of Network Problems Data Link Layer Troubleshooting</vt:lpstr>
      <vt:lpstr>Symptoms and Causes of Network Problems Data Link Layer Troubleshooting</vt:lpstr>
      <vt:lpstr>Symptoms and Causes of Network Problems Network Layer Troubleshooting</vt:lpstr>
      <vt:lpstr>Symptoms and Causes of Network Problems Network Layer Troubleshooting (Cont.)</vt:lpstr>
      <vt:lpstr>Symptoms and Causes of Network Problems Transport Layer Troubleshooting - ACLs</vt:lpstr>
      <vt:lpstr>Symptoms and Causes of Network Problems Transport Layer Troubleshooting - NAT for IPv4</vt:lpstr>
      <vt:lpstr>Symptoms and Causes of Network Problems Application Layer Troubleshooting</vt:lpstr>
      <vt:lpstr>Prezentácia programu PowerPoint</vt:lpstr>
      <vt:lpstr>12.5 Troubleshooting IP Connectivity</vt:lpstr>
      <vt:lpstr>Troubleshooting IP Connectivity Components of Troubleshooting End-to-End Connectivity</vt:lpstr>
      <vt:lpstr>Troubleshooting IP Connectivity End-to-End Connectivity Problem Initiates Troubleshooting</vt:lpstr>
      <vt:lpstr>Troubleshooting IP Connectivity Step 1 - Verify the Physical Layer</vt:lpstr>
      <vt:lpstr>Troubleshooting IP Connectivity Step 2 - Check for Duplex Mismatches</vt:lpstr>
      <vt:lpstr>Troubleshooting IP Connectivity Step 3 - Verify Addressing on the Local Network</vt:lpstr>
      <vt:lpstr>Troubleshooting IP Connectivity Troubleshoot VLAN Assignment Example</vt:lpstr>
      <vt:lpstr>Troubleshooting IP Connectivity Step 4 - Verify Default Gateway</vt:lpstr>
      <vt:lpstr>Troubleshooting IP Connectivity Troubleshoot IPv6 Default Gateway Example</vt:lpstr>
      <vt:lpstr>Troubleshooting IP Connectivity Step 5 - Verify Correct Path</vt:lpstr>
      <vt:lpstr>Troubleshooting IP Connectivity Step 6 - Verify the Transport Layer</vt:lpstr>
      <vt:lpstr>Troubleshooting IP Connectivity Step 7 - Verify ACLs</vt:lpstr>
      <vt:lpstr>Troubleshooting IP Connectivity Step 8 - Verify DNS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Baráth, Július</cp:lastModifiedBy>
  <cp:revision>372</cp:revision>
  <dcterms:created xsi:type="dcterms:W3CDTF">2019-10-18T06:21:22Z</dcterms:created>
  <dcterms:modified xsi:type="dcterms:W3CDTF">2024-10-07T06:28:10Z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
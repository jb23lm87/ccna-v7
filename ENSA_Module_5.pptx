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0"/>
  </p:notesMasterIdLst>
  <p:sldIdLst>
    <p:sldId id="513" r:id="rId2"/>
    <p:sldId id="860" r:id="rId3"/>
    <p:sldId id="759" r:id="rId4"/>
    <p:sldId id="1054" r:id="rId5"/>
    <p:sldId id="1094" r:id="rId6"/>
    <p:sldId id="1095" r:id="rId7"/>
    <p:sldId id="1096" r:id="rId8"/>
    <p:sldId id="1097" r:id="rId9"/>
    <p:sldId id="1098" r:id="rId10"/>
    <p:sldId id="1100" r:id="rId11"/>
    <p:sldId id="1099" r:id="rId12"/>
    <p:sldId id="1056" r:id="rId13"/>
    <p:sldId id="1101" r:id="rId14"/>
    <p:sldId id="1102" r:id="rId15"/>
    <p:sldId id="1103" r:id="rId16"/>
    <p:sldId id="1104" r:id="rId17"/>
    <p:sldId id="1105" r:id="rId18"/>
    <p:sldId id="1063" r:id="rId19"/>
    <p:sldId id="1106" r:id="rId20"/>
    <p:sldId id="1107" r:id="rId21"/>
    <p:sldId id="1108" r:id="rId22"/>
    <p:sldId id="1071" r:id="rId23"/>
    <p:sldId id="1109" r:id="rId24"/>
    <p:sldId id="1110" r:id="rId25"/>
    <p:sldId id="1136" r:id="rId26"/>
    <p:sldId id="1111" r:id="rId27"/>
    <p:sldId id="1112" r:id="rId28"/>
    <p:sldId id="1113" r:id="rId29"/>
    <p:sldId id="1114" r:id="rId30"/>
    <p:sldId id="1115" r:id="rId31"/>
    <p:sldId id="1116" r:id="rId32"/>
    <p:sldId id="1121" r:id="rId33"/>
    <p:sldId id="1123" r:id="rId34"/>
    <p:sldId id="1124" r:id="rId35"/>
    <p:sldId id="1126" r:id="rId36"/>
    <p:sldId id="1127" r:id="rId37"/>
    <p:sldId id="1128" r:id="rId38"/>
    <p:sldId id="291" r:id="rId39"/>
  </p:sldIdLst>
  <p:sldSz cx="9144000" cy="5143500" type="screen16x9"/>
  <p:notesSz cx="6858000" cy="9144000"/>
  <p:custDataLst>
    <p:tags r:id="rId4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15"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1BBBFF-742B-A34F-89B8-EDD2368DE3A4}" v="8" dt="2025-09-08T12:21:08.2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16" autoAdjust="0"/>
    <p:restoredTop sz="96301" autoAdjust="0"/>
  </p:normalViewPr>
  <p:slideViewPr>
    <p:cSldViewPr snapToGrid="0" showGuides="1">
      <p:cViewPr varScale="1">
        <p:scale>
          <a:sx n="216" d="100"/>
          <a:sy n="216" d="100"/>
        </p:scale>
        <p:origin x="272" y="32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modSld">
      <pc:chgData name="Baráth, Július" userId="aebde9b9-dccc-4475-a9ac-c05e78323d7a" providerId="ADAL" clId="{4A0811C8-ED2F-505E-B787-C8270CED5046}" dt="2025-09-08T12:22:04.462" v="238" actId="1076"/>
      <pc:docMkLst>
        <pc:docMk/>
      </pc:docMkLst>
      <pc:sldChg chg="addSp delSp modSp mod">
        <pc:chgData name="Baráth, Július" userId="aebde9b9-dccc-4475-a9ac-c05e78323d7a" providerId="ADAL" clId="{4A0811C8-ED2F-505E-B787-C8270CED5046}" dt="2025-09-08T11:59:24.222" v="3" actId="478"/>
        <pc:sldMkLst>
          <pc:docMk/>
          <pc:sldMk cId="918084145" sldId="1099"/>
        </pc:sldMkLst>
        <pc:picChg chg="add del mod">
          <ac:chgData name="Baráth, Július" userId="aebde9b9-dccc-4475-a9ac-c05e78323d7a" providerId="ADAL" clId="{4A0811C8-ED2F-505E-B787-C8270CED5046}" dt="2025-09-08T11:59:24.222" v="3" actId="478"/>
          <ac:picMkLst>
            <pc:docMk/>
            <pc:sldMk cId="918084145" sldId="1099"/>
            <ac:picMk id="5" creationId="{E94D4E1C-32E1-982E-9E0D-D4C48E21B5F2}"/>
          </ac:picMkLst>
        </pc:picChg>
      </pc:sldChg>
      <pc:sldChg chg="addSp modSp mod">
        <pc:chgData name="Baráth, Július" userId="aebde9b9-dccc-4475-a9ac-c05e78323d7a" providerId="ADAL" clId="{4A0811C8-ED2F-505E-B787-C8270CED5046}" dt="2025-09-08T12:15:51.567" v="73" actId="20577"/>
        <pc:sldMkLst>
          <pc:docMk/>
          <pc:sldMk cId="712535501" sldId="1104"/>
        </pc:sldMkLst>
        <pc:spChg chg="mod">
          <ac:chgData name="Baráth, Július" userId="aebde9b9-dccc-4475-a9ac-c05e78323d7a" providerId="ADAL" clId="{4A0811C8-ED2F-505E-B787-C8270CED5046}" dt="2025-09-08T12:15:06.686" v="19" actId="1076"/>
          <ac:spMkLst>
            <pc:docMk/>
            <pc:sldMk cId="712535501" sldId="1104"/>
            <ac:spMk id="2" creationId="{803C32F1-27DB-BF49-9020-0E4EE7604E73}"/>
          </ac:spMkLst>
        </pc:spChg>
        <pc:spChg chg="add mod">
          <ac:chgData name="Baráth, Július" userId="aebde9b9-dccc-4475-a9ac-c05e78323d7a" providerId="ADAL" clId="{4A0811C8-ED2F-505E-B787-C8270CED5046}" dt="2025-09-08T12:15:51.567" v="73" actId="20577"/>
          <ac:spMkLst>
            <pc:docMk/>
            <pc:sldMk cId="712535501" sldId="1104"/>
            <ac:spMk id="6" creationId="{AA417D03-6A02-9BFC-8E67-6528F9F82949}"/>
          </ac:spMkLst>
        </pc:spChg>
        <pc:picChg chg="mod">
          <ac:chgData name="Baráth, Július" userId="aebde9b9-dccc-4475-a9ac-c05e78323d7a" providerId="ADAL" clId="{4A0811C8-ED2F-505E-B787-C8270CED5046}" dt="2025-09-08T12:15:03.029" v="18" actId="1076"/>
          <ac:picMkLst>
            <pc:docMk/>
            <pc:sldMk cId="712535501" sldId="1104"/>
            <ac:picMk id="5" creationId="{0B88ECA7-FA3D-4C9D-8AFA-6D3535947AF9}"/>
          </ac:picMkLst>
        </pc:picChg>
      </pc:sldChg>
      <pc:sldChg chg="addSp modSp mod">
        <pc:chgData name="Baráth, Július" userId="aebde9b9-dccc-4475-a9ac-c05e78323d7a" providerId="ADAL" clId="{4A0811C8-ED2F-505E-B787-C8270CED5046}" dt="2025-09-08T12:19:04.236" v="160" actId="20577"/>
        <pc:sldMkLst>
          <pc:docMk/>
          <pc:sldMk cId="1957868615" sldId="1107"/>
        </pc:sldMkLst>
        <pc:spChg chg="add mod">
          <ac:chgData name="Baráth, Július" userId="aebde9b9-dccc-4475-a9ac-c05e78323d7a" providerId="ADAL" clId="{4A0811C8-ED2F-505E-B787-C8270CED5046}" dt="2025-09-08T12:19:04.236" v="160" actId="20577"/>
          <ac:spMkLst>
            <pc:docMk/>
            <pc:sldMk cId="1957868615" sldId="1107"/>
            <ac:spMk id="2" creationId="{1C3868D3-C106-6AFD-99E2-F5ACFF1CFC95}"/>
          </ac:spMkLst>
        </pc:spChg>
      </pc:sldChg>
      <pc:sldChg chg="addSp modSp mod">
        <pc:chgData name="Baráth, Július" userId="aebde9b9-dccc-4475-a9ac-c05e78323d7a" providerId="ADAL" clId="{4A0811C8-ED2F-505E-B787-C8270CED5046}" dt="2025-09-08T12:22:04.462" v="238" actId="1076"/>
        <pc:sldMkLst>
          <pc:docMk/>
          <pc:sldMk cId="3428501002" sldId="1112"/>
        </pc:sldMkLst>
        <pc:spChg chg="add mod">
          <ac:chgData name="Baráth, Július" userId="aebde9b9-dccc-4475-a9ac-c05e78323d7a" providerId="ADAL" clId="{4A0811C8-ED2F-505E-B787-C8270CED5046}" dt="2025-09-08T12:22:04.462" v="238" actId="1076"/>
          <ac:spMkLst>
            <pc:docMk/>
            <pc:sldMk cId="3428501002" sldId="1112"/>
            <ac:spMk id="2" creationId="{B652C66F-132F-0B3F-0E35-A0D9C0CBB534}"/>
          </ac:spMkLst>
        </pc:spChg>
      </pc:sldChg>
    </pc:docChg>
  </pc:docChgLst>
  <pc:docChgLst>
    <pc:chgData name="Július Baráth" userId="e650c4ab-697e-4750-bd58-c1531aabce95" providerId="ADAL" clId="{421015CD-D2CA-8648-80AF-2E9957A53B77}"/>
    <pc:docChg chg="custSel delSld modSld">
      <pc:chgData name="Július Baráth" userId="e650c4ab-697e-4750-bd58-c1531aabce95" providerId="ADAL" clId="{421015CD-D2CA-8648-80AF-2E9957A53B77}" dt="2020-09-07T07:38:46.128" v="55" actId="2696"/>
      <pc:docMkLst>
        <pc:docMk/>
      </pc:docMkLst>
      <pc:sldChg chg="del">
        <pc:chgData name="Július Baráth" userId="e650c4ab-697e-4750-bd58-c1531aabce95" providerId="ADAL" clId="{421015CD-D2CA-8648-80AF-2E9957A53B77}" dt="2020-09-07T07:13:42.257" v="0" actId="2696"/>
        <pc:sldMkLst>
          <pc:docMk/>
          <pc:sldMk cId="3599581950" sldId="730"/>
        </pc:sldMkLst>
      </pc:sldChg>
      <pc:sldChg chg="del">
        <pc:chgData name="Július Baráth" userId="e650c4ab-697e-4750-bd58-c1531aabce95" providerId="ADAL" clId="{421015CD-D2CA-8648-80AF-2E9957A53B77}" dt="2020-09-07T07:13:42.301" v="5" actId="2696"/>
        <pc:sldMkLst>
          <pc:docMk/>
          <pc:sldMk cId="2145273728" sldId="763"/>
        </pc:sldMkLst>
      </pc:sldChg>
      <pc:sldChg chg="del">
        <pc:chgData name="Július Baráth" userId="e650c4ab-697e-4750-bd58-c1531aabce95" providerId="ADAL" clId="{421015CD-D2CA-8648-80AF-2E9957A53B77}" dt="2020-09-07T07:14:35.677" v="14" actId="2696"/>
        <pc:sldMkLst>
          <pc:docMk/>
          <pc:sldMk cId="3271745509" sldId="874"/>
        </pc:sldMkLst>
      </pc:sldChg>
      <pc:sldChg chg="del">
        <pc:chgData name="Július Baráth" userId="e650c4ab-697e-4750-bd58-c1531aabce95" providerId="ADAL" clId="{421015CD-D2CA-8648-80AF-2E9957A53B77}" dt="2020-09-07T07:13:42.325" v="8" actId="2696"/>
        <pc:sldMkLst>
          <pc:docMk/>
          <pc:sldMk cId="1989389863" sldId="876"/>
        </pc:sldMkLst>
      </pc:sldChg>
      <pc:sldChg chg="del">
        <pc:chgData name="Július Baráth" userId="e650c4ab-697e-4750-bd58-c1531aabce95" providerId="ADAL" clId="{421015CD-D2CA-8648-80AF-2E9957A53B77}" dt="2020-09-07T07:13:42.266" v="1" actId="2696"/>
        <pc:sldMkLst>
          <pc:docMk/>
          <pc:sldMk cId="419534722" sldId="883"/>
        </pc:sldMkLst>
      </pc:sldChg>
      <pc:sldChg chg="del">
        <pc:chgData name="Július Baráth" userId="e650c4ab-697e-4750-bd58-c1531aabce95" providerId="ADAL" clId="{421015CD-D2CA-8648-80AF-2E9957A53B77}" dt="2020-09-07T07:14:35.717" v="19" actId="2696"/>
        <pc:sldMkLst>
          <pc:docMk/>
          <pc:sldMk cId="2548999575" sldId="958"/>
        </pc:sldMkLst>
      </pc:sldChg>
      <pc:sldChg chg="del">
        <pc:chgData name="Július Baráth" userId="e650c4ab-697e-4750-bd58-c1531aabce95" providerId="ADAL" clId="{421015CD-D2CA-8648-80AF-2E9957A53B77}" dt="2020-09-07T07:13:42.292" v="4" actId="2696"/>
        <pc:sldMkLst>
          <pc:docMk/>
          <pc:sldMk cId="2109317603" sldId="1052"/>
        </pc:sldMkLst>
      </pc:sldChg>
      <pc:sldChg chg="del">
        <pc:chgData name="Július Baráth" userId="e650c4ab-697e-4750-bd58-c1531aabce95" providerId="ADAL" clId="{421015CD-D2CA-8648-80AF-2E9957A53B77}" dt="2020-09-07T07:13:42.309" v="6" actId="2696"/>
        <pc:sldMkLst>
          <pc:docMk/>
          <pc:sldMk cId="34472702" sldId="1053"/>
        </pc:sldMkLst>
      </pc:sldChg>
      <pc:sldChg chg="del">
        <pc:chgData name="Július Baráth" userId="e650c4ab-697e-4750-bd58-c1531aabce95" providerId="ADAL" clId="{421015CD-D2CA-8648-80AF-2E9957A53B77}" dt="2020-09-07T07:13:42.283" v="3" actId="2696"/>
        <pc:sldMkLst>
          <pc:docMk/>
          <pc:sldMk cId="1129576059" sldId="1069"/>
        </pc:sldMkLst>
      </pc:sldChg>
      <pc:sldChg chg="del">
        <pc:chgData name="Július Baráth" userId="e650c4ab-697e-4750-bd58-c1531aabce95" providerId="ADAL" clId="{421015CD-D2CA-8648-80AF-2E9957A53B77}" dt="2020-09-07T07:14:35.701" v="17" actId="2696"/>
        <pc:sldMkLst>
          <pc:docMk/>
          <pc:sldMk cId="2549051537" sldId="1078"/>
        </pc:sldMkLst>
      </pc:sldChg>
      <pc:sldChg chg="del">
        <pc:chgData name="Július Baráth" userId="e650c4ab-697e-4750-bd58-c1531aabce95" providerId="ADAL" clId="{421015CD-D2CA-8648-80AF-2E9957A53B77}" dt="2020-09-07T07:14:35.709" v="18" actId="2696"/>
        <pc:sldMkLst>
          <pc:docMk/>
          <pc:sldMk cId="4077620922" sldId="1091"/>
        </pc:sldMkLst>
      </pc:sldChg>
      <pc:sldChg chg="addSp delSp modSp mod">
        <pc:chgData name="Július Baráth" userId="e650c4ab-697e-4750-bd58-c1531aabce95" providerId="ADAL" clId="{421015CD-D2CA-8648-80AF-2E9957A53B77}" dt="2020-09-07T07:28:22.986" v="28" actId="20577"/>
        <pc:sldMkLst>
          <pc:docMk/>
          <pc:sldMk cId="712535501" sldId="1104"/>
        </pc:sldMkLst>
      </pc:sldChg>
      <pc:sldChg chg="modSp mod">
        <pc:chgData name="Július Baráth" userId="e650c4ab-697e-4750-bd58-c1531aabce95" providerId="ADAL" clId="{421015CD-D2CA-8648-80AF-2E9957A53B77}" dt="2020-09-07T07:30:24.710" v="30" actId="1076"/>
        <pc:sldMkLst>
          <pc:docMk/>
          <pc:sldMk cId="3854239114" sldId="1106"/>
        </pc:sldMkLst>
      </pc:sldChg>
      <pc:sldChg chg="modSp mod">
        <pc:chgData name="Július Baráth" userId="e650c4ab-697e-4750-bd58-c1531aabce95" providerId="ADAL" clId="{421015CD-D2CA-8648-80AF-2E9957A53B77}" dt="2020-09-07T07:33:52.994" v="46" actId="1076"/>
        <pc:sldMkLst>
          <pc:docMk/>
          <pc:sldMk cId="3364092909" sldId="1111"/>
        </pc:sldMkLst>
      </pc:sldChg>
      <pc:sldChg chg="modSp mod">
        <pc:chgData name="Július Baráth" userId="e650c4ab-697e-4750-bd58-c1531aabce95" providerId="ADAL" clId="{421015CD-D2CA-8648-80AF-2E9957A53B77}" dt="2020-09-07T07:33:34.051" v="40" actId="14100"/>
        <pc:sldMkLst>
          <pc:docMk/>
          <pc:sldMk cId="3428501002" sldId="1112"/>
        </pc:sldMkLst>
      </pc:sldChg>
      <pc:sldChg chg="modSp mod">
        <pc:chgData name="Július Baráth" userId="e650c4ab-697e-4750-bd58-c1531aabce95" providerId="ADAL" clId="{421015CD-D2CA-8648-80AF-2E9957A53B77}" dt="2020-09-07T07:33:23.846" v="37" actId="1076"/>
        <pc:sldMkLst>
          <pc:docMk/>
          <pc:sldMk cId="2314733847" sldId="1115"/>
        </pc:sldMkLst>
      </pc:sldChg>
      <pc:sldChg chg="modSp del mod">
        <pc:chgData name="Július Baráth" userId="e650c4ab-697e-4750-bd58-c1531aabce95" providerId="ADAL" clId="{421015CD-D2CA-8648-80AF-2E9957A53B77}" dt="2020-09-07T07:38:38.669" v="54" actId="2696"/>
        <pc:sldMkLst>
          <pc:docMk/>
          <pc:sldMk cId="2814350879" sldId="1119"/>
        </pc:sldMkLst>
      </pc:sldChg>
      <pc:sldChg chg="del">
        <pc:chgData name="Július Baráth" userId="e650c4ab-697e-4750-bd58-c1531aabce95" providerId="ADAL" clId="{421015CD-D2CA-8648-80AF-2E9957A53B77}" dt="2020-09-07T07:38:46.128" v="55" actId="2696"/>
        <pc:sldMkLst>
          <pc:docMk/>
          <pc:sldMk cId="1285630754" sldId="1120"/>
        </pc:sldMkLst>
      </pc:sldChg>
      <pc:sldChg chg="modSp del mod">
        <pc:chgData name="Július Baráth" userId="e650c4ab-697e-4750-bd58-c1531aabce95" providerId="ADAL" clId="{421015CD-D2CA-8648-80AF-2E9957A53B77}" dt="2020-09-07T07:38:24.294" v="53" actId="2696"/>
        <pc:sldMkLst>
          <pc:docMk/>
          <pc:sldMk cId="1617453226" sldId="1122"/>
        </pc:sldMkLst>
      </pc:sldChg>
      <pc:sldChg chg="del">
        <pc:chgData name="Július Baráth" userId="e650c4ab-697e-4750-bd58-c1531aabce95" providerId="ADAL" clId="{421015CD-D2CA-8648-80AF-2E9957A53B77}" dt="2020-09-07T07:14:35.661" v="12" actId="2696"/>
        <pc:sldMkLst>
          <pc:docMk/>
          <pc:sldMk cId="1454408050" sldId="1129"/>
        </pc:sldMkLst>
      </pc:sldChg>
      <pc:sldChg chg="del">
        <pc:chgData name="Július Baráth" userId="e650c4ab-697e-4750-bd58-c1531aabce95" providerId="ADAL" clId="{421015CD-D2CA-8648-80AF-2E9957A53B77}" dt="2020-09-07T07:14:35.686" v="15" actId="2696"/>
        <pc:sldMkLst>
          <pc:docMk/>
          <pc:sldMk cId="3706055980" sldId="1130"/>
        </pc:sldMkLst>
      </pc:sldChg>
      <pc:sldChg chg="del">
        <pc:chgData name="Július Baráth" userId="e650c4ab-697e-4750-bd58-c1531aabce95" providerId="ADAL" clId="{421015CD-D2CA-8648-80AF-2E9957A53B77}" dt="2020-09-07T07:14:08.165" v="11" actId="2696"/>
        <pc:sldMkLst>
          <pc:docMk/>
          <pc:sldMk cId="385780809" sldId="1131"/>
        </pc:sldMkLst>
      </pc:sldChg>
      <pc:sldChg chg="del">
        <pc:chgData name="Július Baráth" userId="e650c4ab-697e-4750-bd58-c1531aabce95" providerId="ADAL" clId="{421015CD-D2CA-8648-80AF-2E9957A53B77}" dt="2020-09-07T07:14:02.746" v="9" actId="2696"/>
        <pc:sldMkLst>
          <pc:docMk/>
          <pc:sldMk cId="354668873" sldId="1132"/>
        </pc:sldMkLst>
      </pc:sldChg>
      <pc:sldChg chg="del">
        <pc:chgData name="Július Baráth" userId="e650c4ab-697e-4750-bd58-c1531aabce95" providerId="ADAL" clId="{421015CD-D2CA-8648-80AF-2E9957A53B77}" dt="2020-09-07T07:14:02.775" v="10" actId="2696"/>
        <pc:sldMkLst>
          <pc:docMk/>
          <pc:sldMk cId="3390127809" sldId="1133"/>
        </pc:sldMkLst>
      </pc:sldChg>
      <pc:sldChg chg="del">
        <pc:chgData name="Július Baráth" userId="e650c4ab-697e-4750-bd58-c1531aabce95" providerId="ADAL" clId="{421015CD-D2CA-8648-80AF-2E9957A53B77}" dt="2020-09-07T07:14:35.669" v="13" actId="2696"/>
        <pc:sldMkLst>
          <pc:docMk/>
          <pc:sldMk cId="4277970563" sldId="1134"/>
        </pc:sldMkLst>
      </pc:sldChg>
      <pc:sldChg chg="del">
        <pc:chgData name="Július Baráth" userId="e650c4ab-697e-4750-bd58-c1531aabce95" providerId="ADAL" clId="{421015CD-D2CA-8648-80AF-2E9957A53B77}" dt="2020-09-07T07:14:35.694" v="16" actId="2696"/>
        <pc:sldMkLst>
          <pc:docMk/>
          <pc:sldMk cId="769659545" sldId="1135"/>
        </pc:sldMkLst>
      </pc:sldChg>
      <pc:sldChg chg="del">
        <pc:chgData name="Július Baráth" userId="e650c4ab-697e-4750-bd58-c1531aabce95" providerId="ADAL" clId="{421015CD-D2CA-8648-80AF-2E9957A53B77}" dt="2020-09-07T07:13:42.275" v="2" actId="2696"/>
        <pc:sldMkLst>
          <pc:docMk/>
          <pc:sldMk cId="3125377908" sldId="1361"/>
        </pc:sldMkLst>
      </pc:sldChg>
      <pc:sldChg chg="del">
        <pc:chgData name="Július Baráth" userId="e650c4ab-697e-4750-bd58-c1531aabce95" providerId="ADAL" clId="{421015CD-D2CA-8648-80AF-2E9957A53B77}" dt="2020-09-07T07:13:42.317" v="7" actId="2696"/>
        <pc:sldMkLst>
          <pc:docMk/>
          <pc:sldMk cId="218268727" sldId="1362"/>
        </pc:sldMkLst>
      </pc:sldChg>
    </pc:docChg>
  </pc:docChgLst>
  <pc:docChgLst>
    <pc:chgData name="Baráth, Július" userId="aebde9b9-dccc-4475-a9ac-c05e78323d7a" providerId="ADAL" clId="{F971B79E-7C7C-D04C-BE69-F8524D73B283}"/>
    <pc:docChg chg="modSld">
      <pc:chgData name="Baráth, Július" userId="aebde9b9-dccc-4475-a9ac-c05e78323d7a" providerId="ADAL" clId="{F971B79E-7C7C-D04C-BE69-F8524D73B283}" dt="2024-09-18T05:58:16.419" v="16" actId="20577"/>
      <pc:docMkLst>
        <pc:docMk/>
      </pc:docMkLst>
      <pc:sldChg chg="modSp mod">
        <pc:chgData name="Baráth, Július" userId="aebde9b9-dccc-4475-a9ac-c05e78323d7a" providerId="ADAL" clId="{F971B79E-7C7C-D04C-BE69-F8524D73B283}" dt="2024-09-18T05:58:16.419" v="16" actId="20577"/>
        <pc:sldMkLst>
          <pc:docMk/>
          <pc:sldMk cId="2035642981" sldId="11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9/8/25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5: ACLs for IPv4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5 – ACLs for IPv4 Configuration</a:t>
            </a:r>
          </a:p>
          <a:p>
            <a:pPr>
              <a:buFontTx/>
              <a:buNone/>
            </a:pPr>
            <a:r>
              <a:rPr lang="en-GB" dirty="0"/>
              <a:t>5.0.2 -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5.1.1 – Create an ACL</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5.1.2 – Numbered Standard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074472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5.1.3 – Named Standard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837208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5.1.4 – Apply a Standard IPv4 ACL</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563561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5.1.5 – Numbered Standard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093868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5.1.5 – Numbered Standard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567560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5.1.6 – Named Standard IPv4 ACL Example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219992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5.1.6 – Named Standard IPv4 ACL Example (Cont.)</a:t>
            </a:r>
          </a:p>
          <a:p>
            <a:r>
              <a:rPr lang="en-US" dirty="0"/>
              <a:t>5.1.7 – Syntax Checker – Configure Standard IPv4 ACLs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738867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5.2.1 – Two Methods to Modify and ACL</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403812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5.2.2 – Text Editor Method</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8324553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5.2.3 – Sequence Number Method</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719176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5.2.4 – Modify a Named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466874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5.2.5 – ACL Statistics</a:t>
            </a:r>
          </a:p>
          <a:p>
            <a:r>
              <a:rPr lang="en-US" dirty="0"/>
              <a:t>5.2.6 – Syntax Checker – Modify IPv4 ACLs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245000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5.3.1 – The access-class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934081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5.3.2 – Secure VTY Access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114956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5.3.3 – Verify the VTY Port is Secured</a:t>
            </a:r>
          </a:p>
          <a:p>
            <a:r>
              <a:rPr lang="en-US" dirty="0"/>
              <a:t>5.3.4 – Syntax Checker – Secure the VTY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239490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815519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 –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4139622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5.4.3 – Protocols and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3937491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5.4.3 – Protocols and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639068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5.4.4 – Protocols and Port Numbers Configuration Examples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1986175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5.4.5 – Apply a Numbered Extended IPv4 ACL</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02982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5.4.6 – TCP Established Extended ACL</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21588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5.4.6 – TCP Established Extended ACL (Cont.)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3750890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5.4.7 – Named Extended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9601183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5.4.8 – Named Extended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2687607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5.4.8 – Named Extended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42448143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5.4.10 – Another Extended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3537117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5.4.10 – Another Extended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1962843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5435703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8807744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2769380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5: ACLs for IPv4 Configuration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4"/>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ACLs for IPv4 Configuration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Implement IPv4 ACLs to filter traffic and secure administrative access.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376277545"/>
              </p:ext>
            </p:extLst>
          </p:nvPr>
        </p:nvGraphicFramePr>
        <p:xfrm>
          <a:off x="766914" y="1892353"/>
          <a:ext cx="7604088" cy="1930372"/>
        </p:xfrm>
        <a:graphic>
          <a:graphicData uri="http://schemas.openxmlformats.org/drawingml/2006/table">
            <a:tbl>
              <a:tblPr firstRow="1" firstCol="1" bandRow="1">
                <a:tableStyleId>{5C22544A-7EE6-4342-B048-85BDC9FD1C3A}</a:tableStyleId>
              </a:tblPr>
              <a:tblGrid>
                <a:gridCol w="3802044">
                  <a:extLst>
                    <a:ext uri="{9D8B030D-6E8A-4147-A177-3AD203B41FA5}">
                      <a16:colId xmlns:a16="http://schemas.microsoft.com/office/drawing/2014/main" val="1523797708"/>
                    </a:ext>
                  </a:extLst>
                </a:gridCol>
                <a:gridCol w="3802044">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200" dirty="0">
                          <a:effectLst/>
                        </a:rPr>
                        <a:t>Configure Standard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standard IPv4 ACLs to filter traffic to meet networking requirements.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200" dirty="0">
                          <a:effectLst/>
                        </a:rPr>
                        <a:t>Modify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Use sequence numbers to edit existing standard IPv4 ACLs.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200" dirty="0">
                          <a:effectLst/>
                        </a:rPr>
                        <a:t>Secure VTY Ports with a Standard IPv4 ACL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a standard ACL to secure VTY access.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200" dirty="0">
                          <a:effectLst/>
                        </a:rPr>
                        <a:t>Configure Extended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extended IPv4 ACLs to filter traffic according to networking requirements.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31089"/>
            <a:ext cx="7598042" cy="1386711"/>
          </a:xfrm>
        </p:spPr>
        <p:txBody>
          <a:bodyPr/>
          <a:lstStyle/>
          <a:p>
            <a:r>
              <a:rPr lang="en-US" dirty="0">
                <a:solidFill>
                  <a:schemeClr val="accent5">
                    <a:lumMod val="40000"/>
                    <a:lumOff val="60000"/>
                  </a:schemeClr>
                </a:solidFill>
              </a:rPr>
              <a:t>5.1 Configure Standard IPv4 ACLs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Create an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All access control lists (ACLs) must be planned. When configuring a complex ACL, it is suggested that you:</a:t>
            </a:r>
          </a:p>
          <a:p>
            <a:pPr marL="285750" indent="-285750" algn="l">
              <a:buFont typeface="Arial" panose="020B0604020202020204" pitchFamily="34" charset="0"/>
              <a:buChar char="•"/>
            </a:pPr>
            <a:r>
              <a:rPr lang="en-US" sz="1600" dirty="0">
                <a:solidFill>
                  <a:srgbClr val="000000"/>
                </a:solidFill>
              </a:rPr>
              <a:t>Use a text editor and write out the specifics of the policy to be implemented.</a:t>
            </a:r>
          </a:p>
          <a:p>
            <a:pPr marL="285750" indent="-285750" algn="l">
              <a:buFont typeface="Arial" panose="020B0604020202020204" pitchFamily="34" charset="0"/>
              <a:buChar char="•"/>
            </a:pPr>
            <a:r>
              <a:rPr lang="en-US" sz="1600" dirty="0">
                <a:solidFill>
                  <a:srgbClr val="000000"/>
                </a:solidFill>
              </a:rPr>
              <a:t>Add the IOS configuration commands to accomplish those tasks.</a:t>
            </a:r>
          </a:p>
          <a:p>
            <a:pPr marL="285750" indent="-285750" algn="l">
              <a:buFont typeface="Arial" panose="020B0604020202020204" pitchFamily="34" charset="0"/>
              <a:buChar char="•"/>
            </a:pPr>
            <a:r>
              <a:rPr lang="en-US" sz="1600" dirty="0">
                <a:solidFill>
                  <a:srgbClr val="000000"/>
                </a:solidFill>
              </a:rPr>
              <a:t>Include remarks to document the ACL.</a:t>
            </a:r>
          </a:p>
          <a:p>
            <a:pPr marL="285750" indent="-285750" algn="l">
              <a:buFont typeface="Arial" panose="020B0604020202020204" pitchFamily="34" charset="0"/>
              <a:buChar char="•"/>
            </a:pPr>
            <a:r>
              <a:rPr lang="en-US" sz="1600" dirty="0">
                <a:solidFill>
                  <a:srgbClr val="000000"/>
                </a:solidFill>
              </a:rPr>
              <a:t>Copy and paste the commands onto the device.</a:t>
            </a:r>
          </a:p>
          <a:p>
            <a:pPr marL="285750" indent="-285750" algn="l">
              <a:buFont typeface="Arial" panose="020B0604020202020204" pitchFamily="34" charset="0"/>
              <a:buChar char="•"/>
            </a:pPr>
            <a:r>
              <a:rPr lang="en-US" sz="1600" dirty="0">
                <a:solidFill>
                  <a:srgbClr val="000000"/>
                </a:solidFill>
              </a:rPr>
              <a:t>Always thoroughly test an ACL to ensure that it correctly applies the desired policy.</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21873"/>
          </a:xfrm>
        </p:spPr>
        <p:txBody>
          <a:bodyPr/>
          <a:lstStyle/>
          <a:p>
            <a:pPr marL="0" indent="0" algn="l"/>
            <a:r>
              <a:rPr lang="en-US" sz="1600" dirty="0">
                <a:solidFill>
                  <a:srgbClr val="000000"/>
                </a:solidFill>
              </a:rPr>
              <a:t>To create a numbered standard ACL, use the </a:t>
            </a:r>
            <a:r>
              <a:rPr lang="en-US" sz="1600" b="1" dirty="0">
                <a:solidFill>
                  <a:srgbClr val="000000"/>
                </a:solidFill>
              </a:rPr>
              <a:t>access-list</a:t>
            </a:r>
            <a:r>
              <a:rPr lang="en-US" sz="1600" dirty="0">
                <a:solidFill>
                  <a:srgbClr val="000000"/>
                </a:solidFill>
              </a:rPr>
              <a:t> command.</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59A3E053-BC05-4B36-A53A-35AED2B4671B}"/>
              </a:ext>
            </a:extLst>
          </p:cNvPr>
          <p:cNvPicPr>
            <a:picLocks noChangeAspect="1"/>
          </p:cNvPicPr>
          <p:nvPr/>
        </p:nvPicPr>
        <p:blipFill>
          <a:blip r:embed="rId4"/>
          <a:stretch>
            <a:fillRect/>
          </a:stretch>
        </p:blipFill>
        <p:spPr>
          <a:xfrm>
            <a:off x="838199" y="1428889"/>
            <a:ext cx="7467600" cy="428625"/>
          </a:xfrm>
          <a:prstGeom prst="rect">
            <a:avLst/>
          </a:prstGeom>
        </p:spPr>
      </p:pic>
      <p:graphicFrame>
        <p:nvGraphicFramePr>
          <p:cNvPr id="8" name="Content Placeholder 6">
            <a:extLst>
              <a:ext uri="{FF2B5EF4-FFF2-40B4-BE49-F238E27FC236}">
                <a16:creationId xmlns:a16="http://schemas.microsoft.com/office/drawing/2014/main" id="{EFB365CF-3051-43B0-8F94-84DFE45478AE}"/>
              </a:ext>
            </a:extLst>
          </p:cNvPr>
          <p:cNvGraphicFramePr>
            <a:graphicFrameLocks/>
          </p:cNvGraphicFramePr>
          <p:nvPr>
            <p:extLst>
              <p:ext uri="{D42A27DB-BD31-4B8C-83A1-F6EECF244321}">
                <p14:modId xmlns:p14="http://schemas.microsoft.com/office/powerpoint/2010/main" val="213524582"/>
              </p:ext>
            </p:extLst>
          </p:nvPr>
        </p:nvGraphicFramePr>
        <p:xfrm>
          <a:off x="532455" y="2009111"/>
          <a:ext cx="8038682" cy="2072640"/>
        </p:xfrm>
        <a:graphic>
          <a:graphicData uri="http://schemas.openxmlformats.org/drawingml/2006/table">
            <a:tbl>
              <a:tblPr firstRow="1" bandRow="1">
                <a:tableStyleId>{5C22544A-7EE6-4342-B048-85BDC9FD1C3A}</a:tableStyleId>
              </a:tblPr>
              <a:tblGrid>
                <a:gridCol w="2441502">
                  <a:extLst>
                    <a:ext uri="{9D8B030D-6E8A-4147-A177-3AD203B41FA5}">
                      <a16:colId xmlns:a16="http://schemas.microsoft.com/office/drawing/2014/main" val="3729139006"/>
                    </a:ext>
                  </a:extLst>
                </a:gridCol>
                <a:gridCol w="5597180">
                  <a:extLst>
                    <a:ext uri="{9D8B030D-6E8A-4147-A177-3AD203B41FA5}">
                      <a16:colId xmlns:a16="http://schemas.microsoft.com/office/drawing/2014/main" val="1988913492"/>
                    </a:ext>
                  </a:extLst>
                </a:gridCol>
              </a:tblGrid>
              <a:tr h="154859">
                <a:tc>
                  <a:txBody>
                    <a:bodyPr/>
                    <a:lstStyle/>
                    <a:p>
                      <a:r>
                        <a:rPr lang="en-US" sz="1100" dirty="0"/>
                        <a:t>Parameter</a:t>
                      </a:r>
                    </a:p>
                  </a:txBody>
                  <a:tcPr/>
                </a:tc>
                <a:tc>
                  <a:txBody>
                    <a:bodyPr/>
                    <a:lstStyle/>
                    <a:p>
                      <a:r>
                        <a:rPr lang="en-US" sz="1100" dirty="0"/>
                        <a:t>Description</a:t>
                      </a:r>
                    </a:p>
                  </a:txBody>
                  <a:tcPr/>
                </a:tc>
                <a:extLst>
                  <a:ext uri="{0D108BD9-81ED-4DB2-BD59-A6C34878D82A}">
                    <a16:rowId xmlns:a16="http://schemas.microsoft.com/office/drawing/2014/main" val="2583676789"/>
                  </a:ext>
                </a:extLst>
              </a:tr>
              <a:tr h="154859">
                <a:tc>
                  <a:txBody>
                    <a:bodyPr/>
                    <a:lstStyle/>
                    <a:p>
                      <a:r>
                        <a:rPr lang="en-US" sz="1100" i="1" dirty="0">
                          <a:solidFill>
                            <a:srgbClr val="000000"/>
                          </a:solidFill>
                        </a:rPr>
                        <a:t>access-list-number</a:t>
                      </a:r>
                    </a:p>
                  </a:txBody>
                  <a:tcPr/>
                </a:tc>
                <a:tc>
                  <a:txBody>
                    <a:bodyPr/>
                    <a:lstStyle/>
                    <a:p>
                      <a:pPr marL="0" indent="0">
                        <a:buFont typeface="Arial" panose="020B0604020202020204" pitchFamily="34" charset="0"/>
                        <a:buNone/>
                      </a:pPr>
                      <a:r>
                        <a:rPr lang="en-US" sz="1100" dirty="0">
                          <a:solidFill>
                            <a:srgbClr val="000000"/>
                          </a:solidFill>
                        </a:rPr>
                        <a:t>Number range is 1 to 99 or 1300 to 1999</a:t>
                      </a:r>
                    </a:p>
                  </a:txBody>
                  <a:tcPr/>
                </a:tc>
                <a:extLst>
                  <a:ext uri="{0D108BD9-81ED-4DB2-BD59-A6C34878D82A}">
                    <a16:rowId xmlns:a16="http://schemas.microsoft.com/office/drawing/2014/main" val="3849654457"/>
                  </a:ext>
                </a:extLst>
              </a:tr>
              <a:tr h="154859">
                <a:tc>
                  <a:txBody>
                    <a:bodyPr/>
                    <a:lstStyle/>
                    <a:p>
                      <a:r>
                        <a:rPr lang="en-US" sz="1100" b="1" dirty="0">
                          <a:solidFill>
                            <a:srgbClr val="000000"/>
                          </a:solidFill>
                        </a:rPr>
                        <a:t>deny</a:t>
                      </a:r>
                    </a:p>
                  </a:txBody>
                  <a:tcPr/>
                </a:tc>
                <a:tc>
                  <a:txBody>
                    <a:bodyPr/>
                    <a:lstStyle/>
                    <a:p>
                      <a:pPr marL="0" indent="0">
                        <a:buFont typeface="Arial" panose="020B0604020202020204" pitchFamily="34" charset="0"/>
                        <a:buNone/>
                      </a:pPr>
                      <a:r>
                        <a:rPr lang="en-US" sz="1100" dirty="0">
                          <a:solidFill>
                            <a:srgbClr val="000000"/>
                          </a:solidFill>
                        </a:rPr>
                        <a:t>Denies access if the condition is matched</a:t>
                      </a:r>
                    </a:p>
                  </a:txBody>
                  <a:tcPr/>
                </a:tc>
                <a:extLst>
                  <a:ext uri="{0D108BD9-81ED-4DB2-BD59-A6C34878D82A}">
                    <a16:rowId xmlns:a16="http://schemas.microsoft.com/office/drawing/2014/main" val="235735172"/>
                  </a:ext>
                </a:extLst>
              </a:tr>
              <a:tr h="154859">
                <a:tc>
                  <a:txBody>
                    <a:bodyPr/>
                    <a:lstStyle/>
                    <a:p>
                      <a:r>
                        <a:rPr lang="en-US" sz="1100" b="1" dirty="0">
                          <a:solidFill>
                            <a:srgbClr val="000000"/>
                          </a:solidFill>
                        </a:rPr>
                        <a:t>permit</a:t>
                      </a:r>
                    </a:p>
                  </a:txBody>
                  <a:tcPr/>
                </a:tc>
                <a:tc>
                  <a:txBody>
                    <a:bodyPr/>
                    <a:lstStyle/>
                    <a:p>
                      <a:pPr marL="0" indent="0">
                        <a:buFont typeface="Arial" panose="020B0604020202020204" pitchFamily="34" charset="0"/>
                        <a:buNone/>
                      </a:pPr>
                      <a:r>
                        <a:rPr lang="en-US" sz="1100" dirty="0">
                          <a:solidFill>
                            <a:srgbClr val="000000"/>
                          </a:solidFill>
                        </a:rPr>
                        <a:t>Permits access if the condition is matched</a:t>
                      </a:r>
                    </a:p>
                  </a:txBody>
                  <a:tcPr/>
                </a:tc>
                <a:extLst>
                  <a:ext uri="{0D108BD9-81ED-4DB2-BD59-A6C34878D82A}">
                    <a16:rowId xmlns:a16="http://schemas.microsoft.com/office/drawing/2014/main" val="354468046"/>
                  </a:ext>
                </a:extLst>
              </a:tr>
              <a:tr h="154859">
                <a:tc>
                  <a:txBody>
                    <a:bodyPr/>
                    <a:lstStyle/>
                    <a:p>
                      <a:r>
                        <a:rPr lang="en-US" sz="1100" b="1" dirty="0">
                          <a:solidFill>
                            <a:srgbClr val="000000"/>
                          </a:solidFill>
                        </a:rPr>
                        <a:t>remark</a:t>
                      </a:r>
                      <a:r>
                        <a:rPr lang="en-US" sz="1100" dirty="0">
                          <a:solidFill>
                            <a:srgbClr val="000000"/>
                          </a:solidFill>
                        </a:rPr>
                        <a:t> </a:t>
                      </a:r>
                      <a:r>
                        <a:rPr lang="en-US" sz="1100" i="1" dirty="0">
                          <a:solidFill>
                            <a:srgbClr val="000000"/>
                          </a:solidFill>
                        </a:rPr>
                        <a:t>text</a:t>
                      </a:r>
                    </a:p>
                  </a:txBody>
                  <a:tcPr/>
                </a:tc>
                <a:tc>
                  <a:txBody>
                    <a:bodyPr/>
                    <a:lstStyle/>
                    <a:p>
                      <a:pPr marL="0" indent="0">
                        <a:buFont typeface="Arial" panose="020B0604020202020204" pitchFamily="34" charset="0"/>
                        <a:buNone/>
                      </a:pPr>
                      <a:r>
                        <a:rPr lang="en-US" sz="1100" dirty="0">
                          <a:solidFill>
                            <a:srgbClr val="000000"/>
                          </a:solidFill>
                        </a:rPr>
                        <a:t>(Optional) text entry for documentation purposes</a:t>
                      </a:r>
                    </a:p>
                  </a:txBody>
                  <a:tcPr/>
                </a:tc>
                <a:extLst>
                  <a:ext uri="{0D108BD9-81ED-4DB2-BD59-A6C34878D82A}">
                    <a16:rowId xmlns:a16="http://schemas.microsoft.com/office/drawing/2014/main" val="1458107787"/>
                  </a:ext>
                </a:extLst>
              </a:tr>
              <a:tr h="154859">
                <a:tc>
                  <a:txBody>
                    <a:bodyPr/>
                    <a:lstStyle/>
                    <a:p>
                      <a:r>
                        <a:rPr lang="en-US" sz="1100" i="1" dirty="0">
                          <a:solidFill>
                            <a:srgbClr val="000000"/>
                          </a:solidFill>
                        </a:rPr>
                        <a:t>source</a:t>
                      </a:r>
                    </a:p>
                  </a:txBody>
                  <a:tcPr/>
                </a:tc>
                <a:tc>
                  <a:txBody>
                    <a:bodyPr/>
                    <a:lstStyle/>
                    <a:p>
                      <a:pPr marL="0" indent="0">
                        <a:buFont typeface="Arial" panose="020B0604020202020204" pitchFamily="34" charset="0"/>
                        <a:buNone/>
                      </a:pPr>
                      <a:r>
                        <a:rPr lang="en-US" sz="1100" dirty="0">
                          <a:solidFill>
                            <a:srgbClr val="000000"/>
                          </a:solidFill>
                        </a:rPr>
                        <a:t>Identifies the source network or host address to filter</a:t>
                      </a:r>
                    </a:p>
                  </a:txBody>
                  <a:tcPr/>
                </a:tc>
                <a:extLst>
                  <a:ext uri="{0D108BD9-81ED-4DB2-BD59-A6C34878D82A}">
                    <a16:rowId xmlns:a16="http://schemas.microsoft.com/office/drawing/2014/main" val="2495454272"/>
                  </a:ext>
                </a:extLst>
              </a:tr>
              <a:tr h="154859">
                <a:tc>
                  <a:txBody>
                    <a:bodyPr/>
                    <a:lstStyle/>
                    <a:p>
                      <a:r>
                        <a:rPr lang="en-US" sz="1100" i="1" dirty="0">
                          <a:solidFill>
                            <a:srgbClr val="000000"/>
                          </a:solidFill>
                        </a:rPr>
                        <a:t>source-wildcard</a:t>
                      </a:r>
                    </a:p>
                  </a:txBody>
                  <a:tcPr/>
                </a:tc>
                <a:tc>
                  <a:txBody>
                    <a:bodyPr/>
                    <a:lstStyle/>
                    <a:p>
                      <a:pPr marL="0" indent="0">
                        <a:buFont typeface="Arial" panose="020B0604020202020204" pitchFamily="34" charset="0"/>
                        <a:buNone/>
                      </a:pPr>
                      <a:r>
                        <a:rPr lang="en-US" sz="1100" dirty="0">
                          <a:solidFill>
                            <a:srgbClr val="000000"/>
                          </a:solidFill>
                        </a:rPr>
                        <a:t>(Optional) 32-bit wildcard mask that is applied to the source</a:t>
                      </a:r>
                    </a:p>
                  </a:txBody>
                  <a:tcPr/>
                </a:tc>
                <a:extLst>
                  <a:ext uri="{0D108BD9-81ED-4DB2-BD59-A6C34878D82A}">
                    <a16:rowId xmlns:a16="http://schemas.microsoft.com/office/drawing/2014/main" val="3519542428"/>
                  </a:ext>
                </a:extLst>
              </a:tr>
              <a:tr h="179708">
                <a:tc>
                  <a:txBody>
                    <a:bodyPr/>
                    <a:lstStyle/>
                    <a:p>
                      <a:r>
                        <a:rPr lang="en-US" sz="1100" b="1" dirty="0">
                          <a:solidFill>
                            <a:srgbClr val="000000"/>
                          </a:solidFill>
                        </a:rPr>
                        <a:t>log</a:t>
                      </a:r>
                    </a:p>
                  </a:txBody>
                  <a:tcPr/>
                </a:tc>
                <a:tc>
                  <a:txBody>
                    <a:bodyPr/>
                    <a:lstStyle/>
                    <a:p>
                      <a:r>
                        <a:rPr lang="en-US" sz="1100" dirty="0">
                          <a:solidFill>
                            <a:srgbClr val="000000"/>
                          </a:solidFill>
                        </a:rPr>
                        <a:t>(Optional) Generates and sends an informational message when the ACE is matched</a:t>
                      </a:r>
                    </a:p>
                  </a:txBody>
                  <a:tcPr/>
                </a:tc>
                <a:extLst>
                  <a:ext uri="{0D108BD9-81ED-4DB2-BD59-A6C34878D82A}">
                    <a16:rowId xmlns:a16="http://schemas.microsoft.com/office/drawing/2014/main" val="2958112365"/>
                  </a:ext>
                </a:extLst>
              </a:tr>
            </a:tbl>
          </a:graphicData>
        </a:graphic>
      </p:graphicFrame>
      <p:sp>
        <p:nvSpPr>
          <p:cNvPr id="6" name="Rectangle 5">
            <a:extLst>
              <a:ext uri="{FF2B5EF4-FFF2-40B4-BE49-F238E27FC236}">
                <a16:creationId xmlns:a16="http://schemas.microsoft.com/office/drawing/2014/main" id="{22725532-825A-4213-809A-895FDB527757}"/>
              </a:ext>
            </a:extLst>
          </p:cNvPr>
          <p:cNvSpPr/>
          <p:nvPr/>
        </p:nvSpPr>
        <p:spPr>
          <a:xfrm>
            <a:off x="396319" y="4149581"/>
            <a:ext cx="8174818" cy="276999"/>
          </a:xfrm>
          <a:prstGeom prst="rect">
            <a:avLst/>
          </a:prstGeom>
        </p:spPr>
        <p:txBody>
          <a:bodyPr wrap="square">
            <a:spAutoFit/>
          </a:bodyPr>
          <a:lstStyle/>
          <a:p>
            <a:r>
              <a:rPr lang="en-US" sz="1200" dirty="0">
                <a:solidFill>
                  <a:srgbClr val="000000"/>
                </a:solidFill>
              </a:rPr>
              <a:t>Note: Use the </a:t>
            </a:r>
            <a:r>
              <a:rPr lang="en-US" sz="1200" b="1" dirty="0">
                <a:solidFill>
                  <a:srgbClr val="000000"/>
                </a:solidFill>
              </a:rPr>
              <a:t>no access-list</a:t>
            </a:r>
            <a:r>
              <a:rPr lang="en-US" sz="1200" dirty="0">
                <a:solidFill>
                  <a:srgbClr val="000000"/>
                </a:solidFill>
              </a:rPr>
              <a:t> </a:t>
            </a:r>
            <a:r>
              <a:rPr lang="en-US" sz="1200" i="1" dirty="0">
                <a:solidFill>
                  <a:srgbClr val="000000"/>
                </a:solidFill>
              </a:rPr>
              <a:t>access-list-number</a:t>
            </a:r>
            <a:r>
              <a:rPr lang="en-US" sz="1200" dirty="0">
                <a:solidFill>
                  <a:srgbClr val="000000"/>
                </a:solidFill>
              </a:rPr>
              <a:t> global configuration command to remove a numbered standard ACL.</a:t>
            </a:r>
          </a:p>
        </p:txBody>
      </p:sp>
    </p:spTree>
    <p:custDataLst>
      <p:tags r:id="rId1"/>
    </p:custDataLst>
    <p:extLst>
      <p:ext uri="{BB962C8B-B14F-4D97-AF65-F5344CB8AC3E}">
        <p14:creationId xmlns:p14="http://schemas.microsoft.com/office/powerpoint/2010/main" val="41703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8280057" cy="1165552"/>
          </a:xfrm>
        </p:spPr>
        <p:txBody>
          <a:bodyPr/>
          <a:lstStyle/>
          <a:p>
            <a:pPr marL="0" indent="0" algn="l"/>
            <a:r>
              <a:rPr lang="en-US" sz="1600" dirty="0">
                <a:solidFill>
                  <a:srgbClr val="000000"/>
                </a:solidFill>
              </a:rPr>
              <a:t>To create a named standard ACL, use the </a:t>
            </a:r>
            <a:r>
              <a:rPr lang="en-US" sz="1600" b="1" dirty="0" err="1">
                <a:solidFill>
                  <a:srgbClr val="000000"/>
                </a:solidFill>
              </a:rPr>
              <a:t>ip</a:t>
            </a:r>
            <a:r>
              <a:rPr lang="en-US" sz="1600" b="1" dirty="0">
                <a:solidFill>
                  <a:srgbClr val="000000"/>
                </a:solidFill>
              </a:rPr>
              <a:t> access-list standard </a:t>
            </a:r>
            <a:r>
              <a:rPr lang="en-US" sz="1600" dirty="0">
                <a:solidFill>
                  <a:srgbClr val="000000"/>
                </a:solidFill>
              </a:rPr>
              <a:t>command.</a:t>
            </a:r>
          </a:p>
          <a:p>
            <a:pPr marL="285750" indent="-285750" algn="l">
              <a:buFont typeface="Arial" panose="020B0604020202020204" pitchFamily="34" charset="0"/>
              <a:buChar char="•"/>
            </a:pPr>
            <a:r>
              <a:rPr lang="en-US" sz="1600" dirty="0">
                <a:solidFill>
                  <a:srgbClr val="000000"/>
                </a:solidFill>
              </a:rPr>
              <a:t>ACL names are alphanumeric, case sensitive, and must be unique. </a:t>
            </a:r>
          </a:p>
          <a:p>
            <a:pPr marL="285750" indent="-285750" algn="l">
              <a:buFont typeface="Arial" panose="020B0604020202020204" pitchFamily="34" charset="0"/>
              <a:buChar char="•"/>
            </a:pPr>
            <a:r>
              <a:rPr lang="en-US" sz="1600" dirty="0">
                <a:solidFill>
                  <a:srgbClr val="000000"/>
                </a:solidFill>
              </a:rPr>
              <a:t>Capitalizing ACL names is not required but makes them stand out when viewing the running-config output.</a:t>
            </a:r>
          </a:p>
        </p:txBody>
      </p:sp>
      <p:pic>
        <p:nvPicPr>
          <p:cNvPr id="2" name="Picture 1">
            <a:extLst>
              <a:ext uri="{FF2B5EF4-FFF2-40B4-BE49-F238E27FC236}">
                <a16:creationId xmlns:a16="http://schemas.microsoft.com/office/drawing/2014/main" id="{8E0E3122-9276-4338-B4BB-FB2436335CF7}"/>
              </a:ext>
            </a:extLst>
          </p:cNvPr>
          <p:cNvPicPr>
            <a:picLocks noChangeAspect="1"/>
          </p:cNvPicPr>
          <p:nvPr/>
        </p:nvPicPr>
        <p:blipFill>
          <a:blip r:embed="rId4"/>
          <a:stretch>
            <a:fillRect/>
          </a:stretch>
        </p:blipFill>
        <p:spPr>
          <a:xfrm>
            <a:off x="2264148" y="2080932"/>
            <a:ext cx="4400550" cy="228600"/>
          </a:xfrm>
          <a:prstGeom prst="rect">
            <a:avLst/>
          </a:prstGeom>
        </p:spPr>
      </p:pic>
      <p:pic>
        <p:nvPicPr>
          <p:cNvPr id="6" name="Picture 5">
            <a:extLst>
              <a:ext uri="{FF2B5EF4-FFF2-40B4-BE49-F238E27FC236}">
                <a16:creationId xmlns:a16="http://schemas.microsoft.com/office/drawing/2014/main" id="{6BAB19BD-BE62-4431-9B95-AA69CECC0A27}"/>
              </a:ext>
            </a:extLst>
          </p:cNvPr>
          <p:cNvPicPr>
            <a:picLocks noChangeAspect="1"/>
          </p:cNvPicPr>
          <p:nvPr/>
        </p:nvPicPr>
        <p:blipFill>
          <a:blip r:embed="rId5"/>
          <a:stretch>
            <a:fillRect/>
          </a:stretch>
        </p:blipFill>
        <p:spPr>
          <a:xfrm>
            <a:off x="2273673" y="2369493"/>
            <a:ext cx="4391025" cy="2105025"/>
          </a:xfrm>
          <a:prstGeom prst="rect">
            <a:avLst/>
          </a:prstGeom>
        </p:spPr>
      </p:pic>
    </p:spTree>
    <p:custDataLst>
      <p:tags r:id="rId1"/>
    </p:custDataLst>
    <p:extLst>
      <p:ext uri="{BB962C8B-B14F-4D97-AF65-F5344CB8AC3E}">
        <p14:creationId xmlns:p14="http://schemas.microsoft.com/office/powerpoint/2010/main" val="1760612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Apply a Standard IPv4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378495"/>
          </a:xfrm>
        </p:spPr>
        <p:txBody>
          <a:bodyPr/>
          <a:lstStyle/>
          <a:p>
            <a:pPr marL="0" indent="0" algn="l"/>
            <a:r>
              <a:rPr lang="en-US" sz="1600" dirty="0">
                <a:solidFill>
                  <a:srgbClr val="000000"/>
                </a:solidFill>
              </a:rPr>
              <a:t>After a standard IPv4 ACL is configured, it must be linked to an interface or feature. </a:t>
            </a:r>
          </a:p>
          <a:p>
            <a:pPr marL="285750" indent="-285750" algn="l">
              <a:buFont typeface="Arial" panose="020B0604020202020204" pitchFamily="34" charset="0"/>
              <a:buChar char="•"/>
            </a:pPr>
            <a:r>
              <a:rPr lang="en-US" sz="1600" dirty="0">
                <a:solidFill>
                  <a:srgbClr val="000000"/>
                </a:solidFill>
              </a:rPr>
              <a:t>The </a:t>
            </a:r>
            <a:r>
              <a:rPr lang="en-US" sz="1600" b="1" dirty="0" err="1">
                <a:solidFill>
                  <a:srgbClr val="000000"/>
                </a:solidFill>
              </a:rPr>
              <a:t>ip</a:t>
            </a:r>
            <a:r>
              <a:rPr lang="en-US" sz="1600" b="1" dirty="0">
                <a:solidFill>
                  <a:srgbClr val="000000"/>
                </a:solidFill>
              </a:rPr>
              <a:t> access-group </a:t>
            </a:r>
            <a:r>
              <a:rPr lang="en-US" sz="1600" dirty="0">
                <a:solidFill>
                  <a:srgbClr val="000000"/>
                </a:solidFill>
              </a:rPr>
              <a:t>command is used to bind a numbered or named standard IPv4 ACL to an interface.</a:t>
            </a:r>
          </a:p>
          <a:p>
            <a:pPr marL="285750" indent="-285750" algn="l">
              <a:buFont typeface="Arial" panose="020B0604020202020204" pitchFamily="34" charset="0"/>
              <a:buChar char="•"/>
            </a:pPr>
            <a:r>
              <a:rPr lang="en-US" sz="1600" dirty="0">
                <a:solidFill>
                  <a:srgbClr val="000000"/>
                </a:solidFill>
              </a:rPr>
              <a:t>To remove an ACL from an interface, first enter the </a:t>
            </a:r>
            <a:r>
              <a:rPr lang="en-US" sz="1600" b="1" dirty="0">
                <a:solidFill>
                  <a:srgbClr val="000000"/>
                </a:solidFill>
              </a:rPr>
              <a:t>no </a:t>
            </a:r>
            <a:r>
              <a:rPr lang="en-US" sz="1600" b="1" dirty="0" err="1">
                <a:solidFill>
                  <a:srgbClr val="000000"/>
                </a:solidFill>
              </a:rPr>
              <a:t>ip</a:t>
            </a:r>
            <a:r>
              <a:rPr lang="en-US" sz="1600" b="1" dirty="0">
                <a:solidFill>
                  <a:srgbClr val="000000"/>
                </a:solidFill>
              </a:rPr>
              <a:t> access-group</a:t>
            </a:r>
            <a:r>
              <a:rPr lang="en-US" sz="1600" dirty="0">
                <a:solidFill>
                  <a:srgbClr val="000000"/>
                </a:solidFill>
              </a:rPr>
              <a:t> interface configuration command.</a:t>
            </a:r>
          </a:p>
        </p:txBody>
      </p:sp>
      <p:pic>
        <p:nvPicPr>
          <p:cNvPr id="2" name="Picture 1">
            <a:extLst>
              <a:ext uri="{FF2B5EF4-FFF2-40B4-BE49-F238E27FC236}">
                <a16:creationId xmlns:a16="http://schemas.microsoft.com/office/drawing/2014/main" id="{692FA57B-9025-4585-B6D2-DA6187D4273E}"/>
              </a:ext>
            </a:extLst>
          </p:cNvPr>
          <p:cNvPicPr>
            <a:picLocks noChangeAspect="1"/>
          </p:cNvPicPr>
          <p:nvPr/>
        </p:nvPicPr>
        <p:blipFill>
          <a:blip r:embed="rId4"/>
          <a:stretch>
            <a:fillRect/>
          </a:stretch>
        </p:blipFill>
        <p:spPr>
          <a:xfrm>
            <a:off x="1366837" y="2462212"/>
            <a:ext cx="6410325" cy="219075"/>
          </a:xfrm>
          <a:prstGeom prst="rect">
            <a:avLst/>
          </a:prstGeom>
        </p:spPr>
      </p:pic>
    </p:spTree>
    <p:custDataLst>
      <p:tags r:id="rId1"/>
    </p:custDataLst>
    <p:extLst>
      <p:ext uri="{BB962C8B-B14F-4D97-AF65-F5344CB8AC3E}">
        <p14:creationId xmlns:p14="http://schemas.microsoft.com/office/powerpoint/2010/main" val="134748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1809205" cy="3495517"/>
          </a:xfrm>
        </p:spPr>
        <p:txBody>
          <a:bodyPr/>
          <a:lstStyle/>
          <a:p>
            <a:pPr marL="0" indent="0" algn="l"/>
            <a:r>
              <a:rPr lang="en-US" sz="1600" dirty="0">
                <a:solidFill>
                  <a:srgbClr val="000000"/>
                </a:solidFill>
              </a:rPr>
              <a:t>The example ACL permits traffic from host 192.168.10.10 and all hosts on the 192.168.20.0/24 network out interface serial 0/1/0 on router R1.</a:t>
            </a:r>
          </a:p>
        </p:txBody>
      </p:sp>
      <p:pic>
        <p:nvPicPr>
          <p:cNvPr id="2" name="Picture 1">
            <a:extLst>
              <a:ext uri="{FF2B5EF4-FFF2-40B4-BE49-F238E27FC236}">
                <a16:creationId xmlns:a16="http://schemas.microsoft.com/office/drawing/2014/main" id="{027E777A-E04F-4E17-A0A0-85FD442E63AD}"/>
              </a:ext>
            </a:extLst>
          </p:cNvPr>
          <p:cNvPicPr>
            <a:picLocks noChangeAspect="1"/>
          </p:cNvPicPr>
          <p:nvPr/>
        </p:nvPicPr>
        <p:blipFill>
          <a:blip r:embed="rId4"/>
          <a:stretch>
            <a:fillRect/>
          </a:stretch>
        </p:blipFill>
        <p:spPr>
          <a:xfrm>
            <a:off x="2315257" y="956819"/>
            <a:ext cx="6677026" cy="1216747"/>
          </a:xfrm>
          <a:prstGeom prst="rect">
            <a:avLst/>
          </a:prstGeom>
        </p:spPr>
      </p:pic>
      <p:pic>
        <p:nvPicPr>
          <p:cNvPr id="7" name="Picture 6">
            <a:extLst>
              <a:ext uri="{FF2B5EF4-FFF2-40B4-BE49-F238E27FC236}">
                <a16:creationId xmlns:a16="http://schemas.microsoft.com/office/drawing/2014/main" id="{A88427D7-A763-4EF7-89B7-4F1C0DF2B8B0}"/>
              </a:ext>
            </a:extLst>
          </p:cNvPr>
          <p:cNvPicPr>
            <a:picLocks noChangeAspect="1"/>
          </p:cNvPicPr>
          <p:nvPr/>
        </p:nvPicPr>
        <p:blipFill>
          <a:blip r:embed="rId5"/>
          <a:stretch>
            <a:fillRect/>
          </a:stretch>
        </p:blipFill>
        <p:spPr>
          <a:xfrm>
            <a:off x="2315255" y="2207301"/>
            <a:ext cx="6677025" cy="1371600"/>
          </a:xfrm>
          <a:prstGeom prst="rect">
            <a:avLst/>
          </a:prstGeom>
        </p:spPr>
      </p:pic>
      <p:pic>
        <p:nvPicPr>
          <p:cNvPr id="9" name="Picture 8">
            <a:extLst>
              <a:ext uri="{FF2B5EF4-FFF2-40B4-BE49-F238E27FC236}">
                <a16:creationId xmlns:a16="http://schemas.microsoft.com/office/drawing/2014/main" id="{C932DA31-2E65-4351-92F5-7493ED225271}"/>
              </a:ext>
            </a:extLst>
          </p:cNvPr>
          <p:cNvPicPr>
            <a:picLocks noChangeAspect="1"/>
          </p:cNvPicPr>
          <p:nvPr/>
        </p:nvPicPr>
        <p:blipFill>
          <a:blip r:embed="rId6"/>
          <a:stretch>
            <a:fillRect/>
          </a:stretch>
        </p:blipFill>
        <p:spPr>
          <a:xfrm>
            <a:off x="2315255" y="3612636"/>
            <a:ext cx="6677025" cy="808429"/>
          </a:xfrm>
          <a:prstGeom prst="rect">
            <a:avLst/>
          </a:prstGeom>
        </p:spPr>
      </p:pic>
    </p:spTree>
    <p:custDataLst>
      <p:tags r:id="rId1"/>
    </p:custDataLst>
    <p:extLst>
      <p:ext uri="{BB962C8B-B14F-4D97-AF65-F5344CB8AC3E}">
        <p14:creationId xmlns:p14="http://schemas.microsoft.com/office/powerpoint/2010/main" val="242897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running-config</a:t>
            </a:r>
            <a:r>
              <a:rPr lang="en-US" sz="1600" dirty="0">
                <a:solidFill>
                  <a:srgbClr val="000000"/>
                </a:solidFill>
              </a:rPr>
              <a:t> command to review the ACL in the configuration.</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to verify the ACL is applied to the interface.</a:t>
            </a:r>
          </a:p>
        </p:txBody>
      </p:sp>
      <p:pic>
        <p:nvPicPr>
          <p:cNvPr id="2" name="Picture 1">
            <a:extLst>
              <a:ext uri="{FF2B5EF4-FFF2-40B4-BE49-F238E27FC236}">
                <a16:creationId xmlns:a16="http://schemas.microsoft.com/office/drawing/2014/main" id="{28A68DF9-1F96-422F-8B08-68EA939D591C}"/>
              </a:ext>
            </a:extLst>
          </p:cNvPr>
          <p:cNvPicPr>
            <a:picLocks noChangeAspect="1"/>
          </p:cNvPicPr>
          <p:nvPr/>
        </p:nvPicPr>
        <p:blipFill>
          <a:blip r:embed="rId4"/>
          <a:stretch>
            <a:fillRect/>
          </a:stretch>
        </p:blipFill>
        <p:spPr>
          <a:xfrm>
            <a:off x="2519361" y="1666874"/>
            <a:ext cx="4105275" cy="1200150"/>
          </a:xfrm>
          <a:prstGeom prst="rect">
            <a:avLst/>
          </a:prstGeom>
        </p:spPr>
      </p:pic>
      <p:pic>
        <p:nvPicPr>
          <p:cNvPr id="7" name="Picture 6">
            <a:extLst>
              <a:ext uri="{FF2B5EF4-FFF2-40B4-BE49-F238E27FC236}">
                <a16:creationId xmlns:a16="http://schemas.microsoft.com/office/drawing/2014/main" id="{C65E2276-B899-430E-9720-D50937A8E086}"/>
              </a:ext>
            </a:extLst>
          </p:cNvPr>
          <p:cNvPicPr>
            <a:picLocks noChangeAspect="1"/>
          </p:cNvPicPr>
          <p:nvPr/>
        </p:nvPicPr>
        <p:blipFill>
          <a:blip r:embed="rId5"/>
          <a:stretch>
            <a:fillRect/>
          </a:stretch>
        </p:blipFill>
        <p:spPr>
          <a:xfrm>
            <a:off x="2519361" y="3096030"/>
            <a:ext cx="4086225" cy="1133475"/>
          </a:xfrm>
          <a:prstGeom prst="rect">
            <a:avLst/>
          </a:prstGeom>
        </p:spPr>
      </p:pic>
    </p:spTree>
    <p:custDataLst>
      <p:tags r:id="rId1"/>
    </p:custDataLst>
    <p:extLst>
      <p:ext uri="{BB962C8B-B14F-4D97-AF65-F5344CB8AC3E}">
        <p14:creationId xmlns:p14="http://schemas.microsoft.com/office/powerpoint/2010/main" val="1328089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476641" cy="3495517"/>
          </a:xfrm>
        </p:spPr>
        <p:txBody>
          <a:bodyPr/>
          <a:lstStyle/>
          <a:p>
            <a:pPr marL="0" indent="0" algn="l"/>
            <a:r>
              <a:rPr lang="en-US" sz="1600" dirty="0">
                <a:solidFill>
                  <a:srgbClr val="000000"/>
                </a:solidFill>
              </a:rPr>
              <a:t>The example ACL permits traffic from host 192.168.10.10 and all hosts on the 192.168.20.0/24 network out interface serial 0/1/0 on router R1.</a:t>
            </a:r>
          </a:p>
        </p:txBody>
      </p:sp>
      <p:pic>
        <p:nvPicPr>
          <p:cNvPr id="2" name="Picture 1">
            <a:extLst>
              <a:ext uri="{FF2B5EF4-FFF2-40B4-BE49-F238E27FC236}">
                <a16:creationId xmlns:a16="http://schemas.microsoft.com/office/drawing/2014/main" id="{A5B847BE-4303-4C84-B954-03A849734554}"/>
              </a:ext>
            </a:extLst>
          </p:cNvPr>
          <p:cNvPicPr>
            <a:picLocks noChangeAspect="1"/>
          </p:cNvPicPr>
          <p:nvPr/>
        </p:nvPicPr>
        <p:blipFill>
          <a:blip r:embed="rId4"/>
          <a:stretch>
            <a:fillRect/>
          </a:stretch>
        </p:blipFill>
        <p:spPr>
          <a:xfrm>
            <a:off x="4235278" y="1068200"/>
            <a:ext cx="4476750" cy="981075"/>
          </a:xfrm>
          <a:prstGeom prst="rect">
            <a:avLst/>
          </a:prstGeom>
        </p:spPr>
      </p:pic>
      <p:pic>
        <p:nvPicPr>
          <p:cNvPr id="6" name="Picture 5">
            <a:extLst>
              <a:ext uri="{FF2B5EF4-FFF2-40B4-BE49-F238E27FC236}">
                <a16:creationId xmlns:a16="http://schemas.microsoft.com/office/drawing/2014/main" id="{91B7D8A3-A922-4F88-A5D3-7B12DD42B042}"/>
              </a:ext>
            </a:extLst>
          </p:cNvPr>
          <p:cNvPicPr>
            <a:picLocks noChangeAspect="1"/>
          </p:cNvPicPr>
          <p:nvPr/>
        </p:nvPicPr>
        <p:blipFill>
          <a:blip r:embed="rId5"/>
          <a:stretch>
            <a:fillRect/>
          </a:stretch>
        </p:blipFill>
        <p:spPr>
          <a:xfrm>
            <a:off x="4235278" y="2060069"/>
            <a:ext cx="4476750" cy="1241937"/>
          </a:xfrm>
          <a:prstGeom prst="rect">
            <a:avLst/>
          </a:prstGeom>
        </p:spPr>
      </p:pic>
      <p:pic>
        <p:nvPicPr>
          <p:cNvPr id="7" name="Picture 6">
            <a:extLst>
              <a:ext uri="{FF2B5EF4-FFF2-40B4-BE49-F238E27FC236}">
                <a16:creationId xmlns:a16="http://schemas.microsoft.com/office/drawing/2014/main" id="{451FB69C-E0E2-4DFE-B95D-FC8FC384EE32}"/>
              </a:ext>
            </a:extLst>
          </p:cNvPr>
          <p:cNvPicPr>
            <a:picLocks noChangeAspect="1"/>
          </p:cNvPicPr>
          <p:nvPr/>
        </p:nvPicPr>
        <p:blipFill>
          <a:blip r:embed="rId6"/>
          <a:stretch>
            <a:fillRect/>
          </a:stretch>
        </p:blipFill>
        <p:spPr>
          <a:xfrm>
            <a:off x="4235278" y="3312799"/>
            <a:ext cx="4491454" cy="828895"/>
          </a:xfrm>
          <a:prstGeom prst="rect">
            <a:avLst/>
          </a:prstGeom>
        </p:spPr>
      </p:pic>
    </p:spTree>
    <p:custDataLst>
      <p:tags r:id="rId1"/>
    </p:custDataLst>
    <p:extLst>
      <p:ext uri="{BB962C8B-B14F-4D97-AF65-F5344CB8AC3E}">
        <p14:creationId xmlns:p14="http://schemas.microsoft.com/office/powerpoint/2010/main" val="1412532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144947" cy="3495517"/>
          </a:xfrm>
        </p:spPr>
        <p:txBody>
          <a:bodyPr/>
          <a:lstStyle/>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access-list</a:t>
            </a:r>
            <a:r>
              <a:rPr lang="en-US" sz="1600" dirty="0">
                <a:solidFill>
                  <a:srgbClr val="000000"/>
                </a:solidFill>
              </a:rPr>
              <a:t> command to review the ACL in the configuration.</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to verify the ACL is applied to the interface.</a:t>
            </a:r>
          </a:p>
        </p:txBody>
      </p:sp>
      <p:pic>
        <p:nvPicPr>
          <p:cNvPr id="2" name="Picture 1">
            <a:extLst>
              <a:ext uri="{FF2B5EF4-FFF2-40B4-BE49-F238E27FC236}">
                <a16:creationId xmlns:a16="http://schemas.microsoft.com/office/drawing/2014/main" id="{4FBB887C-E25C-41B5-ABEC-EC94D2BBF135}"/>
              </a:ext>
            </a:extLst>
          </p:cNvPr>
          <p:cNvPicPr>
            <a:picLocks noChangeAspect="1"/>
          </p:cNvPicPr>
          <p:nvPr/>
        </p:nvPicPr>
        <p:blipFill>
          <a:blip r:embed="rId4"/>
          <a:stretch>
            <a:fillRect/>
          </a:stretch>
        </p:blipFill>
        <p:spPr>
          <a:xfrm>
            <a:off x="4411663" y="946056"/>
            <a:ext cx="3933825" cy="2085975"/>
          </a:xfrm>
          <a:prstGeom prst="rect">
            <a:avLst/>
          </a:prstGeom>
        </p:spPr>
      </p:pic>
      <p:pic>
        <p:nvPicPr>
          <p:cNvPr id="7" name="Picture 6">
            <a:extLst>
              <a:ext uri="{FF2B5EF4-FFF2-40B4-BE49-F238E27FC236}">
                <a16:creationId xmlns:a16="http://schemas.microsoft.com/office/drawing/2014/main" id="{CEABDCFD-A6AD-43BA-95A3-2D8D6A3F42F8}"/>
              </a:ext>
            </a:extLst>
          </p:cNvPr>
          <p:cNvPicPr>
            <a:picLocks noChangeAspect="1"/>
          </p:cNvPicPr>
          <p:nvPr/>
        </p:nvPicPr>
        <p:blipFill>
          <a:blip r:embed="rId5"/>
          <a:stretch>
            <a:fillRect/>
          </a:stretch>
        </p:blipFill>
        <p:spPr>
          <a:xfrm>
            <a:off x="4411663" y="3061006"/>
            <a:ext cx="3933825" cy="1136438"/>
          </a:xfrm>
          <a:prstGeom prst="rect">
            <a:avLst/>
          </a:prstGeom>
        </p:spPr>
      </p:pic>
    </p:spTree>
    <p:custDataLst>
      <p:tags r:id="rId1"/>
    </p:custDataLst>
    <p:extLst>
      <p:ext uri="{BB962C8B-B14F-4D97-AF65-F5344CB8AC3E}">
        <p14:creationId xmlns:p14="http://schemas.microsoft.com/office/powerpoint/2010/main" val="91808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5.2 Modify IPv4 ACLs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Two Methods to Modify an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After an ACL is configured, it may need to be modified. ACLs with multiple ACEs can be complex to configure. Sometimes the configured ACE does not yield the expected behaviors. </a:t>
            </a:r>
          </a:p>
          <a:p>
            <a:pPr marL="0" indent="0" algn="l"/>
            <a:r>
              <a:rPr lang="en-US" sz="1600" dirty="0">
                <a:solidFill>
                  <a:srgbClr val="000000"/>
                </a:solidFill>
              </a:rPr>
              <a:t>There are two methods to use when modifying an ACL:</a:t>
            </a:r>
          </a:p>
          <a:p>
            <a:pPr marL="358835" lvl="1" indent="-285750">
              <a:buFont typeface="Arial" panose="020B0604020202020204" pitchFamily="34" charset="0"/>
              <a:buChar char="•"/>
            </a:pPr>
            <a:r>
              <a:rPr lang="en-US" sz="1600" dirty="0">
                <a:solidFill>
                  <a:srgbClr val="000000"/>
                </a:solidFill>
              </a:rPr>
              <a:t>Use a text editor.</a:t>
            </a:r>
          </a:p>
          <a:p>
            <a:pPr marL="358835" lvl="1" indent="-285750">
              <a:buFont typeface="Arial" panose="020B0604020202020204" pitchFamily="34" charset="0"/>
              <a:buChar char="•"/>
            </a:pPr>
            <a:r>
              <a:rPr lang="en-US" sz="1600" dirty="0">
                <a:solidFill>
                  <a:srgbClr val="000000"/>
                </a:solidFill>
              </a:rPr>
              <a:t>Use sequence numbers.</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27968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Text Editor Method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212279"/>
          </a:xfrm>
        </p:spPr>
        <p:txBody>
          <a:bodyPr/>
          <a:lstStyle/>
          <a:p>
            <a:pPr marL="0" indent="0" algn="l"/>
            <a:r>
              <a:rPr lang="en-US" sz="1600" dirty="0">
                <a:solidFill>
                  <a:srgbClr val="000000"/>
                </a:solidFill>
              </a:rPr>
              <a:t>ACLs with multiple ACEs should be created in a text editor. This allows you to plan the required ACEs, create the ACL, and then paste it into the router interface. It also simplifies the tasks to edit and fix an ACL.</a:t>
            </a:r>
          </a:p>
          <a:p>
            <a:pPr marL="0" indent="0" algn="l"/>
            <a:r>
              <a:rPr lang="en-US" sz="1600" dirty="0">
                <a:solidFill>
                  <a:srgbClr val="000000"/>
                </a:solidFill>
              </a:rPr>
              <a:t>To correct an error in an ACL:</a:t>
            </a:r>
          </a:p>
          <a:p>
            <a:pPr marL="358835" lvl="1" indent="-285750">
              <a:buFont typeface="Arial" panose="020B0604020202020204" pitchFamily="34" charset="0"/>
              <a:buChar char="•"/>
            </a:pPr>
            <a:r>
              <a:rPr lang="en-US" dirty="0">
                <a:solidFill>
                  <a:srgbClr val="000000"/>
                </a:solidFill>
              </a:rPr>
              <a:t>Copy the ACL from the running configuration and paste it into the text editor.</a:t>
            </a:r>
          </a:p>
          <a:p>
            <a:pPr marL="358835" lvl="1" indent="-285750">
              <a:buFont typeface="Arial" panose="020B0604020202020204" pitchFamily="34" charset="0"/>
              <a:buChar char="•"/>
            </a:pPr>
            <a:r>
              <a:rPr lang="en-US" dirty="0">
                <a:solidFill>
                  <a:srgbClr val="000000"/>
                </a:solidFill>
              </a:rPr>
              <a:t>Make the necessary edits or changes.</a:t>
            </a:r>
          </a:p>
          <a:p>
            <a:pPr marL="358835" lvl="1" indent="-285750">
              <a:buFont typeface="Arial" panose="020B0604020202020204" pitchFamily="34" charset="0"/>
              <a:buChar char="•"/>
            </a:pPr>
            <a:r>
              <a:rPr lang="en-US" dirty="0">
                <a:solidFill>
                  <a:srgbClr val="000000"/>
                </a:solidFill>
              </a:rPr>
              <a:t>Remove the previously configured ACL on the router.</a:t>
            </a:r>
          </a:p>
          <a:p>
            <a:pPr marL="358835" lvl="1" indent="-285750">
              <a:buFont typeface="Arial" panose="020B0604020202020204" pitchFamily="34" charset="0"/>
              <a:buChar char="•"/>
            </a:pPr>
            <a:r>
              <a:rPr lang="en-US" dirty="0">
                <a:solidFill>
                  <a:srgbClr val="000000"/>
                </a:solidFill>
              </a:rPr>
              <a:t>Copy and paste the edited ACL back to the router.</a:t>
            </a: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8A0E04A2-18D2-436D-9425-46AEAFDE79CB}"/>
              </a:ext>
            </a:extLst>
          </p:cNvPr>
          <p:cNvPicPr>
            <a:picLocks noChangeAspect="1"/>
          </p:cNvPicPr>
          <p:nvPr/>
        </p:nvPicPr>
        <p:blipFill>
          <a:blip r:embed="rId4"/>
          <a:stretch>
            <a:fillRect/>
          </a:stretch>
        </p:blipFill>
        <p:spPr>
          <a:xfrm>
            <a:off x="2500310" y="3067698"/>
            <a:ext cx="4143375" cy="790575"/>
          </a:xfrm>
          <a:prstGeom prst="rect">
            <a:avLst/>
          </a:prstGeom>
        </p:spPr>
      </p:pic>
      <p:pic>
        <p:nvPicPr>
          <p:cNvPr id="6" name="Picture 5">
            <a:extLst>
              <a:ext uri="{FF2B5EF4-FFF2-40B4-BE49-F238E27FC236}">
                <a16:creationId xmlns:a16="http://schemas.microsoft.com/office/drawing/2014/main" id="{8AC0954E-7108-4572-83EF-F45EB3FC7569}"/>
              </a:ext>
            </a:extLst>
          </p:cNvPr>
          <p:cNvPicPr>
            <a:picLocks noChangeAspect="1"/>
          </p:cNvPicPr>
          <p:nvPr/>
        </p:nvPicPr>
        <p:blipFill>
          <a:blip r:embed="rId5"/>
          <a:stretch>
            <a:fillRect/>
          </a:stretch>
        </p:blipFill>
        <p:spPr>
          <a:xfrm>
            <a:off x="2500311" y="3929365"/>
            <a:ext cx="4143375" cy="974355"/>
          </a:xfrm>
          <a:prstGeom prst="rect">
            <a:avLst/>
          </a:prstGeom>
        </p:spPr>
      </p:pic>
    </p:spTree>
    <p:custDataLst>
      <p:tags r:id="rId1"/>
    </p:custDataLst>
    <p:extLst>
      <p:ext uri="{BB962C8B-B14F-4D97-AF65-F5344CB8AC3E}">
        <p14:creationId xmlns:p14="http://schemas.microsoft.com/office/powerpoint/2010/main" val="146105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Sequence Number Method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229676" cy="3073946"/>
          </a:xfrm>
        </p:spPr>
        <p:txBody>
          <a:bodyPr/>
          <a:lstStyle/>
          <a:p>
            <a:pPr marL="0" indent="0" algn="l"/>
            <a:r>
              <a:rPr lang="en-US" sz="1600" dirty="0">
                <a:solidFill>
                  <a:srgbClr val="000000"/>
                </a:solidFill>
              </a:rPr>
              <a:t>An ACL ACE can be deleted or added using the ACL sequence numbers.</a:t>
            </a:r>
          </a:p>
          <a:p>
            <a:pPr marL="285750" indent="-285750" algn="l">
              <a:buFont typeface="Arial" panose="020B0604020202020204" pitchFamily="34" charset="0"/>
              <a:buChar char="•"/>
            </a:pPr>
            <a:r>
              <a:rPr lang="en-US" sz="1600" dirty="0">
                <a:solidFill>
                  <a:srgbClr val="000000"/>
                </a:solidFill>
              </a:rPr>
              <a:t>Use the </a:t>
            </a:r>
            <a:r>
              <a:rPr lang="en-US" sz="1600" b="1" dirty="0" err="1">
                <a:solidFill>
                  <a:srgbClr val="000000"/>
                </a:solidFill>
              </a:rPr>
              <a:t>ip</a:t>
            </a:r>
            <a:r>
              <a:rPr lang="en-US" sz="1600" b="1" dirty="0">
                <a:solidFill>
                  <a:srgbClr val="000000"/>
                </a:solidFill>
              </a:rPr>
              <a:t> access-list standard</a:t>
            </a:r>
            <a:r>
              <a:rPr lang="en-US" sz="1600" dirty="0">
                <a:solidFill>
                  <a:srgbClr val="000000"/>
                </a:solidFill>
              </a:rPr>
              <a:t> command to edit an ACL. </a:t>
            </a:r>
          </a:p>
          <a:p>
            <a:pPr marL="285750" indent="-285750" algn="l">
              <a:buFont typeface="Arial" panose="020B0604020202020204" pitchFamily="34" charset="0"/>
              <a:buChar char="•"/>
            </a:pPr>
            <a:r>
              <a:rPr lang="en-US" sz="1600" dirty="0">
                <a:solidFill>
                  <a:srgbClr val="000000"/>
                </a:solidFill>
              </a:rPr>
              <a:t>Statements cannot be overwritten using an existing sequence number. The current statement must be deleted first with the </a:t>
            </a:r>
            <a:r>
              <a:rPr lang="en-US" sz="1600" b="1" dirty="0">
                <a:solidFill>
                  <a:srgbClr val="000000"/>
                </a:solidFill>
              </a:rPr>
              <a:t>no 10</a:t>
            </a:r>
            <a:r>
              <a:rPr lang="en-US" sz="1600" dirty="0">
                <a:solidFill>
                  <a:srgbClr val="000000"/>
                </a:solidFill>
              </a:rPr>
              <a:t> command. Then the correct ACE can be added using sequence number.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A36AF0E4-C501-487A-BE81-3C615B244553}"/>
              </a:ext>
            </a:extLst>
          </p:cNvPr>
          <p:cNvPicPr>
            <a:picLocks noChangeAspect="1"/>
          </p:cNvPicPr>
          <p:nvPr/>
        </p:nvPicPr>
        <p:blipFill>
          <a:blip r:embed="rId4"/>
          <a:stretch>
            <a:fillRect/>
          </a:stretch>
        </p:blipFill>
        <p:spPr>
          <a:xfrm>
            <a:off x="4778203" y="875692"/>
            <a:ext cx="3933825" cy="952500"/>
          </a:xfrm>
          <a:prstGeom prst="rect">
            <a:avLst/>
          </a:prstGeom>
        </p:spPr>
      </p:pic>
      <p:pic>
        <p:nvPicPr>
          <p:cNvPr id="6" name="Picture 5">
            <a:extLst>
              <a:ext uri="{FF2B5EF4-FFF2-40B4-BE49-F238E27FC236}">
                <a16:creationId xmlns:a16="http://schemas.microsoft.com/office/drawing/2014/main" id="{BF5389D6-EE99-4FDA-916D-14E67A5CD925}"/>
              </a:ext>
            </a:extLst>
          </p:cNvPr>
          <p:cNvPicPr>
            <a:picLocks noChangeAspect="1"/>
          </p:cNvPicPr>
          <p:nvPr/>
        </p:nvPicPr>
        <p:blipFill>
          <a:blip r:embed="rId5"/>
          <a:stretch>
            <a:fillRect/>
          </a:stretch>
        </p:blipFill>
        <p:spPr>
          <a:xfrm>
            <a:off x="4778203" y="1972047"/>
            <a:ext cx="3933825" cy="1957318"/>
          </a:xfrm>
          <a:prstGeom prst="rect">
            <a:avLst/>
          </a:prstGeom>
        </p:spPr>
      </p:pic>
    </p:spTree>
    <p:custDataLst>
      <p:tags r:id="rId1"/>
    </p:custDataLst>
    <p:extLst>
      <p:ext uri="{BB962C8B-B14F-4D97-AF65-F5344CB8AC3E}">
        <p14:creationId xmlns:p14="http://schemas.microsoft.com/office/powerpoint/2010/main" val="305624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Modify a Named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8280057" cy="731838"/>
          </a:xfrm>
        </p:spPr>
        <p:txBody>
          <a:bodyPr/>
          <a:lstStyle/>
          <a:p>
            <a:pPr marL="0" indent="0" algn="l"/>
            <a:r>
              <a:rPr lang="en-US" sz="1600" dirty="0">
                <a:solidFill>
                  <a:srgbClr val="000000"/>
                </a:solidFill>
              </a:rPr>
              <a:t>Named ACLs can also use sequence numbers to delete and add ACEs. In the example an ACE is added to deny hosts 192.168.10.11.</a:t>
            </a:r>
            <a:endParaRPr lang="en-US" sz="14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0B88ECA7-FA3D-4C9D-8AFA-6D3535947AF9}"/>
              </a:ext>
            </a:extLst>
          </p:cNvPr>
          <p:cNvPicPr>
            <a:picLocks noChangeAspect="1"/>
          </p:cNvPicPr>
          <p:nvPr/>
        </p:nvPicPr>
        <p:blipFill>
          <a:blip r:embed="rId4"/>
          <a:stretch>
            <a:fillRect/>
          </a:stretch>
        </p:blipFill>
        <p:spPr>
          <a:xfrm>
            <a:off x="528636" y="1587258"/>
            <a:ext cx="4114800" cy="828881"/>
          </a:xfrm>
          <a:prstGeom prst="rect">
            <a:avLst/>
          </a:prstGeom>
        </p:spPr>
      </p:pic>
      <p:sp>
        <p:nvSpPr>
          <p:cNvPr id="2" name="BlokTextu 1">
            <a:extLst>
              <a:ext uri="{FF2B5EF4-FFF2-40B4-BE49-F238E27FC236}">
                <a16:creationId xmlns:a16="http://schemas.microsoft.com/office/drawing/2014/main" id="{803C32F1-27DB-BF49-9020-0E4EE7604E73}"/>
              </a:ext>
            </a:extLst>
          </p:cNvPr>
          <p:cNvSpPr txBox="1"/>
          <p:nvPr/>
        </p:nvSpPr>
        <p:spPr>
          <a:xfrm>
            <a:off x="457199" y="2465561"/>
            <a:ext cx="4114800" cy="2308324"/>
          </a:xfrm>
          <a:prstGeom prst="rect">
            <a:avLst/>
          </a:prstGeom>
          <a:noFill/>
        </p:spPr>
        <p:txBody>
          <a:bodyPr wrap="square" rtlCol="0">
            <a:spAutoFit/>
          </a:bodyPr>
          <a:lstStyle/>
          <a:p>
            <a:r>
              <a:rPr lang="sk-SK" sz="1200" dirty="0"/>
              <a:t>Router(</a:t>
            </a:r>
            <a:r>
              <a:rPr lang="sk-SK" sz="1200" dirty="0" err="1"/>
              <a:t>config</a:t>
            </a:r>
            <a:r>
              <a:rPr lang="sk-SK" sz="1200" dirty="0"/>
              <a:t>)#</a:t>
            </a:r>
            <a:r>
              <a:rPr lang="sk-SK" sz="1200" dirty="0" err="1"/>
              <a:t>ip</a:t>
            </a:r>
            <a:r>
              <a:rPr lang="sk-SK" sz="1200" dirty="0"/>
              <a:t> </a:t>
            </a:r>
            <a:r>
              <a:rPr lang="sk-SK" sz="1200" dirty="0" err="1"/>
              <a:t>access</a:t>
            </a:r>
            <a:r>
              <a:rPr lang="sk-SK" sz="1200" dirty="0"/>
              <a:t>-list </a:t>
            </a:r>
            <a:r>
              <a:rPr lang="sk-SK" sz="1200" dirty="0" err="1"/>
              <a:t>standard</a:t>
            </a:r>
            <a:r>
              <a:rPr lang="sk-SK" sz="1200" dirty="0"/>
              <a:t> NO-ACCESS</a:t>
            </a:r>
          </a:p>
          <a:p>
            <a:r>
              <a:rPr lang="sk-SK" sz="1200" dirty="0"/>
              <a:t>Router(</a:t>
            </a:r>
            <a:r>
              <a:rPr lang="sk-SK" sz="1200" dirty="0" err="1"/>
              <a:t>config-std-nacl</a:t>
            </a:r>
            <a:r>
              <a:rPr lang="sk-SK" sz="1200" dirty="0"/>
              <a:t>)#15 </a:t>
            </a:r>
            <a:r>
              <a:rPr lang="sk-SK" sz="1200" dirty="0" err="1"/>
              <a:t>deny</a:t>
            </a:r>
            <a:r>
              <a:rPr lang="sk-SK" sz="1200" dirty="0"/>
              <a:t> </a:t>
            </a:r>
            <a:r>
              <a:rPr lang="sk-SK" sz="1200" dirty="0" err="1"/>
              <a:t>host</a:t>
            </a:r>
            <a:r>
              <a:rPr lang="sk-SK" sz="1200" dirty="0"/>
              <a:t> 192.168.10.5</a:t>
            </a:r>
          </a:p>
          <a:p>
            <a:r>
              <a:rPr lang="sk-SK" sz="1200" dirty="0"/>
              <a:t>Router(</a:t>
            </a:r>
            <a:r>
              <a:rPr lang="sk-SK" sz="1200" dirty="0" err="1"/>
              <a:t>config-std-nacl</a:t>
            </a:r>
            <a:r>
              <a:rPr lang="sk-SK" sz="1200" dirty="0"/>
              <a:t>)#end</a:t>
            </a:r>
          </a:p>
          <a:p>
            <a:endParaRPr lang="sk-SK" sz="1200" dirty="0"/>
          </a:p>
          <a:p>
            <a:r>
              <a:rPr lang="sk-SK" sz="1200" dirty="0" err="1"/>
              <a:t>Router#sh</a:t>
            </a:r>
            <a:r>
              <a:rPr lang="sk-SK" sz="1200" dirty="0"/>
              <a:t> </a:t>
            </a:r>
            <a:r>
              <a:rPr lang="sk-SK" sz="1200" dirty="0" err="1"/>
              <a:t>access-lists</a:t>
            </a:r>
            <a:r>
              <a:rPr lang="sk-SK" sz="1200" dirty="0"/>
              <a:t> </a:t>
            </a:r>
          </a:p>
          <a:p>
            <a:r>
              <a:rPr lang="sk-SK" sz="1200" dirty="0"/>
              <a:t>Standard IP </a:t>
            </a:r>
            <a:r>
              <a:rPr lang="sk-SK" sz="1200" dirty="0" err="1"/>
              <a:t>access</a:t>
            </a:r>
            <a:r>
              <a:rPr lang="sk-SK" sz="1200" dirty="0"/>
              <a:t> list NO-ACCESS</a:t>
            </a:r>
          </a:p>
          <a:p>
            <a:r>
              <a:rPr lang="sk-SK" sz="1200" dirty="0"/>
              <a:t>10 </a:t>
            </a:r>
            <a:r>
              <a:rPr lang="sk-SK" sz="1200" dirty="0" err="1"/>
              <a:t>deny</a:t>
            </a:r>
            <a:r>
              <a:rPr lang="sk-SK" sz="1200" dirty="0"/>
              <a:t> </a:t>
            </a:r>
            <a:r>
              <a:rPr lang="sk-SK" sz="1200" dirty="0" err="1"/>
              <a:t>host</a:t>
            </a:r>
            <a:r>
              <a:rPr lang="sk-SK" sz="1200" dirty="0"/>
              <a:t> 192.168.10.10</a:t>
            </a:r>
          </a:p>
          <a:p>
            <a:r>
              <a:rPr lang="sk-SK" sz="1200" dirty="0"/>
              <a:t>15 </a:t>
            </a:r>
            <a:r>
              <a:rPr lang="sk-SK" sz="1200" dirty="0" err="1"/>
              <a:t>deny</a:t>
            </a:r>
            <a:r>
              <a:rPr lang="sk-SK" sz="1200" dirty="0"/>
              <a:t> </a:t>
            </a:r>
            <a:r>
              <a:rPr lang="sk-SK" sz="1200" dirty="0" err="1"/>
              <a:t>host</a:t>
            </a:r>
            <a:r>
              <a:rPr lang="sk-SK" sz="1200" dirty="0"/>
              <a:t> 192.168.10.5</a:t>
            </a:r>
          </a:p>
          <a:p>
            <a:r>
              <a:rPr lang="sk-SK" sz="1200" dirty="0"/>
              <a:t>20 </a:t>
            </a:r>
            <a:r>
              <a:rPr lang="sk-SK" sz="1200" dirty="0" err="1"/>
              <a:t>permit</a:t>
            </a:r>
            <a:r>
              <a:rPr lang="sk-SK" sz="1200" dirty="0"/>
              <a:t> 192.168.10.0 0.0.0.255</a:t>
            </a:r>
          </a:p>
          <a:p>
            <a:endParaRPr lang="sk-SK" sz="1200" dirty="0"/>
          </a:p>
          <a:p>
            <a:r>
              <a:rPr lang="sk-SK" sz="1200" dirty="0"/>
              <a:t>Router(</a:t>
            </a:r>
            <a:r>
              <a:rPr lang="sk-SK" sz="1200" dirty="0" err="1"/>
              <a:t>config</a:t>
            </a:r>
            <a:r>
              <a:rPr lang="sk-SK" sz="1200" dirty="0"/>
              <a:t>)# </a:t>
            </a:r>
            <a:r>
              <a:rPr lang="sk-SK" sz="1200" dirty="0" err="1"/>
              <a:t>ip</a:t>
            </a:r>
            <a:r>
              <a:rPr lang="sk-SK" sz="1200" dirty="0"/>
              <a:t> </a:t>
            </a:r>
            <a:r>
              <a:rPr lang="sk-SK" sz="1200" dirty="0" err="1"/>
              <a:t>access</a:t>
            </a:r>
            <a:r>
              <a:rPr lang="sk-SK" sz="1200" dirty="0"/>
              <a:t>-list </a:t>
            </a:r>
            <a:r>
              <a:rPr lang="sk-SK" sz="1200" dirty="0" err="1"/>
              <a:t>standard</a:t>
            </a:r>
            <a:r>
              <a:rPr lang="sk-SK" sz="1200" dirty="0"/>
              <a:t> NO-ACCESS</a:t>
            </a:r>
          </a:p>
          <a:p>
            <a:r>
              <a:rPr lang="sk-SK" sz="1200" dirty="0"/>
              <a:t>Router(</a:t>
            </a:r>
            <a:r>
              <a:rPr lang="sk-SK" sz="1200" dirty="0" err="1"/>
              <a:t>config</a:t>
            </a:r>
            <a:r>
              <a:rPr lang="sk-SK" sz="1200" dirty="0"/>
              <a:t>)# no 15</a:t>
            </a:r>
            <a:endParaRPr lang="en-US" dirty="0"/>
          </a:p>
        </p:txBody>
      </p:sp>
      <p:sp>
        <p:nvSpPr>
          <p:cNvPr id="6" name="BlokTextu 5">
            <a:extLst>
              <a:ext uri="{FF2B5EF4-FFF2-40B4-BE49-F238E27FC236}">
                <a16:creationId xmlns:a16="http://schemas.microsoft.com/office/drawing/2014/main" id="{AA417D03-6A02-9BFC-8E67-6528F9F82949}"/>
              </a:ext>
            </a:extLst>
          </p:cNvPr>
          <p:cNvSpPr txBox="1"/>
          <p:nvPr/>
        </p:nvSpPr>
        <p:spPr>
          <a:xfrm>
            <a:off x="4571999" y="2507226"/>
            <a:ext cx="4465733" cy="738664"/>
          </a:xfrm>
          <a:prstGeom prst="rect">
            <a:avLst/>
          </a:prstGeom>
          <a:noFill/>
        </p:spPr>
        <p:txBody>
          <a:bodyPr wrap="square" rtlCol="0">
            <a:spAutoFit/>
          </a:bodyPr>
          <a:lstStyle/>
          <a:p>
            <a:r>
              <a:rPr lang="sk-SK" sz="1200" dirty="0"/>
              <a:t>Prečíslovanie ACL od 10 s </a:t>
            </a:r>
            <a:r>
              <a:rPr lang="sk-SK" sz="1200" dirty="0" err="1"/>
              <a:t>inkrementom</a:t>
            </a:r>
            <a:r>
              <a:rPr lang="sk-SK" sz="1200" dirty="0"/>
              <a:t> 10</a:t>
            </a:r>
          </a:p>
          <a:p>
            <a:r>
              <a:rPr lang="sk-SK" sz="1200" dirty="0"/>
              <a:t>Router(</a:t>
            </a:r>
            <a:r>
              <a:rPr lang="sk-SK" sz="1200" dirty="0" err="1"/>
              <a:t>config</a:t>
            </a:r>
            <a:r>
              <a:rPr lang="sk-SK" sz="1200" dirty="0"/>
              <a:t>)# </a:t>
            </a:r>
            <a:r>
              <a:rPr lang="sk-SK" sz="1200" dirty="0" err="1"/>
              <a:t>ip</a:t>
            </a:r>
            <a:r>
              <a:rPr lang="sk-SK" sz="1200" dirty="0"/>
              <a:t> </a:t>
            </a:r>
            <a:r>
              <a:rPr lang="sk-SK" sz="1200" dirty="0" err="1"/>
              <a:t>access</a:t>
            </a:r>
            <a:r>
              <a:rPr lang="sk-SK" sz="1200" dirty="0"/>
              <a:t>-list </a:t>
            </a:r>
            <a:r>
              <a:rPr lang="sk-SK" sz="1200" dirty="0" err="1"/>
              <a:t>resequence</a:t>
            </a:r>
            <a:r>
              <a:rPr lang="sk-SK" sz="1200" dirty="0"/>
              <a:t> NO-ACCESS 10 10</a:t>
            </a:r>
          </a:p>
          <a:p>
            <a:endParaRPr lang="sk-SK" dirty="0"/>
          </a:p>
        </p:txBody>
      </p:sp>
    </p:spTree>
    <p:custDataLst>
      <p:tags r:id="rId1"/>
    </p:custDataLst>
    <p:extLst>
      <p:ext uri="{BB962C8B-B14F-4D97-AF65-F5344CB8AC3E}">
        <p14:creationId xmlns:p14="http://schemas.microsoft.com/office/powerpoint/2010/main" val="712535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ACL Statistics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marL="0" indent="0" algn="l"/>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in the example shows statistics for each statement that has been matched. </a:t>
            </a:r>
          </a:p>
          <a:p>
            <a:pPr marL="285750" indent="-285750" algn="l">
              <a:buFont typeface="Arial" panose="020B0604020202020204" pitchFamily="34" charset="0"/>
              <a:buChar char="•"/>
            </a:pPr>
            <a:r>
              <a:rPr lang="en-US" sz="1400" dirty="0">
                <a:solidFill>
                  <a:srgbClr val="000000"/>
                </a:solidFill>
              </a:rPr>
              <a:t>The deny ACE has been matched 20 times and the permit ACE has been matched 64 times.</a:t>
            </a:r>
          </a:p>
          <a:p>
            <a:pPr marL="285750" indent="-285750" algn="l">
              <a:buFont typeface="Arial" panose="020B0604020202020204" pitchFamily="34" charset="0"/>
              <a:buChar char="•"/>
            </a:pPr>
            <a:r>
              <a:rPr lang="en-US" sz="1400" dirty="0">
                <a:solidFill>
                  <a:srgbClr val="000000"/>
                </a:solidFill>
              </a:rPr>
              <a:t>Note that the implied deny any statement does not display any statistics. To track how many implicit denied packets have been matched, you must manually configure the </a:t>
            </a:r>
            <a:r>
              <a:rPr lang="en-US" sz="1400" b="1" dirty="0">
                <a:solidFill>
                  <a:srgbClr val="000000"/>
                </a:solidFill>
              </a:rPr>
              <a:t>deny any</a:t>
            </a:r>
            <a:r>
              <a:rPr lang="en-US" sz="1400" dirty="0">
                <a:solidFill>
                  <a:srgbClr val="000000"/>
                </a:solidFill>
              </a:rPr>
              <a:t> command.</a:t>
            </a:r>
          </a:p>
          <a:p>
            <a:pPr marL="285750" indent="-285750" algn="l">
              <a:buFont typeface="Arial" panose="020B0604020202020204" pitchFamily="34" charset="0"/>
              <a:buChar char="•"/>
            </a:pPr>
            <a:r>
              <a:rPr lang="en-US" sz="1400" dirty="0">
                <a:solidFill>
                  <a:srgbClr val="000000"/>
                </a:solidFill>
              </a:rPr>
              <a:t>Use the </a:t>
            </a:r>
            <a:r>
              <a:rPr lang="en-US" sz="1400" b="1" dirty="0">
                <a:solidFill>
                  <a:srgbClr val="000000"/>
                </a:solidFill>
              </a:rPr>
              <a:t>clear access-list counters</a:t>
            </a:r>
            <a:r>
              <a:rPr lang="en-US" sz="1400" dirty="0">
                <a:solidFill>
                  <a:srgbClr val="000000"/>
                </a:solidFill>
              </a:rPr>
              <a:t> command to clear the ACL statistics.</a:t>
            </a:r>
          </a:p>
        </p:txBody>
      </p:sp>
      <p:pic>
        <p:nvPicPr>
          <p:cNvPr id="5" name="Picture 4">
            <a:extLst>
              <a:ext uri="{FF2B5EF4-FFF2-40B4-BE49-F238E27FC236}">
                <a16:creationId xmlns:a16="http://schemas.microsoft.com/office/drawing/2014/main" id="{B731C286-09A7-4838-AAC7-41EFCC4CC61B}"/>
              </a:ext>
            </a:extLst>
          </p:cNvPr>
          <p:cNvPicPr>
            <a:picLocks noChangeAspect="1"/>
          </p:cNvPicPr>
          <p:nvPr/>
        </p:nvPicPr>
        <p:blipFill>
          <a:blip r:embed="rId4"/>
          <a:stretch>
            <a:fillRect/>
          </a:stretch>
        </p:blipFill>
        <p:spPr>
          <a:xfrm>
            <a:off x="2147886" y="2571750"/>
            <a:ext cx="4848225" cy="1943100"/>
          </a:xfrm>
          <a:prstGeom prst="rect">
            <a:avLst/>
          </a:prstGeom>
        </p:spPr>
      </p:pic>
    </p:spTree>
    <p:custDataLst>
      <p:tags r:id="rId1"/>
    </p:custDataLst>
    <p:extLst>
      <p:ext uri="{BB962C8B-B14F-4D97-AF65-F5344CB8AC3E}">
        <p14:creationId xmlns:p14="http://schemas.microsoft.com/office/powerpoint/2010/main" val="287970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5.3 Secure VTY Ports with a Standard IPv4 ACL</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The access-class Command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58576"/>
          </a:xfrm>
        </p:spPr>
        <p:txBody>
          <a:bodyPr/>
          <a:lstStyle/>
          <a:p>
            <a:pPr marL="0" indent="0" algn="l"/>
            <a:r>
              <a:rPr lang="en-US" sz="1600" dirty="0">
                <a:solidFill>
                  <a:srgbClr val="000000"/>
                </a:solidFill>
              </a:rPr>
              <a:t>A standard ACL can secure remote administrative access to a device using the vty lines by implementing the following two steps:</a:t>
            </a:r>
          </a:p>
          <a:p>
            <a:pPr marL="285750" indent="-285750" algn="l">
              <a:buFont typeface="Arial" panose="020B0604020202020204" pitchFamily="34" charset="0"/>
              <a:buChar char="•"/>
            </a:pPr>
            <a:r>
              <a:rPr lang="en-US" sz="1400" dirty="0">
                <a:solidFill>
                  <a:srgbClr val="000000"/>
                </a:solidFill>
              </a:rPr>
              <a:t>Create an ACL to identify which administrative hosts should be allowed remote access.</a:t>
            </a:r>
          </a:p>
          <a:p>
            <a:pPr marL="285750" indent="-285750" algn="l">
              <a:buFont typeface="Arial" panose="020B0604020202020204" pitchFamily="34" charset="0"/>
              <a:buChar char="•"/>
            </a:pPr>
            <a:r>
              <a:rPr lang="en-US" sz="1400" dirty="0">
                <a:solidFill>
                  <a:srgbClr val="000000"/>
                </a:solidFill>
              </a:rPr>
              <a:t>Apply the ACL to incoming traffic on the </a:t>
            </a:r>
            <a:r>
              <a:rPr lang="en-US" sz="1400" dirty="0" err="1">
                <a:solidFill>
                  <a:srgbClr val="000000"/>
                </a:solidFill>
              </a:rPr>
              <a:t>vty</a:t>
            </a:r>
            <a:r>
              <a:rPr lang="en-US" sz="1400" dirty="0">
                <a:solidFill>
                  <a:srgbClr val="000000"/>
                </a:solidFill>
              </a:rPr>
              <a:t> lines.</a:t>
            </a:r>
          </a:p>
          <a:p>
            <a:pPr marL="0" indent="0" algn="l"/>
            <a:endParaRPr lang="en-US" sz="14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07671A2C-FA52-454C-B26F-580839610121}"/>
              </a:ext>
            </a:extLst>
          </p:cNvPr>
          <p:cNvPicPr>
            <a:picLocks noChangeAspect="1"/>
          </p:cNvPicPr>
          <p:nvPr/>
        </p:nvPicPr>
        <p:blipFill>
          <a:blip r:embed="rId4"/>
          <a:stretch>
            <a:fillRect/>
          </a:stretch>
        </p:blipFill>
        <p:spPr>
          <a:xfrm>
            <a:off x="230605" y="2422281"/>
            <a:ext cx="8682790" cy="298938"/>
          </a:xfrm>
          <a:prstGeom prst="rect">
            <a:avLst/>
          </a:prstGeom>
        </p:spPr>
      </p:pic>
    </p:spTree>
    <p:custDataLst>
      <p:tags r:id="rId1"/>
    </p:custDataLst>
    <p:extLst>
      <p:ext uri="{BB962C8B-B14F-4D97-AF65-F5344CB8AC3E}">
        <p14:creationId xmlns:p14="http://schemas.microsoft.com/office/powerpoint/2010/main" val="385423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Secure VTY Access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230836"/>
          </a:xfrm>
        </p:spPr>
        <p:txBody>
          <a:bodyPr/>
          <a:lstStyle/>
          <a:p>
            <a:pPr marL="0" indent="0" algn="l"/>
            <a:r>
              <a:rPr lang="en-US" sz="1600" dirty="0">
                <a:solidFill>
                  <a:srgbClr val="000000"/>
                </a:solidFill>
              </a:rPr>
              <a:t>This example demonstrates how to configure an ACL to filter </a:t>
            </a:r>
            <a:r>
              <a:rPr lang="en-US" sz="1600" dirty="0" err="1">
                <a:solidFill>
                  <a:srgbClr val="000000"/>
                </a:solidFill>
              </a:rPr>
              <a:t>vty</a:t>
            </a:r>
            <a:r>
              <a:rPr lang="en-US" sz="1600" dirty="0">
                <a:solidFill>
                  <a:srgbClr val="000000"/>
                </a:solidFill>
              </a:rPr>
              <a:t> traffic.</a:t>
            </a:r>
          </a:p>
          <a:p>
            <a:pPr marL="285750" indent="-285750" algn="l">
              <a:buFont typeface="Arial" panose="020B0604020202020204" pitchFamily="34" charset="0"/>
              <a:buChar char="•"/>
            </a:pPr>
            <a:r>
              <a:rPr lang="en-US" sz="1600" dirty="0">
                <a:solidFill>
                  <a:srgbClr val="000000"/>
                </a:solidFill>
              </a:rPr>
              <a:t>First, a local database entry for a user </a:t>
            </a:r>
            <a:r>
              <a:rPr lang="en-US" sz="1600" b="1" dirty="0">
                <a:solidFill>
                  <a:srgbClr val="000000"/>
                </a:solidFill>
              </a:rPr>
              <a:t>ADMIN</a:t>
            </a:r>
            <a:r>
              <a:rPr lang="en-US" sz="1600" dirty="0">
                <a:solidFill>
                  <a:srgbClr val="000000"/>
                </a:solidFill>
              </a:rPr>
              <a:t> and password </a:t>
            </a:r>
            <a:r>
              <a:rPr lang="en-US" sz="1600" b="1" dirty="0">
                <a:solidFill>
                  <a:srgbClr val="000000"/>
                </a:solidFill>
              </a:rPr>
              <a:t>class </a:t>
            </a:r>
            <a:r>
              <a:rPr lang="en-US" sz="1600" dirty="0">
                <a:solidFill>
                  <a:srgbClr val="000000"/>
                </a:solidFill>
              </a:rPr>
              <a:t>is configured.</a:t>
            </a:r>
          </a:p>
          <a:p>
            <a:pPr marL="285750" indent="-285750" algn="l">
              <a:buFont typeface="Arial" panose="020B0604020202020204" pitchFamily="34" charset="0"/>
              <a:buChar char="•"/>
            </a:pPr>
            <a:r>
              <a:rPr lang="en-US" sz="1600" dirty="0">
                <a:solidFill>
                  <a:srgbClr val="000000"/>
                </a:solidFill>
              </a:rPr>
              <a:t>The </a:t>
            </a:r>
            <a:r>
              <a:rPr lang="en-US" sz="1600" dirty="0" err="1">
                <a:solidFill>
                  <a:srgbClr val="000000"/>
                </a:solidFill>
              </a:rPr>
              <a:t>vty</a:t>
            </a:r>
            <a:r>
              <a:rPr lang="en-US" sz="1600" dirty="0">
                <a:solidFill>
                  <a:srgbClr val="000000"/>
                </a:solidFill>
              </a:rPr>
              <a:t> lines on R1 are configured to use the local database for authentication, permit SSH traffic, and use the ADMIN-HOST ACL to restrict traffic.</a:t>
            </a: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499EEB-5FEB-4E4F-8891-8C0C13CFEE19}"/>
              </a:ext>
            </a:extLst>
          </p:cNvPr>
          <p:cNvPicPr>
            <a:picLocks noChangeAspect="1"/>
          </p:cNvPicPr>
          <p:nvPr/>
        </p:nvPicPr>
        <p:blipFill>
          <a:blip r:embed="rId4"/>
          <a:stretch>
            <a:fillRect/>
          </a:stretch>
        </p:blipFill>
        <p:spPr>
          <a:xfrm>
            <a:off x="2209799" y="2086255"/>
            <a:ext cx="4724400" cy="2333625"/>
          </a:xfrm>
          <a:prstGeom prst="rect">
            <a:avLst/>
          </a:prstGeom>
        </p:spPr>
      </p:pic>
      <p:sp>
        <p:nvSpPr>
          <p:cNvPr id="2" name="BlokTextu 1">
            <a:extLst>
              <a:ext uri="{FF2B5EF4-FFF2-40B4-BE49-F238E27FC236}">
                <a16:creationId xmlns:a16="http://schemas.microsoft.com/office/drawing/2014/main" id="{1C3868D3-C106-6AFD-99E2-F5ACFF1CFC95}"/>
              </a:ext>
            </a:extLst>
          </p:cNvPr>
          <p:cNvSpPr txBox="1"/>
          <p:nvPr/>
        </p:nvSpPr>
        <p:spPr>
          <a:xfrm>
            <a:off x="7155917" y="2619314"/>
            <a:ext cx="1556111" cy="1754326"/>
          </a:xfrm>
          <a:prstGeom prst="rect">
            <a:avLst/>
          </a:prstGeom>
          <a:noFill/>
        </p:spPr>
        <p:txBody>
          <a:bodyPr wrap="square" rtlCol="0">
            <a:spAutoFit/>
          </a:bodyPr>
          <a:lstStyle/>
          <a:p>
            <a:r>
              <a:rPr lang="sk-SK" b="1" dirty="0" err="1"/>
              <a:t>deny</a:t>
            </a:r>
            <a:r>
              <a:rPr lang="sk-SK" b="1" dirty="0"/>
              <a:t> </a:t>
            </a:r>
            <a:r>
              <a:rPr lang="sk-SK" b="1" dirty="0" err="1"/>
              <a:t>any</a:t>
            </a:r>
            <a:r>
              <a:rPr lang="sk-SK" b="1" dirty="0"/>
              <a:t> </a:t>
            </a:r>
            <a:r>
              <a:rPr lang="sk-SK" dirty="0"/>
              <a:t>– ak chceme vidieť zamietnuté pokusy o prístup</a:t>
            </a:r>
          </a:p>
        </p:txBody>
      </p:sp>
    </p:spTree>
    <p:custDataLst>
      <p:tags r:id="rId1"/>
    </p:custDataLst>
    <p:extLst>
      <p:ext uri="{BB962C8B-B14F-4D97-AF65-F5344CB8AC3E}">
        <p14:creationId xmlns:p14="http://schemas.microsoft.com/office/powerpoint/2010/main" val="195786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Verify the VTY Port is Secured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302421"/>
          </a:xfrm>
        </p:spPr>
        <p:txBody>
          <a:bodyPr/>
          <a:lstStyle/>
          <a:p>
            <a:pPr marL="0" indent="0" algn="l"/>
            <a:r>
              <a:rPr lang="en-US" sz="1600" dirty="0">
                <a:solidFill>
                  <a:srgbClr val="000000"/>
                </a:solidFill>
              </a:rPr>
              <a:t>After an ACL to restrict access to the </a:t>
            </a:r>
            <a:r>
              <a:rPr lang="en-US" sz="1600" dirty="0" err="1">
                <a:solidFill>
                  <a:srgbClr val="000000"/>
                </a:solidFill>
              </a:rPr>
              <a:t>vty</a:t>
            </a:r>
            <a:r>
              <a:rPr lang="en-US" sz="1600" dirty="0">
                <a:solidFill>
                  <a:srgbClr val="000000"/>
                </a:solidFill>
              </a:rPr>
              <a:t> lines is configured, it is important to verify it works as expected.</a:t>
            </a:r>
          </a:p>
          <a:p>
            <a:pPr marL="0" indent="0" algn="l"/>
            <a:endParaRPr lang="en-US" sz="1600" dirty="0">
              <a:solidFill>
                <a:srgbClr val="000000"/>
              </a:solidFill>
            </a:endParaRPr>
          </a:p>
          <a:p>
            <a:pPr marL="0" indent="0" algn="l"/>
            <a:r>
              <a:rPr lang="en-US" sz="1600" dirty="0">
                <a:solidFill>
                  <a:srgbClr val="000000"/>
                </a:solidFill>
              </a:rPr>
              <a:t>To verify the ACL statistics, issue the </a:t>
            </a:r>
            <a:r>
              <a:rPr lang="en-US" sz="1600" b="1" dirty="0">
                <a:solidFill>
                  <a:srgbClr val="000000"/>
                </a:solidFill>
              </a:rPr>
              <a:t>show access-lists</a:t>
            </a:r>
            <a:r>
              <a:rPr lang="en-US" sz="1600" dirty="0">
                <a:solidFill>
                  <a:srgbClr val="000000"/>
                </a:solidFill>
              </a:rPr>
              <a:t> command.</a:t>
            </a:r>
          </a:p>
          <a:p>
            <a:pPr marL="285750" indent="-285750" algn="l">
              <a:buFont typeface="Arial" panose="020B0604020202020204" pitchFamily="34" charset="0"/>
              <a:buChar char="•"/>
            </a:pPr>
            <a:r>
              <a:rPr lang="en-US" sz="1600" dirty="0">
                <a:solidFill>
                  <a:srgbClr val="000000"/>
                </a:solidFill>
              </a:rPr>
              <a:t>The match in the permit line of the output is a result of a successful Telnet connection by host with IP address 192.168.10.10. </a:t>
            </a:r>
          </a:p>
          <a:p>
            <a:pPr marL="285750" indent="-285750" algn="l">
              <a:buFont typeface="Arial" panose="020B0604020202020204" pitchFamily="34" charset="0"/>
              <a:buChar char="•"/>
            </a:pPr>
            <a:r>
              <a:rPr lang="en-US" sz="1600" dirty="0">
                <a:solidFill>
                  <a:srgbClr val="000000"/>
                </a:solidFill>
              </a:rPr>
              <a:t>The match in the deny statement is due to the failed attempt to create </a:t>
            </a:r>
            <a:r>
              <a:rPr lang="en-US" sz="1600">
                <a:solidFill>
                  <a:srgbClr val="000000"/>
                </a:solidFill>
              </a:rPr>
              <a:t>a Telnet </a:t>
            </a:r>
            <a:r>
              <a:rPr lang="en-US" sz="1600" dirty="0">
                <a:solidFill>
                  <a:srgbClr val="000000"/>
                </a:solidFill>
              </a:rPr>
              <a:t>connection from a device on another network.</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20089A43-24DD-404C-B3D0-B41B7103795E}"/>
              </a:ext>
            </a:extLst>
          </p:cNvPr>
          <p:cNvPicPr>
            <a:picLocks noChangeAspect="1"/>
          </p:cNvPicPr>
          <p:nvPr/>
        </p:nvPicPr>
        <p:blipFill>
          <a:blip r:embed="rId4"/>
          <a:stretch>
            <a:fillRect/>
          </a:stretch>
        </p:blipFill>
        <p:spPr>
          <a:xfrm>
            <a:off x="862011" y="3157840"/>
            <a:ext cx="7419975" cy="1543050"/>
          </a:xfrm>
          <a:prstGeom prst="rect">
            <a:avLst/>
          </a:prstGeom>
        </p:spPr>
      </p:pic>
    </p:spTree>
    <p:custDataLst>
      <p:tags r:id="rId1"/>
    </p:custDataLst>
    <p:extLst>
      <p:ext uri="{BB962C8B-B14F-4D97-AF65-F5344CB8AC3E}">
        <p14:creationId xmlns:p14="http://schemas.microsoft.com/office/powerpoint/2010/main" val="2035642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54238"/>
            <a:ext cx="7848344" cy="1363562"/>
          </a:xfrm>
        </p:spPr>
        <p:txBody>
          <a:bodyPr/>
          <a:lstStyle/>
          <a:p>
            <a:r>
              <a:rPr lang="en-US" dirty="0">
                <a:solidFill>
                  <a:schemeClr val="accent5">
                    <a:lumMod val="40000"/>
                    <a:lumOff val="60000"/>
                  </a:schemeClr>
                </a:solidFill>
              </a:rPr>
              <a:t>5.4 Configure Extended IPv4 ACLs</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Extended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800" dirty="0">
                <a:solidFill>
                  <a:srgbClr val="000000"/>
                </a:solidFill>
              </a:rPr>
              <a:t>Extended ACLs provide a greater degree of control. They can filter on source address, destination address, protocol (i.e., IP, TCP, UDP, ICMP), and port number.</a:t>
            </a:r>
          </a:p>
          <a:p>
            <a:pPr marL="0" indent="0" algn="l"/>
            <a:endParaRPr lang="en-US" sz="1800" dirty="0">
              <a:solidFill>
                <a:srgbClr val="000000"/>
              </a:solidFill>
            </a:endParaRPr>
          </a:p>
          <a:p>
            <a:pPr marL="0" indent="0" algn="l"/>
            <a:r>
              <a:rPr lang="en-US" sz="1800" dirty="0">
                <a:solidFill>
                  <a:srgbClr val="000000"/>
                </a:solidFill>
              </a:rPr>
              <a:t>Extended ACLs can be created as:</a:t>
            </a:r>
          </a:p>
          <a:p>
            <a:pPr marL="285750" indent="-285750" algn="l">
              <a:buFont typeface="Arial" panose="020B0604020202020204" pitchFamily="34" charset="0"/>
              <a:buChar char="•"/>
            </a:pPr>
            <a:r>
              <a:rPr lang="en-US" sz="1600" b="1" dirty="0">
                <a:solidFill>
                  <a:srgbClr val="000000"/>
                </a:solidFill>
              </a:rPr>
              <a:t>Numbered Extended ACL</a:t>
            </a:r>
            <a:r>
              <a:rPr lang="en-US" sz="1600" dirty="0">
                <a:solidFill>
                  <a:srgbClr val="000000"/>
                </a:solidFill>
              </a:rPr>
              <a:t> - Created using the </a:t>
            </a:r>
            <a:r>
              <a:rPr lang="en-US" sz="1600" b="1" dirty="0">
                <a:solidFill>
                  <a:srgbClr val="000000"/>
                </a:solidFill>
              </a:rPr>
              <a:t>access-list</a:t>
            </a:r>
            <a:r>
              <a:rPr lang="en-US" sz="1600" dirty="0">
                <a:solidFill>
                  <a:srgbClr val="000000"/>
                </a:solidFill>
              </a:rPr>
              <a:t> </a:t>
            </a:r>
            <a:r>
              <a:rPr lang="en-US" sz="1600" i="1" dirty="0">
                <a:solidFill>
                  <a:srgbClr val="000000"/>
                </a:solidFill>
              </a:rPr>
              <a:t>access-list-number</a:t>
            </a:r>
            <a:r>
              <a:rPr lang="en-US" sz="1600" dirty="0">
                <a:solidFill>
                  <a:srgbClr val="000000"/>
                </a:solidFill>
              </a:rPr>
              <a:t> global configuration command.</a:t>
            </a:r>
          </a:p>
          <a:p>
            <a:pPr marL="285750" indent="-285750" algn="l">
              <a:buFont typeface="Arial" panose="020B0604020202020204" pitchFamily="34" charset="0"/>
              <a:buChar char="•"/>
            </a:pPr>
            <a:r>
              <a:rPr lang="en-US" sz="1600" b="1" dirty="0">
                <a:solidFill>
                  <a:srgbClr val="000000"/>
                </a:solidFill>
              </a:rPr>
              <a:t>Named Extended ACL</a:t>
            </a:r>
            <a:r>
              <a:rPr lang="en-US" sz="1600" dirty="0">
                <a:solidFill>
                  <a:srgbClr val="000000"/>
                </a:solidFill>
              </a:rPr>
              <a:t> - Created using the </a:t>
            </a:r>
            <a:r>
              <a:rPr lang="en-US" sz="1600" b="1" dirty="0" err="1">
                <a:solidFill>
                  <a:srgbClr val="000000"/>
                </a:solidFill>
              </a:rPr>
              <a:t>ip</a:t>
            </a:r>
            <a:r>
              <a:rPr lang="en-US" sz="1600" b="1" dirty="0">
                <a:solidFill>
                  <a:srgbClr val="000000"/>
                </a:solidFill>
              </a:rPr>
              <a:t> access-list extended</a:t>
            </a:r>
            <a:r>
              <a:rPr lang="en-US" sz="1600" dirty="0">
                <a:solidFill>
                  <a:srgbClr val="000000"/>
                </a:solidFill>
              </a:rPr>
              <a:t> </a:t>
            </a:r>
            <a:r>
              <a:rPr lang="en-US" sz="1600" i="1" dirty="0">
                <a:solidFill>
                  <a:srgbClr val="000000"/>
                </a:solidFill>
              </a:rPr>
              <a:t>access-list-name</a:t>
            </a:r>
            <a:r>
              <a:rPr lang="en-US" sz="1600" dirty="0">
                <a:solidFill>
                  <a:srgbClr val="000000"/>
                </a:solidFill>
              </a:rPr>
              <a:t>.</a:t>
            </a: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35284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1603017" cy="3557093"/>
          </a:xfrm>
        </p:spPr>
        <p:txBody>
          <a:bodyPr/>
          <a:lstStyle/>
          <a:p>
            <a:pPr marL="0" indent="0" algn="l"/>
            <a:r>
              <a:rPr lang="en-US" sz="1600" dirty="0">
                <a:solidFill>
                  <a:srgbClr val="000000"/>
                </a:solidFill>
              </a:rPr>
              <a:t>Extended ACLs can filter on internet protocols and ports. Use the </a:t>
            </a:r>
            <a:r>
              <a:rPr lang="en-US" sz="1600" b="1" dirty="0">
                <a:solidFill>
                  <a:srgbClr val="000000"/>
                </a:solidFill>
              </a:rPr>
              <a:t>?</a:t>
            </a:r>
            <a:r>
              <a:rPr lang="en-US" sz="1600" dirty="0">
                <a:solidFill>
                  <a:srgbClr val="000000"/>
                </a:solidFill>
              </a:rPr>
              <a:t> to get help when entering a complex ACE.  The four highlighted protocols are the most popular options.</a:t>
            </a:r>
          </a:p>
        </p:txBody>
      </p:sp>
      <p:sp>
        <p:nvSpPr>
          <p:cNvPr id="7" name="TextBox 6">
            <a:extLst>
              <a:ext uri="{FF2B5EF4-FFF2-40B4-BE49-F238E27FC236}">
                <a16:creationId xmlns:a16="http://schemas.microsoft.com/office/drawing/2014/main" id="{A4AEF5A9-F501-46A9-8C60-73228BB426C1}"/>
              </a:ext>
            </a:extLst>
          </p:cNvPr>
          <p:cNvSpPr txBox="1"/>
          <p:nvPr/>
        </p:nvSpPr>
        <p:spPr>
          <a:xfrm>
            <a:off x="4535954" y="370329"/>
            <a:ext cx="1890261" cy="369332"/>
          </a:xfrm>
          <a:prstGeom prst="rect">
            <a:avLst/>
          </a:prstGeom>
          <a:noFill/>
        </p:spPr>
        <p:txBody>
          <a:bodyPr wrap="none" rtlCol="0">
            <a:spAutoFit/>
          </a:bodyPr>
          <a:lstStyle/>
          <a:p>
            <a:r>
              <a:rPr lang="en-US" dirty="0"/>
              <a:t>Protocol Options</a:t>
            </a:r>
          </a:p>
        </p:txBody>
      </p:sp>
      <p:pic>
        <p:nvPicPr>
          <p:cNvPr id="5" name="Picture 4">
            <a:extLst>
              <a:ext uri="{FF2B5EF4-FFF2-40B4-BE49-F238E27FC236}">
                <a16:creationId xmlns:a16="http://schemas.microsoft.com/office/drawing/2014/main" id="{CF6273C3-6AAA-4D23-A44A-C2627FA51973}"/>
              </a:ext>
            </a:extLst>
          </p:cNvPr>
          <p:cNvPicPr>
            <a:picLocks noChangeAspect="1"/>
          </p:cNvPicPr>
          <p:nvPr/>
        </p:nvPicPr>
        <p:blipFill>
          <a:blip r:embed="rId4"/>
          <a:stretch>
            <a:fillRect/>
          </a:stretch>
        </p:blipFill>
        <p:spPr>
          <a:xfrm>
            <a:off x="3211034" y="793799"/>
            <a:ext cx="4540102" cy="3936800"/>
          </a:xfrm>
          <a:prstGeom prst="rect">
            <a:avLst/>
          </a:prstGeom>
        </p:spPr>
      </p:pic>
    </p:spTree>
    <p:custDataLst>
      <p:tags r:id="rId1"/>
    </p:custDataLst>
    <p:extLst>
      <p:ext uri="{BB962C8B-B14F-4D97-AF65-F5344CB8AC3E}">
        <p14:creationId xmlns:p14="http://schemas.microsoft.com/office/powerpoint/2010/main" val="1304344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1603017" cy="2430041"/>
          </a:xfrm>
        </p:spPr>
        <p:txBody>
          <a:bodyPr/>
          <a:lstStyle/>
          <a:p>
            <a:pPr marL="0" indent="0" algn="l"/>
            <a:r>
              <a:rPr lang="en-US" sz="1600" dirty="0">
                <a:solidFill>
                  <a:srgbClr val="000000"/>
                </a:solidFill>
              </a:rPr>
              <a:t>Selecting a protocol influences port options. Many TCP port options are available, as shown in the output.</a:t>
            </a:r>
          </a:p>
        </p:txBody>
      </p:sp>
      <p:pic>
        <p:nvPicPr>
          <p:cNvPr id="6" name="Picture 5">
            <a:extLst>
              <a:ext uri="{FF2B5EF4-FFF2-40B4-BE49-F238E27FC236}">
                <a16:creationId xmlns:a16="http://schemas.microsoft.com/office/drawing/2014/main" id="{CBE7CF15-8EE0-4998-87B9-3B307BF0495B}"/>
              </a:ext>
            </a:extLst>
          </p:cNvPr>
          <p:cNvPicPr>
            <a:picLocks noChangeAspect="1"/>
          </p:cNvPicPr>
          <p:nvPr/>
        </p:nvPicPr>
        <p:blipFill>
          <a:blip r:embed="rId4"/>
          <a:stretch>
            <a:fillRect/>
          </a:stretch>
        </p:blipFill>
        <p:spPr>
          <a:xfrm>
            <a:off x="4172744" y="365918"/>
            <a:ext cx="2355562" cy="4350053"/>
          </a:xfrm>
          <a:prstGeom prst="rect">
            <a:avLst/>
          </a:prstGeom>
        </p:spPr>
      </p:pic>
    </p:spTree>
    <p:custDataLst>
      <p:tags r:id="rId1"/>
    </p:custDataLst>
    <p:extLst>
      <p:ext uri="{BB962C8B-B14F-4D97-AF65-F5344CB8AC3E}">
        <p14:creationId xmlns:p14="http://schemas.microsoft.com/office/powerpoint/2010/main" val="808411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 Numbers Configuration Examples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274323"/>
          </a:xfrm>
        </p:spPr>
        <p:txBody>
          <a:bodyPr/>
          <a:lstStyle/>
          <a:p>
            <a:pPr marL="0" indent="0" algn="l"/>
            <a:r>
              <a:rPr lang="en-US" sz="1600" dirty="0">
                <a:solidFill>
                  <a:srgbClr val="000000"/>
                </a:solidFill>
              </a:rPr>
              <a:t>Extended ACLs can filter on different port number and port name options. </a:t>
            </a:r>
          </a:p>
          <a:p>
            <a:pPr marL="0" indent="0" algn="l"/>
            <a:endParaRPr lang="en-US" sz="1600" dirty="0">
              <a:solidFill>
                <a:srgbClr val="000000"/>
              </a:solidFill>
            </a:endParaRPr>
          </a:p>
          <a:p>
            <a:pPr marL="0" indent="0" algn="l"/>
            <a:r>
              <a:rPr lang="en-US" sz="1600" dirty="0">
                <a:solidFill>
                  <a:srgbClr val="000000"/>
                </a:solidFill>
              </a:rPr>
              <a:t>This example configures an extended ACL 100 to filter HTTP traffic. The first ACE uses the </a:t>
            </a:r>
            <a:r>
              <a:rPr lang="en-US" sz="1600" b="1" dirty="0">
                <a:solidFill>
                  <a:srgbClr val="000000"/>
                </a:solidFill>
              </a:rPr>
              <a:t>www</a:t>
            </a:r>
            <a:r>
              <a:rPr lang="en-US" sz="1600" dirty="0">
                <a:solidFill>
                  <a:srgbClr val="000000"/>
                </a:solidFill>
              </a:rPr>
              <a:t> port name. The second ACE uses the port number </a:t>
            </a:r>
            <a:r>
              <a:rPr lang="en-US" sz="1600" b="1" dirty="0">
                <a:solidFill>
                  <a:srgbClr val="000000"/>
                </a:solidFill>
              </a:rPr>
              <a:t>80</a:t>
            </a:r>
            <a:r>
              <a:rPr lang="en-US" sz="1600" dirty="0">
                <a:solidFill>
                  <a:srgbClr val="000000"/>
                </a:solidFill>
              </a:rPr>
              <a:t>. Both ACEs achieve exactly the same result.</a:t>
            </a:r>
          </a:p>
        </p:txBody>
      </p:sp>
      <p:pic>
        <p:nvPicPr>
          <p:cNvPr id="7" name="Picture 6">
            <a:extLst>
              <a:ext uri="{FF2B5EF4-FFF2-40B4-BE49-F238E27FC236}">
                <a16:creationId xmlns:a16="http://schemas.microsoft.com/office/drawing/2014/main" id="{ADA34F92-66F0-484B-888C-7A2F73B55647}"/>
              </a:ext>
            </a:extLst>
          </p:cNvPr>
          <p:cNvPicPr>
            <a:picLocks noChangeAspect="1"/>
          </p:cNvPicPr>
          <p:nvPr/>
        </p:nvPicPr>
        <p:blipFill>
          <a:blip r:embed="rId4"/>
          <a:stretch>
            <a:fillRect/>
          </a:stretch>
        </p:blipFill>
        <p:spPr>
          <a:xfrm>
            <a:off x="1624976" y="2276475"/>
            <a:ext cx="5631741" cy="815813"/>
          </a:xfrm>
          <a:prstGeom prst="rect">
            <a:avLst/>
          </a:prstGeom>
        </p:spPr>
      </p:pic>
      <p:sp>
        <p:nvSpPr>
          <p:cNvPr id="5" name="Content Placeholder 3">
            <a:extLst>
              <a:ext uri="{FF2B5EF4-FFF2-40B4-BE49-F238E27FC236}">
                <a16:creationId xmlns:a16="http://schemas.microsoft.com/office/drawing/2014/main" id="{F2C58105-6545-4D38-B886-D9B5BB651BD0}"/>
              </a:ext>
            </a:extLst>
          </p:cNvPr>
          <p:cNvSpPr txBox="1">
            <a:spLocks/>
          </p:cNvSpPr>
          <p:nvPr/>
        </p:nvSpPr>
        <p:spPr>
          <a:xfrm>
            <a:off x="431970" y="3092288"/>
            <a:ext cx="8280057" cy="106797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600" dirty="0">
                <a:solidFill>
                  <a:srgbClr val="000000"/>
                </a:solidFill>
              </a:rPr>
              <a:t>Configuring the port number is required when there is not a specific protocol name listed such as SSH (port number 22) or an HTTPS (port number 443), as shown in the next example.</a:t>
            </a:r>
          </a:p>
        </p:txBody>
      </p:sp>
      <p:pic>
        <p:nvPicPr>
          <p:cNvPr id="8" name="Picture 7">
            <a:extLst>
              <a:ext uri="{FF2B5EF4-FFF2-40B4-BE49-F238E27FC236}">
                <a16:creationId xmlns:a16="http://schemas.microsoft.com/office/drawing/2014/main" id="{ABA1744A-EB16-4A31-9396-6D1D15A1F691}"/>
              </a:ext>
            </a:extLst>
          </p:cNvPr>
          <p:cNvPicPr>
            <a:picLocks noChangeAspect="1"/>
          </p:cNvPicPr>
          <p:nvPr/>
        </p:nvPicPr>
        <p:blipFill>
          <a:blip r:embed="rId5"/>
          <a:stretch>
            <a:fillRect/>
          </a:stretch>
        </p:blipFill>
        <p:spPr>
          <a:xfrm>
            <a:off x="1817077" y="3884313"/>
            <a:ext cx="5247541" cy="824614"/>
          </a:xfrm>
          <a:prstGeom prst="rect">
            <a:avLst/>
          </a:prstGeom>
        </p:spPr>
      </p:pic>
    </p:spTree>
    <p:custDataLst>
      <p:tags r:id="rId1"/>
    </p:custDataLst>
    <p:extLst>
      <p:ext uri="{BB962C8B-B14F-4D97-AF65-F5344CB8AC3E}">
        <p14:creationId xmlns:p14="http://schemas.microsoft.com/office/powerpoint/2010/main" val="336409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Apply a Numbered Extended IPv4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67974"/>
          </a:xfrm>
        </p:spPr>
        <p:txBody>
          <a:bodyPr/>
          <a:lstStyle/>
          <a:p>
            <a:pPr marL="0" indent="0" algn="l"/>
            <a:r>
              <a:rPr lang="en-US" sz="1600" dirty="0">
                <a:solidFill>
                  <a:srgbClr val="000000"/>
                </a:solidFill>
              </a:rPr>
              <a:t>In this example, the ACL permits both HTTP and HTTPS traffic from the 192.168.10.0 network to go to any destination.</a:t>
            </a:r>
          </a:p>
          <a:p>
            <a:pPr marL="0" indent="0" algn="l"/>
            <a:endParaRPr lang="en-US" sz="1600" dirty="0">
              <a:solidFill>
                <a:srgbClr val="000000"/>
              </a:solidFill>
            </a:endParaRPr>
          </a:p>
          <a:p>
            <a:pPr marL="0" indent="0" algn="l"/>
            <a:r>
              <a:rPr lang="en-US" sz="1600" dirty="0">
                <a:solidFill>
                  <a:srgbClr val="000000"/>
                </a:solidFill>
              </a:rPr>
              <a:t>Extended ACLs can be applied in various locations. However, they are commonly applied close to the source. Here ACL 110 is applied inbound on the R1 G0/0/0 interface.</a:t>
            </a:r>
          </a:p>
        </p:txBody>
      </p:sp>
      <p:pic>
        <p:nvPicPr>
          <p:cNvPr id="5" name="Picture 4">
            <a:extLst>
              <a:ext uri="{FF2B5EF4-FFF2-40B4-BE49-F238E27FC236}">
                <a16:creationId xmlns:a16="http://schemas.microsoft.com/office/drawing/2014/main" id="{0BF63D50-4D61-4E44-A590-992B92BABE16}"/>
              </a:ext>
            </a:extLst>
          </p:cNvPr>
          <p:cNvPicPr>
            <a:picLocks noChangeAspect="1"/>
          </p:cNvPicPr>
          <p:nvPr/>
        </p:nvPicPr>
        <p:blipFill>
          <a:blip r:embed="rId4"/>
          <a:stretch>
            <a:fillRect/>
          </a:stretch>
        </p:blipFill>
        <p:spPr>
          <a:xfrm>
            <a:off x="447574" y="2571750"/>
            <a:ext cx="7897914" cy="1716331"/>
          </a:xfrm>
          <a:prstGeom prst="rect">
            <a:avLst/>
          </a:prstGeom>
        </p:spPr>
      </p:pic>
      <p:sp>
        <p:nvSpPr>
          <p:cNvPr id="2" name="BlokTextu 1">
            <a:extLst>
              <a:ext uri="{FF2B5EF4-FFF2-40B4-BE49-F238E27FC236}">
                <a16:creationId xmlns:a16="http://schemas.microsoft.com/office/drawing/2014/main" id="{B652C66F-132F-0B3F-0E35-A0D9C0CBB534}"/>
              </a:ext>
            </a:extLst>
          </p:cNvPr>
          <p:cNvSpPr txBox="1"/>
          <p:nvPr/>
        </p:nvSpPr>
        <p:spPr>
          <a:xfrm>
            <a:off x="425564" y="4454013"/>
            <a:ext cx="7494359" cy="369332"/>
          </a:xfrm>
          <a:prstGeom prst="rect">
            <a:avLst/>
          </a:prstGeom>
          <a:noFill/>
        </p:spPr>
        <p:txBody>
          <a:bodyPr wrap="none" rtlCol="0">
            <a:spAutoFit/>
          </a:bodyPr>
          <a:lstStyle/>
          <a:p>
            <a:r>
              <a:rPr lang="sk-SK" dirty="0"/>
              <a:t>R2(</a:t>
            </a:r>
            <a:r>
              <a:rPr lang="sk-SK" dirty="0" err="1"/>
              <a:t>config</a:t>
            </a:r>
            <a:r>
              <a:rPr lang="sk-SK" dirty="0"/>
              <a:t>)#</a:t>
            </a:r>
            <a:r>
              <a:rPr lang="sk-SK" dirty="0" err="1"/>
              <a:t>access</a:t>
            </a:r>
            <a:r>
              <a:rPr lang="sk-SK" dirty="0"/>
              <a:t>-list 120 </a:t>
            </a:r>
            <a:r>
              <a:rPr lang="sk-SK" dirty="0" err="1"/>
              <a:t>permit</a:t>
            </a:r>
            <a:r>
              <a:rPr lang="sk-SK" dirty="0"/>
              <a:t> </a:t>
            </a:r>
            <a:r>
              <a:rPr lang="sk-SK" dirty="0" err="1"/>
              <a:t>tcp</a:t>
            </a:r>
            <a:r>
              <a:rPr lang="sk-SK" dirty="0"/>
              <a:t> 182.168.10.0 0.0.0.255 </a:t>
            </a:r>
            <a:r>
              <a:rPr lang="sk-SK" dirty="0" err="1"/>
              <a:t>eq</a:t>
            </a:r>
            <a:r>
              <a:rPr lang="sk-SK" dirty="0"/>
              <a:t> 80 </a:t>
            </a:r>
            <a:r>
              <a:rPr lang="sk-SK" dirty="0" err="1"/>
              <a:t>any</a:t>
            </a:r>
            <a:endParaRPr lang="sk-SK" dirty="0"/>
          </a:p>
        </p:txBody>
      </p:sp>
    </p:spTree>
    <p:custDataLst>
      <p:tags r:id="rId1"/>
    </p:custDataLst>
    <p:extLst>
      <p:ext uri="{BB962C8B-B14F-4D97-AF65-F5344CB8AC3E}">
        <p14:creationId xmlns:p14="http://schemas.microsoft.com/office/powerpoint/2010/main" val="342850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TCP Established Extended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TCP can also perform basic stateful firewall services using the TCP </a:t>
            </a:r>
            <a:r>
              <a:rPr lang="en-US" sz="1600" b="1" dirty="0">
                <a:solidFill>
                  <a:srgbClr val="000000"/>
                </a:solidFill>
              </a:rPr>
              <a:t>established</a:t>
            </a:r>
            <a:r>
              <a:rPr lang="en-US" sz="1600" dirty="0">
                <a:solidFill>
                  <a:srgbClr val="000000"/>
                </a:solidFill>
              </a:rPr>
              <a:t> keyword.</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established</a:t>
            </a:r>
            <a:r>
              <a:rPr lang="en-US" sz="1600" dirty="0">
                <a:solidFill>
                  <a:srgbClr val="000000"/>
                </a:solidFill>
              </a:rPr>
              <a:t> keyword enables inside traffic to exit the inside private network and permits the returning reply traffic to enter the inside private network.</a:t>
            </a:r>
          </a:p>
          <a:p>
            <a:pPr marL="285750" indent="-285750" algn="l">
              <a:buFont typeface="Arial" panose="020B0604020202020204" pitchFamily="34" charset="0"/>
              <a:buChar char="•"/>
            </a:pPr>
            <a:r>
              <a:rPr lang="en-US" sz="1600" dirty="0">
                <a:solidFill>
                  <a:srgbClr val="000000"/>
                </a:solidFill>
              </a:rPr>
              <a:t>TCP traffic generated by an outside host and attempting to communicate with an inside host is denied.</a:t>
            </a:r>
          </a:p>
        </p:txBody>
      </p:sp>
      <p:pic>
        <p:nvPicPr>
          <p:cNvPr id="5" name="Picture 4">
            <a:extLst>
              <a:ext uri="{FF2B5EF4-FFF2-40B4-BE49-F238E27FC236}">
                <a16:creationId xmlns:a16="http://schemas.microsoft.com/office/drawing/2014/main" id="{9F64C557-2052-4223-9B59-E0A0DAA5A51A}"/>
              </a:ext>
            </a:extLst>
          </p:cNvPr>
          <p:cNvPicPr>
            <a:picLocks noChangeAspect="1"/>
          </p:cNvPicPr>
          <p:nvPr/>
        </p:nvPicPr>
        <p:blipFill>
          <a:blip r:embed="rId4"/>
          <a:stretch>
            <a:fillRect/>
          </a:stretch>
        </p:blipFill>
        <p:spPr>
          <a:xfrm>
            <a:off x="1801791" y="2301765"/>
            <a:ext cx="4563150" cy="2488453"/>
          </a:xfrm>
          <a:prstGeom prst="rect">
            <a:avLst/>
          </a:prstGeom>
        </p:spPr>
      </p:pic>
    </p:spTree>
    <p:custDataLst>
      <p:tags r:id="rId1"/>
    </p:custDataLst>
    <p:extLst>
      <p:ext uri="{BB962C8B-B14F-4D97-AF65-F5344CB8AC3E}">
        <p14:creationId xmlns:p14="http://schemas.microsoft.com/office/powerpoint/2010/main" val="1909925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TCP Established Extended ACL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285750" indent="-285750" algn="l">
              <a:buFont typeface="Arial" panose="020B0604020202020204" pitchFamily="34" charset="0"/>
              <a:buChar char="•"/>
            </a:pPr>
            <a:r>
              <a:rPr lang="en-US" sz="1600" dirty="0">
                <a:solidFill>
                  <a:srgbClr val="000000"/>
                </a:solidFill>
              </a:rPr>
              <a:t>ACL 120 is configured to only permit returning web traffic to the inside hosts. The ACL is then applied outbound on the R1 G0/0/0 interface. </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shows that inside hosts are accessing the secure web resources from the internet. </a:t>
            </a:r>
          </a:p>
          <a:p>
            <a:pPr marL="73085" lvl="1" indent="0">
              <a:buNone/>
            </a:pPr>
            <a:r>
              <a:rPr lang="en-US" b="1" dirty="0">
                <a:solidFill>
                  <a:srgbClr val="000000"/>
                </a:solidFill>
              </a:rPr>
              <a:t>Note</a:t>
            </a:r>
            <a:r>
              <a:rPr lang="en-US" dirty="0">
                <a:solidFill>
                  <a:srgbClr val="000000"/>
                </a:solidFill>
              </a:rPr>
              <a:t>: A match occurs if the returning TCP segment has the ACK or reset (RST) flag bits set, indicating that the packet belongs to an existing connection.</a:t>
            </a:r>
          </a:p>
        </p:txBody>
      </p:sp>
      <p:pic>
        <p:nvPicPr>
          <p:cNvPr id="2" name="Picture 1">
            <a:extLst>
              <a:ext uri="{FF2B5EF4-FFF2-40B4-BE49-F238E27FC236}">
                <a16:creationId xmlns:a16="http://schemas.microsoft.com/office/drawing/2014/main" id="{FDD912CF-D5BE-47F4-83A6-3E730309F8A6}"/>
              </a:ext>
            </a:extLst>
          </p:cNvPr>
          <p:cNvPicPr>
            <a:picLocks noChangeAspect="1"/>
          </p:cNvPicPr>
          <p:nvPr/>
        </p:nvPicPr>
        <p:blipFill>
          <a:blip r:embed="rId4"/>
          <a:stretch>
            <a:fillRect/>
          </a:stretch>
        </p:blipFill>
        <p:spPr>
          <a:xfrm>
            <a:off x="1676399" y="2571750"/>
            <a:ext cx="5791200" cy="2133600"/>
          </a:xfrm>
          <a:prstGeom prst="rect">
            <a:avLst/>
          </a:prstGeom>
        </p:spPr>
      </p:pic>
    </p:spTree>
    <p:custDataLst>
      <p:tags r:id="rId1"/>
    </p:custDataLst>
    <p:extLst>
      <p:ext uri="{BB962C8B-B14F-4D97-AF65-F5344CB8AC3E}">
        <p14:creationId xmlns:p14="http://schemas.microsoft.com/office/powerpoint/2010/main" val="17947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Naming an ACL makes it easier to understand its function. To create a named extended ACL, use the </a:t>
            </a:r>
            <a:r>
              <a:rPr lang="en-US" sz="1600" b="1" dirty="0" err="1">
                <a:solidFill>
                  <a:srgbClr val="000000"/>
                </a:solidFill>
              </a:rPr>
              <a:t>ip</a:t>
            </a:r>
            <a:r>
              <a:rPr lang="en-US" sz="1600" b="1" dirty="0">
                <a:solidFill>
                  <a:srgbClr val="000000"/>
                </a:solidFill>
              </a:rPr>
              <a:t> access-list extended </a:t>
            </a:r>
            <a:r>
              <a:rPr lang="en-US" sz="1600" dirty="0">
                <a:solidFill>
                  <a:srgbClr val="000000"/>
                </a:solidFill>
              </a:rPr>
              <a:t>configuration command.</a:t>
            </a:r>
          </a:p>
          <a:p>
            <a:pPr marL="0" indent="0" algn="l"/>
            <a:endParaRPr lang="en-US" sz="1600" dirty="0">
              <a:solidFill>
                <a:srgbClr val="000000"/>
              </a:solidFill>
            </a:endParaRPr>
          </a:p>
          <a:p>
            <a:pPr marL="0" indent="0" algn="l"/>
            <a:r>
              <a:rPr lang="en-US" sz="1600" dirty="0">
                <a:solidFill>
                  <a:srgbClr val="000000"/>
                </a:solidFill>
              </a:rPr>
              <a:t>In the example, a named extended ACL called NO-FTP-ACCESS is created and the prompt changed to named extended ACL configuration mode. ACE statements are entered in the named extended ACL sub configuration mode.</a:t>
            </a:r>
          </a:p>
        </p:txBody>
      </p:sp>
      <p:pic>
        <p:nvPicPr>
          <p:cNvPr id="2" name="Picture 1">
            <a:extLst>
              <a:ext uri="{FF2B5EF4-FFF2-40B4-BE49-F238E27FC236}">
                <a16:creationId xmlns:a16="http://schemas.microsoft.com/office/drawing/2014/main" id="{6F725856-2905-4FB1-806B-0FA181A9D225}"/>
              </a:ext>
            </a:extLst>
          </p:cNvPr>
          <p:cNvPicPr>
            <a:picLocks noChangeAspect="1"/>
          </p:cNvPicPr>
          <p:nvPr/>
        </p:nvPicPr>
        <p:blipFill>
          <a:blip r:embed="rId4"/>
          <a:stretch>
            <a:fillRect/>
          </a:stretch>
        </p:blipFill>
        <p:spPr>
          <a:xfrm>
            <a:off x="942634" y="2605215"/>
            <a:ext cx="7258732" cy="473041"/>
          </a:xfrm>
          <a:prstGeom prst="rect">
            <a:avLst/>
          </a:prstGeom>
        </p:spPr>
      </p:pic>
      <p:pic>
        <p:nvPicPr>
          <p:cNvPr id="7" name="Picture 6">
            <a:extLst>
              <a:ext uri="{FF2B5EF4-FFF2-40B4-BE49-F238E27FC236}">
                <a16:creationId xmlns:a16="http://schemas.microsoft.com/office/drawing/2014/main" id="{8FA4809B-8A5F-4D88-8D50-F66C6DFBCBB3}"/>
              </a:ext>
            </a:extLst>
          </p:cNvPr>
          <p:cNvPicPr>
            <a:picLocks noChangeAspect="1"/>
          </p:cNvPicPr>
          <p:nvPr/>
        </p:nvPicPr>
        <p:blipFill>
          <a:blip r:embed="rId5"/>
          <a:stretch>
            <a:fillRect/>
          </a:stretch>
        </p:blipFill>
        <p:spPr>
          <a:xfrm>
            <a:off x="1045168" y="3556245"/>
            <a:ext cx="7053664" cy="731837"/>
          </a:xfrm>
          <a:prstGeom prst="rect">
            <a:avLst/>
          </a:prstGeom>
        </p:spPr>
      </p:pic>
    </p:spTree>
    <p:custDataLst>
      <p:tags r:id="rId1"/>
    </p:custDataLst>
    <p:extLst>
      <p:ext uri="{BB962C8B-B14F-4D97-AF65-F5344CB8AC3E}">
        <p14:creationId xmlns:p14="http://schemas.microsoft.com/office/powerpoint/2010/main" val="231473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Example</a:t>
            </a:r>
          </a:p>
        </p:txBody>
      </p:sp>
      <p:sp>
        <p:nvSpPr>
          <p:cNvPr id="9" name="Content Placeholder 3">
            <a:extLst>
              <a:ext uri="{FF2B5EF4-FFF2-40B4-BE49-F238E27FC236}">
                <a16:creationId xmlns:a16="http://schemas.microsoft.com/office/drawing/2014/main" id="{E967DBCA-A436-498A-B38F-B1B3D3822AC2}"/>
              </a:ext>
            </a:extLst>
          </p:cNvPr>
          <p:cNvSpPr>
            <a:spLocks noGrp="1"/>
          </p:cNvSpPr>
          <p:nvPr>
            <p:ph idx="1"/>
          </p:nvPr>
        </p:nvSpPr>
        <p:spPr>
          <a:xfrm>
            <a:off x="431971" y="855418"/>
            <a:ext cx="8280057" cy="1509409"/>
          </a:xfrm>
        </p:spPr>
        <p:txBody>
          <a:bodyPr/>
          <a:lstStyle/>
          <a:p>
            <a:pPr marL="0" indent="0" algn="l"/>
            <a:r>
              <a:rPr lang="en-US" sz="1600" dirty="0">
                <a:solidFill>
                  <a:srgbClr val="000000"/>
                </a:solidFill>
              </a:rPr>
              <a:t>The topology below is used to demonstrate configuring and applying two named extended IPv4 ACLs to an interface:</a:t>
            </a:r>
          </a:p>
          <a:p>
            <a:pPr marL="285750" indent="-285750" algn="l">
              <a:buFont typeface="Arial" panose="020B0604020202020204" pitchFamily="34" charset="0"/>
              <a:buChar char="•"/>
            </a:pPr>
            <a:r>
              <a:rPr lang="en-US" sz="1400" b="1" dirty="0">
                <a:solidFill>
                  <a:srgbClr val="000000"/>
                </a:solidFill>
              </a:rPr>
              <a:t>SURFING</a:t>
            </a:r>
            <a:r>
              <a:rPr lang="en-US" sz="1400" dirty="0">
                <a:solidFill>
                  <a:srgbClr val="000000"/>
                </a:solidFill>
              </a:rPr>
              <a:t> - This will permit inside HTTP and HTTPS traffic to exit to the internet.</a:t>
            </a:r>
          </a:p>
          <a:p>
            <a:pPr marL="285750" indent="-285750" algn="l">
              <a:buFont typeface="Arial" panose="020B0604020202020204" pitchFamily="34" charset="0"/>
              <a:buChar char="•"/>
            </a:pPr>
            <a:r>
              <a:rPr lang="en-US" sz="1400" b="1" dirty="0">
                <a:solidFill>
                  <a:srgbClr val="000000"/>
                </a:solidFill>
              </a:rPr>
              <a:t>BROWSING</a:t>
            </a:r>
            <a:r>
              <a:rPr lang="en-US" sz="1400" dirty="0">
                <a:solidFill>
                  <a:srgbClr val="000000"/>
                </a:solidFill>
              </a:rPr>
              <a:t> - This will only permit returning web traffic to the inside hosts while all other traffic exiting the R1 G0/0/0 interface is implicitly denied.</a:t>
            </a:r>
          </a:p>
        </p:txBody>
      </p:sp>
      <p:pic>
        <p:nvPicPr>
          <p:cNvPr id="8" name="Picture 7">
            <a:extLst>
              <a:ext uri="{FF2B5EF4-FFF2-40B4-BE49-F238E27FC236}">
                <a16:creationId xmlns:a16="http://schemas.microsoft.com/office/drawing/2014/main" id="{9EF0F46F-7CA3-4860-8300-5159F9FB43DD}"/>
              </a:ext>
            </a:extLst>
          </p:cNvPr>
          <p:cNvPicPr>
            <a:picLocks noChangeAspect="1"/>
          </p:cNvPicPr>
          <p:nvPr/>
        </p:nvPicPr>
        <p:blipFill>
          <a:blip r:embed="rId4"/>
          <a:stretch>
            <a:fillRect/>
          </a:stretch>
        </p:blipFill>
        <p:spPr>
          <a:xfrm>
            <a:off x="946359" y="2571750"/>
            <a:ext cx="7251281" cy="1985141"/>
          </a:xfrm>
          <a:prstGeom prst="rect">
            <a:avLst/>
          </a:prstGeom>
        </p:spPr>
      </p:pic>
    </p:spTree>
    <p:custDataLst>
      <p:tags r:id="rId1"/>
    </p:custDataLst>
    <p:extLst>
      <p:ext uri="{BB962C8B-B14F-4D97-AF65-F5344CB8AC3E}">
        <p14:creationId xmlns:p14="http://schemas.microsoft.com/office/powerpoint/2010/main" val="194002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Example (Cont.)</a:t>
            </a:r>
          </a:p>
        </p:txBody>
      </p:sp>
      <p:sp>
        <p:nvSpPr>
          <p:cNvPr id="4" name="Content Placeholder 3">
            <a:extLst>
              <a:ext uri="{FF2B5EF4-FFF2-40B4-BE49-F238E27FC236}">
                <a16:creationId xmlns:a16="http://schemas.microsoft.com/office/drawing/2014/main" id="{F04B6AE6-1B64-41B3-ACE3-8899CB423D4B}"/>
              </a:ext>
            </a:extLst>
          </p:cNvPr>
          <p:cNvSpPr>
            <a:spLocks noGrp="1"/>
          </p:cNvSpPr>
          <p:nvPr>
            <p:ph idx="1"/>
          </p:nvPr>
        </p:nvSpPr>
        <p:spPr>
          <a:xfrm>
            <a:off x="431972" y="855418"/>
            <a:ext cx="2732570" cy="3223523"/>
          </a:xfrm>
        </p:spPr>
        <p:txBody>
          <a:bodyPr/>
          <a:lstStyle/>
          <a:p>
            <a:pPr marL="285750" indent="-285750" algn="l">
              <a:buFont typeface="Arial" panose="020B0604020202020204" pitchFamily="34" charset="0"/>
              <a:buChar char="•"/>
            </a:pPr>
            <a:r>
              <a:rPr lang="en-US" sz="1400" dirty="0">
                <a:solidFill>
                  <a:srgbClr val="000000"/>
                </a:solidFill>
              </a:rPr>
              <a:t>The SURFING ACL permits HTTP and HTTPS traffic from inside users to exit the G0/0/1 interface connected to the internet. Web traffic returning from the internet is permitted back into the inside private network by the BROWSING ACL.</a:t>
            </a:r>
          </a:p>
          <a:p>
            <a:pPr marL="285750" indent="-285750" algn="l">
              <a:buFont typeface="Arial" panose="020B0604020202020204" pitchFamily="34" charset="0"/>
              <a:buChar char="•"/>
            </a:pPr>
            <a:r>
              <a:rPr lang="en-US" sz="1400" dirty="0">
                <a:solidFill>
                  <a:srgbClr val="000000"/>
                </a:solidFill>
              </a:rPr>
              <a:t>The SURFING ACL is applied inbound and the BROWSING ACL is applied outbound on the R1 G0/0/0 interface.</a:t>
            </a:r>
          </a:p>
        </p:txBody>
      </p:sp>
      <p:pic>
        <p:nvPicPr>
          <p:cNvPr id="2" name="Picture 1">
            <a:extLst>
              <a:ext uri="{FF2B5EF4-FFF2-40B4-BE49-F238E27FC236}">
                <a16:creationId xmlns:a16="http://schemas.microsoft.com/office/drawing/2014/main" id="{66DAAF44-3F93-4C75-AE60-152692426C59}"/>
              </a:ext>
            </a:extLst>
          </p:cNvPr>
          <p:cNvPicPr>
            <a:picLocks noChangeAspect="1"/>
          </p:cNvPicPr>
          <p:nvPr/>
        </p:nvPicPr>
        <p:blipFill>
          <a:blip r:embed="rId4"/>
          <a:stretch>
            <a:fillRect/>
          </a:stretch>
        </p:blipFill>
        <p:spPr>
          <a:xfrm>
            <a:off x="3358978" y="571500"/>
            <a:ext cx="5353050" cy="4000500"/>
          </a:xfrm>
          <a:prstGeom prst="rect">
            <a:avLst/>
          </a:prstGeom>
        </p:spPr>
      </p:pic>
    </p:spTree>
    <p:custDataLst>
      <p:tags r:id="rId1"/>
    </p:custDataLst>
    <p:extLst>
      <p:ext uri="{BB962C8B-B14F-4D97-AF65-F5344CB8AC3E}">
        <p14:creationId xmlns:p14="http://schemas.microsoft.com/office/powerpoint/2010/main" val="165554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Another Extended IPv4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Two named extended ACLs will be created:</a:t>
            </a:r>
          </a:p>
          <a:p>
            <a:pPr marL="285750" indent="-285750" algn="l">
              <a:buFont typeface="Arial" panose="020B0604020202020204" pitchFamily="34" charset="0"/>
              <a:buChar char="•"/>
            </a:pPr>
            <a:r>
              <a:rPr lang="en-US" sz="1400" b="1" dirty="0">
                <a:solidFill>
                  <a:srgbClr val="000000"/>
                </a:solidFill>
              </a:rPr>
              <a:t>PERMIT-PC1</a:t>
            </a:r>
            <a:r>
              <a:rPr lang="en-US" sz="1400" dirty="0">
                <a:solidFill>
                  <a:srgbClr val="000000"/>
                </a:solidFill>
              </a:rPr>
              <a:t> - This will only permit PC1 TCP access to the internet and deny all other hosts in the private network.</a:t>
            </a:r>
          </a:p>
          <a:p>
            <a:pPr marL="285750" indent="-285750" algn="l">
              <a:buFont typeface="Arial" panose="020B0604020202020204" pitchFamily="34" charset="0"/>
              <a:buChar char="•"/>
            </a:pPr>
            <a:r>
              <a:rPr lang="en-US" sz="1400" b="1" dirty="0">
                <a:solidFill>
                  <a:srgbClr val="000000"/>
                </a:solidFill>
              </a:rPr>
              <a:t>REPLY-PC1</a:t>
            </a:r>
            <a:r>
              <a:rPr lang="en-US" sz="1400" dirty="0">
                <a:solidFill>
                  <a:srgbClr val="000000"/>
                </a:solidFill>
              </a:rPr>
              <a:t> - This will only permit specified returning TCP traffic to PC1 implicitly deny all other traffic.</a:t>
            </a:r>
          </a:p>
        </p:txBody>
      </p:sp>
      <p:pic>
        <p:nvPicPr>
          <p:cNvPr id="2" name="Picture 1">
            <a:extLst>
              <a:ext uri="{FF2B5EF4-FFF2-40B4-BE49-F238E27FC236}">
                <a16:creationId xmlns:a16="http://schemas.microsoft.com/office/drawing/2014/main" id="{BF29983C-EAFE-4361-84C4-37847B5CCB14}"/>
              </a:ext>
            </a:extLst>
          </p:cNvPr>
          <p:cNvPicPr>
            <a:picLocks noChangeAspect="1"/>
          </p:cNvPicPr>
          <p:nvPr/>
        </p:nvPicPr>
        <p:blipFill>
          <a:blip r:embed="rId4"/>
          <a:stretch>
            <a:fillRect/>
          </a:stretch>
        </p:blipFill>
        <p:spPr>
          <a:xfrm>
            <a:off x="792163" y="2301765"/>
            <a:ext cx="7553325" cy="2019300"/>
          </a:xfrm>
          <a:prstGeom prst="rect">
            <a:avLst/>
          </a:prstGeom>
        </p:spPr>
      </p:pic>
    </p:spTree>
    <p:custDataLst>
      <p:tags r:id="rId1"/>
    </p:custDataLst>
    <p:extLst>
      <p:ext uri="{BB962C8B-B14F-4D97-AF65-F5344CB8AC3E}">
        <p14:creationId xmlns:p14="http://schemas.microsoft.com/office/powerpoint/2010/main" val="252423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Another Extended IPv4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243558" cy="1446347"/>
          </a:xfrm>
        </p:spPr>
        <p:txBody>
          <a:bodyPr/>
          <a:lstStyle/>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PERMIT-PC1</a:t>
            </a:r>
            <a:r>
              <a:rPr lang="en-US" sz="1600" dirty="0">
                <a:solidFill>
                  <a:srgbClr val="000000"/>
                </a:solidFill>
              </a:rPr>
              <a:t> ACL permits PC1 (192.168.10.10) TCP access to the FTP, SSH, Telnet, DNS , HTTP, and HTTPS traffic.</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REPLY-PC1</a:t>
            </a:r>
            <a:r>
              <a:rPr lang="en-US" sz="1600" dirty="0">
                <a:solidFill>
                  <a:srgbClr val="000000"/>
                </a:solidFill>
              </a:rPr>
              <a:t> ACL will permit return traffic to PC1.</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PERMIT-PC1</a:t>
            </a:r>
            <a:r>
              <a:rPr lang="en-US" sz="1600" dirty="0">
                <a:solidFill>
                  <a:srgbClr val="000000"/>
                </a:solidFill>
              </a:rPr>
              <a:t> ACL is applied inbound and the </a:t>
            </a:r>
            <a:r>
              <a:rPr lang="en-US" sz="1600" b="1" dirty="0">
                <a:solidFill>
                  <a:srgbClr val="000000"/>
                </a:solidFill>
              </a:rPr>
              <a:t>REPLY-PC1</a:t>
            </a:r>
            <a:r>
              <a:rPr lang="en-US" sz="1600" dirty="0">
                <a:solidFill>
                  <a:srgbClr val="000000"/>
                </a:solidFill>
              </a:rPr>
              <a:t> ACL applied outbound on the R1 G0/0/0 interface.</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CBED75D5-14C0-4C90-BC99-730CE4EAA6D4}"/>
              </a:ext>
            </a:extLst>
          </p:cNvPr>
          <p:cNvPicPr>
            <a:picLocks noChangeAspect="1"/>
          </p:cNvPicPr>
          <p:nvPr/>
        </p:nvPicPr>
        <p:blipFill>
          <a:blip r:embed="rId4"/>
          <a:stretch>
            <a:fillRect/>
          </a:stretch>
        </p:blipFill>
        <p:spPr>
          <a:xfrm>
            <a:off x="3778078" y="643218"/>
            <a:ext cx="4933950" cy="4000500"/>
          </a:xfrm>
          <a:prstGeom prst="rect">
            <a:avLst/>
          </a:prstGeom>
        </p:spPr>
      </p:pic>
    </p:spTree>
    <p:custDataLst>
      <p:tags r:id="rId1"/>
    </p:custDataLst>
    <p:extLst>
      <p:ext uri="{BB962C8B-B14F-4D97-AF65-F5344CB8AC3E}">
        <p14:creationId xmlns:p14="http://schemas.microsoft.com/office/powerpoint/2010/main" val="1428640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068311" cy="1036444"/>
          </a:xfrm>
        </p:spPr>
        <p:txBody>
          <a:bodyPr/>
          <a:lstStyle/>
          <a:p>
            <a:pPr marL="0" indent="0" algn="l"/>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is used to verify the ACL on the interface and the direction in which it was applied.</a:t>
            </a:r>
          </a:p>
        </p:txBody>
      </p:sp>
      <p:pic>
        <p:nvPicPr>
          <p:cNvPr id="5" name="Picture 4">
            <a:extLst>
              <a:ext uri="{FF2B5EF4-FFF2-40B4-BE49-F238E27FC236}">
                <a16:creationId xmlns:a16="http://schemas.microsoft.com/office/drawing/2014/main" id="{9CA7705B-7AD0-4E01-AB50-C45B7C2A0DD6}"/>
              </a:ext>
            </a:extLst>
          </p:cNvPr>
          <p:cNvPicPr>
            <a:picLocks noChangeAspect="1"/>
          </p:cNvPicPr>
          <p:nvPr/>
        </p:nvPicPr>
        <p:blipFill>
          <a:blip r:embed="rId4"/>
          <a:stretch>
            <a:fillRect/>
          </a:stretch>
        </p:blipFill>
        <p:spPr>
          <a:xfrm>
            <a:off x="4904325" y="265672"/>
            <a:ext cx="3652667" cy="4411663"/>
          </a:xfrm>
          <a:prstGeom prst="rect">
            <a:avLst/>
          </a:prstGeom>
        </p:spPr>
      </p:pic>
    </p:spTree>
    <p:custDataLst>
      <p:tags r:id="rId1"/>
    </p:custDataLst>
    <p:extLst>
      <p:ext uri="{BB962C8B-B14F-4D97-AF65-F5344CB8AC3E}">
        <p14:creationId xmlns:p14="http://schemas.microsoft.com/office/powerpoint/2010/main" val="2846272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36444"/>
          </a:xfrm>
        </p:spPr>
        <p:txBody>
          <a:bodyPr/>
          <a:lstStyle/>
          <a:p>
            <a:pPr marL="0" indent="0" algn="l"/>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can be used to confirm that the ACLs work as expected. The command displays statistic counters that increase whenever an ACE is matched.</a:t>
            </a:r>
          </a:p>
          <a:p>
            <a:pPr marL="0" indent="0" algn="l"/>
            <a:r>
              <a:rPr lang="en-US" sz="1600" b="1" dirty="0">
                <a:solidFill>
                  <a:srgbClr val="000000"/>
                </a:solidFill>
              </a:rPr>
              <a:t>Note</a:t>
            </a:r>
            <a:r>
              <a:rPr lang="en-US" sz="1600" dirty="0">
                <a:solidFill>
                  <a:srgbClr val="000000"/>
                </a:solidFill>
              </a:rPr>
              <a:t>: Traffic must be generated to verify the operation of the ACL.</a:t>
            </a:r>
          </a:p>
        </p:txBody>
      </p:sp>
      <p:pic>
        <p:nvPicPr>
          <p:cNvPr id="2" name="Picture 1">
            <a:extLst>
              <a:ext uri="{FF2B5EF4-FFF2-40B4-BE49-F238E27FC236}">
                <a16:creationId xmlns:a16="http://schemas.microsoft.com/office/drawing/2014/main" id="{A04ACC4F-9B77-4177-A19A-8C6768331580}"/>
              </a:ext>
            </a:extLst>
          </p:cNvPr>
          <p:cNvPicPr>
            <a:picLocks noChangeAspect="1"/>
          </p:cNvPicPr>
          <p:nvPr/>
        </p:nvPicPr>
        <p:blipFill>
          <a:blip r:embed="rId4"/>
          <a:stretch>
            <a:fillRect/>
          </a:stretch>
        </p:blipFill>
        <p:spPr>
          <a:xfrm>
            <a:off x="2747961" y="2094940"/>
            <a:ext cx="3648075" cy="2495550"/>
          </a:xfrm>
          <a:prstGeom prst="rect">
            <a:avLst/>
          </a:prstGeom>
        </p:spPr>
      </p:pic>
    </p:spTree>
    <p:custDataLst>
      <p:tags r:id="rId1"/>
    </p:custDataLst>
    <p:extLst>
      <p:ext uri="{BB962C8B-B14F-4D97-AF65-F5344CB8AC3E}">
        <p14:creationId xmlns:p14="http://schemas.microsoft.com/office/powerpoint/2010/main" val="370436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36444"/>
          </a:xfrm>
        </p:spPr>
        <p:txBody>
          <a:bodyPr/>
          <a:lstStyle/>
          <a:p>
            <a:pPr marL="0" indent="0" algn="l"/>
            <a:r>
              <a:rPr lang="en-US" sz="1600" dirty="0">
                <a:solidFill>
                  <a:srgbClr val="000000"/>
                </a:solidFill>
              </a:rPr>
              <a:t>The </a:t>
            </a:r>
            <a:r>
              <a:rPr lang="en-US" sz="1600" b="1" dirty="0">
                <a:solidFill>
                  <a:srgbClr val="000000"/>
                </a:solidFill>
              </a:rPr>
              <a:t>show running-config</a:t>
            </a:r>
            <a:r>
              <a:rPr lang="en-US" sz="1600" dirty="0">
                <a:solidFill>
                  <a:srgbClr val="000000"/>
                </a:solidFill>
              </a:rPr>
              <a:t> command can be used to validate what was configured. The command also displays configured remarks.</a:t>
            </a:r>
          </a:p>
        </p:txBody>
      </p:sp>
      <p:pic>
        <p:nvPicPr>
          <p:cNvPr id="2" name="Picture 1">
            <a:extLst>
              <a:ext uri="{FF2B5EF4-FFF2-40B4-BE49-F238E27FC236}">
                <a16:creationId xmlns:a16="http://schemas.microsoft.com/office/drawing/2014/main" id="{B8B8ED9D-E077-4286-821D-1843DF13E699}"/>
              </a:ext>
            </a:extLst>
          </p:cNvPr>
          <p:cNvPicPr>
            <a:picLocks noChangeAspect="1"/>
          </p:cNvPicPr>
          <p:nvPr/>
        </p:nvPicPr>
        <p:blipFill>
          <a:blip r:embed="rId4"/>
          <a:stretch>
            <a:fillRect/>
          </a:stretch>
        </p:blipFill>
        <p:spPr>
          <a:xfrm>
            <a:off x="2786061" y="1568543"/>
            <a:ext cx="3571875" cy="2867025"/>
          </a:xfrm>
          <a:prstGeom prst="rect">
            <a:avLst/>
          </a:prstGeom>
        </p:spPr>
      </p:pic>
    </p:spTree>
    <p:custDataLst>
      <p:tags r:id="rId1"/>
    </p:custDataLst>
    <p:extLst>
      <p:ext uri="{BB962C8B-B14F-4D97-AF65-F5344CB8AC3E}">
        <p14:creationId xmlns:p14="http://schemas.microsoft.com/office/powerpoint/2010/main" val="214490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6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9197</TotalTime>
  <Words>2982</Words>
  <Application>Microsoft Macintosh PowerPoint</Application>
  <PresentationFormat>Prezentácia na obrazovke (16:9)</PresentationFormat>
  <Paragraphs>319</Paragraphs>
  <Slides>38</Slides>
  <Notes>38</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38</vt:i4>
      </vt:variant>
    </vt:vector>
  </HeadingPairs>
  <TitlesOfParts>
    <vt:vector size="43" baseType="lpstr">
      <vt:lpstr>Arial</vt:lpstr>
      <vt:lpstr>Calibri</vt:lpstr>
      <vt:lpstr>CiscoSans ExtraLight</vt:lpstr>
      <vt:lpstr>Wingdings</vt:lpstr>
      <vt:lpstr>Default Theme</vt:lpstr>
      <vt:lpstr>Module 5: ACLs for IPv4 Configuration</vt:lpstr>
      <vt:lpstr>Module Objectives</vt:lpstr>
      <vt:lpstr>5.1 Configure Standard IPv4 ACLs</vt:lpstr>
      <vt:lpstr>Configure Standard IPv4 ACLs Create an ACL</vt:lpstr>
      <vt:lpstr>Configure Standard IPv4 ACLs Numbered Standard IPv4 ACL Syntax</vt:lpstr>
      <vt:lpstr>Configure Standard IPv4 ACLs Named Standard IPv4 ACL Syntax</vt:lpstr>
      <vt:lpstr>Configure Standard IPv4 ACLs Apply a Standard IPv4 ACL</vt:lpstr>
      <vt:lpstr>Configure Standard IPv4 ACLs Numbered Standard ACL Example</vt:lpstr>
      <vt:lpstr>Configure Standard IPv4 ACLs Numbered Standard ACL Example (Cont.)</vt:lpstr>
      <vt:lpstr>Configure Standard IPv4 ACLs Named Standard ACL Example</vt:lpstr>
      <vt:lpstr>Configure Standard IPv4 ACLs Named Standard ACL Example (Cont.)</vt:lpstr>
      <vt:lpstr>5.2 Modify IPv4 ACLs</vt:lpstr>
      <vt:lpstr>Modify IPv4 ACLs Two Methods to Modify an ACL</vt:lpstr>
      <vt:lpstr>Modify IPv4 ACLs Text Editor Method</vt:lpstr>
      <vt:lpstr>Modify IPv4 ACLs Sequence Number Method</vt:lpstr>
      <vt:lpstr>Modify IPv4 ACLs Modify a Named ACL Example</vt:lpstr>
      <vt:lpstr>Modify IPv4 ACLs ACL Statistics</vt:lpstr>
      <vt:lpstr>5.3 Secure VTY Ports with a Standard IPv4 ACL</vt:lpstr>
      <vt:lpstr>Secure VTY Ports with a Standard IPv4 ACL The access-class Command</vt:lpstr>
      <vt:lpstr>Secure VTY Ports with a Standard IPv4 ACL Secure VTY Access Example</vt:lpstr>
      <vt:lpstr>Secure VTY Ports with a Standard IPv4 ACL Verify the VTY Port is Secured</vt:lpstr>
      <vt:lpstr>5.4 Configure Extended IPv4 ACLs</vt:lpstr>
      <vt:lpstr>Configure Extended IPv4 ACLs Extended ACLs</vt:lpstr>
      <vt:lpstr>Configure Extended IPv4 ACLs Protocols and Ports</vt:lpstr>
      <vt:lpstr>Configure Extended IPv4 ACLs Protocols and Ports (Cont.)</vt:lpstr>
      <vt:lpstr>Configure Extended IPv4 ACLs Protocols and Port Numbers Configuration Examples</vt:lpstr>
      <vt:lpstr>Configure Extended IPv4 ACLs Apply a Numbered Extended IPv4 ACL</vt:lpstr>
      <vt:lpstr>Configure Extended IPv4 ACLs TCP Established Extended ACL</vt:lpstr>
      <vt:lpstr>Configure Extended IPv4 ACLs TCP Established Extended ACL (Cont.)</vt:lpstr>
      <vt:lpstr>Configure Extended IPv4 ACLs Named Extended IPv4 ACL Syntax</vt:lpstr>
      <vt:lpstr>Configure Extended IPv4 ACLs Named Extended IPv4 ACL Example</vt:lpstr>
      <vt:lpstr>Configure Extended IPv4 ACLs Named Extended IPv4 ACL Example (Cont.)</vt:lpstr>
      <vt:lpstr>Configure Extended IPv4 ACLs Another Extended IPv4 ACL Example</vt:lpstr>
      <vt:lpstr>Configure Extended IPv4 ACLs Another Extended IPv4 ACL Example (Cont.)</vt:lpstr>
      <vt:lpstr>Configure Extended IPv4 ACLs Verify Extended ACLs</vt:lpstr>
      <vt:lpstr>Configure Extended IPv4 ACLs Verify Extended ACLs (Cont.)</vt:lpstr>
      <vt:lpstr>Configure Extended IPv4 ACLs Verify Extended ACLs (Cont.)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Július Baráth</cp:lastModifiedBy>
  <cp:revision>281</cp:revision>
  <dcterms:created xsi:type="dcterms:W3CDTF">2019-10-18T06:21:22Z</dcterms:created>
  <dcterms:modified xsi:type="dcterms:W3CDTF">2025-09-08T12:22:09Z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
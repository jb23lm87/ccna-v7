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notesSlides/notesSlide3.xml" ContentType="application/vnd.openxmlformats-officedocument.presentationml.notesSlide+xml"/>
  <Override PartName="/ppt/tags/tag5.xml" ContentType="application/vnd.openxmlformats-officedocument.presentationml.tags+xml"/>
  <Override PartName="/ppt/notesSlides/notesSlide4.xml" ContentType="application/vnd.openxmlformats-officedocument.presentationml.notesSlide+xml"/>
  <Override PartName="/ppt/tags/tag6.xml" ContentType="application/vnd.openxmlformats-officedocument.presentationml.tags+xml"/>
  <Override PartName="/ppt/notesSlides/notesSlide5.xml" ContentType="application/vnd.openxmlformats-officedocument.presentationml.notesSlide+xml"/>
  <Override PartName="/ppt/tags/tag7.xml" ContentType="application/vnd.openxmlformats-officedocument.presentationml.tags+xml"/>
  <Override PartName="/ppt/notesSlides/notesSlide6.xml" ContentType="application/vnd.openxmlformats-officedocument.presentationml.notesSlide+xml"/>
  <Override PartName="/ppt/tags/tag8.xml" ContentType="application/vnd.openxmlformats-officedocument.presentationml.tags+xml"/>
  <Override PartName="/ppt/notesSlides/notesSlide7.xml" ContentType="application/vnd.openxmlformats-officedocument.presentationml.notesSlide+xml"/>
  <Override PartName="/ppt/tags/tag9.xml" ContentType="application/vnd.openxmlformats-officedocument.presentationml.tags+xml"/>
  <Override PartName="/ppt/notesSlides/notesSlide8.xml" ContentType="application/vnd.openxmlformats-officedocument.presentationml.notesSlide+xml"/>
  <Override PartName="/ppt/tags/tag10.xml" ContentType="application/vnd.openxmlformats-officedocument.presentationml.tags+xml"/>
  <Override PartName="/ppt/notesSlides/notesSlide9.xml" ContentType="application/vnd.openxmlformats-officedocument.presentationml.notesSlide+xml"/>
  <Override PartName="/ppt/tags/tag11.xml" ContentType="application/vnd.openxmlformats-officedocument.presentationml.tags+xml"/>
  <Override PartName="/ppt/notesSlides/notesSlide10.xml" ContentType="application/vnd.openxmlformats-officedocument.presentationml.notesSlide+xml"/>
  <Override PartName="/ppt/tags/tag12.xml" ContentType="application/vnd.openxmlformats-officedocument.presentationml.tags+xml"/>
  <Override PartName="/ppt/notesSlides/notesSlide11.xml" ContentType="application/vnd.openxmlformats-officedocument.presentationml.notesSlide+xml"/>
  <Override PartName="/ppt/tags/tag13.xml" ContentType="application/vnd.openxmlformats-officedocument.presentationml.tags+xml"/>
  <Override PartName="/ppt/notesSlides/notesSlide12.xml" ContentType="application/vnd.openxmlformats-officedocument.presentationml.notesSlide+xml"/>
  <Override PartName="/ppt/tags/tag14.xml" ContentType="application/vnd.openxmlformats-officedocument.presentationml.tags+xml"/>
  <Override PartName="/ppt/notesSlides/notesSlide13.xml" ContentType="application/vnd.openxmlformats-officedocument.presentationml.notesSlide+xml"/>
  <Override PartName="/ppt/tags/tag15.xml" ContentType="application/vnd.openxmlformats-officedocument.presentationml.tags+xml"/>
  <Override PartName="/ppt/notesSlides/notesSlide14.xml" ContentType="application/vnd.openxmlformats-officedocument.presentationml.notesSlide+xml"/>
  <Override PartName="/ppt/tags/tag16.xml" ContentType="application/vnd.openxmlformats-officedocument.presentationml.tags+xml"/>
  <Override PartName="/ppt/notesSlides/notesSlide15.xml" ContentType="application/vnd.openxmlformats-officedocument.presentationml.notesSlide+xml"/>
  <Override PartName="/ppt/tags/tag17.xml" ContentType="application/vnd.openxmlformats-officedocument.presentationml.tags+xml"/>
  <Override PartName="/ppt/notesSlides/notesSlide16.xml" ContentType="application/vnd.openxmlformats-officedocument.presentationml.notesSlide+xml"/>
  <Override PartName="/ppt/webextensions/webextension1.xml" ContentType="application/vnd.ms-office.webextension+xml"/>
  <Override PartName="/ppt/tags/tag18.xml" ContentType="application/vnd.openxmlformats-officedocument.presentationml.tags+xml"/>
  <Override PartName="/ppt/notesSlides/notesSlide17.xml" ContentType="application/vnd.openxmlformats-officedocument.presentationml.notesSlide+xml"/>
  <Override PartName="/ppt/tags/tag19.xml" ContentType="application/vnd.openxmlformats-officedocument.presentationml.tags+xml"/>
  <Override PartName="/ppt/notesSlides/notesSlide18.xml" ContentType="application/vnd.openxmlformats-officedocument.presentationml.notesSlide+xml"/>
  <Override PartName="/ppt/tags/tag20.xml" ContentType="application/vnd.openxmlformats-officedocument.presentationml.tags+xml"/>
  <Override PartName="/ppt/notesSlides/notesSlide19.xml" ContentType="application/vnd.openxmlformats-officedocument.presentationml.notesSlide+xml"/>
  <Override PartName="/ppt/tags/tag21.xml" ContentType="application/vnd.openxmlformats-officedocument.presentationml.tags+xml"/>
  <Override PartName="/ppt/notesSlides/notesSlide20.xml" ContentType="application/vnd.openxmlformats-officedocument.presentationml.notesSlide+xml"/>
  <Override PartName="/ppt/tags/tag22.xml" ContentType="application/vnd.openxmlformats-officedocument.presentationml.tags+xml"/>
  <Override PartName="/ppt/notesSlides/notesSlide21.xml" ContentType="application/vnd.openxmlformats-officedocument.presentationml.notesSlide+xml"/>
  <Override PartName="/ppt/tags/tag23.xml" ContentType="application/vnd.openxmlformats-officedocument.presentationml.tags+xml"/>
  <Override PartName="/ppt/notesSlides/notesSlide22.xml" ContentType="application/vnd.openxmlformats-officedocument.presentationml.notesSlide+xml"/>
  <Override PartName="/ppt/tags/tag24.xml" ContentType="application/vnd.openxmlformats-officedocument.presentationml.tags+xml"/>
  <Override PartName="/ppt/notesSlides/notesSlide23.xml" ContentType="application/vnd.openxmlformats-officedocument.presentationml.notesSlide+xml"/>
  <Override PartName="/ppt/tags/tag25.xml" ContentType="application/vnd.openxmlformats-officedocument.presentationml.tags+xml"/>
  <Override PartName="/ppt/notesSlides/notesSlide24.xml" ContentType="application/vnd.openxmlformats-officedocument.presentationml.notesSlide+xml"/>
  <Override PartName="/ppt/tags/tag26.xml" ContentType="application/vnd.openxmlformats-officedocument.presentationml.tags+xml"/>
  <Override PartName="/ppt/notesSlides/notesSlide25.xml" ContentType="application/vnd.openxmlformats-officedocument.presentationml.notesSlide+xml"/>
  <Override PartName="/ppt/tags/tag27.xml" ContentType="application/vnd.openxmlformats-officedocument.presentationml.tags+xml"/>
  <Override PartName="/ppt/notesSlides/notesSlide26.xml" ContentType="application/vnd.openxmlformats-officedocument.presentationml.notesSlide+xml"/>
  <Override PartName="/ppt/tags/tag28.xml" ContentType="application/vnd.openxmlformats-officedocument.presentationml.tags+xml"/>
  <Override PartName="/ppt/notesSlides/notesSlide27.xml" ContentType="application/vnd.openxmlformats-officedocument.presentationml.notesSlide+xml"/>
  <Override PartName="/ppt/webextensions/webextension2.xml" ContentType="application/vnd.ms-office.webextension+xml"/>
  <Override PartName="/ppt/tags/tag29.xml" ContentType="application/vnd.openxmlformats-officedocument.presentationml.tags+xml"/>
  <Override PartName="/ppt/notesSlides/notesSlide28.xml" ContentType="application/vnd.openxmlformats-officedocument.presentationml.notesSlide+xml"/>
  <Override PartName="/ppt/tags/tag30.xml" ContentType="application/vnd.openxmlformats-officedocument.presentationml.tags+xml"/>
  <Override PartName="/ppt/notesSlides/notesSlide29.xml" ContentType="application/vnd.openxmlformats-officedocument.presentationml.notesSlide+xml"/>
  <Override PartName="/ppt/tags/tag31.xml" ContentType="application/vnd.openxmlformats-officedocument.presentationml.tags+xml"/>
  <Override PartName="/ppt/notesSlides/notesSlide30.xml" ContentType="application/vnd.openxmlformats-officedocument.presentationml.notesSlide+xml"/>
  <Override PartName="/ppt/tags/tag32.xml" ContentType="application/vnd.openxmlformats-officedocument.presentationml.tags+xml"/>
  <Override PartName="/ppt/notesSlides/notesSlide31.xml" ContentType="application/vnd.openxmlformats-officedocument.presentationml.notesSlide+xml"/>
  <Override PartName="/ppt/tags/tag33.xml" ContentType="application/vnd.openxmlformats-officedocument.presentationml.tags+xml"/>
  <Override PartName="/ppt/notesSlides/notesSlide32.xml" ContentType="application/vnd.openxmlformats-officedocument.presentationml.notesSlide+xml"/>
  <Override PartName="/ppt/tags/tag34.xml" ContentType="application/vnd.openxmlformats-officedocument.presentationml.tags+xml"/>
  <Override PartName="/ppt/notesSlides/notesSlide33.xml" ContentType="application/vnd.openxmlformats-officedocument.presentationml.notesSlide+xml"/>
  <Override PartName="/ppt/tags/tag35.xml" ContentType="application/vnd.openxmlformats-officedocument.presentationml.tags+xml"/>
  <Override PartName="/ppt/notesSlides/notesSlide34.xml" ContentType="application/vnd.openxmlformats-officedocument.presentationml.notesSlide+xml"/>
  <Override PartName="/ppt/tags/tag36.xml" ContentType="application/vnd.openxmlformats-officedocument.presentationml.tags+xml"/>
  <Override PartName="/ppt/notesSlides/notesSlide35.xml" ContentType="application/vnd.openxmlformats-officedocument.presentationml.notesSlide+xml"/>
  <Override PartName="/ppt/tags/tag37.xml" ContentType="application/vnd.openxmlformats-officedocument.presentationml.tags+xml"/>
  <Override PartName="/ppt/notesSlides/notesSlide36.xml" ContentType="application/vnd.openxmlformats-officedocument.presentationml.notesSlide+xml"/>
  <Override PartName="/ppt/tags/tag38.xml" ContentType="application/vnd.openxmlformats-officedocument.presentationml.tags+xml"/>
  <Override PartName="/ppt/notesSlides/notesSlide37.xml" ContentType="application/vnd.openxmlformats-officedocument.presentationml.notesSlide+xml"/>
  <Override PartName="/ppt/tags/tag39.xml" ContentType="application/vnd.openxmlformats-officedocument.presentationml.tags+xml"/>
  <Override PartName="/ppt/notesSlides/notesSlide38.xml" ContentType="application/vnd.openxmlformats-officedocument.presentationml.notesSlide+xml"/>
  <Override PartName="/ppt/webextensions/webextension3.xml" ContentType="application/vnd.ms-office.webextension+xml"/>
  <Override PartName="/ppt/tags/tag40.xml" ContentType="application/vnd.openxmlformats-officedocument.presentationml.tags+xml"/>
  <Override PartName="/ppt/notesSlides/notesSlide3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00" r:id="rId1"/>
  </p:sldMasterIdLst>
  <p:notesMasterIdLst>
    <p:notesMasterId r:id="rId44"/>
  </p:notesMasterIdLst>
  <p:sldIdLst>
    <p:sldId id="876" r:id="rId2"/>
    <p:sldId id="860" r:id="rId3"/>
    <p:sldId id="759" r:id="rId4"/>
    <p:sldId id="1279" r:id="rId5"/>
    <p:sldId id="1280" r:id="rId6"/>
    <p:sldId id="1281" r:id="rId7"/>
    <p:sldId id="1282" r:id="rId8"/>
    <p:sldId id="1056" r:id="rId9"/>
    <p:sldId id="1187" r:id="rId10"/>
    <p:sldId id="1283" r:id="rId11"/>
    <p:sldId id="1284" r:id="rId12"/>
    <p:sldId id="1285" r:id="rId13"/>
    <p:sldId id="1286" r:id="rId14"/>
    <p:sldId id="1189" r:id="rId15"/>
    <p:sldId id="1288" r:id="rId16"/>
    <p:sldId id="1287" r:id="rId17"/>
    <p:sldId id="1308" r:id="rId18"/>
    <p:sldId id="1103" r:id="rId19"/>
    <p:sldId id="1289" r:id="rId20"/>
    <p:sldId id="1290" r:id="rId21"/>
    <p:sldId id="1104" r:id="rId22"/>
    <p:sldId id="1291" r:id="rId23"/>
    <p:sldId id="1292" r:id="rId24"/>
    <p:sldId id="1293" r:id="rId25"/>
    <p:sldId id="1294" r:id="rId26"/>
    <p:sldId id="1295" r:id="rId27"/>
    <p:sldId id="1296" r:id="rId28"/>
    <p:sldId id="1297" r:id="rId29"/>
    <p:sldId id="1309" r:id="rId30"/>
    <p:sldId id="1271" r:id="rId31"/>
    <p:sldId id="1277" r:id="rId32"/>
    <p:sldId id="1298" r:id="rId33"/>
    <p:sldId id="1300" r:id="rId34"/>
    <p:sldId id="1301" r:id="rId35"/>
    <p:sldId id="1302" r:id="rId36"/>
    <p:sldId id="1303" r:id="rId37"/>
    <p:sldId id="1304" r:id="rId38"/>
    <p:sldId id="1305" r:id="rId39"/>
    <p:sldId id="1306" r:id="rId40"/>
    <p:sldId id="1307" r:id="rId41"/>
    <p:sldId id="1310" r:id="rId42"/>
    <p:sldId id="291" r:id="rId43"/>
  </p:sldIdLst>
  <p:sldSz cx="9144000" cy="5143500" type="screen16x9"/>
  <p:notesSz cx="6858000" cy="9144000"/>
  <p:custDataLst>
    <p:tags r:id="rId45"/>
  </p:custDataLst>
  <p:defaultTextStyle>
    <a:defPPr>
      <a:defRPr lang="en-US"/>
    </a:defPPr>
    <a:lvl1pPr algn="l" defTabSz="457200" rtl="0" fontAlgn="base">
      <a:spcBef>
        <a:spcPct val="0"/>
      </a:spcBef>
      <a:spcAft>
        <a:spcPct val="0"/>
      </a:spcAft>
      <a:defRPr kern="1200">
        <a:solidFill>
          <a:schemeClr val="tx1"/>
        </a:solidFill>
        <a:latin typeface="Arial" charset="0"/>
        <a:ea typeface="ＭＳ Ｐゴシック" pitchFamily="34" charset="-128"/>
        <a:cs typeface="+mn-cs"/>
      </a:defRPr>
    </a:lvl1pPr>
    <a:lvl2pPr marL="457200" algn="l" defTabSz="457200" rtl="0" fontAlgn="base">
      <a:spcBef>
        <a:spcPct val="0"/>
      </a:spcBef>
      <a:spcAft>
        <a:spcPct val="0"/>
      </a:spcAft>
      <a:defRPr kern="1200">
        <a:solidFill>
          <a:schemeClr val="tx1"/>
        </a:solidFill>
        <a:latin typeface="Arial" charset="0"/>
        <a:ea typeface="ＭＳ Ｐゴシック" pitchFamily="34" charset="-128"/>
        <a:cs typeface="+mn-cs"/>
      </a:defRPr>
    </a:lvl2pPr>
    <a:lvl3pPr marL="914400" algn="l" defTabSz="457200" rtl="0" fontAlgn="base">
      <a:spcBef>
        <a:spcPct val="0"/>
      </a:spcBef>
      <a:spcAft>
        <a:spcPct val="0"/>
      </a:spcAft>
      <a:defRPr kern="1200">
        <a:solidFill>
          <a:schemeClr val="tx1"/>
        </a:solidFill>
        <a:latin typeface="Arial" charset="0"/>
        <a:ea typeface="ＭＳ Ｐゴシック" pitchFamily="34" charset="-128"/>
        <a:cs typeface="+mn-cs"/>
      </a:defRPr>
    </a:lvl3pPr>
    <a:lvl4pPr marL="1371600" algn="l" defTabSz="457200" rtl="0" fontAlgn="base">
      <a:spcBef>
        <a:spcPct val="0"/>
      </a:spcBef>
      <a:spcAft>
        <a:spcPct val="0"/>
      </a:spcAft>
      <a:defRPr kern="1200">
        <a:solidFill>
          <a:schemeClr val="tx1"/>
        </a:solidFill>
        <a:latin typeface="Arial" charset="0"/>
        <a:ea typeface="ＭＳ Ｐゴシック" pitchFamily="34" charset="-128"/>
        <a:cs typeface="+mn-cs"/>
      </a:defRPr>
    </a:lvl4pPr>
    <a:lvl5pPr marL="1828800" algn="l" defTabSz="457200" rtl="0" fontAlgn="base">
      <a:spcBef>
        <a:spcPct val="0"/>
      </a:spcBef>
      <a:spcAft>
        <a:spcPct val="0"/>
      </a:spcAft>
      <a:defRPr kern="1200">
        <a:solidFill>
          <a:schemeClr val="tx1"/>
        </a:solidFill>
        <a:latin typeface="Arial" charset="0"/>
        <a:ea typeface="ＭＳ Ｐゴシック" pitchFamily="34" charset="-128"/>
        <a:cs typeface="+mn-cs"/>
      </a:defRPr>
    </a:lvl5pPr>
    <a:lvl6pPr marL="2286000" algn="l" defTabSz="914400" rtl="0" eaLnBrk="1" latinLnBrk="0" hangingPunct="1">
      <a:defRPr kern="1200">
        <a:solidFill>
          <a:schemeClr val="tx1"/>
        </a:solidFill>
        <a:latin typeface="Arial" charset="0"/>
        <a:ea typeface="ＭＳ Ｐゴシック" pitchFamily="34" charset="-128"/>
        <a:cs typeface="+mn-cs"/>
      </a:defRPr>
    </a:lvl6pPr>
    <a:lvl7pPr marL="2743200" algn="l" defTabSz="914400" rtl="0" eaLnBrk="1" latinLnBrk="0" hangingPunct="1">
      <a:defRPr kern="1200">
        <a:solidFill>
          <a:schemeClr val="tx1"/>
        </a:solidFill>
        <a:latin typeface="Arial" charset="0"/>
        <a:ea typeface="ＭＳ Ｐゴシック" pitchFamily="34" charset="-128"/>
        <a:cs typeface="+mn-cs"/>
      </a:defRPr>
    </a:lvl7pPr>
    <a:lvl8pPr marL="3200400" algn="l" defTabSz="914400" rtl="0" eaLnBrk="1" latinLnBrk="0" hangingPunct="1">
      <a:defRPr kern="1200">
        <a:solidFill>
          <a:schemeClr val="tx1"/>
        </a:solidFill>
        <a:latin typeface="Arial" charset="0"/>
        <a:ea typeface="ＭＳ Ｐゴシック" pitchFamily="34" charset="-128"/>
        <a:cs typeface="+mn-cs"/>
      </a:defRPr>
    </a:lvl8pPr>
    <a:lvl9pPr marL="3657600" algn="l" defTabSz="914400" rtl="0" eaLnBrk="1" latinLnBrk="0" hangingPunct="1">
      <a:defRPr kern="1200">
        <a:solidFill>
          <a:schemeClr val="tx1"/>
        </a:solidFill>
        <a:latin typeface="Arial" charset="0"/>
        <a:ea typeface="ＭＳ Ｐゴシック" pitchFamily="34" charset="-128"/>
        <a:cs typeface="+mn-cs"/>
      </a:defRPr>
    </a:lvl9pPr>
  </p:defaultTextStyle>
  <p:extLst>
    <p:ext uri="{EFAFB233-063F-42B5-8137-9DF3F51BA10A}">
      <p15:sldGuideLst xmlns:p15="http://schemas.microsoft.com/office/powerpoint/2012/main">
        <p15:guide id="1" orient="horz" pos="1620">
          <p15:clr>
            <a:srgbClr val="A4A3A4"/>
          </p15:clr>
        </p15:guide>
        <p15:guide id="2" pos="336">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Barbara Reif" initials="BR" lastIdx="3" clrIdx="0"/>
  <p:cmAuthor id="1" name="Jane Gibbons -X (jagibbon - DEL ORO CONSULTING INC at Cisco)" initials="JG-(-DOCIaC" lastIdx="28" clrIdx="1">
    <p:extLst>
      <p:ext uri="{19B8F6BF-5375-455C-9EA6-DF929625EA0E}">
        <p15:presenceInfo xmlns:p15="http://schemas.microsoft.com/office/powerpoint/2012/main" userId="S-1-5-21-1708537768-1303643608-725345543-200204" providerId="AD"/>
      </p:ext>
    </p:extLst>
  </p:cmAuthor>
  <p:cmAuthor id="2" name="Bob Vachon" initials="BV" lastIdx="24" clrIdx="2">
    <p:extLst>
      <p:ext uri="{19B8F6BF-5375-455C-9EA6-DF929625EA0E}">
        <p15:presenceInfo xmlns:p15="http://schemas.microsoft.com/office/powerpoint/2012/main" userId="c7abe87968a0b633" providerId="Windows Live"/>
      </p:ext>
    </p:extLst>
  </p:cmAuthor>
  <p:cmAuthor id="3" name="Sue Livingston -X (suliving - UNICON INC at Cisco)" initials="SL-(-UIaC" lastIdx="15" clrIdx="3">
    <p:extLst>
      <p:ext uri="{19B8F6BF-5375-455C-9EA6-DF929625EA0E}">
        <p15:presenceInfo xmlns:p15="http://schemas.microsoft.com/office/powerpoint/2012/main" userId="S::suliving@cisco.com::dc701d48-dd51-411a-9041-b7f1328f1486" providerId="AD"/>
      </p:ext>
    </p:extLst>
  </p:cmAuthor>
  <p:cmAuthor id="4" name="jagibbon" initials="jmg" lastIdx="8" clrIdx="4">
    <p:extLst>
      <p:ext uri="{19B8F6BF-5375-455C-9EA6-DF929625EA0E}">
        <p15:presenceInfo xmlns:p15="http://schemas.microsoft.com/office/powerpoint/2012/main" userId="jagibbon"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0000CC"/>
    <a:srgbClr val="000099"/>
    <a:srgbClr val="CC99FF"/>
    <a:srgbClr val="CC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F9C5AFD-44B5-264D-8824-1A64337AC530}" v="6" dt="2025-11-06T08:42:13.03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vertBarState="minimized">
    <p:restoredLeft sz="7609" autoAdjust="0"/>
    <p:restoredTop sz="96262" autoAdjust="0"/>
  </p:normalViewPr>
  <p:slideViewPr>
    <p:cSldViewPr snapToGrid="0" showGuides="1">
      <p:cViewPr varScale="1">
        <p:scale>
          <a:sx n="219" d="100"/>
          <a:sy n="219" d="100"/>
        </p:scale>
        <p:origin x="400" y="176"/>
      </p:cViewPr>
      <p:guideLst>
        <p:guide orient="horz" pos="1620"/>
        <p:guide pos="336"/>
      </p:guideLst>
    </p:cSldViewPr>
  </p:slideViewPr>
  <p:outlineViewPr>
    <p:cViewPr>
      <p:scale>
        <a:sx n="33" d="100"/>
        <a:sy n="33" d="100"/>
      </p:scale>
      <p:origin x="0" y="-226704"/>
    </p:cViewPr>
  </p:outlineViewPr>
  <p:notesTextViewPr>
    <p:cViewPr>
      <p:scale>
        <a:sx n="1" d="1"/>
        <a:sy n="1" d="1"/>
      </p:scale>
      <p:origin x="0" y="0"/>
    </p:cViewPr>
  </p:notesTextViewPr>
  <p:sorterViewPr>
    <p:cViewPr>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gs" Target="tags/tag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52"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51" Type="http://schemas.microsoft.com/office/2016/11/relationships/changesInfo" Target="changesInfos/changesInfo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commentAuthors" Target="commentAuthor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aráth, Július" userId="aebde9b9-dccc-4475-a9ac-c05e78323d7a" providerId="ADAL" clId="{4A0811C8-ED2F-505E-B787-C8270CED5046}"/>
    <pc:docChg chg="custSel modSld">
      <pc:chgData name="Baráth, Július" userId="aebde9b9-dccc-4475-a9ac-c05e78323d7a" providerId="ADAL" clId="{4A0811C8-ED2F-505E-B787-C8270CED5046}" dt="2025-11-06T08:43:03.090" v="132" actId="403"/>
      <pc:docMkLst>
        <pc:docMk/>
      </pc:docMkLst>
      <pc:sldChg chg="modSp mod">
        <pc:chgData name="Baráth, Július" userId="aebde9b9-dccc-4475-a9ac-c05e78323d7a" providerId="ADAL" clId="{4A0811C8-ED2F-505E-B787-C8270CED5046}" dt="2025-11-06T08:20:51.592" v="37" actId="20577"/>
        <pc:sldMkLst>
          <pc:docMk/>
          <pc:sldMk cId="2189838388" sldId="1282"/>
        </pc:sldMkLst>
        <pc:spChg chg="mod">
          <ac:chgData name="Baráth, Július" userId="aebde9b9-dccc-4475-a9ac-c05e78323d7a" providerId="ADAL" clId="{4A0811C8-ED2F-505E-B787-C8270CED5046}" dt="2025-11-06T08:20:51.592" v="37" actId="20577"/>
          <ac:spMkLst>
            <pc:docMk/>
            <pc:sldMk cId="2189838388" sldId="1282"/>
            <ac:spMk id="5" creationId="{9CE6D849-1F60-FA42-85BD-10F641257768}"/>
          </ac:spMkLst>
        </pc:spChg>
      </pc:sldChg>
      <pc:sldChg chg="addSp modSp mod">
        <pc:chgData name="Baráth, Július" userId="aebde9b9-dccc-4475-a9ac-c05e78323d7a" providerId="ADAL" clId="{4A0811C8-ED2F-505E-B787-C8270CED5046}" dt="2025-11-06T08:25:00.231" v="100" actId="114"/>
        <pc:sldMkLst>
          <pc:docMk/>
          <pc:sldMk cId="2497983819" sldId="1284"/>
        </pc:sldMkLst>
        <pc:spChg chg="add mod">
          <ac:chgData name="Baráth, Július" userId="aebde9b9-dccc-4475-a9ac-c05e78323d7a" providerId="ADAL" clId="{4A0811C8-ED2F-505E-B787-C8270CED5046}" dt="2025-11-06T08:19:54.897" v="34" actId="208"/>
          <ac:spMkLst>
            <pc:docMk/>
            <pc:sldMk cId="2497983819" sldId="1284"/>
            <ac:spMk id="2" creationId="{5E387964-7AD4-E343-04B4-07CA40FB197F}"/>
          </ac:spMkLst>
        </pc:spChg>
        <pc:spChg chg="add mod">
          <ac:chgData name="Baráth, Július" userId="aebde9b9-dccc-4475-a9ac-c05e78323d7a" providerId="ADAL" clId="{4A0811C8-ED2F-505E-B787-C8270CED5046}" dt="2025-11-06T08:25:00.231" v="100" actId="114"/>
          <ac:spMkLst>
            <pc:docMk/>
            <pc:sldMk cId="2497983819" sldId="1284"/>
            <ac:spMk id="10" creationId="{68AA0D44-1EA9-1DEE-A8AC-0F77623B4A55}"/>
          </ac:spMkLst>
        </pc:spChg>
        <pc:cxnChg chg="add mod">
          <ac:chgData name="Baráth, Július" userId="aebde9b9-dccc-4475-a9ac-c05e78323d7a" providerId="ADAL" clId="{4A0811C8-ED2F-505E-B787-C8270CED5046}" dt="2025-11-06T08:20:08.978" v="35" actId="11529"/>
          <ac:cxnSpMkLst>
            <pc:docMk/>
            <pc:sldMk cId="2497983819" sldId="1284"/>
            <ac:cxnSpMk id="6" creationId="{A4620A5F-2882-DE8B-ED5A-CB4A275EC1F8}"/>
          </ac:cxnSpMkLst>
        </pc:cxnChg>
        <pc:cxnChg chg="add">
          <ac:chgData name="Baráth, Július" userId="aebde9b9-dccc-4475-a9ac-c05e78323d7a" providerId="ADAL" clId="{4A0811C8-ED2F-505E-B787-C8270CED5046}" dt="2025-11-06T08:20:21.971" v="36" actId="11529"/>
          <ac:cxnSpMkLst>
            <pc:docMk/>
            <pc:sldMk cId="2497983819" sldId="1284"/>
            <ac:cxnSpMk id="9" creationId="{08D02B1F-F53F-4ACB-3DE0-59DDA2D6B4D2}"/>
          </ac:cxnSpMkLst>
        </pc:cxnChg>
      </pc:sldChg>
      <pc:sldChg chg="modSp mod">
        <pc:chgData name="Baráth, Július" userId="aebde9b9-dccc-4475-a9ac-c05e78323d7a" providerId="ADAL" clId="{4A0811C8-ED2F-505E-B787-C8270CED5046}" dt="2025-11-06T08:43:03.090" v="132" actId="403"/>
        <pc:sldMkLst>
          <pc:docMk/>
          <pc:sldMk cId="1586999348" sldId="1295"/>
        </pc:sldMkLst>
        <pc:spChg chg="mod">
          <ac:chgData name="Baráth, Július" userId="aebde9b9-dccc-4475-a9ac-c05e78323d7a" providerId="ADAL" clId="{4A0811C8-ED2F-505E-B787-C8270CED5046}" dt="2025-11-06T08:43:03.090" v="132" actId="403"/>
          <ac:spMkLst>
            <pc:docMk/>
            <pc:sldMk cId="1586999348" sldId="1295"/>
            <ac:spMk id="5" creationId="{8D3751CD-2C7C-3F42-9743-9D1F6A9655ED}"/>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36337D9-3022-3D41-8D8A-BDF2F3B0DD8E}" type="datetimeFigureOut">
              <a:rPr lang="en-US" smtClean="0"/>
              <a:t>11/6/25</a:t>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641018C-6CAF-B84E-B92C-ECB119457FBA}" type="slidenum">
              <a:rPr lang="en-US" smtClean="0"/>
              <a:t>‹#›</a:t>
            </a:fld>
            <a:endParaRPr lang="en-US" dirty="0"/>
          </a:p>
        </p:txBody>
      </p:sp>
    </p:spTree>
    <p:extLst>
      <p:ext uri="{BB962C8B-B14F-4D97-AF65-F5344CB8AC3E}">
        <p14:creationId xmlns:p14="http://schemas.microsoft.com/office/powerpoint/2010/main" val="1937564879"/>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b="0" dirty="0"/>
              <a:t>Cisco Networking Academy Program</a:t>
            </a:r>
          </a:p>
          <a:p>
            <a:pPr>
              <a:spcBef>
                <a:spcPts val="0"/>
              </a:spcBef>
            </a:pPr>
            <a:r>
              <a:rPr lang="en-US" dirty="0">
                <a:solidFill>
                  <a:schemeClr val="accent5">
                    <a:lumMod val="40000"/>
                    <a:lumOff val="60000"/>
                  </a:schemeClr>
                </a:solidFill>
              </a:rPr>
              <a:t>Enterprise Networking, Security, and Automationv7.0 (ENSA)</a:t>
            </a:r>
          </a:p>
          <a:p>
            <a:pPr>
              <a:spcBef>
                <a:spcPts val="0"/>
              </a:spcBef>
            </a:pPr>
            <a:r>
              <a:rPr lang="en-US" dirty="0">
                <a:solidFill>
                  <a:schemeClr val="accent5">
                    <a:lumMod val="40000"/>
                    <a:lumOff val="60000"/>
                  </a:schemeClr>
                </a:solidFill>
              </a:rPr>
              <a:t>Module 13: Network Virtualization</a:t>
            </a: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1</a:t>
            </a:fld>
            <a:endParaRPr lang="en-US" dirty="0"/>
          </a:p>
        </p:txBody>
      </p:sp>
    </p:spTree>
    <p:extLst>
      <p:ext uri="{BB962C8B-B14F-4D97-AF65-F5344CB8AC3E}">
        <p14:creationId xmlns:p14="http://schemas.microsoft.com/office/powerpoint/2010/main" val="5081187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a:fld id="{7C839C26-801B-42B6-A101-60F37FE2B0A8}" type="slidenum">
              <a:rPr lang="en-US" sz="800" b="0">
                <a:solidFill>
                  <a:prstClr val="black"/>
                </a:solidFill>
              </a:rPr>
              <a:pPr algn="r"/>
              <a:t>2</a:t>
            </a:fld>
            <a:endParaRPr lang="en-US" sz="800" b="0" dirty="0">
              <a:solidFill>
                <a:prstClr val="black"/>
              </a:solidFill>
            </a:endParaRPr>
          </a:p>
        </p:txBody>
      </p:sp>
      <p:sp>
        <p:nvSpPr>
          <p:cNvPr id="18435" name="Rectangle 2"/>
          <p:cNvSpPr>
            <a:spLocks noGrp="1" noRot="1" noChangeAspect="1" noChangeArrowheads="1" noTextEdit="1"/>
          </p:cNvSpPr>
          <p:nvPr>
            <p:ph type="sldImg"/>
          </p:nvPr>
        </p:nvSpPr>
        <p:spPr>
          <a:ln/>
        </p:spPr>
      </p:sp>
      <p:sp>
        <p:nvSpPr>
          <p:cNvPr id="184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endParaRPr lang="en-GB" dirty="0"/>
          </a:p>
        </p:txBody>
      </p:sp>
    </p:spTree>
    <p:extLst>
      <p:ext uri="{BB962C8B-B14F-4D97-AF65-F5344CB8AC3E}">
        <p14:creationId xmlns:p14="http://schemas.microsoft.com/office/powerpoint/2010/main" val="173444569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 Network Virtualization</a:t>
            </a:r>
          </a:p>
          <a:p>
            <a:r>
              <a:rPr lang="en-US" dirty="0"/>
              <a:t>13.1 - Cloud Computing</a:t>
            </a:r>
          </a:p>
        </p:txBody>
      </p:sp>
      <p:sp>
        <p:nvSpPr>
          <p:cNvPr id="4" name="Slide Number Placeholder 3"/>
          <p:cNvSpPr>
            <a:spLocks noGrp="1"/>
          </p:cNvSpPr>
          <p:nvPr>
            <p:ph type="sldNum" sz="quarter" idx="10"/>
          </p:nvPr>
        </p:nvSpPr>
        <p:spPr/>
        <p:txBody>
          <a:bodyPr/>
          <a:lstStyle/>
          <a:p>
            <a:fld id="{5641018C-6CAF-B84E-B92C-ECB119457FBA}" type="slidenum">
              <a:rPr lang="en-US" smtClean="0"/>
              <a:t>3</a:t>
            </a:fld>
            <a:endParaRPr lang="en-US" dirty="0"/>
          </a:p>
        </p:txBody>
      </p:sp>
    </p:spTree>
    <p:extLst>
      <p:ext uri="{BB962C8B-B14F-4D97-AF65-F5344CB8AC3E}">
        <p14:creationId xmlns:p14="http://schemas.microsoft.com/office/powerpoint/2010/main" val="6255296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 Network Virtualization</a:t>
            </a:r>
          </a:p>
          <a:p>
            <a:r>
              <a:rPr lang="en-US" dirty="0"/>
              <a:t>13.1 - Cloud Computing</a:t>
            </a:r>
          </a:p>
          <a:p>
            <a:r>
              <a:rPr lang="en-US" dirty="0"/>
              <a:t>13.1.2 - Cloud Overview</a:t>
            </a:r>
          </a:p>
        </p:txBody>
      </p:sp>
      <p:sp>
        <p:nvSpPr>
          <p:cNvPr id="4" name="Slide Number Placeholder 3"/>
          <p:cNvSpPr>
            <a:spLocks noGrp="1"/>
          </p:cNvSpPr>
          <p:nvPr>
            <p:ph type="sldNum" sz="quarter" idx="5"/>
          </p:nvPr>
        </p:nvSpPr>
        <p:spPr/>
        <p:txBody>
          <a:bodyPr/>
          <a:lstStyle/>
          <a:p>
            <a:fld id="{5641018C-6CAF-B84E-B92C-ECB119457FBA}" type="slidenum">
              <a:rPr lang="en-US" smtClean="0"/>
              <a:t>4</a:t>
            </a:fld>
            <a:endParaRPr lang="en-US" dirty="0"/>
          </a:p>
        </p:txBody>
      </p:sp>
    </p:spTree>
    <p:extLst>
      <p:ext uri="{BB962C8B-B14F-4D97-AF65-F5344CB8AC3E}">
        <p14:creationId xmlns:p14="http://schemas.microsoft.com/office/powerpoint/2010/main" val="246430461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 Network Virtualization</a:t>
            </a:r>
          </a:p>
          <a:p>
            <a:r>
              <a:rPr lang="en-US" dirty="0"/>
              <a:t>13.1 - Cloud Computing</a:t>
            </a:r>
          </a:p>
          <a:p>
            <a:r>
              <a:rPr lang="en-US" dirty="0"/>
              <a:t>13.1.3 - Cloud Services</a:t>
            </a:r>
          </a:p>
        </p:txBody>
      </p:sp>
      <p:sp>
        <p:nvSpPr>
          <p:cNvPr id="4" name="Slide Number Placeholder 3"/>
          <p:cNvSpPr>
            <a:spLocks noGrp="1"/>
          </p:cNvSpPr>
          <p:nvPr>
            <p:ph type="sldNum" sz="quarter" idx="5"/>
          </p:nvPr>
        </p:nvSpPr>
        <p:spPr/>
        <p:txBody>
          <a:bodyPr/>
          <a:lstStyle/>
          <a:p>
            <a:fld id="{5641018C-6CAF-B84E-B92C-ECB119457FBA}" type="slidenum">
              <a:rPr lang="en-US" smtClean="0"/>
              <a:t>5</a:t>
            </a:fld>
            <a:endParaRPr lang="en-US" dirty="0"/>
          </a:p>
        </p:txBody>
      </p:sp>
    </p:spTree>
    <p:extLst>
      <p:ext uri="{BB962C8B-B14F-4D97-AF65-F5344CB8AC3E}">
        <p14:creationId xmlns:p14="http://schemas.microsoft.com/office/powerpoint/2010/main" val="226272536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 Network Virtualization</a:t>
            </a:r>
          </a:p>
          <a:p>
            <a:r>
              <a:rPr lang="en-US" dirty="0"/>
              <a:t>13.1 - Cloud Computing</a:t>
            </a:r>
          </a:p>
          <a:p>
            <a:r>
              <a:rPr lang="en-US" dirty="0"/>
              <a:t>13.1.4 - Cloud Models</a:t>
            </a:r>
          </a:p>
        </p:txBody>
      </p:sp>
      <p:sp>
        <p:nvSpPr>
          <p:cNvPr id="4" name="Slide Number Placeholder 3"/>
          <p:cNvSpPr>
            <a:spLocks noGrp="1"/>
          </p:cNvSpPr>
          <p:nvPr>
            <p:ph type="sldNum" sz="quarter" idx="5"/>
          </p:nvPr>
        </p:nvSpPr>
        <p:spPr/>
        <p:txBody>
          <a:bodyPr/>
          <a:lstStyle/>
          <a:p>
            <a:fld id="{5641018C-6CAF-B84E-B92C-ECB119457FBA}" type="slidenum">
              <a:rPr lang="en-US" smtClean="0"/>
              <a:t>6</a:t>
            </a:fld>
            <a:endParaRPr lang="en-US" dirty="0"/>
          </a:p>
        </p:txBody>
      </p:sp>
    </p:spTree>
    <p:extLst>
      <p:ext uri="{BB962C8B-B14F-4D97-AF65-F5344CB8AC3E}">
        <p14:creationId xmlns:p14="http://schemas.microsoft.com/office/powerpoint/2010/main" val="325493553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 Network Virtualization</a:t>
            </a:r>
          </a:p>
          <a:p>
            <a:r>
              <a:rPr lang="en-US" dirty="0"/>
              <a:t>13.1 - Cloud Computing</a:t>
            </a:r>
          </a:p>
          <a:p>
            <a:r>
              <a:rPr lang="en-US" dirty="0"/>
              <a:t>13.1.5 - </a:t>
            </a:r>
            <a:r>
              <a:rPr lang="en-US" sz="1200" dirty="0"/>
              <a:t>Cloud Computing versus Data Center</a:t>
            </a:r>
          </a:p>
          <a:p>
            <a:r>
              <a:rPr lang="en-US" sz="1200" dirty="0"/>
              <a:t>13.1.6 - Check Your Understanding - Cloud Computing</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7</a:t>
            </a:fld>
            <a:endParaRPr lang="en-US" dirty="0"/>
          </a:p>
        </p:txBody>
      </p:sp>
    </p:spTree>
    <p:extLst>
      <p:ext uri="{BB962C8B-B14F-4D97-AF65-F5344CB8AC3E}">
        <p14:creationId xmlns:p14="http://schemas.microsoft.com/office/powerpoint/2010/main" val="325749713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 Network Virtualization</a:t>
            </a:r>
          </a:p>
          <a:p>
            <a:r>
              <a:rPr lang="en-US" dirty="0"/>
              <a:t>13.2 - Virtualization</a:t>
            </a:r>
          </a:p>
        </p:txBody>
      </p:sp>
      <p:sp>
        <p:nvSpPr>
          <p:cNvPr id="4" name="Slide Number Placeholder 3"/>
          <p:cNvSpPr>
            <a:spLocks noGrp="1"/>
          </p:cNvSpPr>
          <p:nvPr>
            <p:ph type="sldNum" sz="quarter" idx="10"/>
          </p:nvPr>
        </p:nvSpPr>
        <p:spPr/>
        <p:txBody>
          <a:bodyPr/>
          <a:lstStyle/>
          <a:p>
            <a:fld id="{5641018C-6CAF-B84E-B92C-ECB119457FBA}" type="slidenum">
              <a:rPr lang="en-US" smtClean="0"/>
              <a:t>8</a:t>
            </a:fld>
            <a:endParaRPr lang="en-US" dirty="0"/>
          </a:p>
        </p:txBody>
      </p:sp>
    </p:spTree>
    <p:extLst>
      <p:ext uri="{BB962C8B-B14F-4D97-AF65-F5344CB8AC3E}">
        <p14:creationId xmlns:p14="http://schemas.microsoft.com/office/powerpoint/2010/main" val="396329107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solidFill>
                  <a:schemeClr val="accent5">
                    <a:lumMod val="40000"/>
                    <a:lumOff val="60000"/>
                  </a:schemeClr>
                </a:solidFill>
              </a:rPr>
              <a:t>13 - Network Virtualization</a:t>
            </a:r>
          </a:p>
          <a:p>
            <a:r>
              <a:rPr lang="en-US" dirty="0">
                <a:solidFill>
                  <a:schemeClr val="accent5">
                    <a:lumMod val="40000"/>
                    <a:lumOff val="60000"/>
                  </a:schemeClr>
                </a:solidFill>
              </a:rPr>
              <a:t>13.2 - Virtualization</a:t>
            </a:r>
          </a:p>
          <a:p>
            <a:r>
              <a:rPr lang="en-US" dirty="0">
                <a:solidFill>
                  <a:schemeClr val="accent5">
                    <a:lumMod val="40000"/>
                    <a:lumOff val="60000"/>
                  </a:schemeClr>
                </a:solidFill>
              </a:rPr>
              <a:t>13.2.1 - </a:t>
            </a:r>
            <a:r>
              <a:rPr lang="en-US" sz="1200" dirty="0"/>
              <a:t>Cloud Computing and Virtualization</a:t>
            </a:r>
            <a:endParaRPr lang="en-US" dirty="0">
              <a:solidFill>
                <a:schemeClr val="accent5">
                  <a:lumMod val="40000"/>
                  <a:lumOff val="60000"/>
                </a:schemeClr>
              </a:solidFill>
            </a:endParaRPr>
          </a:p>
        </p:txBody>
      </p:sp>
      <p:sp>
        <p:nvSpPr>
          <p:cNvPr id="4" name="Slide Number Placeholder 3"/>
          <p:cNvSpPr>
            <a:spLocks noGrp="1"/>
          </p:cNvSpPr>
          <p:nvPr>
            <p:ph type="sldNum" sz="quarter" idx="5"/>
          </p:nvPr>
        </p:nvSpPr>
        <p:spPr/>
        <p:txBody>
          <a:bodyPr/>
          <a:lstStyle/>
          <a:p>
            <a:fld id="{5641018C-6CAF-B84E-B92C-ECB119457FBA}" type="slidenum">
              <a:rPr lang="en-US" smtClean="0"/>
              <a:t>9</a:t>
            </a:fld>
            <a:endParaRPr lang="en-US" dirty="0"/>
          </a:p>
        </p:txBody>
      </p:sp>
    </p:spTree>
    <p:extLst>
      <p:ext uri="{BB962C8B-B14F-4D97-AF65-F5344CB8AC3E}">
        <p14:creationId xmlns:p14="http://schemas.microsoft.com/office/powerpoint/2010/main" val="294902224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solidFill>
                  <a:schemeClr val="accent5">
                    <a:lumMod val="40000"/>
                    <a:lumOff val="60000"/>
                  </a:schemeClr>
                </a:solidFill>
              </a:rPr>
              <a:t>13 - Network Virtualization</a:t>
            </a:r>
          </a:p>
          <a:p>
            <a:r>
              <a:rPr lang="en-US" dirty="0">
                <a:solidFill>
                  <a:schemeClr val="accent5">
                    <a:lumMod val="40000"/>
                    <a:lumOff val="60000"/>
                  </a:schemeClr>
                </a:solidFill>
              </a:rPr>
              <a:t>13.2 - Virtualization</a:t>
            </a:r>
          </a:p>
          <a:p>
            <a:r>
              <a:rPr lang="en-US" dirty="0">
                <a:solidFill>
                  <a:schemeClr val="accent5">
                    <a:lumMod val="40000"/>
                    <a:lumOff val="60000"/>
                  </a:schemeClr>
                </a:solidFill>
              </a:rPr>
              <a:t>13.2.2 - </a:t>
            </a:r>
            <a:r>
              <a:rPr lang="en-US" sz="1200" dirty="0"/>
              <a:t>Dedicated Servers</a:t>
            </a:r>
            <a:endParaRPr lang="en-US" dirty="0">
              <a:solidFill>
                <a:schemeClr val="accent5">
                  <a:lumMod val="40000"/>
                  <a:lumOff val="60000"/>
                </a:schemeClr>
              </a:solidFill>
            </a:endParaRPr>
          </a:p>
        </p:txBody>
      </p:sp>
      <p:sp>
        <p:nvSpPr>
          <p:cNvPr id="4" name="Slide Number Placeholder 3"/>
          <p:cNvSpPr>
            <a:spLocks noGrp="1"/>
          </p:cNvSpPr>
          <p:nvPr>
            <p:ph type="sldNum" sz="quarter" idx="5"/>
          </p:nvPr>
        </p:nvSpPr>
        <p:spPr/>
        <p:txBody>
          <a:bodyPr/>
          <a:lstStyle/>
          <a:p>
            <a:fld id="{5641018C-6CAF-B84E-B92C-ECB119457FBA}" type="slidenum">
              <a:rPr lang="en-US" smtClean="0"/>
              <a:t>10</a:t>
            </a:fld>
            <a:endParaRPr lang="en-US" dirty="0"/>
          </a:p>
        </p:txBody>
      </p:sp>
    </p:spTree>
    <p:extLst>
      <p:ext uri="{BB962C8B-B14F-4D97-AF65-F5344CB8AC3E}">
        <p14:creationId xmlns:p14="http://schemas.microsoft.com/office/powerpoint/2010/main" val="410362398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solidFill>
                  <a:schemeClr val="accent5">
                    <a:lumMod val="40000"/>
                    <a:lumOff val="60000"/>
                  </a:schemeClr>
                </a:solidFill>
              </a:rPr>
              <a:t>13 - Network Virtualization</a:t>
            </a:r>
          </a:p>
          <a:p>
            <a:r>
              <a:rPr lang="en-US" dirty="0">
                <a:solidFill>
                  <a:schemeClr val="accent5">
                    <a:lumMod val="40000"/>
                    <a:lumOff val="60000"/>
                  </a:schemeClr>
                </a:solidFill>
              </a:rPr>
              <a:t>13.2 - Virtualization</a:t>
            </a:r>
          </a:p>
          <a:p>
            <a:r>
              <a:rPr lang="en-US" dirty="0">
                <a:solidFill>
                  <a:schemeClr val="accent5">
                    <a:lumMod val="40000"/>
                    <a:lumOff val="60000"/>
                  </a:schemeClr>
                </a:solidFill>
              </a:rPr>
              <a:t>13.2.3 - Server Virtualization</a:t>
            </a:r>
          </a:p>
        </p:txBody>
      </p:sp>
      <p:sp>
        <p:nvSpPr>
          <p:cNvPr id="4" name="Slide Number Placeholder 3"/>
          <p:cNvSpPr>
            <a:spLocks noGrp="1"/>
          </p:cNvSpPr>
          <p:nvPr>
            <p:ph type="sldNum" sz="quarter" idx="5"/>
          </p:nvPr>
        </p:nvSpPr>
        <p:spPr/>
        <p:txBody>
          <a:bodyPr/>
          <a:lstStyle/>
          <a:p>
            <a:fld id="{5641018C-6CAF-B84E-B92C-ECB119457FBA}" type="slidenum">
              <a:rPr lang="en-US" smtClean="0"/>
              <a:t>11</a:t>
            </a:fld>
            <a:endParaRPr lang="en-US" dirty="0"/>
          </a:p>
        </p:txBody>
      </p:sp>
    </p:spTree>
    <p:extLst>
      <p:ext uri="{BB962C8B-B14F-4D97-AF65-F5344CB8AC3E}">
        <p14:creationId xmlns:p14="http://schemas.microsoft.com/office/powerpoint/2010/main" val="189268770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solidFill>
                  <a:schemeClr val="accent5">
                    <a:lumMod val="40000"/>
                    <a:lumOff val="60000"/>
                  </a:schemeClr>
                </a:solidFill>
              </a:rPr>
              <a:t>13 - Network Virtualization</a:t>
            </a:r>
          </a:p>
          <a:p>
            <a:r>
              <a:rPr lang="en-US" dirty="0">
                <a:solidFill>
                  <a:schemeClr val="accent5">
                    <a:lumMod val="40000"/>
                    <a:lumOff val="60000"/>
                  </a:schemeClr>
                </a:solidFill>
              </a:rPr>
              <a:t>13.2 - Virtualization</a:t>
            </a:r>
          </a:p>
          <a:p>
            <a:r>
              <a:rPr lang="en-US" dirty="0">
                <a:solidFill>
                  <a:schemeClr val="accent5">
                    <a:lumMod val="40000"/>
                    <a:lumOff val="60000"/>
                  </a:schemeClr>
                </a:solidFill>
              </a:rPr>
              <a:t>13.2.4 - Advantages of Virtualization</a:t>
            </a:r>
          </a:p>
        </p:txBody>
      </p:sp>
      <p:sp>
        <p:nvSpPr>
          <p:cNvPr id="4" name="Slide Number Placeholder 3"/>
          <p:cNvSpPr>
            <a:spLocks noGrp="1"/>
          </p:cNvSpPr>
          <p:nvPr>
            <p:ph type="sldNum" sz="quarter" idx="5"/>
          </p:nvPr>
        </p:nvSpPr>
        <p:spPr/>
        <p:txBody>
          <a:bodyPr/>
          <a:lstStyle/>
          <a:p>
            <a:fld id="{5641018C-6CAF-B84E-B92C-ECB119457FBA}" type="slidenum">
              <a:rPr lang="en-US" smtClean="0"/>
              <a:t>12</a:t>
            </a:fld>
            <a:endParaRPr lang="en-US" dirty="0"/>
          </a:p>
        </p:txBody>
      </p:sp>
    </p:spTree>
    <p:extLst>
      <p:ext uri="{BB962C8B-B14F-4D97-AF65-F5344CB8AC3E}">
        <p14:creationId xmlns:p14="http://schemas.microsoft.com/office/powerpoint/2010/main" val="37183400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solidFill>
                  <a:schemeClr val="accent5">
                    <a:lumMod val="40000"/>
                    <a:lumOff val="60000"/>
                  </a:schemeClr>
                </a:solidFill>
              </a:rPr>
              <a:t>13 - Network Virtualization</a:t>
            </a:r>
          </a:p>
          <a:p>
            <a:r>
              <a:rPr lang="en-US" dirty="0">
                <a:solidFill>
                  <a:schemeClr val="accent5">
                    <a:lumMod val="40000"/>
                    <a:lumOff val="60000"/>
                  </a:schemeClr>
                </a:solidFill>
              </a:rPr>
              <a:t>13.2 - Virtualization</a:t>
            </a:r>
          </a:p>
          <a:p>
            <a:r>
              <a:rPr lang="en-US" dirty="0">
                <a:solidFill>
                  <a:schemeClr val="accent5">
                    <a:lumMod val="40000"/>
                    <a:lumOff val="60000"/>
                  </a:schemeClr>
                </a:solidFill>
              </a:rPr>
              <a:t>13.2.5 - Abstraction Layers</a:t>
            </a:r>
          </a:p>
        </p:txBody>
      </p:sp>
      <p:sp>
        <p:nvSpPr>
          <p:cNvPr id="4" name="Slide Number Placeholder 3"/>
          <p:cNvSpPr>
            <a:spLocks noGrp="1"/>
          </p:cNvSpPr>
          <p:nvPr>
            <p:ph type="sldNum" sz="quarter" idx="5"/>
          </p:nvPr>
        </p:nvSpPr>
        <p:spPr/>
        <p:txBody>
          <a:bodyPr/>
          <a:lstStyle/>
          <a:p>
            <a:fld id="{5641018C-6CAF-B84E-B92C-ECB119457FBA}" type="slidenum">
              <a:rPr lang="en-US" smtClean="0"/>
              <a:t>13</a:t>
            </a:fld>
            <a:endParaRPr lang="en-US" dirty="0"/>
          </a:p>
        </p:txBody>
      </p:sp>
    </p:spTree>
    <p:extLst>
      <p:ext uri="{BB962C8B-B14F-4D97-AF65-F5344CB8AC3E}">
        <p14:creationId xmlns:p14="http://schemas.microsoft.com/office/powerpoint/2010/main" val="16887586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 Network Virtualization</a:t>
            </a:r>
          </a:p>
          <a:p>
            <a:r>
              <a:rPr lang="en-US" dirty="0"/>
              <a:t>13.3 - Virtual Network Infrastructure</a:t>
            </a:r>
          </a:p>
          <a:p>
            <a:r>
              <a:rPr lang="en-US" sz="1200" dirty="0"/>
              <a:t>13.3.1 - Type 1 Hypervisors</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14</a:t>
            </a:fld>
            <a:endParaRPr lang="en-US" dirty="0"/>
          </a:p>
        </p:txBody>
      </p:sp>
    </p:spTree>
    <p:extLst>
      <p:ext uri="{BB962C8B-B14F-4D97-AF65-F5344CB8AC3E}">
        <p14:creationId xmlns:p14="http://schemas.microsoft.com/office/powerpoint/2010/main" val="36563235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 Network Virtualization</a:t>
            </a:r>
          </a:p>
          <a:p>
            <a:r>
              <a:rPr lang="en-US" dirty="0"/>
              <a:t>13.3 - Virtual Network Infrastructure</a:t>
            </a:r>
          </a:p>
          <a:p>
            <a:r>
              <a:rPr lang="en-US" sz="1200" dirty="0"/>
              <a:t>13.3.2 - Installing a VM on a Hypervisor</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15</a:t>
            </a:fld>
            <a:endParaRPr lang="en-US" dirty="0"/>
          </a:p>
        </p:txBody>
      </p:sp>
    </p:spTree>
    <p:extLst>
      <p:ext uri="{BB962C8B-B14F-4D97-AF65-F5344CB8AC3E}">
        <p14:creationId xmlns:p14="http://schemas.microsoft.com/office/powerpoint/2010/main" val="19922467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solidFill>
                  <a:schemeClr val="accent5">
                    <a:lumMod val="40000"/>
                    <a:lumOff val="60000"/>
                  </a:schemeClr>
                </a:solidFill>
              </a:rPr>
              <a:t>13 - Network Virtualization</a:t>
            </a:r>
          </a:p>
          <a:p>
            <a:r>
              <a:rPr lang="en-US" dirty="0">
                <a:solidFill>
                  <a:schemeClr val="accent5">
                    <a:lumMod val="40000"/>
                    <a:lumOff val="60000"/>
                  </a:schemeClr>
                </a:solidFill>
              </a:rPr>
              <a:t>13.2 - Virtualization</a:t>
            </a:r>
          </a:p>
          <a:p>
            <a:r>
              <a:rPr lang="en-US" dirty="0">
                <a:solidFill>
                  <a:schemeClr val="accent5">
                    <a:lumMod val="40000"/>
                    <a:lumOff val="60000"/>
                  </a:schemeClr>
                </a:solidFill>
              </a:rPr>
              <a:t>13.2.6 - Type 2 Hypervisors</a:t>
            </a:r>
          </a:p>
          <a:p>
            <a:r>
              <a:rPr lang="en-US" dirty="0">
                <a:solidFill>
                  <a:schemeClr val="accent5">
                    <a:lumMod val="40000"/>
                    <a:lumOff val="60000"/>
                  </a:schemeClr>
                </a:solidFill>
              </a:rPr>
              <a:t>13.2.7 - Check Your Understanding - Virtualization</a:t>
            </a:r>
          </a:p>
        </p:txBody>
      </p:sp>
      <p:sp>
        <p:nvSpPr>
          <p:cNvPr id="4" name="Slide Number Placeholder 3"/>
          <p:cNvSpPr>
            <a:spLocks noGrp="1"/>
          </p:cNvSpPr>
          <p:nvPr>
            <p:ph type="sldNum" sz="quarter" idx="5"/>
          </p:nvPr>
        </p:nvSpPr>
        <p:spPr/>
        <p:txBody>
          <a:bodyPr/>
          <a:lstStyle/>
          <a:p>
            <a:fld id="{5641018C-6CAF-B84E-B92C-ECB119457FBA}" type="slidenum">
              <a:rPr lang="en-US" smtClean="0"/>
              <a:t>16</a:t>
            </a:fld>
            <a:endParaRPr lang="en-US" dirty="0"/>
          </a:p>
        </p:txBody>
      </p:sp>
    </p:spTree>
    <p:extLst>
      <p:ext uri="{BB962C8B-B14F-4D97-AF65-F5344CB8AC3E}">
        <p14:creationId xmlns:p14="http://schemas.microsoft.com/office/powerpoint/2010/main" val="359255925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 Network Virtualization</a:t>
            </a:r>
          </a:p>
          <a:p>
            <a:r>
              <a:rPr lang="en-US" dirty="0"/>
              <a:t>13.3 - Virtual Network Infrastructure</a:t>
            </a:r>
          </a:p>
        </p:txBody>
      </p:sp>
      <p:sp>
        <p:nvSpPr>
          <p:cNvPr id="4" name="Slide Number Placeholder 3"/>
          <p:cNvSpPr>
            <a:spLocks noGrp="1"/>
          </p:cNvSpPr>
          <p:nvPr>
            <p:ph type="sldNum" sz="quarter" idx="10"/>
          </p:nvPr>
        </p:nvSpPr>
        <p:spPr/>
        <p:txBody>
          <a:bodyPr/>
          <a:lstStyle/>
          <a:p>
            <a:fld id="{5641018C-6CAF-B84E-B92C-ECB119457FBA}" type="slidenum">
              <a:rPr lang="en-US" smtClean="0"/>
              <a:t>18</a:t>
            </a:fld>
            <a:endParaRPr lang="en-US" dirty="0"/>
          </a:p>
        </p:txBody>
      </p:sp>
    </p:spTree>
    <p:extLst>
      <p:ext uri="{BB962C8B-B14F-4D97-AF65-F5344CB8AC3E}">
        <p14:creationId xmlns:p14="http://schemas.microsoft.com/office/powerpoint/2010/main" val="120043530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 Network Virtualization</a:t>
            </a:r>
          </a:p>
          <a:p>
            <a:r>
              <a:rPr lang="en-US" dirty="0"/>
              <a:t>13.3 - Virtual Network Infrastructure</a:t>
            </a:r>
          </a:p>
          <a:p>
            <a:r>
              <a:rPr lang="en-US" sz="1200" dirty="0"/>
              <a:t>13.3.3 - The Complexity of Network Virtualization</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19</a:t>
            </a:fld>
            <a:endParaRPr lang="en-US" dirty="0"/>
          </a:p>
        </p:txBody>
      </p:sp>
    </p:spTree>
    <p:extLst>
      <p:ext uri="{BB962C8B-B14F-4D97-AF65-F5344CB8AC3E}">
        <p14:creationId xmlns:p14="http://schemas.microsoft.com/office/powerpoint/2010/main" val="191555070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 Network Virtualization</a:t>
            </a:r>
          </a:p>
          <a:p>
            <a:r>
              <a:rPr lang="en-US" dirty="0"/>
              <a:t>13.3 - Virtual Network Infrastructure</a:t>
            </a:r>
          </a:p>
          <a:p>
            <a:r>
              <a:rPr lang="en-US" sz="1200" dirty="0"/>
              <a:t>13.3.3 - The Complexity of Network Virtualization</a:t>
            </a:r>
          </a:p>
          <a:p>
            <a:r>
              <a:rPr lang="en-US" sz="1200" dirty="0"/>
              <a:t>13.3.4 - Check Your Understanding - Virtual Network Infrastructure</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20</a:t>
            </a:fld>
            <a:endParaRPr lang="en-US" dirty="0"/>
          </a:p>
        </p:txBody>
      </p:sp>
    </p:spTree>
    <p:extLst>
      <p:ext uri="{BB962C8B-B14F-4D97-AF65-F5344CB8AC3E}">
        <p14:creationId xmlns:p14="http://schemas.microsoft.com/office/powerpoint/2010/main" val="210400141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 Network Virtualization</a:t>
            </a:r>
          </a:p>
          <a:p>
            <a:r>
              <a:rPr lang="en-US" dirty="0"/>
              <a:t>13.4 - Software-Defined Networking</a:t>
            </a:r>
          </a:p>
        </p:txBody>
      </p:sp>
      <p:sp>
        <p:nvSpPr>
          <p:cNvPr id="4" name="Slide Number Placeholder 3"/>
          <p:cNvSpPr>
            <a:spLocks noGrp="1"/>
          </p:cNvSpPr>
          <p:nvPr>
            <p:ph type="sldNum" sz="quarter" idx="10"/>
          </p:nvPr>
        </p:nvSpPr>
        <p:spPr/>
        <p:txBody>
          <a:bodyPr/>
          <a:lstStyle/>
          <a:p>
            <a:fld id="{5641018C-6CAF-B84E-B92C-ECB119457FBA}" type="slidenum">
              <a:rPr lang="en-US" smtClean="0"/>
              <a:t>21</a:t>
            </a:fld>
            <a:endParaRPr lang="en-US" dirty="0"/>
          </a:p>
        </p:txBody>
      </p:sp>
    </p:spTree>
    <p:extLst>
      <p:ext uri="{BB962C8B-B14F-4D97-AF65-F5344CB8AC3E}">
        <p14:creationId xmlns:p14="http://schemas.microsoft.com/office/powerpoint/2010/main" val="266838479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 Network Virtualization</a:t>
            </a:r>
          </a:p>
          <a:p>
            <a:r>
              <a:rPr lang="en-US" dirty="0"/>
              <a:t>13.4 - Software-Defined Networking</a:t>
            </a:r>
          </a:p>
          <a:p>
            <a:r>
              <a:rPr lang="en-US" dirty="0"/>
              <a:t>13.4.2 - Control Plane and Data Plan</a:t>
            </a:r>
          </a:p>
        </p:txBody>
      </p:sp>
      <p:sp>
        <p:nvSpPr>
          <p:cNvPr id="4" name="Slide Number Placeholder 3"/>
          <p:cNvSpPr>
            <a:spLocks noGrp="1"/>
          </p:cNvSpPr>
          <p:nvPr>
            <p:ph type="sldNum" sz="quarter" idx="5"/>
          </p:nvPr>
        </p:nvSpPr>
        <p:spPr/>
        <p:txBody>
          <a:bodyPr/>
          <a:lstStyle/>
          <a:p>
            <a:fld id="{5641018C-6CAF-B84E-B92C-ECB119457FBA}" type="slidenum">
              <a:rPr lang="en-US" smtClean="0"/>
              <a:t>22</a:t>
            </a:fld>
            <a:endParaRPr lang="en-US" dirty="0"/>
          </a:p>
        </p:txBody>
      </p:sp>
    </p:spTree>
    <p:extLst>
      <p:ext uri="{BB962C8B-B14F-4D97-AF65-F5344CB8AC3E}">
        <p14:creationId xmlns:p14="http://schemas.microsoft.com/office/powerpoint/2010/main" val="26207288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 Network Virtualization</a:t>
            </a:r>
          </a:p>
          <a:p>
            <a:r>
              <a:rPr lang="en-US" dirty="0"/>
              <a:t>13.4 - Software-Defined Networking</a:t>
            </a:r>
          </a:p>
          <a:p>
            <a:r>
              <a:rPr lang="en-US" dirty="0"/>
              <a:t>13.4.2 - Control Plane and Data Plan (Cont.)</a:t>
            </a:r>
          </a:p>
        </p:txBody>
      </p:sp>
      <p:sp>
        <p:nvSpPr>
          <p:cNvPr id="4" name="Slide Number Placeholder 3"/>
          <p:cNvSpPr>
            <a:spLocks noGrp="1"/>
          </p:cNvSpPr>
          <p:nvPr>
            <p:ph type="sldNum" sz="quarter" idx="5"/>
          </p:nvPr>
        </p:nvSpPr>
        <p:spPr/>
        <p:txBody>
          <a:bodyPr/>
          <a:lstStyle/>
          <a:p>
            <a:fld id="{5641018C-6CAF-B84E-B92C-ECB119457FBA}" type="slidenum">
              <a:rPr lang="en-US" smtClean="0"/>
              <a:t>23</a:t>
            </a:fld>
            <a:endParaRPr lang="en-US" dirty="0"/>
          </a:p>
        </p:txBody>
      </p:sp>
    </p:spTree>
    <p:extLst>
      <p:ext uri="{BB962C8B-B14F-4D97-AF65-F5344CB8AC3E}">
        <p14:creationId xmlns:p14="http://schemas.microsoft.com/office/powerpoint/2010/main" val="104810860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 Network Virtualization</a:t>
            </a:r>
          </a:p>
          <a:p>
            <a:r>
              <a:rPr lang="en-US" dirty="0"/>
              <a:t>13.4 - Software-Defined Networking</a:t>
            </a:r>
          </a:p>
          <a:p>
            <a:r>
              <a:rPr lang="en-US" dirty="0"/>
              <a:t>13.4.2 - Control Plane and Data Plan (Cont.)</a:t>
            </a:r>
          </a:p>
        </p:txBody>
      </p:sp>
      <p:sp>
        <p:nvSpPr>
          <p:cNvPr id="4" name="Slide Number Placeholder 3"/>
          <p:cNvSpPr>
            <a:spLocks noGrp="1"/>
          </p:cNvSpPr>
          <p:nvPr>
            <p:ph type="sldNum" sz="quarter" idx="5"/>
          </p:nvPr>
        </p:nvSpPr>
        <p:spPr/>
        <p:txBody>
          <a:bodyPr/>
          <a:lstStyle/>
          <a:p>
            <a:fld id="{5641018C-6CAF-B84E-B92C-ECB119457FBA}" type="slidenum">
              <a:rPr lang="en-US" smtClean="0"/>
              <a:t>24</a:t>
            </a:fld>
            <a:endParaRPr lang="en-US" dirty="0"/>
          </a:p>
        </p:txBody>
      </p:sp>
    </p:spTree>
    <p:extLst>
      <p:ext uri="{BB962C8B-B14F-4D97-AF65-F5344CB8AC3E}">
        <p14:creationId xmlns:p14="http://schemas.microsoft.com/office/powerpoint/2010/main" val="298533472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 Network Virtualization</a:t>
            </a:r>
          </a:p>
          <a:p>
            <a:r>
              <a:rPr lang="en-US" dirty="0"/>
              <a:t>13.4 - Software-Defined Networking</a:t>
            </a:r>
          </a:p>
          <a:p>
            <a:r>
              <a:rPr lang="en-US" dirty="0"/>
              <a:t>13.4.3 - </a:t>
            </a:r>
            <a:r>
              <a:rPr lang="en-US" sz="1200" dirty="0"/>
              <a:t>Network Virtualization Technologies</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25</a:t>
            </a:fld>
            <a:endParaRPr lang="en-US" dirty="0"/>
          </a:p>
        </p:txBody>
      </p:sp>
    </p:spTree>
    <p:extLst>
      <p:ext uri="{BB962C8B-B14F-4D97-AF65-F5344CB8AC3E}">
        <p14:creationId xmlns:p14="http://schemas.microsoft.com/office/powerpoint/2010/main" val="55005938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 Network Virtualization</a:t>
            </a:r>
          </a:p>
          <a:p>
            <a:r>
              <a:rPr lang="en-US" dirty="0"/>
              <a:t>13.4 - Software-Defined Networking</a:t>
            </a:r>
          </a:p>
          <a:p>
            <a:r>
              <a:rPr lang="en-US" dirty="0"/>
              <a:t>13.4.3 - </a:t>
            </a:r>
            <a:r>
              <a:rPr lang="en-US" sz="1200" dirty="0"/>
              <a:t>Network Virtualization Technologies (Cont.)</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26</a:t>
            </a:fld>
            <a:endParaRPr lang="en-US" dirty="0"/>
          </a:p>
        </p:txBody>
      </p:sp>
    </p:spTree>
    <p:extLst>
      <p:ext uri="{BB962C8B-B14F-4D97-AF65-F5344CB8AC3E}">
        <p14:creationId xmlns:p14="http://schemas.microsoft.com/office/powerpoint/2010/main" val="101627548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 Network Virtualization</a:t>
            </a:r>
          </a:p>
          <a:p>
            <a:r>
              <a:rPr lang="en-US" dirty="0"/>
              <a:t>13.4 - Software-Defined Networking</a:t>
            </a:r>
          </a:p>
          <a:p>
            <a:r>
              <a:rPr lang="en-US" dirty="0"/>
              <a:t>13.4.4 - </a:t>
            </a:r>
            <a:r>
              <a:rPr lang="en-US" sz="1200" dirty="0"/>
              <a:t>Traditional and SDN Architectures</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27</a:t>
            </a:fld>
            <a:endParaRPr lang="en-US" dirty="0"/>
          </a:p>
        </p:txBody>
      </p:sp>
    </p:spTree>
    <p:extLst>
      <p:ext uri="{BB962C8B-B14F-4D97-AF65-F5344CB8AC3E}">
        <p14:creationId xmlns:p14="http://schemas.microsoft.com/office/powerpoint/2010/main" val="171412559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 Network Virtualization</a:t>
            </a:r>
          </a:p>
          <a:p>
            <a:r>
              <a:rPr lang="en-US" dirty="0"/>
              <a:t>13.4 - Software-Defined Networking</a:t>
            </a:r>
          </a:p>
          <a:p>
            <a:r>
              <a:rPr lang="en-US" dirty="0"/>
              <a:t>13.4.4 - </a:t>
            </a:r>
            <a:r>
              <a:rPr lang="en-US" sz="1200" dirty="0"/>
              <a:t>Traditional and SDN Architectures (Cont.)</a:t>
            </a:r>
          </a:p>
          <a:p>
            <a:r>
              <a:rPr lang="en-US" sz="1200" dirty="0"/>
              <a:t>13.4.5 - Check your Understanding - Software-Defined Networking</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28</a:t>
            </a:fld>
            <a:endParaRPr lang="en-US" dirty="0"/>
          </a:p>
        </p:txBody>
      </p:sp>
    </p:spTree>
    <p:extLst>
      <p:ext uri="{BB962C8B-B14F-4D97-AF65-F5344CB8AC3E}">
        <p14:creationId xmlns:p14="http://schemas.microsoft.com/office/powerpoint/2010/main" val="346184741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 Network Virtualization</a:t>
            </a:r>
          </a:p>
          <a:p>
            <a:r>
              <a:rPr lang="en-US" dirty="0"/>
              <a:t>13.5 - Controllers</a:t>
            </a: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30</a:t>
            </a:fld>
            <a:endParaRPr lang="en-US" dirty="0"/>
          </a:p>
        </p:txBody>
      </p:sp>
    </p:spTree>
    <p:extLst>
      <p:ext uri="{BB962C8B-B14F-4D97-AF65-F5344CB8AC3E}">
        <p14:creationId xmlns:p14="http://schemas.microsoft.com/office/powerpoint/2010/main" val="210088303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 Network Virtualization</a:t>
            </a:r>
          </a:p>
          <a:p>
            <a:r>
              <a:rPr lang="en-US" dirty="0"/>
              <a:t>13.5 - Controllers</a:t>
            </a:r>
          </a:p>
          <a:p>
            <a:r>
              <a:rPr lang="en-US" dirty="0"/>
              <a:t>13.5.1 - </a:t>
            </a:r>
            <a:r>
              <a:rPr lang="en-US" sz="1200" dirty="0"/>
              <a:t>SDN Controller and Operations</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31</a:t>
            </a:fld>
            <a:endParaRPr lang="en-US" dirty="0"/>
          </a:p>
        </p:txBody>
      </p:sp>
    </p:spTree>
    <p:extLst>
      <p:ext uri="{BB962C8B-B14F-4D97-AF65-F5344CB8AC3E}">
        <p14:creationId xmlns:p14="http://schemas.microsoft.com/office/powerpoint/2010/main" val="369308087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 Network Virtualization</a:t>
            </a:r>
          </a:p>
          <a:p>
            <a:r>
              <a:rPr lang="en-US" dirty="0"/>
              <a:t>13.5 - Controllers</a:t>
            </a:r>
          </a:p>
          <a:p>
            <a:r>
              <a:rPr lang="en-US" dirty="0"/>
              <a:t>13.5.1 - </a:t>
            </a:r>
            <a:r>
              <a:rPr lang="en-US" sz="1200" dirty="0"/>
              <a:t>SDN Controller and Operations (Cont.)</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32</a:t>
            </a:fld>
            <a:endParaRPr lang="en-US" dirty="0"/>
          </a:p>
        </p:txBody>
      </p:sp>
    </p:spTree>
    <p:extLst>
      <p:ext uri="{BB962C8B-B14F-4D97-AF65-F5344CB8AC3E}">
        <p14:creationId xmlns:p14="http://schemas.microsoft.com/office/powerpoint/2010/main" val="121067042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 Network Virtualization</a:t>
            </a:r>
          </a:p>
          <a:p>
            <a:r>
              <a:rPr lang="en-US" dirty="0"/>
              <a:t>13.5 - Controllers</a:t>
            </a:r>
          </a:p>
          <a:p>
            <a:r>
              <a:rPr lang="en-US" dirty="0"/>
              <a:t>13.5.3 - Core Components of ACI</a:t>
            </a:r>
          </a:p>
        </p:txBody>
      </p:sp>
      <p:sp>
        <p:nvSpPr>
          <p:cNvPr id="4" name="Slide Number Placeholder 3"/>
          <p:cNvSpPr>
            <a:spLocks noGrp="1"/>
          </p:cNvSpPr>
          <p:nvPr>
            <p:ph type="sldNum" sz="quarter" idx="5"/>
          </p:nvPr>
        </p:nvSpPr>
        <p:spPr/>
        <p:txBody>
          <a:bodyPr/>
          <a:lstStyle/>
          <a:p>
            <a:fld id="{5641018C-6CAF-B84E-B92C-ECB119457FBA}" type="slidenum">
              <a:rPr lang="en-US" smtClean="0"/>
              <a:t>33</a:t>
            </a:fld>
            <a:endParaRPr lang="en-US" dirty="0"/>
          </a:p>
        </p:txBody>
      </p:sp>
    </p:spTree>
    <p:extLst>
      <p:ext uri="{BB962C8B-B14F-4D97-AF65-F5344CB8AC3E}">
        <p14:creationId xmlns:p14="http://schemas.microsoft.com/office/powerpoint/2010/main" val="39630284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 Network Virtualization</a:t>
            </a:r>
          </a:p>
          <a:p>
            <a:r>
              <a:rPr lang="en-US" dirty="0"/>
              <a:t>13.5 - Controllers</a:t>
            </a:r>
          </a:p>
          <a:p>
            <a:r>
              <a:rPr lang="en-US" dirty="0"/>
              <a:t>13.5.3 - Core Components of ACI (Cont.)</a:t>
            </a:r>
          </a:p>
        </p:txBody>
      </p:sp>
      <p:sp>
        <p:nvSpPr>
          <p:cNvPr id="4" name="Slide Number Placeholder 3"/>
          <p:cNvSpPr>
            <a:spLocks noGrp="1"/>
          </p:cNvSpPr>
          <p:nvPr>
            <p:ph type="sldNum" sz="quarter" idx="5"/>
          </p:nvPr>
        </p:nvSpPr>
        <p:spPr/>
        <p:txBody>
          <a:bodyPr/>
          <a:lstStyle/>
          <a:p>
            <a:fld id="{5641018C-6CAF-B84E-B92C-ECB119457FBA}" type="slidenum">
              <a:rPr lang="en-US" smtClean="0"/>
              <a:t>34</a:t>
            </a:fld>
            <a:endParaRPr lang="en-US" dirty="0"/>
          </a:p>
        </p:txBody>
      </p:sp>
    </p:spTree>
    <p:extLst>
      <p:ext uri="{BB962C8B-B14F-4D97-AF65-F5344CB8AC3E}">
        <p14:creationId xmlns:p14="http://schemas.microsoft.com/office/powerpoint/2010/main" val="88835501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 Network Virtualization</a:t>
            </a:r>
          </a:p>
          <a:p>
            <a:r>
              <a:rPr lang="en-US" dirty="0"/>
              <a:t>13.5 - Controllers</a:t>
            </a:r>
          </a:p>
          <a:p>
            <a:r>
              <a:rPr lang="en-US" dirty="0"/>
              <a:t>13.5.4 - </a:t>
            </a:r>
            <a:r>
              <a:rPr lang="en-US" sz="1200" dirty="0"/>
              <a:t>Spine-Leaf Topology</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35</a:t>
            </a:fld>
            <a:endParaRPr lang="en-US" dirty="0"/>
          </a:p>
        </p:txBody>
      </p:sp>
    </p:spTree>
    <p:extLst>
      <p:ext uri="{BB962C8B-B14F-4D97-AF65-F5344CB8AC3E}">
        <p14:creationId xmlns:p14="http://schemas.microsoft.com/office/powerpoint/2010/main" val="44326617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 Network Virtualization</a:t>
            </a:r>
          </a:p>
          <a:p>
            <a:r>
              <a:rPr lang="en-US" dirty="0"/>
              <a:t>13.5 - Controllers</a:t>
            </a:r>
          </a:p>
          <a:p>
            <a:r>
              <a:rPr lang="en-US" dirty="0"/>
              <a:t>13.5.5 - SDN Types</a:t>
            </a:r>
          </a:p>
        </p:txBody>
      </p:sp>
      <p:sp>
        <p:nvSpPr>
          <p:cNvPr id="4" name="Slide Number Placeholder 3"/>
          <p:cNvSpPr>
            <a:spLocks noGrp="1"/>
          </p:cNvSpPr>
          <p:nvPr>
            <p:ph type="sldNum" sz="quarter" idx="5"/>
          </p:nvPr>
        </p:nvSpPr>
        <p:spPr/>
        <p:txBody>
          <a:bodyPr/>
          <a:lstStyle/>
          <a:p>
            <a:fld id="{5641018C-6CAF-B84E-B92C-ECB119457FBA}" type="slidenum">
              <a:rPr lang="en-US" smtClean="0"/>
              <a:t>36</a:t>
            </a:fld>
            <a:endParaRPr lang="en-US" dirty="0"/>
          </a:p>
        </p:txBody>
      </p:sp>
    </p:spTree>
    <p:extLst>
      <p:ext uri="{BB962C8B-B14F-4D97-AF65-F5344CB8AC3E}">
        <p14:creationId xmlns:p14="http://schemas.microsoft.com/office/powerpoint/2010/main" val="303193562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 Network Virtualization</a:t>
            </a:r>
          </a:p>
          <a:p>
            <a:r>
              <a:rPr lang="en-US" dirty="0"/>
              <a:t>13.5 - Controllers</a:t>
            </a:r>
          </a:p>
          <a:p>
            <a:r>
              <a:rPr lang="en-US" dirty="0"/>
              <a:t>13.5.5 - SDN Types (Cont.)</a:t>
            </a:r>
          </a:p>
        </p:txBody>
      </p:sp>
      <p:sp>
        <p:nvSpPr>
          <p:cNvPr id="4" name="Slide Number Placeholder 3"/>
          <p:cNvSpPr>
            <a:spLocks noGrp="1"/>
          </p:cNvSpPr>
          <p:nvPr>
            <p:ph type="sldNum" sz="quarter" idx="5"/>
          </p:nvPr>
        </p:nvSpPr>
        <p:spPr/>
        <p:txBody>
          <a:bodyPr/>
          <a:lstStyle/>
          <a:p>
            <a:fld id="{5641018C-6CAF-B84E-B92C-ECB119457FBA}" type="slidenum">
              <a:rPr lang="en-US" smtClean="0"/>
              <a:t>37</a:t>
            </a:fld>
            <a:endParaRPr lang="en-US" dirty="0"/>
          </a:p>
        </p:txBody>
      </p:sp>
    </p:spTree>
    <p:extLst>
      <p:ext uri="{BB962C8B-B14F-4D97-AF65-F5344CB8AC3E}">
        <p14:creationId xmlns:p14="http://schemas.microsoft.com/office/powerpoint/2010/main" val="210316533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 Network Virtualization</a:t>
            </a:r>
          </a:p>
          <a:p>
            <a:r>
              <a:rPr lang="en-US" dirty="0"/>
              <a:t>13.5 - Controllers</a:t>
            </a:r>
          </a:p>
          <a:p>
            <a:r>
              <a:rPr lang="en-US" dirty="0"/>
              <a:t>13.5.5 - SDN Types (Cont.)</a:t>
            </a:r>
          </a:p>
        </p:txBody>
      </p:sp>
      <p:sp>
        <p:nvSpPr>
          <p:cNvPr id="4" name="Slide Number Placeholder 3"/>
          <p:cNvSpPr>
            <a:spLocks noGrp="1"/>
          </p:cNvSpPr>
          <p:nvPr>
            <p:ph type="sldNum" sz="quarter" idx="5"/>
          </p:nvPr>
        </p:nvSpPr>
        <p:spPr/>
        <p:txBody>
          <a:bodyPr/>
          <a:lstStyle/>
          <a:p>
            <a:fld id="{5641018C-6CAF-B84E-B92C-ECB119457FBA}" type="slidenum">
              <a:rPr lang="en-US" smtClean="0"/>
              <a:t>38</a:t>
            </a:fld>
            <a:endParaRPr lang="en-US" dirty="0"/>
          </a:p>
        </p:txBody>
      </p:sp>
    </p:spTree>
    <p:extLst>
      <p:ext uri="{BB962C8B-B14F-4D97-AF65-F5344CB8AC3E}">
        <p14:creationId xmlns:p14="http://schemas.microsoft.com/office/powerpoint/2010/main" val="357627014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 Network Virtualization</a:t>
            </a:r>
          </a:p>
          <a:p>
            <a:r>
              <a:rPr lang="en-US" dirty="0"/>
              <a:t>13.5 - Controllers</a:t>
            </a:r>
          </a:p>
          <a:p>
            <a:r>
              <a:rPr lang="en-US" dirty="0"/>
              <a:t>13.5.6 - APIC-EM Features</a:t>
            </a:r>
          </a:p>
        </p:txBody>
      </p:sp>
      <p:sp>
        <p:nvSpPr>
          <p:cNvPr id="4" name="Slide Number Placeholder 3"/>
          <p:cNvSpPr>
            <a:spLocks noGrp="1"/>
          </p:cNvSpPr>
          <p:nvPr>
            <p:ph type="sldNum" sz="quarter" idx="5"/>
          </p:nvPr>
        </p:nvSpPr>
        <p:spPr/>
        <p:txBody>
          <a:bodyPr/>
          <a:lstStyle/>
          <a:p>
            <a:fld id="{5641018C-6CAF-B84E-B92C-ECB119457FBA}" type="slidenum">
              <a:rPr lang="en-US" smtClean="0"/>
              <a:t>39</a:t>
            </a:fld>
            <a:endParaRPr lang="en-US" dirty="0"/>
          </a:p>
        </p:txBody>
      </p:sp>
    </p:spTree>
    <p:extLst>
      <p:ext uri="{BB962C8B-B14F-4D97-AF65-F5344CB8AC3E}">
        <p14:creationId xmlns:p14="http://schemas.microsoft.com/office/powerpoint/2010/main" val="185009418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 Network Virtualization</a:t>
            </a:r>
          </a:p>
          <a:p>
            <a:r>
              <a:rPr lang="en-US" dirty="0"/>
              <a:t>13.5 - Controllers</a:t>
            </a:r>
          </a:p>
          <a:p>
            <a:r>
              <a:rPr lang="en-US" dirty="0"/>
              <a:t>13.5.7 - APIC-EM Path Trace</a:t>
            </a:r>
          </a:p>
          <a:p>
            <a:r>
              <a:rPr lang="en-US" dirty="0"/>
              <a:t>13.5.8 - Check Your Understanding - Controllers</a:t>
            </a:r>
          </a:p>
        </p:txBody>
      </p:sp>
      <p:sp>
        <p:nvSpPr>
          <p:cNvPr id="4" name="Slide Number Placeholder 3"/>
          <p:cNvSpPr>
            <a:spLocks noGrp="1"/>
          </p:cNvSpPr>
          <p:nvPr>
            <p:ph type="sldNum" sz="quarter" idx="5"/>
          </p:nvPr>
        </p:nvSpPr>
        <p:spPr/>
        <p:txBody>
          <a:bodyPr/>
          <a:lstStyle/>
          <a:p>
            <a:fld id="{5641018C-6CAF-B84E-B92C-ECB119457FBA}" type="slidenum">
              <a:rPr lang="en-US" smtClean="0"/>
              <a:t>40</a:t>
            </a:fld>
            <a:endParaRPr lang="en-US" dirty="0"/>
          </a:p>
        </p:txBody>
      </p:sp>
    </p:spTree>
    <p:extLst>
      <p:ext uri="{BB962C8B-B14F-4D97-AF65-F5344CB8AC3E}">
        <p14:creationId xmlns:p14="http://schemas.microsoft.com/office/powerpoint/2010/main" val="397505181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641018C-6CAF-B84E-B92C-ECB119457FBA}" type="slidenum">
              <a:rPr lang="en-US" smtClean="0"/>
              <a:t>42</a:t>
            </a:fld>
            <a:endParaRPr lang="en-US" dirty="0"/>
          </a:p>
        </p:txBody>
      </p:sp>
    </p:spTree>
    <p:extLst>
      <p:ext uri="{BB962C8B-B14F-4D97-AF65-F5344CB8AC3E}">
        <p14:creationId xmlns:p14="http://schemas.microsoft.com/office/powerpoint/2010/main" val="159139428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3_Title Slide-animated gradient">
    <p:bg>
      <p:bgPr>
        <a:solidFill>
          <a:schemeClr val="accent5"/>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0"/>
            <a:ext cx="9144000" cy="5143500"/>
          </a:xfrm>
          <a:prstGeom prst="rect">
            <a:avLst/>
          </a:prstGeom>
        </p:spPr>
      </p:pic>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2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a:t>Click to edit Master title style</a:t>
            </a:r>
            <a:endParaRPr lang="en-US" dirty="0"/>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3086725553"/>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5_Title Slide-animated gradient">
    <p:bg>
      <p:bgPr>
        <a:solidFill>
          <a:schemeClr val="accent5"/>
        </a:solidFill>
        <a:effectLst/>
      </p:bgPr>
    </p:bg>
    <p:spTree>
      <p:nvGrpSpPr>
        <p:cNvPr id="1" name=""/>
        <p:cNvGrpSpPr/>
        <p:nvPr/>
      </p:nvGrpSpPr>
      <p:grpSpPr>
        <a:xfrm>
          <a:off x="0" y="0"/>
          <a:ext cx="0" cy="0"/>
          <a:chOff x="0" y="0"/>
          <a:chExt cx="0" cy="0"/>
        </a:xfrm>
      </p:grpSpPr>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1"/>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rgbClr val="004C69"/>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accent1"/>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chemeClr val="accent1"/>
                </a:solidFill>
                <a:latin typeface="+mj-lt"/>
                <a:cs typeface="CiscoSans Thin"/>
              </a:defRPr>
            </a:lvl1pPr>
          </a:lstStyle>
          <a:p>
            <a:r>
              <a:rPr lang="en-US"/>
              <a:t>Click to edit Master title style</a:t>
            </a:r>
            <a:endParaRPr lang="en-US" dirty="0"/>
          </a:p>
        </p:txBody>
      </p:sp>
    </p:spTree>
    <p:extLst>
      <p:ext uri="{BB962C8B-B14F-4D97-AF65-F5344CB8AC3E}">
        <p14:creationId xmlns:p14="http://schemas.microsoft.com/office/powerpoint/2010/main" val="3653042546"/>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6_Title Slide-animated gradient">
    <p:bg>
      <p:bgPr>
        <a:solidFill>
          <a:schemeClr val="accent5"/>
        </a:solidFill>
        <a:effectLst/>
      </p:bgPr>
    </p:bg>
    <p:spTree>
      <p:nvGrpSpPr>
        <p:cNvPr id="1" name=""/>
        <p:cNvGrpSpPr/>
        <p:nvPr/>
      </p:nvGrpSpPr>
      <p:grpSpPr>
        <a:xfrm>
          <a:off x="0" y="0"/>
          <a:ext cx="0" cy="0"/>
          <a:chOff x="0" y="0"/>
          <a:chExt cx="0" cy="0"/>
        </a:xfrm>
      </p:grpSpPr>
      <p:sp>
        <p:nvSpPr>
          <p:cNvPr id="2" name="Rectangle 1"/>
          <p:cNvSpPr/>
          <p:nvPr userDrawn="1"/>
        </p:nvSpPr>
        <p:spPr>
          <a:xfrm>
            <a:off x="0" y="0"/>
            <a:ext cx="9144000" cy="5143500"/>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a:t>Click to edit Master title style</a:t>
            </a:r>
            <a:endParaRPr lang="en-US" dirty="0"/>
          </a:p>
        </p:txBody>
      </p:sp>
    </p:spTree>
    <p:extLst>
      <p:ext uri="{BB962C8B-B14F-4D97-AF65-F5344CB8AC3E}">
        <p14:creationId xmlns:p14="http://schemas.microsoft.com/office/powerpoint/2010/main" val="1974617842"/>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3_Segue">
    <p:bg>
      <p:bgPr>
        <a:solidFill>
          <a:schemeClr val="bg1"/>
        </a:solidFill>
        <a:effectLst/>
      </p:bgPr>
    </p:bg>
    <p:spTree>
      <p:nvGrpSpPr>
        <p:cNvPr id="1" name=""/>
        <p:cNvGrpSpPr/>
        <p:nvPr/>
      </p:nvGrpSpPr>
      <p:grpSpPr>
        <a:xfrm>
          <a:off x="0" y="0"/>
          <a:ext cx="0" cy="0"/>
          <a:chOff x="0" y="0"/>
          <a:chExt cx="0" cy="0"/>
        </a:xfrm>
      </p:grpSpPr>
      <p:sp>
        <p:nvSpPr>
          <p:cNvPr id="7" name="Rectangle 6"/>
          <p:cNvSpPr/>
          <p:nvPr userDrawn="1"/>
        </p:nvSpPr>
        <p:spPr>
          <a:xfrm>
            <a:off x="0" y="0"/>
            <a:ext cx="9144000" cy="5143499"/>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itle 1"/>
          <p:cNvSpPr>
            <a:spLocks noGrp="1"/>
          </p:cNvSpPr>
          <p:nvPr>
            <p:ph type="ctrTitle"/>
          </p:nvPr>
        </p:nvSpPr>
        <p:spPr>
          <a:xfrm>
            <a:off x="416425" y="915409"/>
            <a:ext cx="7598042" cy="2569946"/>
          </a:xfrm>
          <a:prstGeom prst="rect">
            <a:avLst/>
          </a:prstGeom>
        </p:spPr>
        <p:txBody>
          <a:bodyPr anchor="b">
            <a:noAutofit/>
          </a:bodyPr>
          <a:lstStyle>
            <a:lvl1pPr marL="0" indent="0" algn="l">
              <a:lnSpc>
                <a:spcPct val="90000"/>
              </a:lnSpc>
              <a:buFont typeface="Arial" panose="020B0604020202020204" pitchFamily="34" charset="0"/>
              <a:buNone/>
              <a:defRPr sz="4600" b="0" i="0" spc="0" baseline="0">
                <a:solidFill>
                  <a:schemeClr val="accent5"/>
                </a:solidFill>
                <a:latin typeface="+mj-lt"/>
                <a:cs typeface="CiscoSans Thin"/>
              </a:defRPr>
            </a:lvl1pPr>
          </a:lstStyle>
          <a:p>
            <a:r>
              <a:rPr lang="en-US"/>
              <a:t>Click to edit Master title style</a:t>
            </a:r>
            <a:endParaRPr lang="en-US" dirty="0"/>
          </a:p>
        </p:txBody>
      </p:sp>
      <p:sp>
        <p:nvSpPr>
          <p:cNvPr id="8" name="Rectangle 7"/>
          <p:cNvSpPr>
            <a:spLocks noChangeArrowheads="1"/>
          </p:cNvSpPr>
          <p:nvPr userDrawn="1"/>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5">
                    <a:lumMod val="50000"/>
                  </a:schemeClr>
                </a:solidFill>
                <a:latin typeface="+mn-lt"/>
                <a:ea typeface="+mn-ea"/>
                <a:cs typeface="CiscoSans Thin"/>
              </a:rPr>
              <a:pPr algn="r" defTabSz="610744" fontAlgn="auto">
                <a:spcBef>
                  <a:spcPts val="0"/>
                </a:spcBef>
                <a:spcAft>
                  <a:spcPts val="0"/>
                </a:spcAft>
                <a:defRPr/>
              </a:pPr>
              <a:t>‹#›</a:t>
            </a:fld>
            <a:endParaRPr lang="en-US" sz="600" dirty="0">
              <a:solidFill>
                <a:schemeClr val="accent5">
                  <a:lumMod val="50000"/>
                </a:schemeClr>
              </a:solidFill>
              <a:latin typeface="+mn-lt"/>
              <a:ea typeface="+mn-ea"/>
              <a:cs typeface="CiscoSans Thin"/>
            </a:endParaRPr>
          </a:p>
        </p:txBody>
      </p:sp>
      <p:sp>
        <p:nvSpPr>
          <p:cNvPr id="9" name="Rectangle 4"/>
          <p:cNvSpPr>
            <a:spLocks noChangeArrowheads="1"/>
          </p:cNvSpPr>
          <p:nvPr userDrawn="1"/>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a:spcBef>
                <a:spcPts val="0"/>
              </a:spcBef>
              <a:spcAft>
                <a:spcPts val="0"/>
              </a:spcAft>
              <a:defRPr/>
            </a:pPr>
            <a:r>
              <a:rPr lang="en-US" sz="600" dirty="0">
                <a:solidFill>
                  <a:schemeClr val="accent5">
                    <a:lumMod val="50000"/>
                  </a:schemeClr>
                </a:solidFill>
                <a:latin typeface="+mn-lt"/>
                <a:ea typeface="+mn-ea"/>
                <a:cs typeface="CiscoSans Thin"/>
              </a:rPr>
              <a:t>© 2016  Cisco and/or its affiliates. All rights reserved.   Cisco Confidential</a:t>
            </a:r>
          </a:p>
        </p:txBody>
      </p:sp>
      <p:grpSp>
        <p:nvGrpSpPr>
          <p:cNvPr id="11" name="Group 4"/>
          <p:cNvGrpSpPr>
            <a:grpSpLocks noChangeAspect="1"/>
          </p:cNvGrpSpPr>
          <p:nvPr userDrawn="1"/>
        </p:nvGrpSpPr>
        <p:grpSpPr bwMode="auto">
          <a:xfrm>
            <a:off x="508039" y="4715197"/>
            <a:ext cx="340257" cy="180974"/>
            <a:chOff x="310" y="249"/>
            <a:chExt cx="502" cy="267"/>
          </a:xfrm>
          <a:solidFill>
            <a:srgbClr val="086D8E"/>
          </a:solidFill>
        </p:grpSpPr>
        <p:sp>
          <p:nvSpPr>
            <p:cNvPr id="12"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90854121"/>
      </p:ext>
    </p:extLst>
  </p:cSld>
  <p:clrMapOvr>
    <a:masterClrMapping/>
  </p:clrMapOvr>
  <p:transition spd="slow">
    <p:wip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Multi_Slide">
    <p:spTree>
      <p:nvGrpSpPr>
        <p:cNvPr id="1" name=""/>
        <p:cNvGrpSpPr/>
        <p:nvPr/>
      </p:nvGrpSpPr>
      <p:grpSpPr>
        <a:xfrm>
          <a:off x="0" y="0"/>
          <a:ext cx="0" cy="0"/>
          <a:chOff x="0" y="0"/>
          <a:chExt cx="0" cy="0"/>
        </a:xfrm>
      </p:grpSpPr>
      <p:sp>
        <p:nvSpPr>
          <p:cNvPr id="5" name="Content Placeholder 2"/>
          <p:cNvSpPr>
            <a:spLocks noGrp="1"/>
          </p:cNvSpPr>
          <p:nvPr>
            <p:ph idx="1"/>
          </p:nvPr>
        </p:nvSpPr>
        <p:spPr>
          <a:xfrm>
            <a:off x="474662" y="1347788"/>
            <a:ext cx="8280057" cy="3073946"/>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sz="2000" b="0" i="0" baseline="0">
                <a:solidFill>
                  <a:schemeClr val="bg1"/>
                </a:solidFill>
                <a:latin typeface="+mn-lt"/>
                <a:cs typeface="CiscoSans ExtraLight"/>
              </a:defRPr>
            </a:lvl1pPr>
          </a:lstStyle>
          <a:p>
            <a:pPr lvl="0"/>
            <a:r>
              <a:rPr lang="en-US"/>
              <a:t>Click to edit Master text styles</a:t>
            </a:r>
          </a:p>
        </p:txBody>
      </p:sp>
      <p:sp>
        <p:nvSpPr>
          <p:cNvPr id="4" name="Title Placeholder 5"/>
          <p:cNvSpPr>
            <a:spLocks noGrp="1"/>
          </p:cNvSpPr>
          <p:nvPr>
            <p:ph type="title"/>
          </p:nvPr>
        </p:nvSpPr>
        <p:spPr bwMode="auto">
          <a:xfrm>
            <a:off x="437766"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rgbClr val="004C69"/>
                </a:solidFill>
              </a:defRPr>
            </a:lvl1pPr>
          </a:lstStyle>
          <a:p>
            <a:pPr lvl="0"/>
            <a:r>
              <a:rPr lang="en-US"/>
              <a:t>Click to edit Master title style</a:t>
            </a:r>
            <a:endParaRPr lang="en-GB" dirty="0"/>
          </a:p>
        </p:txBody>
      </p:sp>
    </p:spTree>
    <p:extLst>
      <p:ext uri="{BB962C8B-B14F-4D97-AF65-F5344CB8AC3E}">
        <p14:creationId xmlns:p14="http://schemas.microsoft.com/office/powerpoint/2010/main" val="542967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4222912136"/>
      </p:ext>
    </p:extLst>
  </p:cSld>
  <p:clrMapOvr>
    <a:overrideClrMapping bg1="lt1" tx1="dk1" bg2="lt2" tx2="dk2" accent1="accent1" accent2="accent2" accent3="accent3" accent4="accent4" accent5="accent5" accent6="accent6" hlink="hlink" folHlink="folHlink"/>
  </p:clrMapOvr>
  <p:transition spd="med">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2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12" name="Oval 11"/>
          <p:cNvSpPr/>
          <p:nvPr/>
        </p:nvSpPr>
        <p:spPr>
          <a:xfrm>
            <a:off x="575610" y="2552550"/>
            <a:ext cx="698624" cy="698624"/>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FFFFFF"/>
              </a:solidFill>
              <a:cs typeface="Arial"/>
            </a:endParaRPr>
          </a:p>
        </p:txBody>
      </p:sp>
      <p:sp>
        <p:nvSpPr>
          <p:cNvPr id="15" name="Oval 14"/>
          <p:cNvSpPr/>
          <p:nvPr/>
        </p:nvSpPr>
        <p:spPr>
          <a:xfrm>
            <a:off x="575610" y="1426607"/>
            <a:ext cx="698624" cy="698624"/>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bg1"/>
              </a:solidFill>
              <a:cs typeface="Arial"/>
            </a:endParaRPr>
          </a:p>
        </p:txBody>
      </p:sp>
      <p:sp>
        <p:nvSpPr>
          <p:cNvPr id="22" name="Oval 21"/>
          <p:cNvSpPr/>
          <p:nvPr/>
        </p:nvSpPr>
        <p:spPr>
          <a:xfrm>
            <a:off x="575610" y="3653093"/>
            <a:ext cx="698624" cy="698624"/>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049FD9"/>
              </a:solidFill>
              <a:cs typeface="Arial"/>
            </a:endParaRPr>
          </a:p>
        </p:txBody>
      </p:sp>
      <p:sp>
        <p:nvSpPr>
          <p:cNvPr id="24" name="Text Placeholder 17"/>
          <p:cNvSpPr>
            <a:spLocks noGrp="1"/>
          </p:cNvSpPr>
          <p:nvPr>
            <p:ph type="body" sz="quarter" idx="13"/>
          </p:nvPr>
        </p:nvSpPr>
        <p:spPr>
          <a:xfrm>
            <a:off x="1365250" y="1432522"/>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5" name="Text Placeholder 17"/>
          <p:cNvSpPr>
            <a:spLocks noGrp="1"/>
          </p:cNvSpPr>
          <p:nvPr>
            <p:ph type="body" sz="quarter" idx="14"/>
          </p:nvPr>
        </p:nvSpPr>
        <p:spPr>
          <a:xfrm>
            <a:off x="1365250" y="25577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365250" y="36530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8" name="Text Placeholder 17"/>
          <p:cNvSpPr>
            <a:spLocks noGrp="1"/>
          </p:cNvSpPr>
          <p:nvPr>
            <p:ph type="body" sz="quarter" idx="17" hasCustomPrompt="1"/>
          </p:nvPr>
        </p:nvSpPr>
        <p:spPr>
          <a:xfrm>
            <a:off x="575610" y="2552550"/>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1" y="3651140"/>
            <a:ext cx="698624" cy="693381"/>
          </a:xfrm>
          <a:prstGeom prst="rect">
            <a:avLst/>
          </a:prstGeom>
          <a:ln>
            <a:noFill/>
          </a:ln>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Text Placeholder 17"/>
          <p:cNvSpPr>
            <a:spLocks noGrp="1"/>
          </p:cNvSpPr>
          <p:nvPr>
            <p:ph type="body" sz="quarter" idx="19" hasCustomPrompt="1"/>
          </p:nvPr>
        </p:nvSpPr>
        <p:spPr>
          <a:xfrm>
            <a:off x="575610" y="1427248"/>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Tree>
    <p:extLst>
      <p:ext uri="{BB962C8B-B14F-4D97-AF65-F5344CB8AC3E}">
        <p14:creationId xmlns:p14="http://schemas.microsoft.com/office/powerpoint/2010/main" val="3053872667"/>
      </p:ext>
    </p:extLst>
  </p:cSld>
  <p:clrMapOvr>
    <a:masterClrMapping/>
  </p:clrMapOvr>
  <p:transition spd="slow">
    <p:wip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5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12" name="Oval 1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5" name="Oval 14"/>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2" name="Oval 21"/>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4" name="Text Placeholder 17"/>
          <p:cNvSpPr>
            <a:spLocks noGrp="1"/>
          </p:cNvSpPr>
          <p:nvPr>
            <p:ph type="body" sz="quarter" idx="13"/>
          </p:nvPr>
        </p:nvSpPr>
        <p:spPr>
          <a:xfrm>
            <a:off x="1172384" y="1334842"/>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5" name="Text Placeholder 17"/>
          <p:cNvSpPr>
            <a:spLocks noGrp="1"/>
          </p:cNvSpPr>
          <p:nvPr>
            <p:ph type="body" sz="quarter" idx="14"/>
          </p:nvPr>
        </p:nvSpPr>
        <p:spPr>
          <a:xfrm>
            <a:off x="1172385" y="198456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172385" y="262744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7"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28"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Oval 12"/>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4" name="Text Placeholder 17"/>
          <p:cNvSpPr>
            <a:spLocks noGrp="1"/>
          </p:cNvSpPr>
          <p:nvPr>
            <p:ph type="body" sz="quarter" idx="19"/>
          </p:nvPr>
        </p:nvSpPr>
        <p:spPr>
          <a:xfrm>
            <a:off x="1172386" y="327458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6"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17" name="Oval 16"/>
          <p:cNvSpPr/>
          <p:nvPr/>
        </p:nvSpPr>
        <p:spPr>
          <a:xfrm>
            <a:off x="575613" y="3921716"/>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8" name="Text Placeholder 17"/>
          <p:cNvSpPr>
            <a:spLocks noGrp="1"/>
          </p:cNvSpPr>
          <p:nvPr>
            <p:ph type="body" sz="quarter" idx="21"/>
          </p:nvPr>
        </p:nvSpPr>
        <p:spPr>
          <a:xfrm>
            <a:off x="1172387" y="392171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9" name="Text Placeholder 17"/>
          <p:cNvSpPr>
            <a:spLocks noGrp="1"/>
          </p:cNvSpPr>
          <p:nvPr>
            <p:ph type="body" sz="quarter" idx="22" hasCustomPrompt="1"/>
          </p:nvPr>
        </p:nvSpPr>
        <p:spPr>
          <a:xfrm>
            <a:off x="575614" y="3919763"/>
            <a:ext cx="464815" cy="461327"/>
          </a:xfrm>
          <a:prstGeom prst="rect">
            <a:avLst/>
          </a:prstGeom>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Tree>
    <p:extLst>
      <p:ext uri="{BB962C8B-B14F-4D97-AF65-F5344CB8AC3E}">
        <p14:creationId xmlns:p14="http://schemas.microsoft.com/office/powerpoint/2010/main" val="2962125011"/>
      </p:ext>
    </p:extLst>
  </p:cSld>
  <p:clrMapOvr>
    <a:masterClrMapping/>
  </p:clrMapOvr>
  <p:transition spd="slow">
    <p:wip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6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04C69"/>
                </a:solidFill>
              </a:defRPr>
            </a:lvl1pPr>
          </a:lstStyle>
          <a:p>
            <a:r>
              <a:rPr lang="en-US"/>
              <a:t>Click to edit Master title style</a:t>
            </a:r>
            <a:endParaRPr lang="en-US" dirty="0"/>
          </a:p>
        </p:txBody>
      </p:sp>
      <p:sp>
        <p:nvSpPr>
          <p:cNvPr id="42" name="Oval 4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3" name="Oval 42"/>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rgbClr val="FFFFFF"/>
              </a:solidFill>
              <a:cs typeface="Arial"/>
            </a:endParaRPr>
          </a:p>
        </p:txBody>
      </p:sp>
      <p:sp>
        <p:nvSpPr>
          <p:cNvPr id="44" name="Oval 43"/>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5" name="Text Placeholder 17"/>
          <p:cNvSpPr>
            <a:spLocks noGrp="1"/>
          </p:cNvSpPr>
          <p:nvPr>
            <p:ph type="body" sz="quarter" idx="13"/>
          </p:nvPr>
        </p:nvSpPr>
        <p:spPr>
          <a:xfrm>
            <a:off x="1172384" y="133484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6" name="Text Placeholder 17"/>
          <p:cNvSpPr>
            <a:spLocks noGrp="1"/>
          </p:cNvSpPr>
          <p:nvPr>
            <p:ph type="body" sz="quarter" idx="14"/>
          </p:nvPr>
        </p:nvSpPr>
        <p:spPr>
          <a:xfrm>
            <a:off x="1172385" y="198456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7" name="Text Placeholder 17"/>
          <p:cNvSpPr>
            <a:spLocks noGrp="1"/>
          </p:cNvSpPr>
          <p:nvPr>
            <p:ph type="body" sz="quarter" idx="15"/>
          </p:nvPr>
        </p:nvSpPr>
        <p:spPr>
          <a:xfrm>
            <a:off x="1172385" y="262744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8"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49"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50"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51" name="Oval 50"/>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2" name="Text Placeholder 17"/>
          <p:cNvSpPr>
            <a:spLocks noGrp="1"/>
          </p:cNvSpPr>
          <p:nvPr>
            <p:ph type="body" sz="quarter" idx="19"/>
          </p:nvPr>
        </p:nvSpPr>
        <p:spPr>
          <a:xfrm>
            <a:off x="1172386" y="327458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3"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54" name="Oval 53"/>
          <p:cNvSpPr/>
          <p:nvPr/>
        </p:nvSpPr>
        <p:spPr>
          <a:xfrm>
            <a:off x="575613" y="3921716"/>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5" name="Text Placeholder 17"/>
          <p:cNvSpPr>
            <a:spLocks noGrp="1"/>
          </p:cNvSpPr>
          <p:nvPr>
            <p:ph type="body" sz="quarter" idx="21"/>
          </p:nvPr>
        </p:nvSpPr>
        <p:spPr>
          <a:xfrm>
            <a:off x="1172387" y="392171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6" name="Text Placeholder 17"/>
          <p:cNvSpPr>
            <a:spLocks noGrp="1"/>
          </p:cNvSpPr>
          <p:nvPr>
            <p:ph type="body" sz="quarter" idx="22" hasCustomPrompt="1"/>
          </p:nvPr>
        </p:nvSpPr>
        <p:spPr>
          <a:xfrm>
            <a:off x="575614" y="391976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
        <p:nvSpPr>
          <p:cNvPr id="57" name="Oval 56"/>
          <p:cNvSpPr/>
          <p:nvPr/>
        </p:nvSpPr>
        <p:spPr>
          <a:xfrm>
            <a:off x="4414576" y="1983084"/>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8" name="Oval 57"/>
          <p:cNvSpPr/>
          <p:nvPr/>
        </p:nvSpPr>
        <p:spPr>
          <a:xfrm>
            <a:off x="4414575" y="1332693"/>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9" name="Oval 58"/>
          <p:cNvSpPr/>
          <p:nvPr/>
        </p:nvSpPr>
        <p:spPr>
          <a:xfrm>
            <a:off x="4414576" y="2631212"/>
            <a:ext cx="464815" cy="464815"/>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0" name="Text Placeholder 17"/>
          <p:cNvSpPr>
            <a:spLocks noGrp="1"/>
          </p:cNvSpPr>
          <p:nvPr>
            <p:ph type="body" sz="quarter" idx="23"/>
          </p:nvPr>
        </p:nvSpPr>
        <p:spPr>
          <a:xfrm>
            <a:off x="5011349" y="1338608"/>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1" name="Text Placeholder 17"/>
          <p:cNvSpPr>
            <a:spLocks noGrp="1"/>
          </p:cNvSpPr>
          <p:nvPr>
            <p:ph type="body" sz="quarter" idx="24"/>
          </p:nvPr>
        </p:nvSpPr>
        <p:spPr>
          <a:xfrm>
            <a:off x="5011350" y="198832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2" name="Text Placeholder 17"/>
          <p:cNvSpPr>
            <a:spLocks noGrp="1"/>
          </p:cNvSpPr>
          <p:nvPr>
            <p:ph type="body" sz="quarter" idx="25"/>
          </p:nvPr>
        </p:nvSpPr>
        <p:spPr>
          <a:xfrm>
            <a:off x="5011350" y="263121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3" name="Text Placeholder 17"/>
          <p:cNvSpPr>
            <a:spLocks noGrp="1"/>
          </p:cNvSpPr>
          <p:nvPr>
            <p:ph type="body" sz="quarter" idx="26" hasCustomPrompt="1"/>
          </p:nvPr>
        </p:nvSpPr>
        <p:spPr>
          <a:xfrm>
            <a:off x="4414576" y="1331287"/>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6</a:t>
            </a:r>
          </a:p>
        </p:txBody>
      </p:sp>
      <p:sp>
        <p:nvSpPr>
          <p:cNvPr id="64" name="Text Placeholder 17"/>
          <p:cNvSpPr>
            <a:spLocks noGrp="1"/>
          </p:cNvSpPr>
          <p:nvPr>
            <p:ph type="body" sz="quarter" idx="27" hasCustomPrompt="1"/>
          </p:nvPr>
        </p:nvSpPr>
        <p:spPr>
          <a:xfrm>
            <a:off x="4414576" y="198308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7</a:t>
            </a:r>
          </a:p>
        </p:txBody>
      </p:sp>
      <p:sp>
        <p:nvSpPr>
          <p:cNvPr id="65" name="Text Placeholder 17"/>
          <p:cNvSpPr>
            <a:spLocks noGrp="1"/>
          </p:cNvSpPr>
          <p:nvPr>
            <p:ph type="body" sz="quarter" idx="28" hasCustomPrompt="1"/>
          </p:nvPr>
        </p:nvSpPr>
        <p:spPr>
          <a:xfrm>
            <a:off x="4414577" y="262925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8</a:t>
            </a:r>
          </a:p>
        </p:txBody>
      </p:sp>
      <p:sp>
        <p:nvSpPr>
          <p:cNvPr id="66" name="Oval 65"/>
          <p:cNvSpPr/>
          <p:nvPr/>
        </p:nvSpPr>
        <p:spPr>
          <a:xfrm>
            <a:off x="4414577" y="3278347"/>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7" name="Text Placeholder 17"/>
          <p:cNvSpPr>
            <a:spLocks noGrp="1"/>
          </p:cNvSpPr>
          <p:nvPr>
            <p:ph type="body" sz="quarter" idx="29"/>
          </p:nvPr>
        </p:nvSpPr>
        <p:spPr>
          <a:xfrm>
            <a:off x="5011351" y="327834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8" name="Text Placeholder 17"/>
          <p:cNvSpPr>
            <a:spLocks noGrp="1"/>
          </p:cNvSpPr>
          <p:nvPr>
            <p:ph type="body" sz="quarter" idx="30" hasCustomPrompt="1"/>
          </p:nvPr>
        </p:nvSpPr>
        <p:spPr>
          <a:xfrm>
            <a:off x="4414578" y="327639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9</a:t>
            </a:r>
          </a:p>
        </p:txBody>
      </p:sp>
      <p:sp>
        <p:nvSpPr>
          <p:cNvPr id="69" name="Oval 68"/>
          <p:cNvSpPr/>
          <p:nvPr/>
        </p:nvSpPr>
        <p:spPr>
          <a:xfrm>
            <a:off x="4414578" y="3925482"/>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70" name="Text Placeholder 17"/>
          <p:cNvSpPr>
            <a:spLocks noGrp="1"/>
          </p:cNvSpPr>
          <p:nvPr>
            <p:ph type="body" sz="quarter" idx="31"/>
          </p:nvPr>
        </p:nvSpPr>
        <p:spPr>
          <a:xfrm>
            <a:off x="5011352" y="392548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71" name="Text Placeholder 17"/>
          <p:cNvSpPr>
            <a:spLocks noGrp="1"/>
          </p:cNvSpPr>
          <p:nvPr>
            <p:ph type="body" sz="quarter" idx="32" hasCustomPrompt="1"/>
          </p:nvPr>
        </p:nvSpPr>
        <p:spPr>
          <a:xfrm>
            <a:off x="4414579" y="392352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10</a:t>
            </a:r>
          </a:p>
        </p:txBody>
      </p:sp>
    </p:spTree>
    <p:extLst>
      <p:ext uri="{BB962C8B-B14F-4D97-AF65-F5344CB8AC3E}">
        <p14:creationId xmlns:p14="http://schemas.microsoft.com/office/powerpoint/2010/main" val="3643099958"/>
      </p:ext>
    </p:extLst>
  </p:cSld>
  <p:clrMapOvr>
    <a:masterClrMapping/>
  </p:clrMapOvr>
  <p:transition spd="slow">
    <p:wip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1_Closing Slide">
    <p:bg>
      <p:bgPr>
        <a:solidFill>
          <a:schemeClr val="accent5"/>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1"/>
            <a:ext cx="9143999" cy="5165874"/>
          </a:xfrm>
          <a:prstGeom prst="rect">
            <a:avLst/>
          </a:prstGeom>
        </p:spPr>
      </p:pic>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198843304"/>
      </p:ext>
    </p:extLst>
  </p:cSld>
  <p:clrMapOvr>
    <a:masterClrMapping/>
  </p:clrMapOvr>
  <p:transition spd="slow">
    <p:wip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Closing Slide">
    <p:bg>
      <p:bgPr>
        <a:solidFill>
          <a:schemeClr val="accent5"/>
        </a:solidFill>
        <a:effectLst/>
      </p:bgPr>
    </p:bg>
    <p:spTree>
      <p:nvGrpSpPr>
        <p:cNvPr id="1" name=""/>
        <p:cNvGrpSpPr/>
        <p:nvPr/>
      </p:nvGrpSpPr>
      <p:grpSpPr>
        <a:xfrm>
          <a:off x="0" y="0"/>
          <a:ext cx="0" cy="0"/>
          <a:chOff x="0" y="0"/>
          <a:chExt cx="0" cy="0"/>
        </a:xfrm>
      </p:grpSpPr>
      <p:sp>
        <p:nvSpPr>
          <p:cNvPr id="3" name="Rectangle 2"/>
          <p:cNvSpPr/>
          <p:nvPr userDrawn="1"/>
        </p:nvSpPr>
        <p:spPr>
          <a:xfrm>
            <a:off x="0" y="0"/>
            <a:ext cx="9144000" cy="5143500"/>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47974899"/>
      </p:ext>
    </p:extLst>
  </p:cSld>
  <p:clrMapOvr>
    <a:masterClrMapping/>
  </p:clrMapOvr>
  <p:transition spd="slow">
    <p:wip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3_Closing Slide">
    <p:bg>
      <p:bgPr>
        <a:solidFill>
          <a:schemeClr val="accent5"/>
        </a:solidFill>
        <a:effectLst/>
      </p:bgPr>
    </p:bg>
    <p:spTree>
      <p:nvGrpSpPr>
        <p:cNvPr id="1" name=""/>
        <p:cNvGrpSpPr/>
        <p:nvPr/>
      </p:nvGrpSpPr>
      <p:grpSpPr>
        <a:xfrm>
          <a:off x="0" y="0"/>
          <a:ext cx="0" cy="0"/>
          <a:chOff x="0" y="0"/>
          <a:chExt cx="0" cy="0"/>
        </a:xfrm>
      </p:grpSpPr>
      <p:grpSp>
        <p:nvGrpSpPr>
          <p:cNvPr id="4" name="Group 4"/>
          <p:cNvGrpSpPr>
            <a:grpSpLocks noChangeAspect="1"/>
          </p:cNvGrpSpPr>
          <p:nvPr userDrawn="1"/>
        </p:nvGrpSpPr>
        <p:grpSpPr bwMode="auto">
          <a:xfrm>
            <a:off x="3746294" y="2129856"/>
            <a:ext cx="1617944" cy="860542"/>
            <a:chOff x="310" y="249"/>
            <a:chExt cx="502" cy="267"/>
          </a:xfrm>
          <a:solidFill>
            <a:schemeClr val="accent1">
              <a:lumMod val="75000"/>
            </a:schemeClr>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51544963"/>
      </p:ext>
    </p:extLst>
  </p:cSld>
  <p:clrMapOvr>
    <a:masterClrMapping/>
  </p:clrMapOvr>
  <p:transition spd="slow">
    <p:wip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4" name="Slide Number Placeholder 6"/>
          <p:cNvSpPr>
            <a:spLocks noGrp="1"/>
          </p:cNvSpPr>
          <p:nvPr>
            <p:ph type="sldNum" sz="quarter" idx="4"/>
          </p:nvPr>
        </p:nvSpPr>
        <p:spPr>
          <a:xfrm>
            <a:off x="8473441" y="4954263"/>
            <a:ext cx="676910" cy="189238"/>
          </a:xfrm>
          <a:prstGeom prst="rect">
            <a:avLst/>
          </a:prstGeom>
        </p:spPr>
        <p:txBody>
          <a:bodyPr vert="horz" lIns="91440" tIns="45720" rIns="91440" bIns="45720" rtlCol="0" anchor="ctr"/>
          <a:lstStyle>
            <a:lvl1pPr algn="r">
              <a:defRPr sz="525">
                <a:solidFill>
                  <a:schemeClr val="tx2"/>
                </a:solidFill>
              </a:defRPr>
            </a:lvl1pPr>
          </a:lstStyle>
          <a:p>
            <a:pPr defTabSz="385763">
              <a:defRPr/>
            </a:pPr>
            <a:fld id="{2F5CCB13-0A32-4557-88E9-079F0C330695}" type="slidenum">
              <a:rPr lang="en-US" kern="0" smtClean="0">
                <a:solidFill>
                  <a:srgbClr val="595959"/>
                </a:solidFill>
              </a:rPr>
              <a:pPr defTabSz="385763">
                <a:defRPr/>
              </a:pPr>
              <a:t>‹#›</a:t>
            </a:fld>
            <a:endParaRPr lang="en-US" kern="0" dirty="0">
              <a:solidFill>
                <a:srgbClr val="595959"/>
              </a:solidFill>
            </a:endParaRPr>
          </a:p>
        </p:txBody>
      </p:sp>
      <p:sp>
        <p:nvSpPr>
          <p:cNvPr id="5" name="Rectangle 3"/>
          <p:cNvSpPr>
            <a:spLocks noGrp="1" noChangeArrowheads="1"/>
          </p:cNvSpPr>
          <p:nvPr>
            <p:ph idx="1"/>
          </p:nvPr>
        </p:nvSpPr>
        <p:spPr bwMode="auto">
          <a:xfrm>
            <a:off x="144065" y="798944"/>
            <a:ext cx="8853286" cy="4155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nSpc>
                <a:spcPct val="100000"/>
              </a:lnSpc>
              <a:spcBef>
                <a:spcPts val="600"/>
              </a:spcBef>
              <a:spcAft>
                <a:spcPts val="600"/>
              </a:spcAft>
              <a:buFont typeface="Wingdings" panose="05000000000000000000" pitchFamily="2" charset="2"/>
              <a:buChar char="§"/>
              <a:defRPr>
                <a:solidFill>
                  <a:srgbClr val="000000"/>
                </a:solidFill>
              </a:defRPr>
            </a:lvl1pPr>
            <a:lvl2pPr>
              <a:lnSpc>
                <a:spcPct val="100000"/>
              </a:lnSpc>
              <a:spcBef>
                <a:spcPts val="300"/>
              </a:spcBef>
              <a:spcAft>
                <a:spcPts val="300"/>
              </a:spcAft>
              <a:defRPr>
                <a:solidFill>
                  <a:srgbClr val="000000"/>
                </a:solidFill>
              </a:defRPr>
            </a:lvl2pPr>
            <a:lvl3pPr>
              <a:lnSpc>
                <a:spcPct val="100000"/>
              </a:lnSpc>
              <a:spcBef>
                <a:spcPts val="300"/>
              </a:spcBef>
              <a:spcAft>
                <a:spcPts val="300"/>
              </a:spcAft>
              <a:defRPr>
                <a:solidFill>
                  <a:srgbClr val="000000"/>
                </a:solidFill>
              </a:defRPr>
            </a:lvl3pPr>
            <a:lvl4pPr>
              <a:lnSpc>
                <a:spcPct val="100000"/>
              </a:lnSpc>
              <a:spcBef>
                <a:spcPts val="300"/>
              </a:spcBef>
              <a:spcAft>
                <a:spcPts val="300"/>
              </a:spcAft>
              <a:defRPr>
                <a:solidFill>
                  <a:srgbClr val="000000"/>
                </a:solidFill>
              </a:defRPr>
            </a:lvl4pPr>
          </a:lstStyle>
          <a:p>
            <a:pPr lvl="0"/>
            <a:r>
              <a:rPr lang="en-US">
                <a:sym typeface="Arial" pitchFamily="34" charset="0"/>
              </a:rPr>
              <a:t>Click to edit Master text styles</a:t>
            </a:r>
          </a:p>
          <a:p>
            <a:pPr lvl="1"/>
            <a:r>
              <a:rPr lang="en-US">
                <a:sym typeface="Arial" pitchFamily="34" charset="0"/>
              </a:rPr>
              <a:t>Second level</a:t>
            </a:r>
          </a:p>
          <a:p>
            <a:pPr lvl="2"/>
            <a:r>
              <a:rPr lang="en-US">
                <a:sym typeface="Arial" pitchFamily="34" charset="0"/>
              </a:rPr>
              <a:t>Third level</a:t>
            </a:r>
          </a:p>
          <a:p>
            <a:pPr lvl="3"/>
            <a:r>
              <a:rPr lang="en-US">
                <a:sym typeface="Arial" pitchFamily="34" charset="0"/>
              </a:rPr>
              <a:t>Fourth level</a:t>
            </a:r>
          </a:p>
        </p:txBody>
      </p:sp>
      <p:sp>
        <p:nvSpPr>
          <p:cNvPr id="6" name="Rectangle 2"/>
          <p:cNvSpPr>
            <a:spLocks noGrp="1" noChangeArrowheads="1"/>
          </p:cNvSpPr>
          <p:nvPr>
            <p:ph type="title"/>
          </p:nvPr>
        </p:nvSpPr>
        <p:spPr bwMode="auto">
          <a:xfrm>
            <a:off x="1" y="41393"/>
            <a:ext cx="9144000"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nSpc>
                <a:spcPct val="100000"/>
              </a:lnSpc>
              <a:defRPr sz="2400"/>
            </a:lvl1pPr>
          </a:lstStyle>
          <a:p>
            <a:pPr lvl="0"/>
            <a:r>
              <a:rPr lang="en-US">
                <a:sym typeface="Arial" pitchFamily="34" charset="0"/>
              </a:rPr>
              <a:t>Click to edit Master title style</a:t>
            </a:r>
            <a:endParaRPr lang="en-US" dirty="0">
              <a:sym typeface="Arial" pitchFamily="34" charset="0"/>
            </a:endParaRPr>
          </a:p>
        </p:txBody>
      </p:sp>
    </p:spTree>
    <p:extLst>
      <p:ext uri="{BB962C8B-B14F-4D97-AF65-F5344CB8AC3E}">
        <p14:creationId xmlns:p14="http://schemas.microsoft.com/office/powerpoint/2010/main" val="2257996623"/>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6992501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5"/>
          <p:cNvSpPr>
            <a:spLocks noGrp="1"/>
          </p:cNvSpPr>
          <p:nvPr>
            <p:ph type="title"/>
          </p:nvPr>
        </p:nvSpPr>
        <p:spPr bwMode="auto">
          <a:xfrm>
            <a:off x="438150"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4" tIns="45712" rIns="91424" bIns="45712" numCol="1" anchor="ctr" anchorCtr="0" compatLnSpc="1">
            <a:prstTxWarp prst="textNoShape">
              <a:avLst/>
            </a:prstTxWarp>
          </a:bodyPr>
          <a:lstStyle/>
          <a:p>
            <a:pPr lvl="0"/>
            <a:r>
              <a:rPr lang="en-GB" altLang="en-US" dirty="0"/>
              <a:t>Title Goes Here</a:t>
            </a:r>
          </a:p>
        </p:txBody>
      </p:sp>
      <p:sp>
        <p:nvSpPr>
          <p:cNvPr id="12" name="Rectangle 7"/>
          <p:cNvSpPr>
            <a:spLocks noChangeArrowheads="1"/>
          </p:cNvSpPr>
          <p:nvPr/>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3">
                    <a:lumMod val="85000"/>
                  </a:schemeClr>
                </a:solidFill>
                <a:latin typeface="+mn-lt"/>
                <a:ea typeface="+mn-ea"/>
                <a:cs typeface="CiscoSans Thin"/>
              </a:rPr>
              <a:pPr algn="r" defTabSz="610744" fontAlgn="auto">
                <a:spcBef>
                  <a:spcPts val="0"/>
                </a:spcBef>
                <a:spcAft>
                  <a:spcPts val="0"/>
                </a:spcAft>
                <a:defRPr/>
              </a:pPr>
              <a:t>‹#›</a:t>
            </a:fld>
            <a:endParaRPr lang="en-US" sz="600" dirty="0">
              <a:solidFill>
                <a:schemeClr val="accent3">
                  <a:lumMod val="85000"/>
                </a:schemeClr>
              </a:solidFill>
              <a:latin typeface="+mn-lt"/>
              <a:ea typeface="+mn-ea"/>
              <a:cs typeface="CiscoSans Thin"/>
            </a:endParaRPr>
          </a:p>
        </p:txBody>
      </p:sp>
      <p:sp>
        <p:nvSpPr>
          <p:cNvPr id="13" name="Rectangle 4"/>
          <p:cNvSpPr>
            <a:spLocks noChangeArrowheads="1"/>
          </p:cNvSpPr>
          <p:nvPr/>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a:spcBef>
                <a:spcPts val="0"/>
              </a:spcBef>
              <a:spcAft>
                <a:spcPts val="0"/>
              </a:spcAft>
              <a:defRPr/>
            </a:pPr>
            <a:r>
              <a:rPr lang="en-US" sz="600" dirty="0">
                <a:solidFill>
                  <a:schemeClr val="accent3">
                    <a:lumMod val="85000"/>
                  </a:schemeClr>
                </a:solidFill>
                <a:latin typeface="+mn-lt"/>
                <a:ea typeface="+mn-ea"/>
                <a:cs typeface="CiscoSans Thin"/>
              </a:rPr>
              <a:t>© 2016  Cisco and/or its affiliates. All rights reserved.   Cisco Confidential</a:t>
            </a:r>
          </a:p>
        </p:txBody>
      </p:sp>
      <p:grpSp>
        <p:nvGrpSpPr>
          <p:cNvPr id="6" name="Group 4"/>
          <p:cNvGrpSpPr>
            <a:grpSpLocks noChangeAspect="1"/>
          </p:cNvGrpSpPr>
          <p:nvPr userDrawn="1"/>
        </p:nvGrpSpPr>
        <p:grpSpPr bwMode="auto">
          <a:xfrm>
            <a:off x="508039" y="4715197"/>
            <a:ext cx="340257" cy="180974"/>
            <a:chOff x="310" y="249"/>
            <a:chExt cx="502" cy="267"/>
          </a:xfrm>
          <a:solidFill>
            <a:schemeClr val="accent5"/>
          </a:solidFill>
        </p:grpSpPr>
        <p:sp>
          <p:nvSpPr>
            <p:cNvPr id="7"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cSld>
  <p:clrMap bg1="lt1" tx1="dk1" bg2="lt2" tx2="dk2" accent1="accent1" accent2="accent2" accent3="accent3" accent4="accent4" accent5="accent5" accent6="accent6" hlink="hlink" folHlink="folHlink"/>
  <p:sldLayoutIdLst>
    <p:sldLayoutId id="2147483962" r:id="rId1"/>
    <p:sldLayoutId id="2147484013" r:id="rId2"/>
    <p:sldLayoutId id="2147484014" r:id="rId3"/>
    <p:sldLayoutId id="2147483965" r:id="rId4"/>
    <p:sldLayoutId id="2147483967" r:id="rId5"/>
    <p:sldLayoutId id="2147483995" r:id="rId6"/>
    <p:sldLayoutId id="2147484007" r:id="rId7"/>
    <p:sldLayoutId id="2147484010" r:id="rId8"/>
    <p:sldLayoutId id="2147484011" r:id="rId9"/>
    <p:sldLayoutId id="2147484015" r:id="rId10"/>
    <p:sldLayoutId id="2147483998" r:id="rId11"/>
    <p:sldLayoutId id="2147484027" r:id="rId12"/>
    <p:sldLayoutId id="2147484029" r:id="rId13"/>
    <p:sldLayoutId id="2147484031" r:id="rId14"/>
  </p:sldLayoutIdLst>
  <p:transition spd="slow">
    <p:wipe/>
  </p:transition>
  <p:txStyles>
    <p:titleStyle>
      <a:lvl1pPr algn="l" defTabSz="684213" rtl="0" eaLnBrk="1" fontAlgn="base" hangingPunct="1">
        <a:lnSpc>
          <a:spcPct val="80000"/>
        </a:lnSpc>
        <a:spcBef>
          <a:spcPct val="0"/>
        </a:spcBef>
        <a:spcAft>
          <a:spcPct val="0"/>
        </a:spcAft>
        <a:defRPr lang="en-US" sz="3200" kern="1200" dirty="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p:titleStyle>
    <p:bodyStyle>
      <a:lvl1pPr marL="169863" indent="-169863" algn="l" defTabSz="684213" rtl="0" eaLnBrk="1" fontAlgn="base" hangingPunct="1">
        <a:lnSpc>
          <a:spcPct val="95000"/>
        </a:lnSpc>
        <a:spcBef>
          <a:spcPts val="1075"/>
        </a:spcBef>
        <a:spcAft>
          <a:spcPct val="0"/>
        </a:spcAft>
        <a:buClr>
          <a:schemeClr val="tx2"/>
        </a:buClr>
        <a:buSzPct val="90000"/>
        <a:buFont typeface="Arial" charset="0"/>
        <a:buChar char="•"/>
        <a:defRPr lang="en-US" sz="1500" kern="1200" dirty="0">
          <a:solidFill>
            <a:schemeClr val="tx1"/>
          </a:solidFill>
          <a:latin typeface="+mn-lt"/>
          <a:ea typeface="ＭＳ Ｐゴシック" charset="0"/>
          <a:cs typeface="CiscoSans"/>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777" rtl="0" eaLnBrk="1" latinLnBrk="0" hangingPunct="1">
        <a:defRPr sz="1400" kern="1200">
          <a:solidFill>
            <a:schemeClr val="tx1"/>
          </a:solidFill>
          <a:latin typeface="+mn-lt"/>
          <a:ea typeface="+mn-ea"/>
          <a:cs typeface="+mn-cs"/>
        </a:defRPr>
      </a:lvl1pPr>
      <a:lvl2pPr marL="342886" algn="l" defTabSz="685777" rtl="0" eaLnBrk="1" latinLnBrk="0" hangingPunct="1">
        <a:defRPr sz="1400" kern="1200">
          <a:solidFill>
            <a:schemeClr val="tx1"/>
          </a:solidFill>
          <a:latin typeface="+mn-lt"/>
          <a:ea typeface="+mn-ea"/>
          <a:cs typeface="+mn-cs"/>
        </a:defRPr>
      </a:lvl2pPr>
      <a:lvl3pPr marL="685777" algn="l" defTabSz="685777" rtl="0" eaLnBrk="1" latinLnBrk="0" hangingPunct="1">
        <a:defRPr sz="1400" kern="1200">
          <a:solidFill>
            <a:schemeClr val="tx1"/>
          </a:solidFill>
          <a:latin typeface="+mn-lt"/>
          <a:ea typeface="+mn-ea"/>
          <a:cs typeface="+mn-cs"/>
        </a:defRPr>
      </a:lvl3pPr>
      <a:lvl4pPr marL="1028665" algn="l" defTabSz="685777" rtl="0" eaLnBrk="1" latinLnBrk="0" hangingPunct="1">
        <a:defRPr sz="1400" kern="1200">
          <a:solidFill>
            <a:schemeClr val="tx1"/>
          </a:solidFill>
          <a:latin typeface="+mn-lt"/>
          <a:ea typeface="+mn-ea"/>
          <a:cs typeface="+mn-cs"/>
        </a:defRPr>
      </a:lvl4pPr>
      <a:lvl5pPr marL="1371555" algn="l" defTabSz="685777" rtl="0" eaLnBrk="1" latinLnBrk="0" hangingPunct="1">
        <a:defRPr sz="1400" kern="1200">
          <a:solidFill>
            <a:schemeClr val="tx1"/>
          </a:solidFill>
          <a:latin typeface="+mn-lt"/>
          <a:ea typeface="+mn-ea"/>
          <a:cs typeface="+mn-cs"/>
        </a:defRPr>
      </a:lvl5pPr>
      <a:lvl6pPr marL="1714441" algn="l" defTabSz="685777" rtl="0" eaLnBrk="1" latinLnBrk="0" hangingPunct="1">
        <a:defRPr sz="1400" kern="1200">
          <a:solidFill>
            <a:schemeClr val="tx1"/>
          </a:solidFill>
          <a:latin typeface="+mn-lt"/>
          <a:ea typeface="+mn-ea"/>
          <a:cs typeface="+mn-cs"/>
        </a:defRPr>
      </a:lvl6pPr>
      <a:lvl7pPr marL="2057332" algn="l" defTabSz="685777" rtl="0" eaLnBrk="1" latinLnBrk="0" hangingPunct="1">
        <a:defRPr sz="1400" kern="1200">
          <a:solidFill>
            <a:schemeClr val="tx1"/>
          </a:solidFill>
          <a:latin typeface="+mn-lt"/>
          <a:ea typeface="+mn-ea"/>
          <a:cs typeface="+mn-cs"/>
        </a:defRPr>
      </a:lvl7pPr>
      <a:lvl8pPr marL="2400220" algn="l" defTabSz="685777" rtl="0" eaLnBrk="1" latinLnBrk="0" hangingPunct="1">
        <a:defRPr sz="1400" kern="1200">
          <a:solidFill>
            <a:schemeClr val="tx1"/>
          </a:solidFill>
          <a:latin typeface="+mn-lt"/>
          <a:ea typeface="+mn-ea"/>
          <a:cs typeface="+mn-cs"/>
        </a:defRPr>
      </a:lvl8pPr>
      <a:lvl9pPr marL="2743110" algn="l" defTabSz="685777" rtl="0" eaLnBrk="1" latinLnBrk="0" hangingPunct="1">
        <a:defRPr sz="1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336"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3.xml"/><Relationship Id="rId1" Type="http://schemas.openxmlformats.org/officeDocument/2006/relationships/tags" Target="../tags/tag3.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4.xml"/><Relationship Id="rId1" Type="http://schemas.openxmlformats.org/officeDocument/2006/relationships/tags" Target="../tags/tag4.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5.xml"/><Relationship Id="rId1" Type="http://schemas.openxmlformats.org/officeDocument/2006/relationships/tags" Target="../tags/tag5.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5.xml"/><Relationship Id="rId1" Type="http://schemas.openxmlformats.org/officeDocument/2006/relationships/tags" Target="../tags/tag6.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5.xml"/><Relationship Id="rId1" Type="http://schemas.openxmlformats.org/officeDocument/2006/relationships/tags" Target="../tags/tag7.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5.xml"/><Relationship Id="rId1" Type="http://schemas.openxmlformats.org/officeDocument/2006/relationships/tags" Target="../tags/tag8.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4.xml"/><Relationship Id="rId1" Type="http://schemas.openxmlformats.org/officeDocument/2006/relationships/tags" Target="../tags/tag9.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5.xml"/><Relationship Id="rId1" Type="http://schemas.openxmlformats.org/officeDocument/2006/relationships/tags" Target="../tags/tag10.xml"/><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5.xml"/><Relationship Id="rId1" Type="http://schemas.openxmlformats.org/officeDocument/2006/relationships/tags" Target="../tags/tag11.xml"/><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5.xml"/><Relationship Id="rId1" Type="http://schemas.openxmlformats.org/officeDocument/2006/relationships/tags" Target="../tags/tag12.xml"/><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5.xml"/><Relationship Id="rId1" Type="http://schemas.openxmlformats.org/officeDocument/2006/relationships/tags" Target="../tags/tag13.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5.xml"/><Relationship Id="rId1" Type="http://schemas.openxmlformats.org/officeDocument/2006/relationships/tags" Target="../tags/tag14.xml"/><Relationship Id="rId5" Type="http://schemas.openxmlformats.org/officeDocument/2006/relationships/image" Target="../media/image7.png"/><Relationship Id="rId4" Type="http://schemas.openxmlformats.org/officeDocument/2006/relationships/image" Target="../media/image6.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5.xml"/><Relationship Id="rId1" Type="http://schemas.openxmlformats.org/officeDocument/2006/relationships/tags" Target="../tags/tag15.xml"/><Relationship Id="rId4" Type="http://schemas.openxmlformats.org/officeDocument/2006/relationships/image" Target="../media/image8.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5.xml"/><Relationship Id="rId1" Type="http://schemas.openxmlformats.org/officeDocument/2006/relationships/tags" Target="../tags/tag16.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5.xml"/><Relationship Id="rId1" Type="http://schemas.openxmlformats.org/officeDocument/2006/relationships/tags" Target="../tags/tag17.xml"/><Relationship Id="rId4" Type="http://schemas.openxmlformats.org/officeDocument/2006/relationships/image" Target="../media/image9.png"/></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microsoft.com/office/2011/relationships/webextension" Target="../webextensions/webextension1.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4.xml"/><Relationship Id="rId1" Type="http://schemas.openxmlformats.org/officeDocument/2006/relationships/tags" Target="../tags/tag18.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5.xml"/><Relationship Id="rId1" Type="http://schemas.openxmlformats.org/officeDocument/2006/relationships/tags" Target="../tags/tag19.xml"/><Relationship Id="rId4" Type="http://schemas.openxmlformats.org/officeDocument/2006/relationships/image" Target="../media/image11.pn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5.xml"/><Relationship Id="rId1" Type="http://schemas.openxmlformats.org/officeDocument/2006/relationships/tags" Target="../tags/tag20.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4.xml"/><Relationship Id="rId1" Type="http://schemas.openxmlformats.org/officeDocument/2006/relationships/tags" Target="../tags/tag21.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5.xml"/><Relationship Id="rId1" Type="http://schemas.openxmlformats.org/officeDocument/2006/relationships/tags" Target="../tags/tag22.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5.xml"/><Relationship Id="rId1" Type="http://schemas.openxmlformats.org/officeDocument/2006/relationships/tags" Target="../tags/tag23.xml"/><Relationship Id="rId4" Type="http://schemas.openxmlformats.org/officeDocument/2006/relationships/image" Target="../media/image12.png"/></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5.xml"/><Relationship Id="rId1" Type="http://schemas.openxmlformats.org/officeDocument/2006/relationships/tags" Target="../tags/tag24.xml"/></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5.xml"/><Relationship Id="rId1" Type="http://schemas.openxmlformats.org/officeDocument/2006/relationships/tags" Target="../tags/tag25.xml"/></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5.xml"/><Relationship Id="rId1" Type="http://schemas.openxmlformats.org/officeDocument/2006/relationships/tags" Target="../tags/tag26.xml"/></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5.xml"/><Relationship Id="rId1" Type="http://schemas.openxmlformats.org/officeDocument/2006/relationships/tags" Target="../tags/tag27.xml"/><Relationship Id="rId4" Type="http://schemas.openxmlformats.org/officeDocument/2006/relationships/image" Target="../media/image13.png"/></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5.xml"/><Relationship Id="rId1" Type="http://schemas.openxmlformats.org/officeDocument/2006/relationships/tags" Target="../tags/tag28.xml"/><Relationship Id="rId4" Type="http://schemas.openxmlformats.org/officeDocument/2006/relationships/image" Target="../media/image14.png"/></Relationships>
</file>

<file path=ppt/slides/_rels/slide29.xml.rels><?xml version="1.0" encoding="UTF-8" standalone="yes"?>
<Relationships xmlns="http://schemas.openxmlformats.org/package/2006/relationships"><Relationship Id="rId3" Type="http://schemas.openxmlformats.org/officeDocument/2006/relationships/image" Target="../media/image15.png"/><Relationship Id="rId2" Type="http://schemas.microsoft.com/office/2011/relationships/webextension" Target="../webextensions/webextension2.xml"/><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4.xml"/><Relationship Id="rId1" Type="http://schemas.openxmlformats.org/officeDocument/2006/relationships/tags" Target="../tags/tag29.xml"/></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5.xml"/><Relationship Id="rId1" Type="http://schemas.openxmlformats.org/officeDocument/2006/relationships/tags" Target="../tags/tag30.xml"/><Relationship Id="rId4" Type="http://schemas.openxmlformats.org/officeDocument/2006/relationships/image" Target="../media/image16.png"/></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5.xml"/><Relationship Id="rId1" Type="http://schemas.openxmlformats.org/officeDocument/2006/relationships/tags" Target="../tags/tag31.xml"/></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5.xml"/><Relationship Id="rId1" Type="http://schemas.openxmlformats.org/officeDocument/2006/relationships/tags" Target="../tags/tag32.xml"/></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5.xml"/><Relationship Id="rId1" Type="http://schemas.openxmlformats.org/officeDocument/2006/relationships/tags" Target="../tags/tag33.xml"/><Relationship Id="rId4" Type="http://schemas.openxmlformats.org/officeDocument/2006/relationships/image" Target="../media/image17.png"/></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5.xml"/><Relationship Id="rId1" Type="http://schemas.openxmlformats.org/officeDocument/2006/relationships/tags" Target="../tags/tag34.xml"/><Relationship Id="rId4" Type="http://schemas.openxmlformats.org/officeDocument/2006/relationships/image" Target="../media/image18.png"/></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5.xml"/><Relationship Id="rId1" Type="http://schemas.openxmlformats.org/officeDocument/2006/relationships/tags" Target="../tags/tag35.xml"/><Relationship Id="rId4" Type="http://schemas.openxmlformats.org/officeDocument/2006/relationships/image" Target="../media/image19.png"/></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5.xml"/><Relationship Id="rId1" Type="http://schemas.openxmlformats.org/officeDocument/2006/relationships/tags" Target="../tags/tag36.xml"/><Relationship Id="rId4" Type="http://schemas.openxmlformats.org/officeDocument/2006/relationships/image" Target="../media/image20.png"/></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5.xml"/><Relationship Id="rId1" Type="http://schemas.openxmlformats.org/officeDocument/2006/relationships/tags" Target="../tags/tag37.xml"/><Relationship Id="rId4" Type="http://schemas.openxmlformats.org/officeDocument/2006/relationships/image" Target="../media/image21.png"/></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5.xml"/><Relationship Id="rId1" Type="http://schemas.openxmlformats.org/officeDocument/2006/relationships/tags" Target="../tags/tag38.xml"/><Relationship Id="rId4" Type="http://schemas.openxmlformats.org/officeDocument/2006/relationships/image" Target="../media/image22.png"/></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5.xml"/><Relationship Id="rId1" Type="http://schemas.openxmlformats.org/officeDocument/2006/relationships/tags" Target="../tags/tag39.xml"/><Relationship Id="rId4" Type="http://schemas.openxmlformats.org/officeDocument/2006/relationships/image" Target="../media/image23.png"/></Relationships>
</file>

<file path=ppt/slides/_rels/slide41.xml.rels><?xml version="1.0" encoding="UTF-8" standalone="yes"?>
<Relationships xmlns="http://schemas.openxmlformats.org/package/2006/relationships"><Relationship Id="rId3" Type="http://schemas.openxmlformats.org/officeDocument/2006/relationships/image" Target="../media/image24.png"/><Relationship Id="rId2" Type="http://schemas.microsoft.com/office/2011/relationships/webextension" Target="../webextensions/webextension3.xml"/><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10.xml"/><Relationship Id="rId1" Type="http://schemas.openxmlformats.org/officeDocument/2006/relationships/tags" Target="../tags/tag4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a:xfrm>
            <a:off x="469497" y="2316480"/>
            <a:ext cx="6672708" cy="1080143"/>
          </a:xfrm>
        </p:spPr>
        <p:txBody>
          <a:bodyPr/>
          <a:lstStyle/>
          <a:p>
            <a:r>
              <a:rPr lang="en-US" dirty="0">
                <a:solidFill>
                  <a:schemeClr val="accent5">
                    <a:lumMod val="40000"/>
                    <a:lumOff val="60000"/>
                  </a:schemeClr>
                </a:solidFill>
              </a:rPr>
              <a:t>Module 13: Network Virtualization</a:t>
            </a:r>
          </a:p>
        </p:txBody>
      </p:sp>
      <p:sp>
        <p:nvSpPr>
          <p:cNvPr id="7" name="Subtitle 6"/>
          <p:cNvSpPr>
            <a:spLocks noGrp="1"/>
          </p:cNvSpPr>
          <p:nvPr>
            <p:ph type="subTitle" idx="1"/>
          </p:nvPr>
        </p:nvSpPr>
        <p:spPr>
          <a:xfrm>
            <a:off x="469496" y="3809526"/>
            <a:ext cx="3804791" cy="902174"/>
          </a:xfrm>
        </p:spPr>
        <p:txBody>
          <a:bodyPr/>
          <a:lstStyle/>
          <a:p>
            <a:pPr>
              <a:spcBef>
                <a:spcPts val="0"/>
              </a:spcBef>
            </a:pPr>
            <a:r>
              <a:rPr lang="en-US" dirty="0">
                <a:solidFill>
                  <a:schemeClr val="accent5">
                    <a:lumMod val="40000"/>
                    <a:lumOff val="60000"/>
                  </a:schemeClr>
                </a:solidFill>
              </a:rPr>
              <a:t>Enterprise Networking, Security, and Automation v7.0</a:t>
            </a:r>
          </a:p>
          <a:p>
            <a:pPr>
              <a:spcBef>
                <a:spcPts val="0"/>
              </a:spcBef>
            </a:pPr>
            <a:r>
              <a:rPr lang="en-US" dirty="0">
                <a:solidFill>
                  <a:schemeClr val="accent5">
                    <a:lumMod val="40000"/>
                    <a:lumOff val="60000"/>
                  </a:schemeClr>
                </a:solidFill>
              </a:rPr>
              <a:t>(ENSA)</a:t>
            </a:r>
          </a:p>
          <a:p>
            <a:endParaRPr lang="en-US" dirty="0"/>
          </a:p>
        </p:txBody>
      </p:sp>
    </p:spTree>
    <p:custDataLst>
      <p:tags r:id="rId1"/>
    </p:custDataLst>
    <p:extLst>
      <p:ext uri="{BB962C8B-B14F-4D97-AF65-F5344CB8AC3E}">
        <p14:creationId xmlns:p14="http://schemas.microsoft.com/office/powerpoint/2010/main" val="1989389863"/>
      </p:ext>
    </p:extLst>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33"/>
          <p:cNvSpPr>
            <a:spLocks noGrp="1" noChangeArrowheads="1"/>
          </p:cNvSpPr>
          <p:nvPr>
            <p:ph type="title"/>
          </p:nvPr>
        </p:nvSpPr>
        <p:spPr/>
        <p:txBody>
          <a:bodyPr/>
          <a:lstStyle/>
          <a:p>
            <a:pPr eaLnBrk="1" hangingPunct="1"/>
            <a:r>
              <a:rPr lang="en-US" dirty="0"/>
              <a:t>Module Objectives</a:t>
            </a:r>
          </a:p>
        </p:txBody>
      </p:sp>
      <p:sp>
        <p:nvSpPr>
          <p:cNvPr id="2" name="Content Placeholder 1">
            <a:extLst>
              <a:ext uri="{FF2B5EF4-FFF2-40B4-BE49-F238E27FC236}">
                <a16:creationId xmlns:a16="http://schemas.microsoft.com/office/drawing/2014/main" id="{578E99C3-C6EF-8348-99C6-8024418DDEF2}"/>
              </a:ext>
            </a:extLst>
          </p:cNvPr>
          <p:cNvSpPr>
            <a:spLocks noGrp="1"/>
          </p:cNvSpPr>
          <p:nvPr>
            <p:ph idx="1"/>
          </p:nvPr>
        </p:nvSpPr>
        <p:spPr>
          <a:xfrm>
            <a:off x="144065" y="798944"/>
            <a:ext cx="8853286" cy="757551"/>
          </a:xfrm>
        </p:spPr>
        <p:txBody>
          <a:bodyPr/>
          <a:lstStyle/>
          <a:p>
            <a:pPr marL="0" lvl="0" indent="0" defTabSz="914400" eaLnBrk="0" hangingPunct="0">
              <a:spcBef>
                <a:spcPct val="0"/>
              </a:spcBef>
              <a:spcAft>
                <a:spcPct val="0"/>
              </a:spcAft>
              <a:buClrTx/>
              <a:buSzTx/>
              <a:buNone/>
            </a:pPr>
            <a:r>
              <a:rPr lang="en-US" altLang="en-US" sz="1400" b="1" dirty="0">
                <a:solidFill>
                  <a:schemeClr val="tx1"/>
                </a:solidFill>
                <a:ea typeface="Calibri" panose="020F0502020204030204" pitchFamily="34" charset="0"/>
                <a:cs typeface="Calibri" panose="020F0502020204030204" pitchFamily="34" charset="0"/>
              </a:rPr>
              <a:t>Module Title: </a:t>
            </a:r>
            <a:r>
              <a:rPr lang="en-US" altLang="en-US" sz="1400" dirty="0">
                <a:solidFill>
                  <a:schemeClr val="tx1"/>
                </a:solidFill>
                <a:ea typeface="Calibri" panose="020F0502020204030204" pitchFamily="34" charset="0"/>
                <a:cs typeface="Calibri" panose="020F0502020204030204" pitchFamily="34" charset="0"/>
              </a:rPr>
              <a:t>Network Virtualization</a:t>
            </a:r>
          </a:p>
          <a:p>
            <a:pPr marL="0" lvl="0" indent="0" defTabSz="914400" eaLnBrk="0" hangingPunct="0">
              <a:spcBef>
                <a:spcPct val="0"/>
              </a:spcBef>
              <a:spcAft>
                <a:spcPct val="0"/>
              </a:spcAft>
              <a:buClrTx/>
              <a:buSzTx/>
              <a:buNone/>
            </a:pPr>
            <a:endParaRPr lang="en-US" altLang="en-US" sz="1400" dirty="0">
              <a:solidFill>
                <a:schemeClr val="tx1"/>
              </a:solidFill>
            </a:endParaRPr>
          </a:p>
          <a:p>
            <a:pPr marL="0" lvl="0" indent="0" defTabSz="914400" eaLnBrk="0" hangingPunct="0">
              <a:spcBef>
                <a:spcPct val="0"/>
              </a:spcBef>
              <a:spcAft>
                <a:spcPct val="0"/>
              </a:spcAft>
              <a:buClrTx/>
              <a:buSzTx/>
              <a:buNone/>
            </a:pPr>
            <a:r>
              <a:rPr lang="en-US" altLang="en-US" sz="1400" b="1" dirty="0">
                <a:solidFill>
                  <a:schemeClr val="tx1"/>
                </a:solidFill>
                <a:ea typeface="Calibri" panose="020F0502020204030204" pitchFamily="34" charset="0"/>
                <a:cs typeface="Calibri" panose="020F0502020204030204" pitchFamily="34" charset="0"/>
              </a:rPr>
              <a:t>Module Objective</a:t>
            </a:r>
            <a:r>
              <a:rPr lang="en-US" altLang="en-US" sz="1400" dirty="0">
                <a:solidFill>
                  <a:schemeClr val="tx1"/>
                </a:solidFill>
                <a:ea typeface="Calibri" panose="020F0502020204030204" pitchFamily="34" charset="0"/>
                <a:cs typeface="Calibri" panose="020F0502020204030204" pitchFamily="34" charset="0"/>
              </a:rPr>
              <a:t>: </a:t>
            </a:r>
            <a:r>
              <a:rPr lang="en-US" dirty="0"/>
              <a:t>Explain the purpose and characteristics of network virtualization.</a:t>
            </a:r>
          </a:p>
        </p:txBody>
      </p:sp>
      <p:graphicFrame>
        <p:nvGraphicFramePr>
          <p:cNvPr id="3" name="Table 2">
            <a:extLst>
              <a:ext uri="{FF2B5EF4-FFF2-40B4-BE49-F238E27FC236}">
                <a16:creationId xmlns:a16="http://schemas.microsoft.com/office/drawing/2014/main" id="{2203BE17-8BB3-DF41-A2CF-06DE014D1956}"/>
              </a:ext>
            </a:extLst>
          </p:cNvPr>
          <p:cNvGraphicFramePr>
            <a:graphicFrameLocks noGrp="1"/>
          </p:cNvGraphicFramePr>
          <p:nvPr>
            <p:extLst>
              <p:ext uri="{D42A27DB-BD31-4B8C-83A1-F6EECF244321}">
                <p14:modId xmlns:p14="http://schemas.microsoft.com/office/powerpoint/2010/main" val="703891087"/>
              </p:ext>
            </p:extLst>
          </p:nvPr>
        </p:nvGraphicFramePr>
        <p:xfrm>
          <a:off x="450866" y="1832941"/>
          <a:ext cx="7896830" cy="2278380"/>
        </p:xfrm>
        <a:graphic>
          <a:graphicData uri="http://schemas.openxmlformats.org/drawingml/2006/table">
            <a:tbl>
              <a:tblPr firstRow="1" bandRow="1">
                <a:tableStyleId>{5C22544A-7EE6-4342-B048-85BDC9FD1C3A}</a:tableStyleId>
              </a:tblPr>
              <a:tblGrid>
                <a:gridCol w="3014823">
                  <a:extLst>
                    <a:ext uri="{9D8B030D-6E8A-4147-A177-3AD203B41FA5}">
                      <a16:colId xmlns:a16="http://schemas.microsoft.com/office/drawing/2014/main" val="2579019526"/>
                    </a:ext>
                  </a:extLst>
                </a:gridCol>
                <a:gridCol w="4882007">
                  <a:extLst>
                    <a:ext uri="{9D8B030D-6E8A-4147-A177-3AD203B41FA5}">
                      <a16:colId xmlns:a16="http://schemas.microsoft.com/office/drawing/2014/main" val="1764220437"/>
                    </a:ext>
                  </a:extLst>
                </a:gridCol>
              </a:tblGrid>
              <a:tr h="272843">
                <a:tc>
                  <a:txBody>
                    <a:bodyPr/>
                    <a:lstStyle/>
                    <a:p>
                      <a:pPr algn="l" fontAlgn="ctr"/>
                      <a:r>
                        <a:rPr lang="en-US" sz="1600" b="1" dirty="0">
                          <a:effectLst/>
                        </a:rPr>
                        <a:t>Topic Title</a:t>
                      </a:r>
                      <a:endParaRPr lang="en-US" sz="1600" dirty="0">
                        <a:effectLst/>
                      </a:endParaRPr>
                    </a:p>
                  </a:txBody>
                  <a:tcPr marL="47625" marR="47625" marT="47625" marB="47625" anchor="ctr"/>
                </a:tc>
                <a:tc>
                  <a:txBody>
                    <a:bodyPr/>
                    <a:lstStyle/>
                    <a:p>
                      <a:pPr algn="l" fontAlgn="ctr"/>
                      <a:r>
                        <a:rPr lang="en-US" sz="1600" b="1">
                          <a:effectLst/>
                        </a:rPr>
                        <a:t>Topic Objective</a:t>
                      </a:r>
                      <a:endParaRPr lang="en-US" sz="1600">
                        <a:effectLst/>
                      </a:endParaRPr>
                    </a:p>
                  </a:txBody>
                  <a:tcPr marL="47625" marR="47625" marT="47625" marB="47625" anchor="ctr"/>
                </a:tc>
                <a:extLst>
                  <a:ext uri="{0D108BD9-81ED-4DB2-BD59-A6C34878D82A}">
                    <a16:rowId xmlns:a16="http://schemas.microsoft.com/office/drawing/2014/main" val="742401779"/>
                  </a:ext>
                </a:extLst>
              </a:tr>
              <a:tr h="272843">
                <a:tc>
                  <a:txBody>
                    <a:bodyPr/>
                    <a:lstStyle/>
                    <a:p>
                      <a:pPr fontAlgn="ctr"/>
                      <a:r>
                        <a:rPr lang="en-US" sz="1600" b="1">
                          <a:solidFill>
                            <a:schemeClr val="bg1"/>
                          </a:solidFill>
                          <a:effectLst/>
                        </a:rPr>
                        <a:t>Cloud Computing</a:t>
                      </a:r>
                      <a:endParaRPr lang="en-US" sz="1600" b="0">
                        <a:solidFill>
                          <a:schemeClr val="bg1"/>
                        </a:solidFill>
                        <a:effectLst/>
                      </a:endParaRPr>
                    </a:p>
                  </a:txBody>
                  <a:tcPr marL="47625" marR="47625" marT="47625" marB="47625" anchor="ctr">
                    <a:solidFill>
                      <a:schemeClr val="accent1"/>
                    </a:solidFill>
                  </a:tcPr>
                </a:tc>
                <a:tc>
                  <a:txBody>
                    <a:bodyPr/>
                    <a:lstStyle/>
                    <a:p>
                      <a:pPr fontAlgn="ctr"/>
                      <a:r>
                        <a:rPr lang="en-US" sz="1600" b="0">
                          <a:effectLst/>
                        </a:rPr>
                        <a:t>Explain the importance of cloud computing.</a:t>
                      </a:r>
                    </a:p>
                  </a:txBody>
                  <a:tcPr marL="47625" marR="47625" marT="47625" marB="47625" anchor="ctr"/>
                </a:tc>
                <a:extLst>
                  <a:ext uri="{0D108BD9-81ED-4DB2-BD59-A6C34878D82A}">
                    <a16:rowId xmlns:a16="http://schemas.microsoft.com/office/drawing/2014/main" val="3150950737"/>
                  </a:ext>
                </a:extLst>
              </a:tr>
              <a:tr h="272843">
                <a:tc>
                  <a:txBody>
                    <a:bodyPr/>
                    <a:lstStyle/>
                    <a:p>
                      <a:pPr fontAlgn="ctr"/>
                      <a:r>
                        <a:rPr lang="en-US" sz="1600" b="1">
                          <a:solidFill>
                            <a:schemeClr val="bg1"/>
                          </a:solidFill>
                          <a:effectLst/>
                        </a:rPr>
                        <a:t>Virtualization</a:t>
                      </a:r>
                      <a:endParaRPr lang="en-US" sz="1600" b="0">
                        <a:solidFill>
                          <a:schemeClr val="bg1"/>
                        </a:solidFill>
                        <a:effectLst/>
                      </a:endParaRPr>
                    </a:p>
                  </a:txBody>
                  <a:tcPr marL="47625" marR="47625" marT="47625" marB="47625" anchor="ctr">
                    <a:solidFill>
                      <a:schemeClr val="accent1"/>
                    </a:solidFill>
                  </a:tcPr>
                </a:tc>
                <a:tc>
                  <a:txBody>
                    <a:bodyPr/>
                    <a:lstStyle/>
                    <a:p>
                      <a:pPr fontAlgn="ctr"/>
                      <a:r>
                        <a:rPr lang="en-US" sz="1600" b="0" dirty="0">
                          <a:effectLst/>
                        </a:rPr>
                        <a:t>Explain the importance of virtualization.</a:t>
                      </a:r>
                    </a:p>
                  </a:txBody>
                  <a:tcPr marL="47625" marR="47625" marT="47625" marB="47625" anchor="ctr"/>
                </a:tc>
                <a:extLst>
                  <a:ext uri="{0D108BD9-81ED-4DB2-BD59-A6C34878D82A}">
                    <a16:rowId xmlns:a16="http://schemas.microsoft.com/office/drawing/2014/main" val="2772085455"/>
                  </a:ext>
                </a:extLst>
              </a:tr>
              <a:tr h="272843">
                <a:tc>
                  <a:txBody>
                    <a:bodyPr/>
                    <a:lstStyle/>
                    <a:p>
                      <a:pPr fontAlgn="ctr"/>
                      <a:r>
                        <a:rPr lang="en-US" sz="1600" b="1">
                          <a:solidFill>
                            <a:schemeClr val="bg1"/>
                          </a:solidFill>
                          <a:effectLst/>
                        </a:rPr>
                        <a:t>Virtual Network Infrastructure</a:t>
                      </a:r>
                      <a:endParaRPr lang="en-US" sz="1600" b="0">
                        <a:solidFill>
                          <a:schemeClr val="bg1"/>
                        </a:solidFill>
                        <a:effectLst/>
                      </a:endParaRPr>
                    </a:p>
                  </a:txBody>
                  <a:tcPr marL="47625" marR="47625" marT="47625" marB="47625" anchor="ctr">
                    <a:solidFill>
                      <a:schemeClr val="accent1"/>
                    </a:solidFill>
                  </a:tcPr>
                </a:tc>
                <a:tc>
                  <a:txBody>
                    <a:bodyPr/>
                    <a:lstStyle/>
                    <a:p>
                      <a:pPr fontAlgn="ctr"/>
                      <a:r>
                        <a:rPr lang="en-US" sz="1600" b="0">
                          <a:effectLst/>
                        </a:rPr>
                        <a:t>Describe the virtualization of network devices and services.</a:t>
                      </a:r>
                    </a:p>
                  </a:txBody>
                  <a:tcPr marL="47625" marR="47625" marT="47625" marB="47625" anchor="ctr"/>
                </a:tc>
                <a:extLst>
                  <a:ext uri="{0D108BD9-81ED-4DB2-BD59-A6C34878D82A}">
                    <a16:rowId xmlns:a16="http://schemas.microsoft.com/office/drawing/2014/main" val="3228802595"/>
                  </a:ext>
                </a:extLst>
              </a:tr>
              <a:tr h="272843">
                <a:tc>
                  <a:txBody>
                    <a:bodyPr/>
                    <a:lstStyle/>
                    <a:p>
                      <a:pPr fontAlgn="ctr"/>
                      <a:r>
                        <a:rPr lang="en-US" sz="1600" b="1">
                          <a:solidFill>
                            <a:schemeClr val="bg1"/>
                          </a:solidFill>
                          <a:effectLst/>
                        </a:rPr>
                        <a:t>Software-Defined Networking</a:t>
                      </a:r>
                      <a:endParaRPr lang="en-US" sz="1600" b="0">
                        <a:solidFill>
                          <a:schemeClr val="bg1"/>
                        </a:solidFill>
                        <a:effectLst/>
                      </a:endParaRPr>
                    </a:p>
                  </a:txBody>
                  <a:tcPr marL="47625" marR="47625" marT="47625" marB="47625" anchor="ctr">
                    <a:solidFill>
                      <a:schemeClr val="accent1"/>
                    </a:solidFill>
                  </a:tcPr>
                </a:tc>
                <a:tc>
                  <a:txBody>
                    <a:bodyPr/>
                    <a:lstStyle/>
                    <a:p>
                      <a:pPr fontAlgn="ctr"/>
                      <a:r>
                        <a:rPr lang="en-US" sz="1600" b="0">
                          <a:effectLst/>
                        </a:rPr>
                        <a:t>Describe software-defined networking.</a:t>
                      </a:r>
                    </a:p>
                  </a:txBody>
                  <a:tcPr marL="47625" marR="47625" marT="47625" marB="47625" anchor="ctr"/>
                </a:tc>
                <a:extLst>
                  <a:ext uri="{0D108BD9-81ED-4DB2-BD59-A6C34878D82A}">
                    <a16:rowId xmlns:a16="http://schemas.microsoft.com/office/drawing/2014/main" val="3134809945"/>
                  </a:ext>
                </a:extLst>
              </a:tr>
              <a:tr h="272843">
                <a:tc>
                  <a:txBody>
                    <a:bodyPr/>
                    <a:lstStyle/>
                    <a:p>
                      <a:pPr fontAlgn="ctr"/>
                      <a:r>
                        <a:rPr lang="en-US" sz="1600" b="1" dirty="0">
                          <a:solidFill>
                            <a:schemeClr val="bg1"/>
                          </a:solidFill>
                          <a:effectLst/>
                        </a:rPr>
                        <a:t>Controllers</a:t>
                      </a:r>
                      <a:endParaRPr lang="en-US" sz="1600" b="0" dirty="0">
                        <a:solidFill>
                          <a:schemeClr val="bg1"/>
                        </a:solidFill>
                        <a:effectLst/>
                      </a:endParaRPr>
                    </a:p>
                  </a:txBody>
                  <a:tcPr marL="47625" marR="47625" marT="47625" marB="47625" anchor="ctr">
                    <a:solidFill>
                      <a:schemeClr val="accent1"/>
                    </a:solidFill>
                  </a:tcPr>
                </a:tc>
                <a:tc>
                  <a:txBody>
                    <a:bodyPr/>
                    <a:lstStyle/>
                    <a:p>
                      <a:pPr fontAlgn="ctr"/>
                      <a:r>
                        <a:rPr lang="en-US" sz="1600" b="0" dirty="0">
                          <a:effectLst/>
                        </a:rPr>
                        <a:t>Describe controllers used in network programming.</a:t>
                      </a:r>
                    </a:p>
                  </a:txBody>
                  <a:tcPr marL="47625" marR="47625" marT="47625" marB="47625" anchor="ctr"/>
                </a:tc>
                <a:extLst>
                  <a:ext uri="{0D108BD9-81ED-4DB2-BD59-A6C34878D82A}">
                    <a16:rowId xmlns:a16="http://schemas.microsoft.com/office/drawing/2014/main" val="2841641446"/>
                  </a:ext>
                </a:extLst>
              </a:tr>
            </a:tbl>
          </a:graphicData>
        </a:graphic>
      </p:graphicFrame>
    </p:spTree>
    <p:custDataLst>
      <p:tags r:id="rId1"/>
    </p:custDataLst>
    <p:extLst>
      <p:ext uri="{BB962C8B-B14F-4D97-AF65-F5344CB8AC3E}">
        <p14:creationId xmlns:p14="http://schemas.microsoft.com/office/powerpoint/2010/main" val="111192384"/>
      </p:ext>
    </p:extLst>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598042" cy="929640"/>
          </a:xfrm>
        </p:spPr>
        <p:txBody>
          <a:bodyPr/>
          <a:lstStyle/>
          <a:p>
            <a:r>
              <a:rPr lang="en-US" dirty="0">
                <a:solidFill>
                  <a:schemeClr val="accent5">
                    <a:lumMod val="40000"/>
                    <a:lumOff val="60000"/>
                  </a:schemeClr>
                </a:solidFill>
              </a:rPr>
              <a:t>13.1 Cloud Computing</a:t>
            </a:r>
          </a:p>
        </p:txBody>
      </p:sp>
    </p:spTree>
    <p:custDataLst>
      <p:tags r:id="rId1"/>
    </p:custDataLst>
    <p:extLst>
      <p:ext uri="{BB962C8B-B14F-4D97-AF65-F5344CB8AC3E}">
        <p14:creationId xmlns:p14="http://schemas.microsoft.com/office/powerpoint/2010/main" val="673099643"/>
      </p:ext>
    </p:extLst>
  </p:cSld>
  <p:clrMapOvr>
    <a:masterClrMapping/>
  </p:clrMapOvr>
  <p:transition spd="slow">
    <p:wip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Cloud Computing</a:t>
            </a:r>
            <a:br>
              <a:rPr lang="en-US" dirty="0"/>
            </a:br>
            <a:r>
              <a:rPr lang="en-US" sz="2400" dirty="0"/>
              <a:t>Cloud Overview</a:t>
            </a:r>
          </a:p>
        </p:txBody>
      </p:sp>
      <p:sp>
        <p:nvSpPr>
          <p:cNvPr id="4" name="Content Placeholder 3">
            <a:extLst>
              <a:ext uri="{FF2B5EF4-FFF2-40B4-BE49-F238E27FC236}">
                <a16:creationId xmlns:a16="http://schemas.microsoft.com/office/drawing/2014/main" id="{84CFB262-31E8-8748-B4C5-1CD88718C320}"/>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Cloud computing addresses a variety of data management issues:</a:t>
            </a:r>
          </a:p>
          <a:p>
            <a:pPr marL="342900" indent="-342900" algn="l">
              <a:buFont typeface="Arial" panose="020B0604020202020204" pitchFamily="34" charset="0"/>
              <a:buChar char="•"/>
            </a:pPr>
            <a:r>
              <a:rPr lang="en-US" sz="1600" dirty="0">
                <a:solidFill>
                  <a:srgbClr val="000000"/>
                </a:solidFill>
              </a:rPr>
              <a:t>Enables access to organizational data anywhere and at any time</a:t>
            </a:r>
          </a:p>
          <a:p>
            <a:pPr marL="342900" indent="-342900" algn="l">
              <a:buFont typeface="Arial" panose="020B0604020202020204" pitchFamily="34" charset="0"/>
              <a:buChar char="•"/>
            </a:pPr>
            <a:r>
              <a:rPr lang="en-US" sz="1600" dirty="0">
                <a:solidFill>
                  <a:srgbClr val="000000"/>
                </a:solidFill>
              </a:rPr>
              <a:t>Streamlines the organization’s IT operations by subscribing only to needed services</a:t>
            </a:r>
          </a:p>
          <a:p>
            <a:pPr marL="342900" indent="-342900" algn="l">
              <a:buFont typeface="Arial" panose="020B0604020202020204" pitchFamily="34" charset="0"/>
              <a:buChar char="•"/>
            </a:pPr>
            <a:r>
              <a:rPr lang="en-US" sz="1600" dirty="0">
                <a:solidFill>
                  <a:srgbClr val="000000"/>
                </a:solidFill>
              </a:rPr>
              <a:t>Eliminates or reduces the need for onsite IT equipment, maintenance, and management</a:t>
            </a:r>
          </a:p>
          <a:p>
            <a:pPr marL="342900" indent="-342900" algn="l">
              <a:buFont typeface="Arial" panose="020B0604020202020204" pitchFamily="34" charset="0"/>
              <a:buChar char="•"/>
            </a:pPr>
            <a:r>
              <a:rPr lang="en-US" sz="1600" dirty="0">
                <a:solidFill>
                  <a:srgbClr val="000000"/>
                </a:solidFill>
              </a:rPr>
              <a:t>Reduces cost for equipment, energy, physical plant requirements, and personnel training needs</a:t>
            </a:r>
          </a:p>
          <a:p>
            <a:pPr marL="342900" indent="-342900" algn="l">
              <a:buFont typeface="Arial" panose="020B0604020202020204" pitchFamily="34" charset="0"/>
              <a:buChar char="•"/>
            </a:pPr>
            <a:r>
              <a:rPr lang="en-US" sz="1600" dirty="0">
                <a:solidFill>
                  <a:srgbClr val="000000"/>
                </a:solidFill>
              </a:rPr>
              <a:t>Enables rapid responses to increasing data volume requirements</a:t>
            </a:r>
          </a:p>
          <a:p>
            <a:pPr marL="342900" indent="-342900" algn="l">
              <a:buFont typeface="Arial" panose="020B0604020202020204" pitchFamily="34" charset="0"/>
              <a:buChar char="•"/>
            </a:pPr>
            <a:endParaRPr lang="en-US" sz="1600" dirty="0">
              <a:solidFill>
                <a:srgbClr val="000000"/>
              </a:solidFill>
            </a:endParaRPr>
          </a:p>
        </p:txBody>
      </p:sp>
    </p:spTree>
    <p:custDataLst>
      <p:tags r:id="rId1"/>
    </p:custDataLst>
    <p:extLst>
      <p:ext uri="{BB962C8B-B14F-4D97-AF65-F5344CB8AC3E}">
        <p14:creationId xmlns:p14="http://schemas.microsoft.com/office/powerpoint/2010/main" val="24672596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Cloud Computing</a:t>
            </a:r>
            <a:br>
              <a:rPr lang="en-US" dirty="0"/>
            </a:br>
            <a:r>
              <a:rPr lang="en-US" sz="2400" dirty="0"/>
              <a:t>Cloud Services</a:t>
            </a:r>
          </a:p>
        </p:txBody>
      </p:sp>
      <p:sp>
        <p:nvSpPr>
          <p:cNvPr id="5" name="Content Placeholder 4">
            <a:extLst>
              <a:ext uri="{FF2B5EF4-FFF2-40B4-BE49-F238E27FC236}">
                <a16:creationId xmlns:a16="http://schemas.microsoft.com/office/drawing/2014/main" id="{05FA823E-02B7-034F-9F30-CE6D199D8D30}"/>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The three main cloud computing services defined by the National Institute of Standards and Technology (NIST) in their Special Publication 800-145 are as follows:</a:t>
            </a:r>
          </a:p>
          <a:p>
            <a:pPr marL="342900" indent="-342900" algn="l">
              <a:buFont typeface="Arial" panose="020B0604020202020204" pitchFamily="34" charset="0"/>
              <a:buChar char="•"/>
            </a:pPr>
            <a:r>
              <a:rPr lang="en-US" sz="1600" b="1" dirty="0">
                <a:solidFill>
                  <a:srgbClr val="000000"/>
                </a:solidFill>
              </a:rPr>
              <a:t>Software as a Service (SaaS)</a:t>
            </a:r>
            <a:r>
              <a:rPr lang="en-US" sz="1600" dirty="0">
                <a:solidFill>
                  <a:srgbClr val="000000"/>
                </a:solidFill>
              </a:rPr>
              <a:t> - The cloud provider is responsible for access to applications and services that are delivered over the internet.</a:t>
            </a:r>
          </a:p>
          <a:p>
            <a:pPr marL="342900" indent="-342900" algn="l">
              <a:buFont typeface="Arial" panose="020B0604020202020204" pitchFamily="34" charset="0"/>
              <a:buChar char="•"/>
            </a:pPr>
            <a:r>
              <a:rPr lang="en-US" sz="1600" b="1" dirty="0">
                <a:solidFill>
                  <a:srgbClr val="000000"/>
                </a:solidFill>
              </a:rPr>
              <a:t>Platform as a Service (PaaS)</a:t>
            </a:r>
            <a:r>
              <a:rPr lang="en-US" sz="1600" dirty="0">
                <a:solidFill>
                  <a:srgbClr val="000000"/>
                </a:solidFill>
              </a:rPr>
              <a:t> - The cloud provider is responsible for providing users access to the development tools and services used to deliver the applications. </a:t>
            </a:r>
          </a:p>
          <a:p>
            <a:pPr marL="342900" indent="-342900" algn="l">
              <a:buFont typeface="Arial" panose="020B0604020202020204" pitchFamily="34" charset="0"/>
              <a:buChar char="•"/>
            </a:pPr>
            <a:r>
              <a:rPr lang="en-US" sz="1600" b="1" dirty="0">
                <a:solidFill>
                  <a:srgbClr val="000000"/>
                </a:solidFill>
              </a:rPr>
              <a:t>Infrastructure as a Service (IaaS)</a:t>
            </a:r>
            <a:r>
              <a:rPr lang="en-US" sz="1600" dirty="0">
                <a:solidFill>
                  <a:srgbClr val="000000"/>
                </a:solidFill>
              </a:rPr>
              <a:t> - The cloud provider is responsible for giving IT managers access to the network equipment, virtualized network services, and supporting network infrastructure.</a:t>
            </a:r>
          </a:p>
          <a:p>
            <a:pPr marL="342900" indent="-342900" algn="l">
              <a:buFont typeface="Arial" panose="020B0604020202020204" pitchFamily="34" charset="0"/>
              <a:buChar char="•"/>
            </a:pPr>
            <a:r>
              <a:rPr lang="en-US" sz="1600" b="1" dirty="0">
                <a:solidFill>
                  <a:srgbClr val="000000"/>
                </a:solidFill>
              </a:rPr>
              <a:t>IT support for each of the cloud computing services (</a:t>
            </a:r>
            <a:r>
              <a:rPr lang="en-US" sz="1600" b="1" dirty="0" err="1">
                <a:solidFill>
                  <a:srgbClr val="000000"/>
                </a:solidFill>
              </a:rPr>
              <a:t>ITaaS</a:t>
            </a:r>
            <a:r>
              <a:rPr lang="en-US" sz="1600" b="1" dirty="0">
                <a:solidFill>
                  <a:srgbClr val="000000"/>
                </a:solidFill>
              </a:rPr>
              <a:t>)</a:t>
            </a:r>
          </a:p>
          <a:p>
            <a:pPr marL="0" indent="0" algn="l"/>
            <a:r>
              <a:rPr lang="en-US" sz="1600" dirty="0">
                <a:solidFill>
                  <a:srgbClr val="000000"/>
                </a:solidFill>
              </a:rPr>
              <a:t>Cloud service providers have extended this model to also provide IT support for each of the cloud computing services (</a:t>
            </a:r>
            <a:r>
              <a:rPr lang="en-US" sz="1600" dirty="0" err="1">
                <a:solidFill>
                  <a:srgbClr val="000000"/>
                </a:solidFill>
              </a:rPr>
              <a:t>ITaaS</a:t>
            </a:r>
            <a:r>
              <a:rPr lang="en-US" sz="1600" dirty="0">
                <a:solidFill>
                  <a:srgbClr val="000000"/>
                </a:solidFill>
              </a:rPr>
              <a:t>). For businesses, </a:t>
            </a:r>
            <a:r>
              <a:rPr lang="en-US" sz="1600" dirty="0" err="1">
                <a:solidFill>
                  <a:srgbClr val="000000"/>
                </a:solidFill>
              </a:rPr>
              <a:t>ITaaS</a:t>
            </a:r>
            <a:r>
              <a:rPr lang="en-US" sz="1600" dirty="0">
                <a:solidFill>
                  <a:srgbClr val="000000"/>
                </a:solidFill>
              </a:rPr>
              <a:t> can extend the capability of the network without requiring investment in new infrastructure, training new personnel, or licensing new software.</a:t>
            </a:r>
          </a:p>
          <a:p>
            <a:pPr marL="342900" indent="-342900" algn="l">
              <a:buFont typeface="Arial" panose="020B0604020202020204" pitchFamily="34" charset="0"/>
              <a:buChar char="•"/>
            </a:pPr>
            <a:endParaRPr lang="en-US" sz="1600" dirty="0">
              <a:solidFill>
                <a:srgbClr val="000000"/>
              </a:solidFill>
            </a:endParaRPr>
          </a:p>
        </p:txBody>
      </p:sp>
    </p:spTree>
    <p:custDataLst>
      <p:tags r:id="rId1"/>
    </p:custDataLst>
    <p:extLst>
      <p:ext uri="{BB962C8B-B14F-4D97-AF65-F5344CB8AC3E}">
        <p14:creationId xmlns:p14="http://schemas.microsoft.com/office/powerpoint/2010/main" val="29096989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Cloud Computing</a:t>
            </a:r>
            <a:br>
              <a:rPr lang="en-US" dirty="0"/>
            </a:br>
            <a:r>
              <a:rPr lang="en-US" sz="2400" dirty="0"/>
              <a:t>Cloud Models</a:t>
            </a:r>
          </a:p>
        </p:txBody>
      </p:sp>
      <p:sp>
        <p:nvSpPr>
          <p:cNvPr id="4" name="Content Placeholder 3">
            <a:extLst>
              <a:ext uri="{FF2B5EF4-FFF2-40B4-BE49-F238E27FC236}">
                <a16:creationId xmlns:a16="http://schemas.microsoft.com/office/drawing/2014/main" id="{F6482918-386E-D34E-B045-91B5F35FF0B7}"/>
              </a:ext>
            </a:extLst>
          </p:cNvPr>
          <p:cNvSpPr>
            <a:spLocks noGrp="1"/>
          </p:cNvSpPr>
          <p:nvPr>
            <p:ph idx="1"/>
          </p:nvPr>
        </p:nvSpPr>
        <p:spPr>
          <a:xfrm>
            <a:off x="798512" y="645572"/>
            <a:ext cx="8280057" cy="3689897"/>
          </a:xfrm>
        </p:spPr>
        <p:txBody>
          <a:bodyPr/>
          <a:lstStyle/>
          <a:p>
            <a:pPr marL="0" indent="0" algn="l"/>
            <a:r>
              <a:rPr lang="en-US" sz="1600" dirty="0">
                <a:solidFill>
                  <a:srgbClr val="000000"/>
                </a:solidFill>
              </a:rPr>
              <a:t>There are four primary cloud models:</a:t>
            </a:r>
          </a:p>
          <a:p>
            <a:pPr marL="342900" indent="-342900" algn="l">
              <a:buFont typeface="Arial" panose="020B0604020202020204" pitchFamily="34" charset="0"/>
              <a:buChar char="•"/>
            </a:pPr>
            <a:r>
              <a:rPr lang="en-US" sz="1600" b="1" dirty="0">
                <a:solidFill>
                  <a:srgbClr val="000000"/>
                </a:solidFill>
              </a:rPr>
              <a:t>Public clouds</a:t>
            </a:r>
            <a:r>
              <a:rPr lang="en-US" sz="1600" dirty="0">
                <a:solidFill>
                  <a:srgbClr val="000000"/>
                </a:solidFill>
              </a:rPr>
              <a:t> - Cloud-based applications and services made available to the general population. </a:t>
            </a:r>
          </a:p>
          <a:p>
            <a:pPr marL="342900" indent="-342900" algn="l">
              <a:buFont typeface="Arial" panose="020B0604020202020204" pitchFamily="34" charset="0"/>
              <a:buChar char="•"/>
            </a:pPr>
            <a:r>
              <a:rPr lang="en-US" sz="1600" b="1" dirty="0">
                <a:solidFill>
                  <a:srgbClr val="000000"/>
                </a:solidFill>
              </a:rPr>
              <a:t>Private clouds</a:t>
            </a:r>
            <a:r>
              <a:rPr lang="en-US" sz="1600" dirty="0">
                <a:solidFill>
                  <a:srgbClr val="000000"/>
                </a:solidFill>
              </a:rPr>
              <a:t> - Cloud-based applications and services intended for a specific organization or entity, such as the government. </a:t>
            </a:r>
          </a:p>
          <a:p>
            <a:pPr marL="342900" indent="-342900" algn="l">
              <a:buFont typeface="Arial" panose="020B0604020202020204" pitchFamily="34" charset="0"/>
              <a:buChar char="•"/>
            </a:pPr>
            <a:r>
              <a:rPr lang="en-US" sz="1600" b="1" dirty="0">
                <a:solidFill>
                  <a:srgbClr val="000000"/>
                </a:solidFill>
              </a:rPr>
              <a:t>Hybrid clouds</a:t>
            </a:r>
            <a:r>
              <a:rPr lang="en-US" sz="1600" dirty="0">
                <a:solidFill>
                  <a:srgbClr val="000000"/>
                </a:solidFill>
              </a:rPr>
              <a:t> - A hybrid cloud is made up of two or more clouds (example: part private, part public), where each part remains a separate object, but both are connected using a single architecture.</a:t>
            </a:r>
          </a:p>
          <a:p>
            <a:pPr marL="342900" indent="-342900" algn="l">
              <a:buFont typeface="Arial" panose="020B0604020202020204" pitchFamily="34" charset="0"/>
              <a:buChar char="•"/>
            </a:pPr>
            <a:r>
              <a:rPr lang="en-US" sz="1600" b="1" dirty="0">
                <a:solidFill>
                  <a:srgbClr val="000000"/>
                </a:solidFill>
              </a:rPr>
              <a:t>Community clouds</a:t>
            </a:r>
            <a:r>
              <a:rPr lang="en-US" sz="1600" dirty="0">
                <a:solidFill>
                  <a:srgbClr val="000000"/>
                </a:solidFill>
              </a:rPr>
              <a:t> - A community cloud is created for exclusive use by a specific community. The differences between public clouds and community clouds are the functional needs that have been customized for the community. For example, healthcare organizations must remain compliant with policies and laws (e.g., HIPAA) that require special authentication and confidentiality.</a:t>
            </a:r>
          </a:p>
          <a:p>
            <a:pPr marL="342900" indent="-342900" algn="l">
              <a:buFont typeface="Arial" panose="020B0604020202020204" pitchFamily="34" charset="0"/>
              <a:buChar char="•"/>
            </a:pPr>
            <a:endParaRPr lang="en-US" sz="1600" dirty="0">
              <a:solidFill>
                <a:srgbClr val="000000"/>
              </a:solidFill>
            </a:endParaRPr>
          </a:p>
          <a:p>
            <a:pPr marL="342900" indent="-342900" algn="l">
              <a:buFont typeface="Arial" panose="020B0604020202020204" pitchFamily="34" charset="0"/>
              <a:buChar char="•"/>
            </a:pPr>
            <a:r>
              <a:rPr lang="sk-SK" sz="1200" b="1" dirty="0" err="1">
                <a:solidFill>
                  <a:srgbClr val="000000"/>
                </a:solidFill>
              </a:rPr>
              <a:t>Multicloud</a:t>
            </a:r>
            <a:r>
              <a:rPr lang="sk-SK" sz="1200" b="1" dirty="0">
                <a:solidFill>
                  <a:srgbClr val="000000"/>
                </a:solidFill>
              </a:rPr>
              <a:t>:</a:t>
            </a:r>
            <a:r>
              <a:rPr lang="sk-SK" sz="1100" b="0" i="0" dirty="0">
                <a:solidFill>
                  <a:srgbClr val="111111"/>
                </a:solidFill>
                <a:effectLst/>
                <a:latin typeface="-apple-system"/>
              </a:rPr>
              <a:t> </a:t>
            </a:r>
            <a:r>
              <a:rPr lang="sk-SK" sz="1200" dirty="0">
                <a:solidFill>
                  <a:srgbClr val="000000"/>
                </a:solidFill>
              </a:rPr>
              <a:t>Používanie viacerých cloudových služieb od rôznych poskytovateľov. Tento prístup môže zvýšiť flexibilitu a odolnosť, pretože organizácie nie sú závislé na jednom z poskytovateľov</a:t>
            </a:r>
            <a:endParaRPr lang="en-US" sz="1200" dirty="0">
              <a:solidFill>
                <a:srgbClr val="000000"/>
              </a:solidFill>
            </a:endParaRPr>
          </a:p>
          <a:p>
            <a:pPr marL="342900" indent="-342900" algn="l">
              <a:buFont typeface="Arial" panose="020B0604020202020204" pitchFamily="34" charset="0"/>
              <a:buChar char="•"/>
            </a:pPr>
            <a:endParaRPr lang="en-US" sz="1600" dirty="0">
              <a:solidFill>
                <a:srgbClr val="000000"/>
              </a:solidFill>
            </a:endParaRPr>
          </a:p>
        </p:txBody>
      </p:sp>
    </p:spTree>
    <p:custDataLst>
      <p:tags r:id="rId1"/>
    </p:custDataLst>
    <p:extLst>
      <p:ext uri="{BB962C8B-B14F-4D97-AF65-F5344CB8AC3E}">
        <p14:creationId xmlns:p14="http://schemas.microsoft.com/office/powerpoint/2010/main" val="1072261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Cloud Computing</a:t>
            </a:r>
            <a:br>
              <a:rPr lang="en-US" dirty="0"/>
            </a:br>
            <a:r>
              <a:rPr lang="en-US" sz="2400" dirty="0"/>
              <a:t>Cloud Computing versus Data Center</a:t>
            </a:r>
          </a:p>
        </p:txBody>
      </p:sp>
      <p:sp>
        <p:nvSpPr>
          <p:cNvPr id="5" name="Content Placeholder 4">
            <a:extLst>
              <a:ext uri="{FF2B5EF4-FFF2-40B4-BE49-F238E27FC236}">
                <a16:creationId xmlns:a16="http://schemas.microsoft.com/office/drawing/2014/main" id="{9CE6D849-1F60-FA42-85BD-10F641257768}"/>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These are the correct definitions of data center and cloud computing:</a:t>
            </a:r>
          </a:p>
          <a:p>
            <a:pPr marL="342900" indent="-342900" algn="l">
              <a:buFont typeface="Arial" panose="020B0604020202020204" pitchFamily="34" charset="0"/>
              <a:buChar char="•"/>
            </a:pPr>
            <a:r>
              <a:rPr lang="en-US" sz="1600" b="1" dirty="0">
                <a:solidFill>
                  <a:srgbClr val="000000"/>
                </a:solidFill>
              </a:rPr>
              <a:t>Data center</a:t>
            </a:r>
            <a:r>
              <a:rPr lang="en-US" sz="1600" dirty="0">
                <a:solidFill>
                  <a:srgbClr val="000000"/>
                </a:solidFill>
              </a:rPr>
              <a:t>: Typically, a data storage and processing facility run by an in-house IT department or leased offsite. Data centers are typically very expensive to build and maintain. </a:t>
            </a:r>
          </a:p>
          <a:p>
            <a:pPr marL="342900" indent="-342900" algn="l">
              <a:buFont typeface="Arial" panose="020B0604020202020204" pitchFamily="34" charset="0"/>
              <a:buChar char="•"/>
            </a:pPr>
            <a:r>
              <a:rPr lang="en-US" sz="1600" b="1" dirty="0">
                <a:solidFill>
                  <a:srgbClr val="000000"/>
                </a:solidFill>
              </a:rPr>
              <a:t>Cloud computing</a:t>
            </a:r>
            <a:r>
              <a:rPr lang="en-US" sz="1600" dirty="0">
                <a:solidFill>
                  <a:srgbClr val="000000"/>
                </a:solidFill>
              </a:rPr>
              <a:t>: Typically, an off-premise service that offers on-demand access to a shared pool of configurable computing resources. These resources can be rapidly provisioned and released with minimal management effort.</a:t>
            </a:r>
          </a:p>
          <a:p>
            <a:pPr marL="0" indent="0" algn="l"/>
            <a:endParaRPr lang="en-US" sz="1600" dirty="0">
              <a:solidFill>
                <a:srgbClr val="000000"/>
              </a:solidFill>
            </a:endParaRPr>
          </a:p>
          <a:p>
            <a:pPr marL="0" indent="0" algn="l"/>
            <a:r>
              <a:rPr lang="en-US" sz="1600" dirty="0">
                <a:solidFill>
                  <a:srgbClr val="000000"/>
                </a:solidFill>
              </a:rPr>
              <a:t>Data centers are the physical facilities that provide the compute, network, and storage needs of cloud computing services. </a:t>
            </a:r>
          </a:p>
          <a:p>
            <a:pPr marL="0" indent="0" algn="l"/>
            <a:r>
              <a:rPr lang="en-US" sz="1600" dirty="0">
                <a:solidFill>
                  <a:srgbClr val="000000"/>
                </a:solidFill>
              </a:rPr>
              <a:t>Cloud service providers use data centers to host their cloud services and cloud-based resources.</a:t>
            </a:r>
          </a:p>
          <a:p>
            <a:pPr marL="342900" indent="-342900" algn="l">
              <a:buFont typeface="Arial" panose="020B0604020202020204" pitchFamily="34" charset="0"/>
              <a:buChar char="•"/>
            </a:pPr>
            <a:endParaRPr lang="en-US" sz="1600" dirty="0">
              <a:solidFill>
                <a:srgbClr val="000000"/>
              </a:solidFill>
            </a:endParaRPr>
          </a:p>
        </p:txBody>
      </p:sp>
    </p:spTree>
    <p:custDataLst>
      <p:tags r:id="rId1"/>
    </p:custDataLst>
    <p:extLst>
      <p:ext uri="{BB962C8B-B14F-4D97-AF65-F5344CB8AC3E}">
        <p14:creationId xmlns:p14="http://schemas.microsoft.com/office/powerpoint/2010/main" val="21898383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13.2 Virtualization</a:t>
            </a:r>
          </a:p>
        </p:txBody>
      </p:sp>
    </p:spTree>
    <p:custDataLst>
      <p:tags r:id="rId1"/>
    </p:custDataLst>
    <p:extLst>
      <p:ext uri="{BB962C8B-B14F-4D97-AF65-F5344CB8AC3E}">
        <p14:creationId xmlns:p14="http://schemas.microsoft.com/office/powerpoint/2010/main" val="1619359580"/>
      </p:ext>
    </p:extLst>
  </p:cSld>
  <p:clrMapOvr>
    <a:masterClrMapping/>
  </p:clrMapOvr>
  <p:transition spd="slow">
    <p:wip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Virtualization</a:t>
            </a:r>
            <a:br>
              <a:rPr lang="en-US" dirty="0"/>
            </a:br>
            <a:r>
              <a:rPr lang="en-US" sz="2400" dirty="0"/>
              <a:t>Cloud Computing and Virtualization</a:t>
            </a:r>
          </a:p>
        </p:txBody>
      </p:sp>
      <p:sp>
        <p:nvSpPr>
          <p:cNvPr id="6" name="Content Placeholder 5">
            <a:extLst>
              <a:ext uri="{FF2B5EF4-FFF2-40B4-BE49-F238E27FC236}">
                <a16:creationId xmlns:a16="http://schemas.microsoft.com/office/drawing/2014/main" id="{BE365722-06FA-3D4E-B885-4DAC9C7D1066}"/>
              </a:ext>
            </a:extLst>
          </p:cNvPr>
          <p:cNvSpPr>
            <a:spLocks noGrp="1"/>
          </p:cNvSpPr>
          <p:nvPr>
            <p:ph idx="1"/>
          </p:nvPr>
        </p:nvSpPr>
        <p:spPr>
          <a:xfrm>
            <a:off x="474663" y="731837"/>
            <a:ext cx="3973160" cy="3689897"/>
          </a:xfrm>
        </p:spPr>
        <p:txBody>
          <a:bodyPr>
            <a:normAutofit lnSpcReduction="10000"/>
          </a:bodyPr>
          <a:lstStyle/>
          <a:p>
            <a:pPr marL="342900" indent="-342900" algn="l">
              <a:buFont typeface="Arial" panose="020B0604020202020204" pitchFamily="34" charset="0"/>
              <a:buChar char="•"/>
            </a:pPr>
            <a:r>
              <a:rPr lang="en-US" sz="1600" dirty="0">
                <a:solidFill>
                  <a:srgbClr val="000000"/>
                </a:solidFill>
              </a:rPr>
              <a:t>The terms “cloud computing” and “virtualization” are often used interchangeably; however, they mean different things. </a:t>
            </a:r>
            <a:r>
              <a:rPr lang="en-US" sz="1600" b="1" dirty="0">
                <a:solidFill>
                  <a:srgbClr val="000000"/>
                </a:solidFill>
              </a:rPr>
              <a:t>Virtualization is the foundation of cloud computing</a:t>
            </a:r>
            <a:r>
              <a:rPr lang="en-US" sz="1600" dirty="0">
                <a:solidFill>
                  <a:srgbClr val="000000"/>
                </a:solidFill>
              </a:rPr>
              <a:t>. Without it, cloud computing, as it is most-widely implemented, would not be possible.</a:t>
            </a:r>
          </a:p>
          <a:p>
            <a:pPr marL="342900" indent="-342900" algn="l">
              <a:buFont typeface="Arial" panose="020B0604020202020204" pitchFamily="34" charset="0"/>
              <a:buChar char="•"/>
            </a:pPr>
            <a:r>
              <a:rPr lang="en-US" sz="1600" b="1" dirty="0">
                <a:solidFill>
                  <a:srgbClr val="000000"/>
                </a:solidFill>
              </a:rPr>
              <a:t>Virtualization separates the operating system (OS) from the hardware</a:t>
            </a:r>
            <a:r>
              <a:rPr lang="en-US" sz="1600" dirty="0">
                <a:solidFill>
                  <a:srgbClr val="000000"/>
                </a:solidFill>
              </a:rPr>
              <a:t>. Various providers offer virtual cloud services that can dynamically provision servers as required. These virtualized instances of servers are created on demand. </a:t>
            </a:r>
          </a:p>
        </p:txBody>
      </p:sp>
      <p:pic>
        <p:nvPicPr>
          <p:cNvPr id="8" name="Picture 7">
            <a:extLst>
              <a:ext uri="{FF2B5EF4-FFF2-40B4-BE49-F238E27FC236}">
                <a16:creationId xmlns:a16="http://schemas.microsoft.com/office/drawing/2014/main" id="{B512A262-5E92-3240-B9E6-A1FA2BCBA15E}"/>
              </a:ext>
            </a:extLst>
          </p:cNvPr>
          <p:cNvPicPr>
            <a:picLocks noChangeAspect="1"/>
          </p:cNvPicPr>
          <p:nvPr/>
        </p:nvPicPr>
        <p:blipFill>
          <a:blip r:embed="rId4"/>
          <a:stretch>
            <a:fillRect/>
          </a:stretch>
        </p:blipFill>
        <p:spPr>
          <a:xfrm>
            <a:off x="4478337" y="944835"/>
            <a:ext cx="4191000" cy="3263900"/>
          </a:xfrm>
          <a:prstGeom prst="rect">
            <a:avLst/>
          </a:prstGeom>
        </p:spPr>
      </p:pic>
    </p:spTree>
    <p:custDataLst>
      <p:tags r:id="rId1"/>
    </p:custDataLst>
    <p:extLst>
      <p:ext uri="{BB962C8B-B14F-4D97-AF65-F5344CB8AC3E}">
        <p14:creationId xmlns:p14="http://schemas.microsoft.com/office/powerpoint/2010/main" val="1758506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Virtualization</a:t>
            </a:r>
            <a:br>
              <a:rPr lang="en-US" dirty="0"/>
            </a:br>
            <a:r>
              <a:rPr lang="en-US" sz="2400" dirty="0"/>
              <a:t>Dedicated Servers</a:t>
            </a:r>
          </a:p>
        </p:txBody>
      </p:sp>
      <p:sp>
        <p:nvSpPr>
          <p:cNvPr id="4" name="Content Placeholder 3">
            <a:extLst>
              <a:ext uri="{FF2B5EF4-FFF2-40B4-BE49-F238E27FC236}">
                <a16:creationId xmlns:a16="http://schemas.microsoft.com/office/drawing/2014/main" id="{696241C1-922A-344A-BE2C-AE4BA89DA6AC}"/>
              </a:ext>
            </a:extLst>
          </p:cNvPr>
          <p:cNvSpPr>
            <a:spLocks noGrp="1"/>
          </p:cNvSpPr>
          <p:nvPr>
            <p:ph idx="1"/>
          </p:nvPr>
        </p:nvSpPr>
        <p:spPr>
          <a:xfrm>
            <a:off x="474662" y="731837"/>
            <a:ext cx="4241457" cy="3689897"/>
          </a:xfrm>
        </p:spPr>
        <p:txBody>
          <a:bodyPr/>
          <a:lstStyle/>
          <a:p>
            <a:pPr marL="0" indent="0" algn="l"/>
            <a:r>
              <a:rPr lang="en-US" sz="1600" dirty="0">
                <a:solidFill>
                  <a:srgbClr val="000000"/>
                </a:solidFill>
              </a:rPr>
              <a:t>Historically, enterprise servers consisted of a server OS, such as Windows Server or Linux Server, installed on specific hardware. All of a server’s RAM, processing power, and hard drive space were dedicated to the service provided (e.g., Web, email services, etc.).</a:t>
            </a:r>
          </a:p>
          <a:p>
            <a:pPr marL="342900" indent="-342900" algn="l">
              <a:buFont typeface="Arial" panose="020B0604020202020204" pitchFamily="34" charset="0"/>
              <a:buChar char="•"/>
            </a:pPr>
            <a:r>
              <a:rPr lang="en-US" sz="1400" dirty="0">
                <a:solidFill>
                  <a:srgbClr val="000000"/>
                </a:solidFill>
              </a:rPr>
              <a:t>When a component fails, the service that is provided by this server becomes unavailable. This is known as a single point of failure. </a:t>
            </a:r>
          </a:p>
          <a:p>
            <a:pPr marL="342900" indent="-342900" algn="l">
              <a:buFont typeface="Arial" panose="020B0604020202020204" pitchFamily="34" charset="0"/>
              <a:buChar char="•"/>
            </a:pPr>
            <a:r>
              <a:rPr lang="en-US" sz="1400" dirty="0">
                <a:solidFill>
                  <a:srgbClr val="000000"/>
                </a:solidFill>
              </a:rPr>
              <a:t>Dedicated servers were generally underused. They often sat idle for long periods of time, waiting until there was a need to deliver the specific service they provide. These servers wasted energy and took up more space than was warranted by the amount of service provided. This is known as server sprawl</a:t>
            </a:r>
            <a:r>
              <a:rPr lang="en-US" sz="1600" dirty="0">
                <a:solidFill>
                  <a:srgbClr val="000000"/>
                </a:solidFill>
              </a:rPr>
              <a:t>.</a:t>
            </a:r>
          </a:p>
        </p:txBody>
      </p:sp>
      <p:pic>
        <p:nvPicPr>
          <p:cNvPr id="7" name="Picture 6">
            <a:extLst>
              <a:ext uri="{FF2B5EF4-FFF2-40B4-BE49-F238E27FC236}">
                <a16:creationId xmlns:a16="http://schemas.microsoft.com/office/drawing/2014/main" id="{62F68B85-B729-DD44-817F-ABC3D6756B86}"/>
              </a:ext>
            </a:extLst>
          </p:cNvPr>
          <p:cNvPicPr>
            <a:picLocks noChangeAspect="1"/>
          </p:cNvPicPr>
          <p:nvPr/>
        </p:nvPicPr>
        <p:blipFill>
          <a:blip r:embed="rId4"/>
          <a:stretch>
            <a:fillRect/>
          </a:stretch>
        </p:blipFill>
        <p:spPr>
          <a:xfrm>
            <a:off x="4572000" y="1240013"/>
            <a:ext cx="4321351" cy="2663474"/>
          </a:xfrm>
          <a:prstGeom prst="rect">
            <a:avLst/>
          </a:prstGeom>
        </p:spPr>
      </p:pic>
    </p:spTree>
    <p:custDataLst>
      <p:tags r:id="rId1"/>
    </p:custDataLst>
    <p:extLst>
      <p:ext uri="{BB962C8B-B14F-4D97-AF65-F5344CB8AC3E}">
        <p14:creationId xmlns:p14="http://schemas.microsoft.com/office/powerpoint/2010/main" val="15912372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Virtualization</a:t>
            </a:r>
            <a:br>
              <a:rPr lang="en-US" dirty="0"/>
            </a:br>
            <a:r>
              <a:rPr lang="en-US" sz="2400" dirty="0"/>
              <a:t>Server Virtualization</a:t>
            </a:r>
          </a:p>
        </p:txBody>
      </p:sp>
      <p:sp>
        <p:nvSpPr>
          <p:cNvPr id="5" name="Content Placeholder 4">
            <a:extLst>
              <a:ext uri="{FF2B5EF4-FFF2-40B4-BE49-F238E27FC236}">
                <a16:creationId xmlns:a16="http://schemas.microsoft.com/office/drawing/2014/main" id="{B6AFB417-21AE-E04B-A264-F46D3B63D56E}"/>
              </a:ext>
            </a:extLst>
          </p:cNvPr>
          <p:cNvSpPr>
            <a:spLocks noGrp="1"/>
          </p:cNvSpPr>
          <p:nvPr>
            <p:ph idx="1"/>
          </p:nvPr>
        </p:nvSpPr>
        <p:spPr>
          <a:xfrm>
            <a:off x="474662" y="731837"/>
            <a:ext cx="4458581" cy="3689897"/>
          </a:xfrm>
        </p:spPr>
        <p:txBody>
          <a:bodyPr/>
          <a:lstStyle/>
          <a:p>
            <a:pPr marL="342900" indent="-342900" algn="l">
              <a:buFont typeface="Arial" panose="020B0604020202020204" pitchFamily="34" charset="0"/>
              <a:buChar char="•"/>
            </a:pPr>
            <a:r>
              <a:rPr lang="en-US" sz="1600" dirty="0">
                <a:solidFill>
                  <a:srgbClr val="000000"/>
                </a:solidFill>
              </a:rPr>
              <a:t>Server virtualization takes advantage of idle resources and consolidates the number of required servers. This also allows for multiple operating systems to exist on a single hardware platform.</a:t>
            </a:r>
          </a:p>
          <a:p>
            <a:pPr marL="342900" indent="-342900" algn="l">
              <a:buFont typeface="Arial" panose="020B0604020202020204" pitchFamily="34" charset="0"/>
              <a:buChar char="•"/>
            </a:pPr>
            <a:r>
              <a:rPr lang="en-US" sz="1600" dirty="0">
                <a:solidFill>
                  <a:srgbClr val="000000"/>
                </a:solidFill>
              </a:rPr>
              <a:t>The use of virtualization normally includes redundancy to protect from a single point of failure.</a:t>
            </a:r>
          </a:p>
          <a:p>
            <a:pPr marL="342900" indent="-342900" algn="l">
              <a:buFont typeface="Arial" panose="020B0604020202020204" pitchFamily="34" charset="0"/>
              <a:buChar char="•"/>
            </a:pPr>
            <a:r>
              <a:rPr lang="en-US" sz="1600" dirty="0">
                <a:solidFill>
                  <a:srgbClr val="000000"/>
                </a:solidFill>
              </a:rPr>
              <a:t>The hypervisor is a program, firmware, or hardware that adds an abstraction layer on top of the physical hardware. The abstraction layer is used to create virtual machines which have access to all the hardware of the physical machine such as CPUs, memory, disk controllers, and NICs.</a:t>
            </a:r>
          </a:p>
        </p:txBody>
      </p:sp>
      <p:pic>
        <p:nvPicPr>
          <p:cNvPr id="8" name="Picture 7">
            <a:extLst>
              <a:ext uri="{FF2B5EF4-FFF2-40B4-BE49-F238E27FC236}">
                <a16:creationId xmlns:a16="http://schemas.microsoft.com/office/drawing/2014/main" id="{BA77E84A-2A27-9B4A-B4F6-A244FC3A15AC}"/>
              </a:ext>
            </a:extLst>
          </p:cNvPr>
          <p:cNvPicPr>
            <a:picLocks noChangeAspect="1"/>
          </p:cNvPicPr>
          <p:nvPr/>
        </p:nvPicPr>
        <p:blipFill>
          <a:blip r:embed="rId4"/>
          <a:stretch>
            <a:fillRect/>
          </a:stretch>
        </p:blipFill>
        <p:spPr>
          <a:xfrm>
            <a:off x="5295989" y="1102520"/>
            <a:ext cx="3520634" cy="2948531"/>
          </a:xfrm>
          <a:prstGeom prst="rect">
            <a:avLst/>
          </a:prstGeom>
        </p:spPr>
      </p:pic>
      <p:sp>
        <p:nvSpPr>
          <p:cNvPr id="2" name="BlokTextu 1">
            <a:extLst>
              <a:ext uri="{FF2B5EF4-FFF2-40B4-BE49-F238E27FC236}">
                <a16:creationId xmlns:a16="http://schemas.microsoft.com/office/drawing/2014/main" id="{5E387964-7AD4-E343-04B4-07CA40FB197F}"/>
              </a:ext>
            </a:extLst>
          </p:cNvPr>
          <p:cNvSpPr txBox="1"/>
          <p:nvPr/>
        </p:nvSpPr>
        <p:spPr>
          <a:xfrm>
            <a:off x="5602884" y="4170130"/>
            <a:ext cx="1677371" cy="646331"/>
          </a:xfrm>
          <a:prstGeom prst="rect">
            <a:avLst/>
          </a:prstGeom>
          <a:noFill/>
          <a:ln>
            <a:solidFill>
              <a:srgbClr val="000000"/>
            </a:solidFill>
          </a:ln>
        </p:spPr>
        <p:txBody>
          <a:bodyPr wrap="square" rtlCol="0">
            <a:spAutoFit/>
          </a:bodyPr>
          <a:lstStyle/>
          <a:p>
            <a:r>
              <a:rPr lang="sk-SK" dirty="0"/>
              <a:t>Management </a:t>
            </a:r>
            <a:r>
              <a:rPr lang="sk-SK" dirty="0" err="1"/>
              <a:t>console</a:t>
            </a:r>
            <a:endParaRPr lang="sk-SK" dirty="0"/>
          </a:p>
        </p:txBody>
      </p:sp>
      <p:cxnSp>
        <p:nvCxnSpPr>
          <p:cNvPr id="6" name="Rovná spojovacia šípka 5">
            <a:extLst>
              <a:ext uri="{FF2B5EF4-FFF2-40B4-BE49-F238E27FC236}">
                <a16:creationId xmlns:a16="http://schemas.microsoft.com/office/drawing/2014/main" id="{A4620A5F-2882-DE8B-ED5A-CB4A275EC1F8}"/>
              </a:ext>
            </a:extLst>
          </p:cNvPr>
          <p:cNvCxnSpPr/>
          <p:nvPr/>
        </p:nvCxnSpPr>
        <p:spPr>
          <a:xfrm flipH="1">
            <a:off x="6162008" y="2085065"/>
            <a:ext cx="576596" cy="208506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 name="Rovná spojovacia šípka 8">
            <a:extLst>
              <a:ext uri="{FF2B5EF4-FFF2-40B4-BE49-F238E27FC236}">
                <a16:creationId xmlns:a16="http://schemas.microsoft.com/office/drawing/2014/main" id="{08D02B1F-F53F-4ACB-3DE0-59DDA2D6B4D2}"/>
              </a:ext>
            </a:extLst>
          </p:cNvPr>
          <p:cNvCxnSpPr/>
          <p:nvPr/>
        </p:nvCxnSpPr>
        <p:spPr>
          <a:xfrm flipH="1">
            <a:off x="6266843" y="3605182"/>
            <a:ext cx="500882" cy="5649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 name="BlokTextu 9">
            <a:extLst>
              <a:ext uri="{FF2B5EF4-FFF2-40B4-BE49-F238E27FC236}">
                <a16:creationId xmlns:a16="http://schemas.microsoft.com/office/drawing/2014/main" id="{68AA0D44-1EA9-1DEE-A8AC-0F77623B4A55}"/>
              </a:ext>
            </a:extLst>
          </p:cNvPr>
          <p:cNvSpPr txBox="1"/>
          <p:nvPr/>
        </p:nvSpPr>
        <p:spPr>
          <a:xfrm>
            <a:off x="786267" y="4631795"/>
            <a:ext cx="4676836" cy="369332"/>
          </a:xfrm>
          <a:prstGeom prst="rect">
            <a:avLst/>
          </a:prstGeom>
          <a:noFill/>
        </p:spPr>
        <p:txBody>
          <a:bodyPr wrap="square" rtlCol="0">
            <a:spAutoFit/>
          </a:bodyPr>
          <a:lstStyle/>
          <a:p>
            <a:r>
              <a:rPr lang="sk-SK" i="1" dirty="0"/>
              <a:t>Existuje aj virtualizácia aplikácií – </a:t>
            </a:r>
            <a:r>
              <a:rPr lang="sk-SK" i="1" dirty="0" err="1"/>
              <a:t>docker</a:t>
            </a:r>
            <a:r>
              <a:rPr lang="sk-SK" i="1" dirty="0"/>
              <a:t> ...</a:t>
            </a:r>
          </a:p>
        </p:txBody>
      </p:sp>
    </p:spTree>
    <p:custDataLst>
      <p:tags r:id="rId1"/>
    </p:custDataLst>
    <p:extLst>
      <p:ext uri="{BB962C8B-B14F-4D97-AF65-F5344CB8AC3E}">
        <p14:creationId xmlns:p14="http://schemas.microsoft.com/office/powerpoint/2010/main" val="24979838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Virtualization</a:t>
            </a:r>
            <a:br>
              <a:rPr lang="en-US" dirty="0"/>
            </a:br>
            <a:r>
              <a:rPr lang="en-US" sz="2400" dirty="0"/>
              <a:t>Advantages of Virtualization</a:t>
            </a:r>
          </a:p>
        </p:txBody>
      </p:sp>
      <p:sp>
        <p:nvSpPr>
          <p:cNvPr id="4" name="Content Placeholder 3">
            <a:extLst>
              <a:ext uri="{FF2B5EF4-FFF2-40B4-BE49-F238E27FC236}">
                <a16:creationId xmlns:a16="http://schemas.microsoft.com/office/drawing/2014/main" id="{4036AB3A-3BD7-6D4B-BD39-7A0683AA9FB1}"/>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One major advantage of virtualization is overall reduced cost:</a:t>
            </a:r>
          </a:p>
          <a:p>
            <a:pPr marL="342900" indent="-342900" algn="l">
              <a:buFont typeface="Arial" panose="020B0604020202020204" pitchFamily="34" charset="0"/>
              <a:buChar char="•"/>
            </a:pPr>
            <a:r>
              <a:rPr lang="en-US" sz="1600" dirty="0">
                <a:solidFill>
                  <a:srgbClr val="000000"/>
                </a:solidFill>
              </a:rPr>
              <a:t>Less equipment is required</a:t>
            </a:r>
          </a:p>
          <a:p>
            <a:pPr marL="342900" indent="-342900" algn="l">
              <a:buFont typeface="Arial" panose="020B0604020202020204" pitchFamily="34" charset="0"/>
              <a:buChar char="•"/>
            </a:pPr>
            <a:r>
              <a:rPr lang="en-US" sz="1600" dirty="0">
                <a:solidFill>
                  <a:srgbClr val="000000"/>
                </a:solidFill>
              </a:rPr>
              <a:t>Less energy is consumed </a:t>
            </a:r>
          </a:p>
          <a:p>
            <a:pPr marL="342900" indent="-342900" algn="l">
              <a:buFont typeface="Arial" panose="020B0604020202020204" pitchFamily="34" charset="0"/>
              <a:buChar char="•"/>
            </a:pPr>
            <a:r>
              <a:rPr lang="en-US" sz="1600" dirty="0">
                <a:solidFill>
                  <a:srgbClr val="000000"/>
                </a:solidFill>
              </a:rPr>
              <a:t>Less space is required </a:t>
            </a:r>
          </a:p>
          <a:p>
            <a:pPr marL="0" indent="0" algn="l"/>
            <a:endParaRPr lang="en-US" sz="1600" dirty="0">
              <a:solidFill>
                <a:srgbClr val="000000"/>
              </a:solidFill>
            </a:endParaRPr>
          </a:p>
          <a:p>
            <a:pPr marL="0" indent="0" algn="l"/>
            <a:r>
              <a:rPr lang="en-US" sz="1600" dirty="0">
                <a:solidFill>
                  <a:srgbClr val="000000"/>
                </a:solidFill>
              </a:rPr>
              <a:t>These are additional benefits of virtualization:</a:t>
            </a:r>
          </a:p>
          <a:p>
            <a:pPr marL="342900" indent="-342900" algn="l">
              <a:buFont typeface="Arial" panose="020B0604020202020204" pitchFamily="34" charset="0"/>
              <a:buChar char="•"/>
            </a:pPr>
            <a:r>
              <a:rPr lang="en-US" sz="1600" dirty="0">
                <a:solidFill>
                  <a:srgbClr val="000000"/>
                </a:solidFill>
              </a:rPr>
              <a:t>Easier prototyping</a:t>
            </a:r>
          </a:p>
          <a:p>
            <a:pPr marL="342900" indent="-342900" algn="l">
              <a:buFont typeface="Arial" panose="020B0604020202020204" pitchFamily="34" charset="0"/>
              <a:buChar char="•"/>
            </a:pPr>
            <a:r>
              <a:rPr lang="en-US" sz="1600" dirty="0">
                <a:solidFill>
                  <a:srgbClr val="000000"/>
                </a:solidFill>
              </a:rPr>
              <a:t>Faster server provisioning</a:t>
            </a:r>
          </a:p>
          <a:p>
            <a:pPr marL="342900" indent="-342900" algn="l">
              <a:buFont typeface="Arial" panose="020B0604020202020204" pitchFamily="34" charset="0"/>
              <a:buChar char="•"/>
            </a:pPr>
            <a:r>
              <a:rPr lang="en-US" sz="1600" dirty="0">
                <a:solidFill>
                  <a:srgbClr val="000000"/>
                </a:solidFill>
              </a:rPr>
              <a:t>Increased server uptime </a:t>
            </a:r>
          </a:p>
          <a:p>
            <a:pPr marL="342900" indent="-342900" algn="l">
              <a:buFont typeface="Arial" panose="020B0604020202020204" pitchFamily="34" charset="0"/>
              <a:buChar char="•"/>
            </a:pPr>
            <a:r>
              <a:rPr lang="en-US" sz="1600" dirty="0">
                <a:solidFill>
                  <a:srgbClr val="000000"/>
                </a:solidFill>
              </a:rPr>
              <a:t>Improved disaster recovery</a:t>
            </a:r>
          </a:p>
          <a:p>
            <a:pPr marL="342900" indent="-342900" algn="l">
              <a:buFont typeface="Arial" panose="020B0604020202020204" pitchFamily="34" charset="0"/>
              <a:buChar char="•"/>
            </a:pPr>
            <a:r>
              <a:rPr lang="en-US" sz="1600" dirty="0">
                <a:solidFill>
                  <a:srgbClr val="000000"/>
                </a:solidFill>
              </a:rPr>
              <a:t>Legacy support </a:t>
            </a:r>
          </a:p>
        </p:txBody>
      </p:sp>
    </p:spTree>
    <p:custDataLst>
      <p:tags r:id="rId1"/>
    </p:custDataLst>
    <p:extLst>
      <p:ext uri="{BB962C8B-B14F-4D97-AF65-F5344CB8AC3E}">
        <p14:creationId xmlns:p14="http://schemas.microsoft.com/office/powerpoint/2010/main" val="33135505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Virtualization</a:t>
            </a:r>
            <a:br>
              <a:rPr lang="en-US" dirty="0"/>
            </a:br>
            <a:r>
              <a:rPr lang="en-US" sz="2400" dirty="0"/>
              <a:t>Abstraction Layers</a:t>
            </a:r>
          </a:p>
        </p:txBody>
      </p:sp>
      <p:sp>
        <p:nvSpPr>
          <p:cNvPr id="5" name="Content Placeholder 4">
            <a:extLst>
              <a:ext uri="{FF2B5EF4-FFF2-40B4-BE49-F238E27FC236}">
                <a16:creationId xmlns:a16="http://schemas.microsoft.com/office/drawing/2014/main" id="{461F629C-D9D2-7846-A0F4-E7582E9EA952}"/>
              </a:ext>
            </a:extLst>
          </p:cNvPr>
          <p:cNvSpPr>
            <a:spLocks noGrp="1"/>
          </p:cNvSpPr>
          <p:nvPr>
            <p:ph idx="1"/>
          </p:nvPr>
        </p:nvSpPr>
        <p:spPr>
          <a:xfrm>
            <a:off x="474662" y="731837"/>
            <a:ext cx="8280057" cy="1675697"/>
          </a:xfrm>
        </p:spPr>
        <p:txBody>
          <a:bodyPr/>
          <a:lstStyle/>
          <a:p>
            <a:pPr marL="0" indent="0" algn="l"/>
            <a:r>
              <a:rPr lang="en-US" sz="1600" dirty="0">
                <a:solidFill>
                  <a:srgbClr val="000000"/>
                </a:solidFill>
              </a:rPr>
              <a:t>A computer system consists of the following abstraction layers: Services, OS, Firmware, and Hardware.</a:t>
            </a:r>
          </a:p>
          <a:p>
            <a:pPr marL="342900" indent="-342900" algn="l">
              <a:buFont typeface="Arial" panose="020B0604020202020204" pitchFamily="34" charset="0"/>
              <a:buChar char="•"/>
            </a:pPr>
            <a:r>
              <a:rPr lang="en-US" sz="1600" dirty="0">
                <a:solidFill>
                  <a:srgbClr val="000000"/>
                </a:solidFill>
              </a:rPr>
              <a:t>At each of these layers of abstraction, some type of programming code is used as an interface between the layer below and the layer above. </a:t>
            </a:r>
          </a:p>
          <a:p>
            <a:pPr marL="342900" indent="-342900" algn="l">
              <a:buFont typeface="Arial" panose="020B0604020202020204" pitchFamily="34" charset="0"/>
              <a:buChar char="•"/>
            </a:pPr>
            <a:r>
              <a:rPr lang="en-US" sz="1600" dirty="0">
                <a:solidFill>
                  <a:srgbClr val="000000"/>
                </a:solidFill>
              </a:rPr>
              <a:t>A hypervisor is installed between the firmware and the OS. The hypervisor can support multiple instances of OSs.</a:t>
            </a:r>
          </a:p>
          <a:p>
            <a:pPr marL="342900" indent="-342900" algn="l">
              <a:buFont typeface="Arial" panose="020B0604020202020204" pitchFamily="34" charset="0"/>
              <a:buChar char="•"/>
            </a:pPr>
            <a:endParaRPr lang="en-US" sz="1600" dirty="0">
              <a:solidFill>
                <a:srgbClr val="000000"/>
              </a:solidFill>
            </a:endParaRPr>
          </a:p>
        </p:txBody>
      </p:sp>
      <p:pic>
        <p:nvPicPr>
          <p:cNvPr id="7" name="Picture 6">
            <a:extLst>
              <a:ext uri="{FF2B5EF4-FFF2-40B4-BE49-F238E27FC236}">
                <a16:creationId xmlns:a16="http://schemas.microsoft.com/office/drawing/2014/main" id="{05271C7E-3E3E-454E-BCD8-12915D4B4DA0}"/>
              </a:ext>
            </a:extLst>
          </p:cNvPr>
          <p:cNvPicPr>
            <a:picLocks noChangeAspect="1"/>
          </p:cNvPicPr>
          <p:nvPr/>
        </p:nvPicPr>
        <p:blipFill>
          <a:blip r:embed="rId4"/>
          <a:stretch>
            <a:fillRect/>
          </a:stretch>
        </p:blipFill>
        <p:spPr>
          <a:xfrm>
            <a:off x="1152288" y="2491464"/>
            <a:ext cx="2806700" cy="2252912"/>
          </a:xfrm>
          <a:prstGeom prst="rect">
            <a:avLst/>
          </a:prstGeom>
        </p:spPr>
      </p:pic>
      <p:pic>
        <p:nvPicPr>
          <p:cNvPr id="8" name="Picture 7">
            <a:extLst>
              <a:ext uri="{FF2B5EF4-FFF2-40B4-BE49-F238E27FC236}">
                <a16:creationId xmlns:a16="http://schemas.microsoft.com/office/drawing/2014/main" id="{7B9922E1-407C-164F-B52E-86B0F6C3CBF3}"/>
              </a:ext>
            </a:extLst>
          </p:cNvPr>
          <p:cNvPicPr>
            <a:picLocks noChangeAspect="1"/>
          </p:cNvPicPr>
          <p:nvPr/>
        </p:nvPicPr>
        <p:blipFill>
          <a:blip r:embed="rId5"/>
          <a:stretch>
            <a:fillRect/>
          </a:stretch>
        </p:blipFill>
        <p:spPr>
          <a:xfrm>
            <a:off x="4885264" y="2534576"/>
            <a:ext cx="2806700" cy="2209800"/>
          </a:xfrm>
          <a:prstGeom prst="rect">
            <a:avLst/>
          </a:prstGeom>
        </p:spPr>
      </p:pic>
    </p:spTree>
    <p:custDataLst>
      <p:tags r:id="rId1"/>
    </p:custDataLst>
    <p:extLst>
      <p:ext uri="{BB962C8B-B14F-4D97-AF65-F5344CB8AC3E}">
        <p14:creationId xmlns:p14="http://schemas.microsoft.com/office/powerpoint/2010/main" val="334332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Virtual Network Infrastructure</a:t>
            </a:r>
            <a:br>
              <a:rPr lang="en-US" dirty="0"/>
            </a:br>
            <a:r>
              <a:rPr lang="en-US" sz="2400" dirty="0"/>
              <a:t>Type 1 Hypervisors</a:t>
            </a:r>
          </a:p>
        </p:txBody>
      </p:sp>
      <p:sp>
        <p:nvSpPr>
          <p:cNvPr id="7" name="Content Placeholder 6">
            <a:extLst>
              <a:ext uri="{FF2B5EF4-FFF2-40B4-BE49-F238E27FC236}">
                <a16:creationId xmlns:a16="http://schemas.microsoft.com/office/drawing/2014/main" id="{AED8F7F4-2269-0A40-904E-94273E04803C}"/>
              </a:ext>
            </a:extLst>
          </p:cNvPr>
          <p:cNvSpPr>
            <a:spLocks noGrp="1"/>
          </p:cNvSpPr>
          <p:nvPr>
            <p:ph idx="1"/>
          </p:nvPr>
        </p:nvSpPr>
        <p:spPr>
          <a:xfrm>
            <a:off x="474662" y="731838"/>
            <a:ext cx="8280057" cy="2103960"/>
          </a:xfrm>
        </p:spPr>
        <p:txBody>
          <a:bodyPr/>
          <a:lstStyle/>
          <a:p>
            <a:pPr marL="342900" indent="-342900" algn="l">
              <a:buFont typeface="Arial" panose="020B0604020202020204" pitchFamily="34" charset="0"/>
              <a:buChar char="•"/>
            </a:pPr>
            <a:r>
              <a:rPr lang="en-US" sz="1600" dirty="0">
                <a:solidFill>
                  <a:srgbClr val="000000"/>
                </a:solidFill>
              </a:rPr>
              <a:t>Type 1 hypervisors are also called the “bare metal” approach because the hypervisor is installed directly on the hardware. Type 1 hypervisors are usually used on enterprise servers and data center networking devices.</a:t>
            </a:r>
          </a:p>
          <a:p>
            <a:pPr marL="342900" indent="-342900" algn="l">
              <a:buFont typeface="Arial" panose="020B0604020202020204" pitchFamily="34" charset="0"/>
              <a:buChar char="•"/>
            </a:pPr>
            <a:r>
              <a:rPr lang="en-US" sz="1600" dirty="0">
                <a:solidFill>
                  <a:srgbClr val="000000"/>
                </a:solidFill>
              </a:rPr>
              <a:t>With Type 1 hypervisors, the hypervisor is installed directly on the server or networking hardware. Then, instances of an OS are installed on the hypervisor, as shown in the figure. Type 1 hypervisors have direct access to the hardware resources. Therefore, they are more efficient than hosted architectures. Type 1 hypervisors improve scalability, performance, and robustness.</a:t>
            </a:r>
          </a:p>
          <a:p>
            <a:pPr marL="342900" indent="-342900" algn="l">
              <a:buFont typeface="Arial" panose="020B0604020202020204" pitchFamily="34" charset="0"/>
              <a:buChar char="•"/>
            </a:pPr>
            <a:endParaRPr lang="en-US" sz="1600" dirty="0">
              <a:solidFill>
                <a:srgbClr val="000000"/>
              </a:solidFill>
            </a:endParaRPr>
          </a:p>
        </p:txBody>
      </p:sp>
      <p:pic>
        <p:nvPicPr>
          <p:cNvPr id="9" name="Picture 8">
            <a:extLst>
              <a:ext uri="{FF2B5EF4-FFF2-40B4-BE49-F238E27FC236}">
                <a16:creationId xmlns:a16="http://schemas.microsoft.com/office/drawing/2014/main" id="{D7125189-0140-7B41-BA11-AF1A333677E1}"/>
              </a:ext>
            </a:extLst>
          </p:cNvPr>
          <p:cNvPicPr>
            <a:picLocks noChangeAspect="1"/>
          </p:cNvPicPr>
          <p:nvPr/>
        </p:nvPicPr>
        <p:blipFill>
          <a:blip r:embed="rId4"/>
          <a:stretch>
            <a:fillRect/>
          </a:stretch>
        </p:blipFill>
        <p:spPr>
          <a:xfrm>
            <a:off x="792379" y="2835798"/>
            <a:ext cx="3165372" cy="1742017"/>
          </a:xfrm>
          <a:prstGeom prst="rect">
            <a:avLst/>
          </a:prstGeom>
        </p:spPr>
      </p:pic>
      <p:sp>
        <p:nvSpPr>
          <p:cNvPr id="5" name="BlokTextu 4">
            <a:extLst>
              <a:ext uri="{FF2B5EF4-FFF2-40B4-BE49-F238E27FC236}">
                <a16:creationId xmlns:a16="http://schemas.microsoft.com/office/drawing/2014/main" id="{FFBECEE2-E8AA-AB4C-91B8-AF8671A56C8F}"/>
              </a:ext>
            </a:extLst>
          </p:cNvPr>
          <p:cNvSpPr txBox="1"/>
          <p:nvPr/>
        </p:nvSpPr>
        <p:spPr>
          <a:xfrm>
            <a:off x="4572000" y="2835798"/>
            <a:ext cx="3371741" cy="2092881"/>
          </a:xfrm>
          <a:prstGeom prst="rect">
            <a:avLst/>
          </a:prstGeom>
          <a:noFill/>
        </p:spPr>
        <p:txBody>
          <a:bodyPr wrap="square">
            <a:spAutoFit/>
          </a:bodyPr>
          <a:lstStyle/>
          <a:p>
            <a:r>
              <a:rPr lang="en-US" sz="1600" b="1" dirty="0"/>
              <a:t>Type 1 hypervisor</a:t>
            </a:r>
          </a:p>
          <a:p>
            <a:pPr marL="285750" indent="-285750">
              <a:buFont typeface="Arial" panose="020B0604020202020204" pitchFamily="34" charset="0"/>
              <a:buChar char="•"/>
            </a:pPr>
            <a:r>
              <a:rPr lang="sk-SK" sz="1600" dirty="0" err="1"/>
              <a:t>VMware</a:t>
            </a:r>
            <a:r>
              <a:rPr lang="sk-SK" sz="1600" dirty="0"/>
              <a:t> </a:t>
            </a:r>
            <a:r>
              <a:rPr lang="sk-SK" sz="1600" dirty="0" err="1"/>
              <a:t>vSphere</a:t>
            </a:r>
            <a:r>
              <a:rPr lang="sk-SK" sz="1600" dirty="0"/>
              <a:t> / </a:t>
            </a:r>
            <a:r>
              <a:rPr lang="sk-SK" sz="1600" dirty="0" err="1"/>
              <a:t>ESXi</a:t>
            </a:r>
            <a:endParaRPr lang="sk-SK" sz="1600" dirty="0"/>
          </a:p>
          <a:p>
            <a:pPr marL="285750" indent="-285750">
              <a:buFont typeface="Arial" panose="020B0604020202020204" pitchFamily="34" charset="0"/>
              <a:buChar char="•"/>
            </a:pPr>
            <a:r>
              <a:rPr lang="sk-SK" sz="1600" dirty="0"/>
              <a:t>Microsoft Windows Server  </a:t>
            </a:r>
            <a:r>
              <a:rPr lang="sk-SK" sz="1600" dirty="0" err="1"/>
              <a:t>Hyper</a:t>
            </a:r>
            <a:r>
              <a:rPr lang="sk-SK" sz="1600" dirty="0"/>
              <a:t>-V</a:t>
            </a:r>
          </a:p>
          <a:p>
            <a:pPr marL="285750" indent="-285750">
              <a:buFont typeface="Arial" panose="020B0604020202020204" pitchFamily="34" charset="0"/>
              <a:buChar char="•"/>
            </a:pPr>
            <a:r>
              <a:rPr lang="sk-SK" sz="1600" dirty="0" err="1"/>
              <a:t>Xen</a:t>
            </a:r>
            <a:r>
              <a:rPr lang="sk-SK" sz="1600" dirty="0"/>
              <a:t> / </a:t>
            </a:r>
            <a:r>
              <a:rPr lang="sk-SK" sz="1600" dirty="0" err="1"/>
              <a:t>Citrix</a:t>
            </a:r>
            <a:r>
              <a:rPr lang="sk-SK" sz="1600" dirty="0"/>
              <a:t> </a:t>
            </a:r>
            <a:r>
              <a:rPr lang="sk-SK" sz="1600" dirty="0" err="1"/>
              <a:t>XenServer</a:t>
            </a:r>
            <a:endParaRPr lang="sk-SK" sz="1600" dirty="0"/>
          </a:p>
          <a:p>
            <a:pPr marL="285750" indent="-285750">
              <a:buFont typeface="Arial" panose="020B0604020202020204" pitchFamily="34" charset="0"/>
              <a:buChar char="•"/>
            </a:pPr>
            <a:r>
              <a:rPr lang="sk-SK" sz="1600" dirty="0" err="1"/>
              <a:t>Red</a:t>
            </a:r>
            <a:r>
              <a:rPr lang="sk-SK" sz="1600" dirty="0"/>
              <a:t> </a:t>
            </a:r>
            <a:r>
              <a:rPr lang="sk-SK" sz="1600" dirty="0" err="1"/>
              <a:t>Hat</a:t>
            </a:r>
            <a:r>
              <a:rPr lang="sk-SK" sz="1600" dirty="0"/>
              <a:t> Enterprise </a:t>
            </a:r>
            <a:r>
              <a:rPr lang="sk-SK" sz="1600" dirty="0" err="1"/>
              <a:t>Virtualization</a:t>
            </a:r>
            <a:r>
              <a:rPr lang="sk-SK" sz="1600" dirty="0"/>
              <a:t> (RHEV)</a:t>
            </a:r>
          </a:p>
          <a:p>
            <a:pPr marL="285750" indent="-285750">
              <a:buFont typeface="Arial" panose="020B0604020202020204" pitchFamily="34" charset="0"/>
              <a:buChar char="•"/>
            </a:pPr>
            <a:r>
              <a:rPr lang="sk-SK" sz="1600" dirty="0"/>
              <a:t>KVM</a:t>
            </a:r>
          </a:p>
        </p:txBody>
      </p:sp>
    </p:spTree>
    <p:custDataLst>
      <p:tags r:id="rId1"/>
    </p:custDataLst>
    <p:extLst>
      <p:ext uri="{BB962C8B-B14F-4D97-AF65-F5344CB8AC3E}">
        <p14:creationId xmlns:p14="http://schemas.microsoft.com/office/powerpoint/2010/main" val="42154590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Virtual Network Infrastructure</a:t>
            </a:r>
            <a:br>
              <a:rPr lang="en-US" dirty="0"/>
            </a:br>
            <a:r>
              <a:rPr lang="en-US" sz="2400" dirty="0"/>
              <a:t>Installing a VM on a Hypervisor</a:t>
            </a:r>
          </a:p>
        </p:txBody>
      </p:sp>
      <p:sp>
        <p:nvSpPr>
          <p:cNvPr id="4" name="Content Placeholder 3">
            <a:extLst>
              <a:ext uri="{FF2B5EF4-FFF2-40B4-BE49-F238E27FC236}">
                <a16:creationId xmlns:a16="http://schemas.microsoft.com/office/drawing/2014/main" id="{675F2EA5-9D85-0E44-AEE5-1030A2B30440}"/>
              </a:ext>
            </a:extLst>
          </p:cNvPr>
          <p:cNvSpPr>
            <a:spLocks noGrp="1"/>
          </p:cNvSpPr>
          <p:nvPr>
            <p:ph idx="1"/>
          </p:nvPr>
        </p:nvSpPr>
        <p:spPr>
          <a:xfrm>
            <a:off x="474662" y="731837"/>
            <a:ext cx="8280057" cy="3689897"/>
          </a:xfrm>
        </p:spPr>
        <p:txBody>
          <a:bodyPr/>
          <a:lstStyle/>
          <a:p>
            <a:pPr marL="342900" indent="-342900" algn="l">
              <a:buFont typeface="Arial" panose="020B0604020202020204" pitchFamily="34" charset="0"/>
              <a:buChar char="•"/>
            </a:pPr>
            <a:r>
              <a:rPr lang="en-US" sz="1600" dirty="0">
                <a:solidFill>
                  <a:srgbClr val="000000"/>
                </a:solidFill>
              </a:rPr>
              <a:t>Type 1 hypervisors require a “management console” to manage the hypervisor. Management software is used to manage multiple servers using the same hypervisor. The management console can automatically consolidate servers and power on or off servers as required.</a:t>
            </a:r>
          </a:p>
          <a:p>
            <a:pPr marL="342900" indent="-342900" algn="l">
              <a:buFont typeface="Arial" panose="020B0604020202020204" pitchFamily="34" charset="0"/>
              <a:buChar char="•"/>
            </a:pPr>
            <a:r>
              <a:rPr lang="en-US" sz="1600" dirty="0">
                <a:solidFill>
                  <a:srgbClr val="000000"/>
                </a:solidFill>
              </a:rPr>
              <a:t>The management console provides recovery from hardware failure. If a server component fails, the management console automatically moves the VM to another server. Cisco Unified Computing System (UCS) Manager controls multiple servers and manages resources for thousands of VMs.</a:t>
            </a:r>
          </a:p>
          <a:p>
            <a:pPr marL="342900" indent="-342900" algn="l">
              <a:buFont typeface="Arial" panose="020B0604020202020204" pitchFamily="34" charset="0"/>
              <a:buChar char="•"/>
            </a:pPr>
            <a:r>
              <a:rPr lang="en-US" sz="1600" dirty="0">
                <a:solidFill>
                  <a:srgbClr val="000000"/>
                </a:solidFill>
              </a:rPr>
              <a:t>Some management consoles also allow server over allocation. Over allocation is when multiple OS instances are installed, but their memory allocation exceeds the total amount of memory that a server has. Over allocation is a common practice because all four OS instances rarely require the all their allocated resources at any one moment.</a:t>
            </a:r>
          </a:p>
        </p:txBody>
      </p:sp>
    </p:spTree>
    <p:custDataLst>
      <p:tags r:id="rId1"/>
    </p:custDataLst>
    <p:extLst>
      <p:ext uri="{BB962C8B-B14F-4D97-AF65-F5344CB8AC3E}">
        <p14:creationId xmlns:p14="http://schemas.microsoft.com/office/powerpoint/2010/main" val="36531711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Virtualization</a:t>
            </a:r>
            <a:br>
              <a:rPr lang="en-US" dirty="0"/>
            </a:br>
            <a:r>
              <a:rPr lang="en-US" sz="2400" dirty="0"/>
              <a:t>Type 2 Hypervisors</a:t>
            </a:r>
          </a:p>
        </p:txBody>
      </p:sp>
      <p:sp>
        <p:nvSpPr>
          <p:cNvPr id="4" name="Content Placeholder 3">
            <a:extLst>
              <a:ext uri="{FF2B5EF4-FFF2-40B4-BE49-F238E27FC236}">
                <a16:creationId xmlns:a16="http://schemas.microsoft.com/office/drawing/2014/main" id="{DA4662F3-9D2E-0F4A-9CA4-8E097D17AA67}"/>
              </a:ext>
            </a:extLst>
          </p:cNvPr>
          <p:cNvSpPr>
            <a:spLocks noGrp="1"/>
          </p:cNvSpPr>
          <p:nvPr>
            <p:ph idx="1"/>
          </p:nvPr>
        </p:nvSpPr>
        <p:spPr>
          <a:xfrm>
            <a:off x="394225" y="627335"/>
            <a:ext cx="8280057" cy="4263908"/>
          </a:xfrm>
        </p:spPr>
        <p:txBody>
          <a:bodyPr>
            <a:normAutofit fontScale="92500"/>
          </a:bodyPr>
          <a:lstStyle/>
          <a:p>
            <a:pPr marL="342900" indent="-342900" algn="l">
              <a:buFont typeface="Arial" panose="020B0604020202020204" pitchFamily="34" charset="0"/>
              <a:buChar char="•"/>
            </a:pPr>
            <a:r>
              <a:rPr lang="en-US" dirty="0">
                <a:solidFill>
                  <a:srgbClr val="000000"/>
                </a:solidFill>
              </a:rPr>
              <a:t>A Type 2 hypervisor is software that creates and runs VM instances. The computer, on which a hypervisor is supporting one or more VMs, is a host machine. Type 2 hypervisors are also called hosted hypervisors. </a:t>
            </a:r>
          </a:p>
          <a:p>
            <a:pPr marL="342900" indent="-342900" algn="l">
              <a:buFont typeface="Arial" panose="020B0604020202020204" pitchFamily="34" charset="0"/>
              <a:buChar char="•"/>
            </a:pPr>
            <a:r>
              <a:rPr lang="en-US" dirty="0">
                <a:solidFill>
                  <a:srgbClr val="000000"/>
                </a:solidFill>
              </a:rPr>
              <a:t>A big advantage of Type 2 hypervisors is that management console software is not required.</a:t>
            </a:r>
          </a:p>
          <a:p>
            <a:pPr algn="l"/>
            <a:r>
              <a:rPr lang="sk-SK" dirty="0">
                <a:solidFill>
                  <a:srgbClr val="000000"/>
                </a:solidFill>
              </a:rPr>
              <a:t>Type 2 </a:t>
            </a:r>
            <a:r>
              <a:rPr lang="sk-SK" dirty="0" err="1">
                <a:solidFill>
                  <a:srgbClr val="000000"/>
                </a:solidFill>
              </a:rPr>
              <a:t>hypervisors</a:t>
            </a:r>
            <a:r>
              <a:rPr lang="sk-SK" dirty="0">
                <a:solidFill>
                  <a:srgbClr val="000000"/>
                </a:solidFill>
              </a:rPr>
              <a:t> are </a:t>
            </a:r>
            <a:r>
              <a:rPr lang="sk-SK" dirty="0" err="1">
                <a:solidFill>
                  <a:srgbClr val="000000"/>
                </a:solidFill>
              </a:rPr>
              <a:t>very</a:t>
            </a:r>
            <a:r>
              <a:rPr lang="sk-SK" dirty="0">
                <a:solidFill>
                  <a:srgbClr val="000000"/>
                </a:solidFill>
              </a:rPr>
              <a:t> </a:t>
            </a:r>
            <a:r>
              <a:rPr lang="sk-SK" dirty="0" err="1">
                <a:solidFill>
                  <a:srgbClr val="000000"/>
                </a:solidFill>
              </a:rPr>
              <a:t>popular</a:t>
            </a:r>
            <a:r>
              <a:rPr lang="sk-SK" dirty="0">
                <a:solidFill>
                  <a:srgbClr val="000000"/>
                </a:solidFill>
              </a:rPr>
              <a:t> </a:t>
            </a:r>
            <a:r>
              <a:rPr lang="sk-SK" dirty="0" err="1">
                <a:solidFill>
                  <a:srgbClr val="000000"/>
                </a:solidFill>
              </a:rPr>
              <a:t>with</a:t>
            </a:r>
            <a:r>
              <a:rPr lang="sk-SK" dirty="0">
                <a:solidFill>
                  <a:srgbClr val="000000"/>
                </a:solidFill>
              </a:rPr>
              <a:t> </a:t>
            </a:r>
            <a:r>
              <a:rPr lang="sk-SK" dirty="0" err="1">
                <a:solidFill>
                  <a:srgbClr val="000000"/>
                </a:solidFill>
              </a:rPr>
              <a:t>consumers</a:t>
            </a:r>
            <a:r>
              <a:rPr lang="sk-SK" dirty="0">
                <a:solidFill>
                  <a:srgbClr val="000000"/>
                </a:solidFill>
              </a:rPr>
              <a:t> and </a:t>
            </a:r>
            <a:r>
              <a:rPr lang="sk-SK" dirty="0" err="1">
                <a:solidFill>
                  <a:srgbClr val="000000"/>
                </a:solidFill>
              </a:rPr>
              <a:t>for</a:t>
            </a:r>
            <a:r>
              <a:rPr lang="sk-SK" dirty="0">
                <a:solidFill>
                  <a:srgbClr val="000000"/>
                </a:solidFill>
              </a:rPr>
              <a:t> </a:t>
            </a:r>
            <a:r>
              <a:rPr lang="sk-SK" dirty="0" err="1">
                <a:solidFill>
                  <a:srgbClr val="000000"/>
                </a:solidFill>
              </a:rPr>
              <a:t>organizations</a:t>
            </a:r>
            <a:r>
              <a:rPr lang="sk-SK" dirty="0">
                <a:solidFill>
                  <a:srgbClr val="000000"/>
                </a:solidFill>
              </a:rPr>
              <a:t> </a:t>
            </a:r>
            <a:r>
              <a:rPr lang="sk-SK" dirty="0" err="1">
                <a:solidFill>
                  <a:srgbClr val="000000"/>
                </a:solidFill>
              </a:rPr>
              <a:t>experimenting</a:t>
            </a:r>
            <a:r>
              <a:rPr lang="sk-SK" dirty="0">
                <a:solidFill>
                  <a:srgbClr val="000000"/>
                </a:solidFill>
              </a:rPr>
              <a:t> </a:t>
            </a:r>
            <a:r>
              <a:rPr lang="sk-SK" dirty="0" err="1">
                <a:solidFill>
                  <a:srgbClr val="000000"/>
                </a:solidFill>
              </a:rPr>
              <a:t>with</a:t>
            </a:r>
            <a:r>
              <a:rPr lang="sk-SK" dirty="0">
                <a:solidFill>
                  <a:srgbClr val="000000"/>
                </a:solidFill>
              </a:rPr>
              <a:t> </a:t>
            </a:r>
            <a:r>
              <a:rPr lang="sk-SK" dirty="0" err="1">
                <a:solidFill>
                  <a:srgbClr val="000000"/>
                </a:solidFill>
              </a:rPr>
              <a:t>virtualization</a:t>
            </a:r>
            <a:r>
              <a:rPr lang="sk-SK" dirty="0">
                <a:solidFill>
                  <a:srgbClr val="000000"/>
                </a:solidFill>
              </a:rPr>
              <a:t>. </a:t>
            </a:r>
            <a:r>
              <a:rPr lang="sk-SK" dirty="0" err="1">
                <a:solidFill>
                  <a:srgbClr val="000000"/>
                </a:solidFill>
              </a:rPr>
              <a:t>Common</a:t>
            </a:r>
            <a:r>
              <a:rPr lang="sk-SK" dirty="0">
                <a:solidFill>
                  <a:srgbClr val="000000"/>
                </a:solidFill>
              </a:rPr>
              <a:t> Type 2 </a:t>
            </a:r>
            <a:r>
              <a:rPr lang="sk-SK" dirty="0" err="1">
                <a:solidFill>
                  <a:srgbClr val="000000"/>
                </a:solidFill>
              </a:rPr>
              <a:t>hypervisors</a:t>
            </a:r>
            <a:r>
              <a:rPr lang="sk-SK" dirty="0">
                <a:solidFill>
                  <a:srgbClr val="000000"/>
                </a:solidFill>
              </a:rPr>
              <a:t> </a:t>
            </a:r>
            <a:r>
              <a:rPr lang="sk-SK" dirty="0" err="1">
                <a:solidFill>
                  <a:srgbClr val="000000"/>
                </a:solidFill>
              </a:rPr>
              <a:t>include</a:t>
            </a:r>
            <a:r>
              <a:rPr lang="sk-SK" dirty="0">
                <a:solidFill>
                  <a:srgbClr val="000000"/>
                </a:solidFill>
              </a:rPr>
              <a:t>:</a:t>
            </a:r>
          </a:p>
          <a:p>
            <a:pPr algn="l"/>
            <a:r>
              <a:rPr lang="sk-SK" dirty="0" err="1">
                <a:solidFill>
                  <a:srgbClr val="000000"/>
                </a:solidFill>
              </a:rPr>
              <a:t>Virtual</a:t>
            </a:r>
            <a:r>
              <a:rPr lang="sk-SK" dirty="0">
                <a:solidFill>
                  <a:srgbClr val="000000"/>
                </a:solidFill>
              </a:rPr>
              <a:t> PC</a:t>
            </a:r>
          </a:p>
          <a:p>
            <a:pPr algn="l"/>
            <a:r>
              <a:rPr lang="sk-SK" dirty="0" err="1">
                <a:solidFill>
                  <a:srgbClr val="000000"/>
                </a:solidFill>
              </a:rPr>
              <a:t>VMware</a:t>
            </a:r>
            <a:r>
              <a:rPr lang="sk-SK" dirty="0">
                <a:solidFill>
                  <a:srgbClr val="000000"/>
                </a:solidFill>
              </a:rPr>
              <a:t> Workstation</a:t>
            </a:r>
          </a:p>
          <a:p>
            <a:pPr algn="l"/>
            <a:r>
              <a:rPr lang="sk-SK" dirty="0">
                <a:solidFill>
                  <a:srgbClr val="000000"/>
                </a:solidFill>
              </a:rPr>
              <a:t>Oracle VM </a:t>
            </a:r>
            <a:r>
              <a:rPr lang="sk-SK" dirty="0" err="1">
                <a:solidFill>
                  <a:srgbClr val="000000"/>
                </a:solidFill>
              </a:rPr>
              <a:t>VirtualBox</a:t>
            </a:r>
            <a:endParaRPr lang="sk-SK" dirty="0">
              <a:solidFill>
                <a:srgbClr val="000000"/>
              </a:solidFill>
            </a:endParaRPr>
          </a:p>
          <a:p>
            <a:pPr algn="l"/>
            <a:r>
              <a:rPr lang="sk-SK" dirty="0" err="1">
                <a:solidFill>
                  <a:srgbClr val="000000"/>
                </a:solidFill>
              </a:rPr>
              <a:t>VMware</a:t>
            </a:r>
            <a:r>
              <a:rPr lang="sk-SK" dirty="0">
                <a:solidFill>
                  <a:srgbClr val="000000"/>
                </a:solidFill>
              </a:rPr>
              <a:t> </a:t>
            </a:r>
            <a:r>
              <a:rPr lang="sk-SK" dirty="0" err="1">
                <a:solidFill>
                  <a:srgbClr val="000000"/>
                </a:solidFill>
              </a:rPr>
              <a:t>Fusion</a:t>
            </a:r>
            <a:endParaRPr lang="sk-SK" dirty="0">
              <a:solidFill>
                <a:srgbClr val="000000"/>
              </a:solidFill>
            </a:endParaRPr>
          </a:p>
          <a:p>
            <a:pPr algn="l"/>
            <a:r>
              <a:rPr lang="sk-SK" dirty="0">
                <a:solidFill>
                  <a:srgbClr val="000000"/>
                </a:solidFill>
              </a:rPr>
              <a:t>Mac OS X </a:t>
            </a:r>
            <a:r>
              <a:rPr lang="sk-SK" dirty="0" err="1">
                <a:solidFill>
                  <a:srgbClr val="000000"/>
                </a:solidFill>
              </a:rPr>
              <a:t>Parallels</a:t>
            </a:r>
            <a:endParaRPr lang="sk-SK" dirty="0">
              <a:solidFill>
                <a:srgbClr val="000000"/>
              </a:solidFill>
            </a:endParaRPr>
          </a:p>
          <a:p>
            <a:pPr marL="342900" indent="-342900" algn="l">
              <a:buFont typeface="Arial" panose="020B0604020202020204" pitchFamily="34" charset="0"/>
              <a:buChar char="•"/>
            </a:pPr>
            <a:endParaRPr lang="en-US" dirty="0">
              <a:solidFill>
                <a:srgbClr val="000000"/>
              </a:solidFill>
            </a:endParaRPr>
          </a:p>
        </p:txBody>
      </p:sp>
      <p:pic>
        <p:nvPicPr>
          <p:cNvPr id="9" name="Picture 8">
            <a:extLst>
              <a:ext uri="{FF2B5EF4-FFF2-40B4-BE49-F238E27FC236}">
                <a16:creationId xmlns:a16="http://schemas.microsoft.com/office/drawing/2014/main" id="{B8024F4B-FC6A-D448-9552-72B707A3E330}"/>
              </a:ext>
            </a:extLst>
          </p:cNvPr>
          <p:cNvPicPr>
            <a:picLocks noChangeAspect="1"/>
          </p:cNvPicPr>
          <p:nvPr/>
        </p:nvPicPr>
        <p:blipFill>
          <a:blip r:embed="rId4"/>
          <a:stretch>
            <a:fillRect/>
          </a:stretch>
        </p:blipFill>
        <p:spPr>
          <a:xfrm>
            <a:off x="5439332" y="2881665"/>
            <a:ext cx="3234950" cy="2261835"/>
          </a:xfrm>
          <a:prstGeom prst="rect">
            <a:avLst/>
          </a:prstGeom>
        </p:spPr>
      </p:pic>
    </p:spTree>
    <p:custDataLst>
      <p:tags r:id="rId1"/>
    </p:custDataLst>
    <p:extLst>
      <p:ext uri="{BB962C8B-B14F-4D97-AF65-F5344CB8AC3E}">
        <p14:creationId xmlns:p14="http://schemas.microsoft.com/office/powerpoint/2010/main" val="12555020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we="http://schemas.microsoft.com/office/webextensions/webextension/2010/11" xmlns:pca="http://schemas.microsoft.com/office/powerpoint/2013/contentapp" Requires="we pca">
          <p:graphicFrame>
            <p:nvGraphicFramePr>
              <p:cNvPr id="4" name="Zástupný objekt pre obsah 3">
                <a:extLst>
                  <a:ext uri="{FF2B5EF4-FFF2-40B4-BE49-F238E27FC236}">
                    <a16:creationId xmlns:a16="http://schemas.microsoft.com/office/drawing/2014/main" id="{EC6D300A-228E-B3A2-C889-8EE7BD7469F7}"/>
                  </a:ext>
                </a:extLst>
              </p:cNvPr>
              <p:cNvGraphicFramePr>
                <a:graphicFrameLocks noGrp="1"/>
              </p:cNvGraphicFramePr>
              <p:nvPr>
                <p:ph idx="1"/>
                <p:extLst>
                  <p:ext uri="{D42A27DB-BD31-4B8C-83A1-F6EECF244321}">
                    <p14:modId xmlns:p14="http://schemas.microsoft.com/office/powerpoint/2010/main" val="2143922384"/>
                  </p:ext>
                </p:extLst>
              </p:nvPr>
            </p:nvGraphicFramePr>
            <p:xfrm>
              <a:off x="474663" y="226423"/>
              <a:ext cx="8280400" cy="4650377"/>
            </p:xfrm>
            <a:graphic>
              <a:graphicData uri="http://schemas.microsoft.com/office/webextensions/webextension/2010/11">
                <we:webextensionref xmlns:we="http://schemas.microsoft.com/office/webextensions/webextension/2010/11" xmlns:r="http://schemas.openxmlformats.org/officeDocument/2006/relationships" r:id="rId2"/>
              </a:graphicData>
            </a:graphic>
          </p:graphicFrame>
        </mc:Choice>
        <mc:Fallback>
          <p:pic>
            <p:nvPicPr>
              <p:cNvPr id="4" name="Zástupný objekt pre obsah 3">
                <a:extLst>
                  <a:ext uri="{FF2B5EF4-FFF2-40B4-BE49-F238E27FC236}">
                    <a16:creationId xmlns:a16="http://schemas.microsoft.com/office/drawing/2014/main" id="{EC6D300A-228E-B3A2-C889-8EE7BD7469F7}"/>
                  </a:ext>
                </a:extLst>
              </p:cNvPr>
              <p:cNvPicPr>
                <a:picLocks noGrp="1" noRot="1" noChangeAspect="1" noMove="1" noResize="1" noEditPoints="1" noAdjustHandles="1" noChangeArrowheads="1" noChangeShapeType="1"/>
              </p:cNvPicPr>
              <p:nvPr/>
            </p:nvPicPr>
            <p:blipFill>
              <a:blip r:embed="rId3"/>
              <a:stretch>
                <a:fillRect/>
              </a:stretch>
            </p:blipFill>
            <p:spPr>
              <a:xfrm>
                <a:off x="474663" y="226423"/>
                <a:ext cx="8280400" cy="4650377"/>
              </a:xfrm>
              <a:prstGeom prst="rect">
                <a:avLst/>
              </a:prstGeom>
            </p:spPr>
          </p:pic>
        </mc:Fallback>
      </mc:AlternateContent>
    </p:spTree>
    <p:extLst>
      <p:ext uri="{BB962C8B-B14F-4D97-AF65-F5344CB8AC3E}">
        <p14:creationId xmlns:p14="http://schemas.microsoft.com/office/powerpoint/2010/main" val="14457074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331089"/>
            <a:ext cx="7848344" cy="1386711"/>
          </a:xfrm>
        </p:spPr>
        <p:txBody>
          <a:bodyPr/>
          <a:lstStyle/>
          <a:p>
            <a:r>
              <a:rPr lang="en-US" dirty="0">
                <a:solidFill>
                  <a:schemeClr val="accent5">
                    <a:lumMod val="40000"/>
                    <a:lumOff val="60000"/>
                  </a:schemeClr>
                </a:solidFill>
              </a:rPr>
              <a:t>13.3 Virtual Network Infrastructure</a:t>
            </a:r>
          </a:p>
        </p:txBody>
      </p:sp>
    </p:spTree>
    <p:custDataLst>
      <p:tags r:id="rId1"/>
    </p:custDataLst>
    <p:extLst>
      <p:ext uri="{BB962C8B-B14F-4D97-AF65-F5344CB8AC3E}">
        <p14:creationId xmlns:p14="http://schemas.microsoft.com/office/powerpoint/2010/main" val="1016896985"/>
      </p:ext>
    </p:extLst>
  </p:cSld>
  <p:clrMapOvr>
    <a:masterClrMapping/>
  </p:clrMapOvr>
  <p:transition spd="slow">
    <p:wip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Virtual Network Infrastructure</a:t>
            </a:r>
            <a:br>
              <a:rPr lang="en-US" dirty="0"/>
            </a:br>
            <a:r>
              <a:rPr lang="en-US" sz="2400" dirty="0"/>
              <a:t>The Complexity of Network Virtualization</a:t>
            </a:r>
          </a:p>
        </p:txBody>
      </p:sp>
      <p:sp>
        <p:nvSpPr>
          <p:cNvPr id="5" name="Content Placeholder 4">
            <a:extLst>
              <a:ext uri="{FF2B5EF4-FFF2-40B4-BE49-F238E27FC236}">
                <a16:creationId xmlns:a16="http://schemas.microsoft.com/office/drawing/2014/main" id="{5C5089E0-4BB1-3A4A-8FFD-C049A81BAEE1}"/>
              </a:ext>
            </a:extLst>
          </p:cNvPr>
          <p:cNvSpPr>
            <a:spLocks noGrp="1"/>
          </p:cNvSpPr>
          <p:nvPr>
            <p:ph idx="1"/>
          </p:nvPr>
        </p:nvSpPr>
        <p:spPr>
          <a:xfrm>
            <a:off x="282525" y="731837"/>
            <a:ext cx="4966808" cy="3689897"/>
          </a:xfrm>
        </p:spPr>
        <p:txBody>
          <a:bodyPr/>
          <a:lstStyle/>
          <a:p>
            <a:pPr marL="342900" indent="-342900" algn="l">
              <a:buFont typeface="Arial" panose="020B0604020202020204" pitchFamily="34" charset="0"/>
              <a:buChar char="•"/>
            </a:pPr>
            <a:r>
              <a:rPr lang="en-US" sz="1600" dirty="0">
                <a:solidFill>
                  <a:srgbClr val="000000"/>
                </a:solidFill>
              </a:rPr>
              <a:t>Server virtualization hides server resources. This can create problems when using traditional network architectures.</a:t>
            </a:r>
          </a:p>
          <a:p>
            <a:pPr marL="342900" indent="-342900" algn="l">
              <a:buFont typeface="Arial" panose="020B0604020202020204" pitchFamily="34" charset="0"/>
              <a:buChar char="•"/>
            </a:pPr>
            <a:r>
              <a:rPr lang="en-US" sz="1600" dirty="0">
                <a:solidFill>
                  <a:srgbClr val="000000"/>
                </a:solidFill>
              </a:rPr>
              <a:t>VMs are movable, and the network administrator must be able to add, drop, and change network resources and profiles to support their mobility. This process would be manual and time-consuming with traditional network switches.</a:t>
            </a:r>
          </a:p>
          <a:p>
            <a:pPr marL="342900" indent="-342900" algn="l">
              <a:buFont typeface="Arial" panose="020B0604020202020204" pitchFamily="34" charset="0"/>
              <a:buChar char="•"/>
            </a:pPr>
            <a:r>
              <a:rPr lang="en-US" sz="1600" dirty="0">
                <a:solidFill>
                  <a:srgbClr val="000000"/>
                </a:solidFill>
              </a:rPr>
              <a:t>Traffic flows differ from the traditional client-server model. Typically, there is a considerable amount of traffic being exchanged between virtual servers (East-West traffic) that changes in location and intensity over time. North-South traffic is typically traffic destined for offsite locations such as another data center, other cloud providers, or the internet.</a:t>
            </a:r>
          </a:p>
          <a:p>
            <a:pPr marL="0" indent="0" algn="l"/>
            <a:endParaRPr lang="en-US" sz="1600" dirty="0">
              <a:solidFill>
                <a:srgbClr val="000000"/>
              </a:solidFill>
            </a:endParaRPr>
          </a:p>
        </p:txBody>
      </p:sp>
      <p:pic>
        <p:nvPicPr>
          <p:cNvPr id="7" name="Picture 6">
            <a:extLst>
              <a:ext uri="{FF2B5EF4-FFF2-40B4-BE49-F238E27FC236}">
                <a16:creationId xmlns:a16="http://schemas.microsoft.com/office/drawing/2014/main" id="{BB308614-6F5B-5E42-AF9E-48C840FB6AD8}"/>
              </a:ext>
            </a:extLst>
          </p:cNvPr>
          <p:cNvPicPr>
            <a:picLocks noChangeAspect="1"/>
          </p:cNvPicPr>
          <p:nvPr/>
        </p:nvPicPr>
        <p:blipFill>
          <a:blip r:embed="rId4"/>
          <a:stretch>
            <a:fillRect/>
          </a:stretch>
        </p:blipFill>
        <p:spPr>
          <a:xfrm>
            <a:off x="5303619" y="1156581"/>
            <a:ext cx="3645812" cy="2907420"/>
          </a:xfrm>
          <a:prstGeom prst="rect">
            <a:avLst/>
          </a:prstGeom>
        </p:spPr>
      </p:pic>
    </p:spTree>
    <p:custDataLst>
      <p:tags r:id="rId1"/>
    </p:custDataLst>
    <p:extLst>
      <p:ext uri="{BB962C8B-B14F-4D97-AF65-F5344CB8AC3E}">
        <p14:creationId xmlns:p14="http://schemas.microsoft.com/office/powerpoint/2010/main" val="30761101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Virtual Network Infrastructure</a:t>
            </a:r>
            <a:br>
              <a:rPr lang="en-US" dirty="0"/>
            </a:br>
            <a:r>
              <a:rPr lang="en-US" sz="2400" dirty="0"/>
              <a:t>The Complexity of Network Virtualization (Cont.)</a:t>
            </a:r>
          </a:p>
        </p:txBody>
      </p:sp>
      <p:sp>
        <p:nvSpPr>
          <p:cNvPr id="5" name="Content Placeholder 4">
            <a:extLst>
              <a:ext uri="{FF2B5EF4-FFF2-40B4-BE49-F238E27FC236}">
                <a16:creationId xmlns:a16="http://schemas.microsoft.com/office/drawing/2014/main" id="{5C5089E0-4BB1-3A4A-8FFD-C049A81BAEE1}"/>
              </a:ext>
            </a:extLst>
          </p:cNvPr>
          <p:cNvSpPr>
            <a:spLocks noGrp="1"/>
          </p:cNvSpPr>
          <p:nvPr>
            <p:ph idx="1"/>
          </p:nvPr>
        </p:nvSpPr>
        <p:spPr>
          <a:xfrm>
            <a:off x="474662" y="731837"/>
            <a:ext cx="8280057" cy="3689897"/>
          </a:xfrm>
        </p:spPr>
        <p:txBody>
          <a:bodyPr/>
          <a:lstStyle/>
          <a:p>
            <a:pPr marL="342900" indent="-342900" algn="l">
              <a:buFont typeface="Arial" panose="020B0604020202020204" pitchFamily="34" charset="0"/>
              <a:buChar char="•"/>
            </a:pPr>
            <a:r>
              <a:rPr lang="en-US" sz="1600" dirty="0">
                <a:solidFill>
                  <a:srgbClr val="000000"/>
                </a:solidFill>
              </a:rPr>
              <a:t>Dynamic ever-changing traffic requires a flexible approach to network resource management. Existing network infrastructures can respond to changing requirements related to the management of traffic flows by using Quality of Service (QoS) and security level configurations for individual flows. However, in large enterprises using multivendor equipment, each time a new VM is enabled, the necessary reconfiguration can be very time-consuming.</a:t>
            </a:r>
          </a:p>
          <a:p>
            <a:pPr marL="342900" indent="-342900" algn="l">
              <a:buFont typeface="Arial" panose="020B0604020202020204" pitchFamily="34" charset="0"/>
              <a:buChar char="•"/>
            </a:pPr>
            <a:r>
              <a:rPr lang="en-US" sz="1600" b="1" dirty="0">
                <a:solidFill>
                  <a:srgbClr val="000000"/>
                </a:solidFill>
              </a:rPr>
              <a:t>The network infrastructure can also benefit from virtualization</a:t>
            </a:r>
            <a:r>
              <a:rPr lang="en-US" sz="1600" dirty="0">
                <a:solidFill>
                  <a:srgbClr val="000000"/>
                </a:solidFill>
              </a:rPr>
              <a:t>. Network functions can be virtualized. Each network device can be segmented into multiple virtual devices that operate as independent devices. Examples include </a:t>
            </a:r>
            <a:r>
              <a:rPr lang="en-US" sz="1600" dirty="0" err="1">
                <a:solidFill>
                  <a:srgbClr val="000000"/>
                </a:solidFill>
              </a:rPr>
              <a:t>subinterfaces</a:t>
            </a:r>
            <a:r>
              <a:rPr lang="en-US" sz="1600" dirty="0">
                <a:solidFill>
                  <a:srgbClr val="000000"/>
                </a:solidFill>
              </a:rPr>
              <a:t>, virtual interfaces, VLANs, and routing tables. </a:t>
            </a:r>
          </a:p>
          <a:p>
            <a:pPr marL="342900" indent="-342900" algn="l">
              <a:buFont typeface="Arial" panose="020B0604020202020204" pitchFamily="34" charset="0"/>
              <a:buChar char="•"/>
            </a:pPr>
            <a:r>
              <a:rPr lang="en-US" sz="1600" dirty="0">
                <a:solidFill>
                  <a:srgbClr val="000000"/>
                </a:solidFill>
              </a:rPr>
              <a:t>Virtualized routing is called virtual routing and forwarding (VRF).</a:t>
            </a:r>
          </a:p>
          <a:p>
            <a:pPr marL="0" indent="0" algn="l"/>
            <a:br>
              <a:rPr lang="en-US" sz="1600" dirty="0">
                <a:solidFill>
                  <a:srgbClr val="000000"/>
                </a:solidFill>
              </a:rPr>
            </a:br>
            <a:endParaRPr lang="en-US" sz="1600" dirty="0">
              <a:solidFill>
                <a:srgbClr val="000000"/>
              </a:solidFill>
            </a:endParaRPr>
          </a:p>
          <a:p>
            <a:pPr marL="342900" indent="-342900" algn="l">
              <a:buFont typeface="Arial" panose="020B0604020202020204" pitchFamily="34" charset="0"/>
              <a:buChar char="•"/>
            </a:pPr>
            <a:endParaRPr lang="en-US" sz="1600" dirty="0">
              <a:solidFill>
                <a:srgbClr val="000000"/>
              </a:solidFill>
            </a:endParaRPr>
          </a:p>
        </p:txBody>
      </p:sp>
    </p:spTree>
    <p:custDataLst>
      <p:tags r:id="rId1"/>
    </p:custDataLst>
    <p:extLst>
      <p:ext uri="{BB962C8B-B14F-4D97-AF65-F5344CB8AC3E}">
        <p14:creationId xmlns:p14="http://schemas.microsoft.com/office/powerpoint/2010/main" val="1026895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226916"/>
            <a:ext cx="7848344" cy="1490884"/>
          </a:xfrm>
        </p:spPr>
        <p:txBody>
          <a:bodyPr/>
          <a:lstStyle/>
          <a:p>
            <a:r>
              <a:rPr lang="en-US" dirty="0">
                <a:solidFill>
                  <a:schemeClr val="accent5">
                    <a:lumMod val="40000"/>
                    <a:lumOff val="60000"/>
                  </a:schemeClr>
                </a:solidFill>
              </a:rPr>
              <a:t>13.4 Software-Defined Networking</a:t>
            </a:r>
          </a:p>
        </p:txBody>
      </p:sp>
    </p:spTree>
    <p:custDataLst>
      <p:tags r:id="rId1"/>
    </p:custDataLst>
    <p:extLst>
      <p:ext uri="{BB962C8B-B14F-4D97-AF65-F5344CB8AC3E}">
        <p14:creationId xmlns:p14="http://schemas.microsoft.com/office/powerpoint/2010/main" val="2518598079"/>
      </p:ext>
    </p:extLst>
  </p:cSld>
  <p:clrMapOvr>
    <a:masterClrMapping/>
  </p:clrMapOvr>
  <p:transition spd="slow">
    <p:wip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Software-Defined Networking</a:t>
            </a:r>
            <a:br>
              <a:rPr lang="en-US" dirty="0"/>
            </a:br>
            <a:r>
              <a:rPr lang="en-US" sz="2400" dirty="0"/>
              <a:t>Control Plane and Data Plane</a:t>
            </a:r>
          </a:p>
        </p:txBody>
      </p:sp>
      <p:sp>
        <p:nvSpPr>
          <p:cNvPr id="4" name="Content Placeholder 3">
            <a:extLst>
              <a:ext uri="{FF2B5EF4-FFF2-40B4-BE49-F238E27FC236}">
                <a16:creationId xmlns:a16="http://schemas.microsoft.com/office/drawing/2014/main" id="{AF7AA0B3-BF2E-0943-8BF7-26E9A4E8670D}"/>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A network device contains the following planes:</a:t>
            </a:r>
          </a:p>
          <a:p>
            <a:pPr marL="342900" indent="-342900" algn="l">
              <a:buFont typeface="Arial" panose="020B0604020202020204" pitchFamily="34" charset="0"/>
              <a:buChar char="•"/>
            </a:pPr>
            <a:r>
              <a:rPr lang="en-US" sz="1600" b="1" dirty="0">
                <a:solidFill>
                  <a:srgbClr val="000000"/>
                </a:solidFill>
              </a:rPr>
              <a:t>Control plane</a:t>
            </a:r>
            <a:r>
              <a:rPr lang="en-US" sz="1600" dirty="0">
                <a:solidFill>
                  <a:srgbClr val="000000"/>
                </a:solidFill>
              </a:rPr>
              <a:t> - This is typically regarded as the brains of a device. It is used to make forwarding decisions. The control plane contains Layer 2 and Layer 3 route forwarding mechanisms, such as routing protocol neighbor tables and topology tables, IPv4 and IPv6 routing tables, STP, and the ARP table. Information sent to the control plane is processed by the CPU.</a:t>
            </a:r>
          </a:p>
          <a:p>
            <a:pPr marL="342900" indent="-342900" algn="l">
              <a:buFont typeface="Arial" panose="020B0604020202020204" pitchFamily="34" charset="0"/>
              <a:buChar char="•"/>
            </a:pPr>
            <a:r>
              <a:rPr lang="en-US" sz="1600" b="1" dirty="0">
                <a:solidFill>
                  <a:srgbClr val="000000"/>
                </a:solidFill>
              </a:rPr>
              <a:t>Data plane</a:t>
            </a:r>
            <a:r>
              <a:rPr lang="en-US" sz="1600" dirty="0">
                <a:solidFill>
                  <a:srgbClr val="000000"/>
                </a:solidFill>
              </a:rPr>
              <a:t> - Also called the forwarding plane, this plane is typically the switch fabric connecting the various network ports on a device. The data plane of each device is used to forward traffic flows. Routers and switches use information from the control plane to forward incoming traffic out the appropriate egress interface. Information in the data plane is typically processed by a special data plane processor without the CPU getting involved.</a:t>
            </a:r>
          </a:p>
          <a:p>
            <a:pPr marL="0" indent="0" algn="l"/>
            <a:endParaRPr lang="en-US" sz="1600" dirty="0">
              <a:solidFill>
                <a:srgbClr val="000000"/>
              </a:solidFill>
            </a:endParaRPr>
          </a:p>
        </p:txBody>
      </p:sp>
    </p:spTree>
    <p:custDataLst>
      <p:tags r:id="rId1"/>
    </p:custDataLst>
    <p:extLst>
      <p:ext uri="{BB962C8B-B14F-4D97-AF65-F5344CB8AC3E}">
        <p14:creationId xmlns:p14="http://schemas.microsoft.com/office/powerpoint/2010/main" val="27934249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Software-Defined Networking</a:t>
            </a:r>
            <a:br>
              <a:rPr lang="en-US" dirty="0"/>
            </a:br>
            <a:r>
              <a:rPr lang="en-US" sz="2400" dirty="0"/>
              <a:t>Control Plane and Data Plane (Cont.)</a:t>
            </a:r>
          </a:p>
        </p:txBody>
      </p:sp>
      <p:sp>
        <p:nvSpPr>
          <p:cNvPr id="5" name="Content Placeholder 4">
            <a:extLst>
              <a:ext uri="{FF2B5EF4-FFF2-40B4-BE49-F238E27FC236}">
                <a16:creationId xmlns:a16="http://schemas.microsoft.com/office/drawing/2014/main" id="{4EFE983B-7A6A-8B49-91BE-FFDD4F5B433A}"/>
              </a:ext>
            </a:extLst>
          </p:cNvPr>
          <p:cNvSpPr>
            <a:spLocks noGrp="1"/>
          </p:cNvSpPr>
          <p:nvPr>
            <p:ph idx="1"/>
          </p:nvPr>
        </p:nvSpPr>
        <p:spPr>
          <a:xfrm>
            <a:off x="474662" y="731837"/>
            <a:ext cx="4323115" cy="3689897"/>
          </a:xfrm>
        </p:spPr>
        <p:txBody>
          <a:bodyPr/>
          <a:lstStyle/>
          <a:p>
            <a:pPr marL="342900" indent="-342900" algn="l">
              <a:buFont typeface="Arial" panose="020B0604020202020204" pitchFamily="34" charset="0"/>
              <a:buChar char="•"/>
            </a:pPr>
            <a:r>
              <a:rPr lang="en-US" sz="1600" dirty="0">
                <a:solidFill>
                  <a:srgbClr val="000000"/>
                </a:solidFill>
              </a:rPr>
              <a:t>CEF (Cisco Express Forwarding) is an advanced, Layer 3 IP switching technology that enables forwarding of packets to occur at the data plane without consulting the control plane. </a:t>
            </a:r>
          </a:p>
          <a:p>
            <a:pPr marL="342900" indent="-342900" algn="l">
              <a:buFont typeface="Arial" panose="020B0604020202020204" pitchFamily="34" charset="0"/>
              <a:buChar char="•"/>
            </a:pPr>
            <a:r>
              <a:rPr lang="en-US" sz="1600" dirty="0">
                <a:solidFill>
                  <a:srgbClr val="000000"/>
                </a:solidFill>
              </a:rPr>
              <a:t>SDN is basically the separation of the control plane and data plane. The control plane function is removed from each device and is performed by a centralized controller. The centralized controller communicates control plane functions to each device. Each device can now focus on forwarding data while the centralized controller manages data flow, increases security, and provides other services.</a:t>
            </a:r>
          </a:p>
        </p:txBody>
      </p:sp>
      <p:pic>
        <p:nvPicPr>
          <p:cNvPr id="7" name="Picture 6">
            <a:extLst>
              <a:ext uri="{FF2B5EF4-FFF2-40B4-BE49-F238E27FC236}">
                <a16:creationId xmlns:a16="http://schemas.microsoft.com/office/drawing/2014/main" id="{9779A321-0EF7-0545-BFF4-A662DA4C9556}"/>
              </a:ext>
            </a:extLst>
          </p:cNvPr>
          <p:cNvPicPr>
            <a:picLocks noChangeAspect="1"/>
          </p:cNvPicPr>
          <p:nvPr/>
        </p:nvPicPr>
        <p:blipFill>
          <a:blip r:embed="rId4"/>
          <a:stretch>
            <a:fillRect/>
          </a:stretch>
        </p:blipFill>
        <p:spPr>
          <a:xfrm>
            <a:off x="4797777" y="1021645"/>
            <a:ext cx="3871560" cy="3400089"/>
          </a:xfrm>
          <a:prstGeom prst="rect">
            <a:avLst/>
          </a:prstGeom>
        </p:spPr>
      </p:pic>
    </p:spTree>
    <p:custDataLst>
      <p:tags r:id="rId1"/>
    </p:custDataLst>
    <p:extLst>
      <p:ext uri="{BB962C8B-B14F-4D97-AF65-F5344CB8AC3E}">
        <p14:creationId xmlns:p14="http://schemas.microsoft.com/office/powerpoint/2010/main" val="1934254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Software-Defined Networking</a:t>
            </a:r>
            <a:br>
              <a:rPr lang="en-US" dirty="0"/>
            </a:br>
            <a:r>
              <a:rPr lang="en-US" sz="2400" dirty="0"/>
              <a:t>Control Plane and Data Plane (Cont.)</a:t>
            </a:r>
          </a:p>
        </p:txBody>
      </p:sp>
      <p:sp>
        <p:nvSpPr>
          <p:cNvPr id="4" name="Content Placeholder 3">
            <a:extLst>
              <a:ext uri="{FF2B5EF4-FFF2-40B4-BE49-F238E27FC236}">
                <a16:creationId xmlns:a16="http://schemas.microsoft.com/office/drawing/2014/main" id="{5FBECDCD-67C6-EB47-891B-E542ADBF41D8}"/>
              </a:ext>
            </a:extLst>
          </p:cNvPr>
          <p:cNvSpPr>
            <a:spLocks noGrp="1"/>
          </p:cNvSpPr>
          <p:nvPr>
            <p:ph idx="1"/>
          </p:nvPr>
        </p:nvSpPr>
        <p:spPr>
          <a:xfrm>
            <a:off x="474662" y="731837"/>
            <a:ext cx="8280057" cy="3689897"/>
          </a:xfrm>
        </p:spPr>
        <p:txBody>
          <a:bodyPr/>
          <a:lstStyle/>
          <a:p>
            <a:pPr marL="285750" indent="-285750" algn="l">
              <a:buFont typeface="Arial" panose="020B0604020202020204" pitchFamily="34" charset="0"/>
              <a:buChar char="•"/>
            </a:pPr>
            <a:r>
              <a:rPr lang="en-US" sz="1600" dirty="0">
                <a:solidFill>
                  <a:srgbClr val="000000"/>
                </a:solidFill>
              </a:rPr>
              <a:t>The </a:t>
            </a:r>
            <a:r>
              <a:rPr lang="en-US" sz="1600" b="1" dirty="0">
                <a:solidFill>
                  <a:srgbClr val="000000"/>
                </a:solidFill>
              </a:rPr>
              <a:t>management plane </a:t>
            </a:r>
            <a:r>
              <a:rPr lang="en-US" sz="1600" dirty="0">
                <a:solidFill>
                  <a:srgbClr val="000000"/>
                </a:solidFill>
              </a:rPr>
              <a:t>is responsible for managing a device through its connection to the network. </a:t>
            </a:r>
          </a:p>
          <a:p>
            <a:pPr marL="285750" indent="-285750" algn="l">
              <a:buFont typeface="Arial" panose="020B0604020202020204" pitchFamily="34" charset="0"/>
              <a:buChar char="•"/>
            </a:pPr>
            <a:r>
              <a:rPr lang="en-US" sz="1600" dirty="0">
                <a:solidFill>
                  <a:srgbClr val="000000"/>
                </a:solidFill>
              </a:rPr>
              <a:t>Network administrators use applications such as Secure Shell (SSH), Trivial File Transfer Protocol (TFTP), Secure FTP, and Secure Hypertext Transfer Protocol (HTTPS) to access the management plane and configure a device. </a:t>
            </a:r>
          </a:p>
          <a:p>
            <a:pPr marL="285750" indent="-285750" algn="l">
              <a:buFont typeface="Arial" panose="020B0604020202020204" pitchFamily="34" charset="0"/>
              <a:buChar char="•"/>
            </a:pPr>
            <a:r>
              <a:rPr lang="en-US" sz="1600" dirty="0">
                <a:solidFill>
                  <a:srgbClr val="000000"/>
                </a:solidFill>
              </a:rPr>
              <a:t>The management plane is how you have accessed and configured devices in your networking studies. In addition, protocols like Simple Network Management Protocol (SNMP), use the management plane.</a:t>
            </a:r>
          </a:p>
          <a:p>
            <a:pPr marL="342900" indent="-342900" algn="l">
              <a:buFont typeface="Arial" panose="020B0604020202020204" pitchFamily="34" charset="0"/>
              <a:buChar char="•"/>
            </a:pPr>
            <a:endParaRPr lang="en-US" sz="1600" dirty="0">
              <a:solidFill>
                <a:srgbClr val="000000"/>
              </a:solidFill>
            </a:endParaRPr>
          </a:p>
        </p:txBody>
      </p:sp>
    </p:spTree>
    <p:custDataLst>
      <p:tags r:id="rId1"/>
    </p:custDataLst>
    <p:extLst>
      <p:ext uri="{BB962C8B-B14F-4D97-AF65-F5344CB8AC3E}">
        <p14:creationId xmlns:p14="http://schemas.microsoft.com/office/powerpoint/2010/main" val="18438720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Software-Defined Networking</a:t>
            </a:r>
            <a:br>
              <a:rPr lang="en-US" dirty="0"/>
            </a:br>
            <a:r>
              <a:rPr lang="en-US" sz="2400" dirty="0"/>
              <a:t>Network Virtualization Technologies</a:t>
            </a:r>
          </a:p>
        </p:txBody>
      </p:sp>
      <p:sp>
        <p:nvSpPr>
          <p:cNvPr id="5" name="Content Placeholder 4">
            <a:extLst>
              <a:ext uri="{FF2B5EF4-FFF2-40B4-BE49-F238E27FC236}">
                <a16:creationId xmlns:a16="http://schemas.microsoft.com/office/drawing/2014/main" id="{8D3751CD-2C7C-3F42-9743-9D1F6A9655ED}"/>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Two major network architectures have been developed to support network virtualization:</a:t>
            </a:r>
          </a:p>
          <a:p>
            <a:pPr marL="285750" indent="-285750" algn="l">
              <a:buFont typeface="Arial" panose="020B0604020202020204" pitchFamily="34" charset="0"/>
              <a:buChar char="•"/>
            </a:pPr>
            <a:r>
              <a:rPr lang="en-US" sz="1600" b="1" dirty="0">
                <a:solidFill>
                  <a:srgbClr val="000000"/>
                </a:solidFill>
              </a:rPr>
              <a:t>Software-Defined Networking (SDN)</a:t>
            </a:r>
            <a:r>
              <a:rPr lang="en-US" sz="1600" dirty="0">
                <a:solidFill>
                  <a:srgbClr val="000000"/>
                </a:solidFill>
              </a:rPr>
              <a:t> - A network architecture that virtualizes the network, offering a new approach to network administration and management that seeks to simplify and streamline the administration process.</a:t>
            </a:r>
          </a:p>
          <a:p>
            <a:pPr marL="285750" indent="-285750" algn="l">
              <a:buFont typeface="Arial" panose="020B0604020202020204" pitchFamily="34" charset="0"/>
              <a:buChar char="•"/>
            </a:pPr>
            <a:r>
              <a:rPr lang="en-US" sz="1600" b="1" dirty="0">
                <a:solidFill>
                  <a:srgbClr val="000000"/>
                </a:solidFill>
              </a:rPr>
              <a:t>Cisco Application Centric Infrastructure (ACI)</a:t>
            </a:r>
            <a:r>
              <a:rPr lang="en-US" sz="1600" dirty="0">
                <a:solidFill>
                  <a:srgbClr val="000000"/>
                </a:solidFill>
              </a:rPr>
              <a:t> - A purpose-built hardware solution for integrating cloud computing and data center management.</a:t>
            </a:r>
          </a:p>
          <a:p>
            <a:pPr marL="0" indent="0" algn="l"/>
            <a:endParaRPr lang="en-US" sz="1400" dirty="0">
              <a:solidFill>
                <a:srgbClr val="000000"/>
              </a:solidFill>
            </a:endParaRPr>
          </a:p>
        </p:txBody>
      </p:sp>
    </p:spTree>
    <p:custDataLst>
      <p:tags r:id="rId1"/>
    </p:custDataLst>
    <p:extLst>
      <p:ext uri="{BB962C8B-B14F-4D97-AF65-F5344CB8AC3E}">
        <p14:creationId xmlns:p14="http://schemas.microsoft.com/office/powerpoint/2010/main" val="34805455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Software-Defined Networking</a:t>
            </a:r>
            <a:br>
              <a:rPr lang="en-US" dirty="0"/>
            </a:br>
            <a:r>
              <a:rPr lang="en-US" sz="2400" dirty="0"/>
              <a:t>Network Virtualization Technologies (Cont.)</a:t>
            </a:r>
          </a:p>
        </p:txBody>
      </p:sp>
      <p:sp>
        <p:nvSpPr>
          <p:cNvPr id="5" name="Content Placeholder 4">
            <a:extLst>
              <a:ext uri="{FF2B5EF4-FFF2-40B4-BE49-F238E27FC236}">
                <a16:creationId xmlns:a16="http://schemas.microsoft.com/office/drawing/2014/main" id="{8D3751CD-2C7C-3F42-9743-9D1F6A9655ED}"/>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Components of SDN may include the following:</a:t>
            </a:r>
          </a:p>
          <a:p>
            <a:pPr marL="285750" indent="-285750" algn="l">
              <a:buFont typeface="Arial" panose="020B0604020202020204" pitchFamily="34" charset="0"/>
              <a:buChar char="•"/>
            </a:pPr>
            <a:r>
              <a:rPr lang="en-US" sz="1600" b="1" dirty="0">
                <a:solidFill>
                  <a:srgbClr val="000000"/>
                </a:solidFill>
              </a:rPr>
              <a:t>OpenFlow</a:t>
            </a:r>
            <a:r>
              <a:rPr lang="en-US" sz="1600" dirty="0">
                <a:solidFill>
                  <a:srgbClr val="000000"/>
                </a:solidFill>
              </a:rPr>
              <a:t> - This approach was developed at Stanford University to manage traffic between routers, switches, wireless access points, and a controller. The OpenFlow protocol is a </a:t>
            </a:r>
            <a:r>
              <a:rPr lang="en-US" sz="1600" u="sng" dirty="0">
                <a:solidFill>
                  <a:srgbClr val="000000"/>
                </a:solidFill>
              </a:rPr>
              <a:t>basic element in building SDN solutions</a:t>
            </a:r>
            <a:r>
              <a:rPr lang="en-US" sz="1600" dirty="0">
                <a:solidFill>
                  <a:srgbClr val="000000"/>
                </a:solidFill>
              </a:rPr>
              <a:t>. </a:t>
            </a:r>
          </a:p>
          <a:p>
            <a:pPr marL="358775" lvl="2" indent="-285750" defTabSz="457105" fontAlgn="auto">
              <a:lnSpc>
                <a:spcPct val="100000"/>
              </a:lnSpc>
              <a:spcBef>
                <a:spcPct val="20000"/>
              </a:spcBef>
              <a:spcAft>
                <a:spcPts val="0"/>
              </a:spcAft>
              <a:buFont typeface="Arial" panose="020B0604020202020204" pitchFamily="34" charset="0"/>
              <a:buChar char="•"/>
            </a:pPr>
            <a:r>
              <a:rPr lang="sk-SK" sz="900" dirty="0" err="1">
                <a:solidFill>
                  <a:srgbClr val="000000"/>
                </a:solidFill>
              </a:rPr>
              <a:t>OpenFlow</a:t>
            </a:r>
            <a:r>
              <a:rPr lang="sk-SK" sz="900" dirty="0">
                <a:solidFill>
                  <a:srgbClr val="000000"/>
                </a:solidFill>
              </a:rPr>
              <a:t> je komunikačný protokol používaný v kontexte SDN. Jeho hlavnou úlohou je umožniť centrálnemu </a:t>
            </a:r>
            <a:r>
              <a:rPr lang="sk-SK" sz="900" dirty="0" err="1">
                <a:solidFill>
                  <a:srgbClr val="000000"/>
                </a:solidFill>
              </a:rPr>
              <a:t>kontroléru</a:t>
            </a:r>
            <a:r>
              <a:rPr lang="sk-SK" sz="900" dirty="0">
                <a:solidFill>
                  <a:srgbClr val="000000"/>
                </a:solidFill>
              </a:rPr>
              <a:t> SDN priamo riadiť správanie sieťových zariadení, ako sú prepínače a smerovače.</a:t>
            </a:r>
            <a:endParaRPr lang="en-US" sz="900" dirty="0">
              <a:solidFill>
                <a:srgbClr val="000000"/>
              </a:solidFill>
            </a:endParaRPr>
          </a:p>
          <a:p>
            <a:pPr marL="285750" indent="-285750" algn="l">
              <a:buFont typeface="Arial" panose="020B0604020202020204" pitchFamily="34" charset="0"/>
              <a:buChar char="•"/>
            </a:pPr>
            <a:r>
              <a:rPr lang="en-US" sz="1600" b="1" dirty="0">
                <a:solidFill>
                  <a:srgbClr val="000000"/>
                </a:solidFill>
              </a:rPr>
              <a:t>OpenStack</a:t>
            </a:r>
            <a:r>
              <a:rPr lang="en-US" sz="1600" dirty="0">
                <a:solidFill>
                  <a:srgbClr val="000000"/>
                </a:solidFill>
              </a:rPr>
              <a:t> - This approach is a virtualization and orchestration platform designed to build scalable cloud environments and provide an IaaS solution. </a:t>
            </a:r>
            <a:r>
              <a:rPr lang="en-US" sz="1600" u="sng" dirty="0">
                <a:solidFill>
                  <a:srgbClr val="000000"/>
                </a:solidFill>
              </a:rPr>
              <a:t>OpenStack is often used with Cisco ACI</a:t>
            </a:r>
            <a:r>
              <a:rPr lang="en-US" sz="1600" dirty="0">
                <a:solidFill>
                  <a:srgbClr val="000000"/>
                </a:solidFill>
              </a:rPr>
              <a:t>. Orchestration in networking is the process of automating the provisioning of network components such as servers, storage, switches, routers, and applications.</a:t>
            </a:r>
          </a:p>
          <a:p>
            <a:pPr marL="358835" lvl="1" indent="-285750">
              <a:buFont typeface="Arial" panose="020B0604020202020204" pitchFamily="34" charset="0"/>
              <a:buChar char="•"/>
            </a:pPr>
            <a:r>
              <a:rPr lang="en-US" sz="900" dirty="0">
                <a:solidFill>
                  <a:srgbClr val="000000"/>
                </a:solidFill>
              </a:rPr>
              <a:t>OpenStack </a:t>
            </a:r>
            <a:r>
              <a:rPr lang="en-US" sz="900" dirty="0" err="1">
                <a:solidFill>
                  <a:srgbClr val="000000"/>
                </a:solidFill>
              </a:rPr>
              <a:t>definovaný</a:t>
            </a:r>
            <a:r>
              <a:rPr lang="en-US" sz="900" dirty="0">
                <a:solidFill>
                  <a:srgbClr val="000000"/>
                </a:solidFill>
              </a:rPr>
              <a:t> </a:t>
            </a:r>
            <a:r>
              <a:rPr lang="en-US" sz="900" dirty="0" err="1">
                <a:solidFill>
                  <a:srgbClr val="000000"/>
                </a:solidFill>
              </a:rPr>
              <a:t>ako</a:t>
            </a:r>
            <a:r>
              <a:rPr lang="en-US" sz="900" dirty="0">
                <a:solidFill>
                  <a:srgbClr val="000000"/>
                </a:solidFill>
              </a:rPr>
              <a:t> </a:t>
            </a:r>
            <a:r>
              <a:rPr lang="en-US" sz="900" dirty="0" err="1">
                <a:solidFill>
                  <a:srgbClr val="000000"/>
                </a:solidFill>
              </a:rPr>
              <a:t>platforma</a:t>
            </a:r>
            <a:r>
              <a:rPr lang="en-US" sz="900" dirty="0">
                <a:solidFill>
                  <a:srgbClr val="000000"/>
                </a:solidFill>
              </a:rPr>
              <a:t> pre </a:t>
            </a:r>
            <a:r>
              <a:rPr lang="en-US" sz="900" dirty="0" err="1">
                <a:solidFill>
                  <a:srgbClr val="000000"/>
                </a:solidFill>
              </a:rPr>
              <a:t>správu</a:t>
            </a:r>
            <a:r>
              <a:rPr lang="en-US" sz="900" dirty="0">
                <a:solidFill>
                  <a:srgbClr val="000000"/>
                </a:solidFill>
              </a:rPr>
              <a:t> </a:t>
            </a:r>
            <a:r>
              <a:rPr lang="en-US" sz="900" dirty="0" err="1">
                <a:solidFill>
                  <a:srgbClr val="000000"/>
                </a:solidFill>
              </a:rPr>
              <a:t>cloudovej</a:t>
            </a:r>
            <a:r>
              <a:rPr lang="en-US" sz="900" dirty="0">
                <a:solidFill>
                  <a:srgbClr val="000000"/>
                </a:solidFill>
              </a:rPr>
              <a:t> </a:t>
            </a:r>
            <a:r>
              <a:rPr lang="en-US" sz="900" dirty="0" err="1">
                <a:solidFill>
                  <a:srgbClr val="000000"/>
                </a:solidFill>
              </a:rPr>
              <a:t>infraštruktúry</a:t>
            </a:r>
            <a:r>
              <a:rPr lang="en-US" sz="900" dirty="0">
                <a:solidFill>
                  <a:srgbClr val="000000"/>
                </a:solidFill>
              </a:rPr>
              <a:t>, </a:t>
            </a:r>
            <a:r>
              <a:rPr lang="en-US" sz="900" dirty="0" err="1">
                <a:solidFill>
                  <a:srgbClr val="000000"/>
                </a:solidFill>
              </a:rPr>
              <a:t>ktorá</a:t>
            </a:r>
            <a:r>
              <a:rPr lang="en-US" sz="900" dirty="0">
                <a:solidFill>
                  <a:srgbClr val="000000"/>
                </a:solidFill>
              </a:rPr>
              <a:t> </a:t>
            </a:r>
            <a:r>
              <a:rPr lang="en-US" sz="900" dirty="0" err="1">
                <a:solidFill>
                  <a:srgbClr val="000000"/>
                </a:solidFill>
              </a:rPr>
              <a:t>môže</a:t>
            </a:r>
            <a:r>
              <a:rPr lang="en-US" sz="900" dirty="0">
                <a:solidFill>
                  <a:srgbClr val="000000"/>
                </a:solidFill>
              </a:rPr>
              <a:t> </a:t>
            </a:r>
            <a:r>
              <a:rPr lang="en-US" sz="900" dirty="0" err="1">
                <a:solidFill>
                  <a:srgbClr val="000000"/>
                </a:solidFill>
              </a:rPr>
              <a:t>úzko</a:t>
            </a:r>
            <a:r>
              <a:rPr lang="en-US" sz="900" dirty="0">
                <a:solidFill>
                  <a:srgbClr val="000000"/>
                </a:solidFill>
              </a:rPr>
              <a:t> </a:t>
            </a:r>
            <a:r>
              <a:rPr lang="en-US" sz="900" dirty="0" err="1">
                <a:solidFill>
                  <a:srgbClr val="000000"/>
                </a:solidFill>
              </a:rPr>
              <a:t>spolupracovať</a:t>
            </a:r>
            <a:r>
              <a:rPr lang="en-US" sz="900" dirty="0">
                <a:solidFill>
                  <a:srgbClr val="000000"/>
                </a:solidFill>
              </a:rPr>
              <a:t> so SDN </a:t>
            </a:r>
            <a:r>
              <a:rPr lang="en-US" sz="900" dirty="0" err="1">
                <a:solidFill>
                  <a:srgbClr val="000000"/>
                </a:solidFill>
              </a:rPr>
              <a:t>technológiami</a:t>
            </a:r>
            <a:r>
              <a:rPr lang="en-US" sz="900" dirty="0">
                <a:solidFill>
                  <a:srgbClr val="000000"/>
                </a:solidFill>
              </a:rPr>
              <a:t> (</a:t>
            </a:r>
            <a:r>
              <a:rPr lang="en-US" sz="900" dirty="0" err="1">
                <a:solidFill>
                  <a:srgbClr val="000000"/>
                </a:solidFill>
              </a:rPr>
              <a:t>napr</a:t>
            </a:r>
            <a:r>
              <a:rPr lang="en-US" sz="900" dirty="0">
                <a:solidFill>
                  <a:srgbClr val="000000"/>
                </a:solidFill>
              </a:rPr>
              <a:t>. OpenFlow) </a:t>
            </a:r>
            <a:r>
              <a:rPr lang="en-US" sz="900" dirty="0" err="1">
                <a:solidFill>
                  <a:srgbClr val="000000"/>
                </a:solidFill>
              </a:rPr>
              <a:t>na</a:t>
            </a:r>
            <a:r>
              <a:rPr lang="en-US" sz="900" dirty="0">
                <a:solidFill>
                  <a:srgbClr val="000000"/>
                </a:solidFill>
              </a:rPr>
              <a:t> </a:t>
            </a:r>
            <a:r>
              <a:rPr lang="en-US" sz="900" dirty="0" err="1">
                <a:solidFill>
                  <a:srgbClr val="000000"/>
                </a:solidFill>
              </a:rPr>
              <a:t>riadenie</a:t>
            </a:r>
            <a:r>
              <a:rPr lang="en-US" sz="900" dirty="0">
                <a:solidFill>
                  <a:srgbClr val="000000"/>
                </a:solidFill>
              </a:rPr>
              <a:t> </a:t>
            </a:r>
            <a:r>
              <a:rPr lang="en-US" sz="900" dirty="0" err="1">
                <a:solidFill>
                  <a:srgbClr val="000000"/>
                </a:solidFill>
              </a:rPr>
              <a:t>sieťovej</a:t>
            </a:r>
            <a:r>
              <a:rPr lang="en-US" sz="900" dirty="0">
                <a:solidFill>
                  <a:srgbClr val="000000"/>
                </a:solidFill>
              </a:rPr>
              <a:t> </a:t>
            </a:r>
            <a:r>
              <a:rPr lang="en-US" sz="900" dirty="0" err="1">
                <a:solidFill>
                  <a:srgbClr val="000000"/>
                </a:solidFill>
              </a:rPr>
              <a:t>konektivity</a:t>
            </a:r>
            <a:r>
              <a:rPr lang="en-US" sz="900" dirty="0">
                <a:solidFill>
                  <a:srgbClr val="000000"/>
                </a:solidFill>
              </a:rPr>
              <a:t> </a:t>
            </a:r>
            <a:r>
              <a:rPr lang="en-US" sz="900" dirty="0" err="1">
                <a:solidFill>
                  <a:srgbClr val="000000"/>
                </a:solidFill>
              </a:rPr>
              <a:t>medzi</a:t>
            </a:r>
            <a:r>
              <a:rPr lang="en-US" sz="900" dirty="0">
                <a:solidFill>
                  <a:srgbClr val="000000"/>
                </a:solidFill>
              </a:rPr>
              <a:t> </a:t>
            </a:r>
            <a:r>
              <a:rPr lang="en-US" sz="900" dirty="0" err="1">
                <a:solidFill>
                  <a:srgbClr val="000000"/>
                </a:solidFill>
              </a:rPr>
              <a:t>virtuálnymi</a:t>
            </a:r>
            <a:r>
              <a:rPr lang="en-US" sz="900" dirty="0">
                <a:solidFill>
                  <a:srgbClr val="000000"/>
                </a:solidFill>
              </a:rPr>
              <a:t> </a:t>
            </a:r>
            <a:r>
              <a:rPr lang="en-US" sz="900" dirty="0" err="1">
                <a:solidFill>
                  <a:srgbClr val="000000"/>
                </a:solidFill>
              </a:rPr>
              <a:t>strojmi</a:t>
            </a:r>
            <a:r>
              <a:rPr lang="en-US" sz="900" dirty="0">
                <a:solidFill>
                  <a:srgbClr val="000000"/>
                </a:solidFill>
              </a:rPr>
              <a:t> a </a:t>
            </a:r>
            <a:r>
              <a:rPr lang="en-US" sz="900" dirty="0" err="1">
                <a:solidFill>
                  <a:srgbClr val="000000"/>
                </a:solidFill>
              </a:rPr>
              <a:t>službami</a:t>
            </a:r>
            <a:r>
              <a:rPr lang="en-US" sz="900" dirty="0">
                <a:solidFill>
                  <a:srgbClr val="000000"/>
                </a:solidFill>
              </a:rPr>
              <a:t>.</a:t>
            </a:r>
          </a:p>
          <a:p>
            <a:pPr marL="285750" indent="-285750" algn="l">
              <a:buFont typeface="Arial" panose="020B0604020202020204" pitchFamily="34" charset="0"/>
              <a:buChar char="•"/>
            </a:pPr>
            <a:r>
              <a:rPr lang="en-US" sz="1600" b="1" dirty="0">
                <a:solidFill>
                  <a:srgbClr val="000000"/>
                </a:solidFill>
              </a:rPr>
              <a:t>Other components</a:t>
            </a:r>
            <a:r>
              <a:rPr lang="en-US" sz="1600" dirty="0">
                <a:solidFill>
                  <a:srgbClr val="000000"/>
                </a:solidFill>
              </a:rPr>
              <a:t> - Other components include Interface to the Routing System (I2RS), Transparent Interconnection of Lots of Links (TRILL), Cisco </a:t>
            </a:r>
            <a:r>
              <a:rPr lang="en-US" sz="1600" dirty="0" err="1">
                <a:solidFill>
                  <a:srgbClr val="000000"/>
                </a:solidFill>
              </a:rPr>
              <a:t>FabricPath</a:t>
            </a:r>
            <a:r>
              <a:rPr lang="en-US" sz="1600" dirty="0">
                <a:solidFill>
                  <a:srgbClr val="000000"/>
                </a:solidFill>
              </a:rPr>
              <a:t> (FP), and IEEE 802.1aq Shortest Path Bridging (SPB).</a:t>
            </a:r>
          </a:p>
          <a:p>
            <a:pPr marL="0" indent="0" algn="l"/>
            <a:endParaRPr lang="en-US" sz="1600" dirty="0">
              <a:solidFill>
                <a:srgbClr val="000000"/>
              </a:solidFill>
            </a:endParaRPr>
          </a:p>
        </p:txBody>
      </p:sp>
    </p:spTree>
    <p:custDataLst>
      <p:tags r:id="rId1"/>
    </p:custDataLst>
    <p:extLst>
      <p:ext uri="{BB962C8B-B14F-4D97-AF65-F5344CB8AC3E}">
        <p14:creationId xmlns:p14="http://schemas.microsoft.com/office/powerpoint/2010/main" val="15869993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Software-Defined Networking</a:t>
            </a:r>
            <a:br>
              <a:rPr lang="en-US" dirty="0"/>
            </a:br>
            <a:r>
              <a:rPr lang="en-US" sz="2400" dirty="0"/>
              <a:t>Traditional and SDN Architectures</a:t>
            </a:r>
          </a:p>
        </p:txBody>
      </p:sp>
      <p:sp>
        <p:nvSpPr>
          <p:cNvPr id="4" name="Content Placeholder 3">
            <a:extLst>
              <a:ext uri="{FF2B5EF4-FFF2-40B4-BE49-F238E27FC236}">
                <a16:creationId xmlns:a16="http://schemas.microsoft.com/office/drawing/2014/main" id="{0C1F2BBA-BB71-1F47-8CEE-B1210C9643A7}"/>
              </a:ext>
            </a:extLst>
          </p:cNvPr>
          <p:cNvSpPr>
            <a:spLocks noGrp="1"/>
          </p:cNvSpPr>
          <p:nvPr>
            <p:ph idx="1"/>
          </p:nvPr>
        </p:nvSpPr>
        <p:spPr>
          <a:xfrm>
            <a:off x="474662" y="731838"/>
            <a:ext cx="8280057" cy="1050664"/>
          </a:xfrm>
        </p:spPr>
        <p:txBody>
          <a:bodyPr/>
          <a:lstStyle/>
          <a:p>
            <a:pPr marL="0" indent="0" algn="l"/>
            <a:r>
              <a:rPr lang="en-US" sz="1600" dirty="0">
                <a:solidFill>
                  <a:srgbClr val="000000"/>
                </a:solidFill>
              </a:rPr>
              <a:t>In a traditional router or switch architecture, the control plane and data plane functions occur in the same device. Routing decisions and packet forwarding are the responsibility of the device operating system. In SDN, management of the control plane is moved to a centralized SDN controller. The figure compares traditional and SDN architectures.</a:t>
            </a:r>
          </a:p>
        </p:txBody>
      </p:sp>
      <p:pic>
        <p:nvPicPr>
          <p:cNvPr id="7" name="Picture 6">
            <a:extLst>
              <a:ext uri="{FF2B5EF4-FFF2-40B4-BE49-F238E27FC236}">
                <a16:creationId xmlns:a16="http://schemas.microsoft.com/office/drawing/2014/main" id="{33C6814C-9D24-4C45-B00F-5EEBE60455BE}"/>
              </a:ext>
            </a:extLst>
          </p:cNvPr>
          <p:cNvPicPr>
            <a:picLocks noChangeAspect="1"/>
          </p:cNvPicPr>
          <p:nvPr/>
        </p:nvPicPr>
        <p:blipFill>
          <a:blip r:embed="rId4"/>
          <a:stretch>
            <a:fillRect/>
          </a:stretch>
        </p:blipFill>
        <p:spPr>
          <a:xfrm>
            <a:off x="1665815" y="1925460"/>
            <a:ext cx="5235675" cy="2691695"/>
          </a:xfrm>
          <a:prstGeom prst="rect">
            <a:avLst/>
          </a:prstGeom>
        </p:spPr>
      </p:pic>
    </p:spTree>
    <p:custDataLst>
      <p:tags r:id="rId1"/>
    </p:custDataLst>
    <p:extLst>
      <p:ext uri="{BB962C8B-B14F-4D97-AF65-F5344CB8AC3E}">
        <p14:creationId xmlns:p14="http://schemas.microsoft.com/office/powerpoint/2010/main" val="33480231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Software-Defined Networking</a:t>
            </a:r>
            <a:br>
              <a:rPr lang="en-US" dirty="0"/>
            </a:br>
            <a:r>
              <a:rPr lang="en-US" sz="2400" dirty="0"/>
              <a:t>Traditional and SDN Architectures (Cont.)</a:t>
            </a:r>
          </a:p>
        </p:txBody>
      </p:sp>
      <p:sp>
        <p:nvSpPr>
          <p:cNvPr id="5" name="Content Placeholder 4">
            <a:extLst>
              <a:ext uri="{FF2B5EF4-FFF2-40B4-BE49-F238E27FC236}">
                <a16:creationId xmlns:a16="http://schemas.microsoft.com/office/drawing/2014/main" id="{20A181C7-FABF-AA4B-89EA-764CD4024A7E}"/>
              </a:ext>
            </a:extLst>
          </p:cNvPr>
          <p:cNvSpPr>
            <a:spLocks noGrp="1"/>
          </p:cNvSpPr>
          <p:nvPr>
            <p:ph idx="1"/>
          </p:nvPr>
        </p:nvSpPr>
        <p:spPr>
          <a:xfrm>
            <a:off x="191205" y="731837"/>
            <a:ext cx="4989689" cy="3689897"/>
          </a:xfrm>
        </p:spPr>
        <p:txBody>
          <a:bodyPr/>
          <a:lstStyle/>
          <a:p>
            <a:pPr marL="342900" indent="-342900" algn="l">
              <a:buFont typeface="Arial" panose="020B0604020202020204" pitchFamily="34" charset="0"/>
              <a:buChar char="•"/>
            </a:pPr>
            <a:r>
              <a:rPr lang="en-US" sz="1400" dirty="0">
                <a:solidFill>
                  <a:srgbClr val="000000"/>
                </a:solidFill>
              </a:rPr>
              <a:t>The SDN controller is a logical entity that enables network administrators to manage and dictate how the data plane of switches and routers should handle network traffic. It orchestrates, mediates, and facilitates communication between applications and network elements.</a:t>
            </a:r>
          </a:p>
          <a:p>
            <a:pPr marL="342900" indent="-342900" algn="l">
              <a:buFont typeface="Arial" panose="020B0604020202020204" pitchFamily="34" charset="0"/>
              <a:buChar char="•"/>
            </a:pPr>
            <a:r>
              <a:rPr lang="en-US" sz="1400" dirty="0">
                <a:solidFill>
                  <a:srgbClr val="000000"/>
                </a:solidFill>
              </a:rPr>
              <a:t>The complete SDN framework is shown in the figure. Note the use of Application Programming Interfaces (APIs). An API is a standardized definition of the proper way for an application to request services from another application. </a:t>
            </a:r>
          </a:p>
          <a:p>
            <a:pPr marL="342900" indent="-342900" algn="l">
              <a:buFont typeface="Arial" panose="020B0604020202020204" pitchFamily="34" charset="0"/>
              <a:buChar char="•"/>
            </a:pPr>
            <a:r>
              <a:rPr lang="en-US" sz="1400" dirty="0">
                <a:solidFill>
                  <a:srgbClr val="000000"/>
                </a:solidFill>
              </a:rPr>
              <a:t>The SDN controller uses northbound APIs to communicate with the upstream applications, helping network administrators shape traffic and deploy services. The SDN controller uses southbound APIs to define the behavior of the data planes on downstream switches and routers. </a:t>
            </a:r>
            <a:r>
              <a:rPr lang="en-US" sz="1400" u="sng" dirty="0">
                <a:solidFill>
                  <a:srgbClr val="000000"/>
                </a:solidFill>
              </a:rPr>
              <a:t>OpenFlow is a widely implemented southbound API</a:t>
            </a:r>
            <a:r>
              <a:rPr lang="en-US" sz="1400" dirty="0">
                <a:solidFill>
                  <a:srgbClr val="000000"/>
                </a:solidFill>
              </a:rPr>
              <a:t>.</a:t>
            </a:r>
          </a:p>
        </p:txBody>
      </p:sp>
      <p:pic>
        <p:nvPicPr>
          <p:cNvPr id="8" name="Picture 7">
            <a:extLst>
              <a:ext uri="{FF2B5EF4-FFF2-40B4-BE49-F238E27FC236}">
                <a16:creationId xmlns:a16="http://schemas.microsoft.com/office/drawing/2014/main" id="{F82A6ED9-FF03-3645-ACC2-8042B150610D}"/>
              </a:ext>
            </a:extLst>
          </p:cNvPr>
          <p:cNvPicPr>
            <a:picLocks noChangeAspect="1"/>
          </p:cNvPicPr>
          <p:nvPr/>
        </p:nvPicPr>
        <p:blipFill>
          <a:blip r:embed="rId4"/>
          <a:stretch>
            <a:fillRect/>
          </a:stretch>
        </p:blipFill>
        <p:spPr>
          <a:xfrm>
            <a:off x="5180895" y="1281385"/>
            <a:ext cx="3771900" cy="2654300"/>
          </a:xfrm>
          <a:prstGeom prst="rect">
            <a:avLst/>
          </a:prstGeom>
        </p:spPr>
      </p:pic>
      <p:sp>
        <p:nvSpPr>
          <p:cNvPr id="2" name="BlokTextu 1">
            <a:extLst>
              <a:ext uri="{FF2B5EF4-FFF2-40B4-BE49-F238E27FC236}">
                <a16:creationId xmlns:a16="http://schemas.microsoft.com/office/drawing/2014/main" id="{53043D13-53AC-E2D6-6A6B-9B22EDCB1E32}"/>
              </a:ext>
            </a:extLst>
          </p:cNvPr>
          <p:cNvSpPr txBox="1"/>
          <p:nvPr/>
        </p:nvSpPr>
        <p:spPr>
          <a:xfrm>
            <a:off x="6239774" y="838483"/>
            <a:ext cx="2024332" cy="369332"/>
          </a:xfrm>
          <a:prstGeom prst="rect">
            <a:avLst/>
          </a:prstGeom>
          <a:noFill/>
        </p:spPr>
        <p:txBody>
          <a:bodyPr wrap="square" rtlCol="0">
            <a:spAutoFit/>
          </a:bodyPr>
          <a:lstStyle/>
          <a:p>
            <a:r>
              <a:rPr lang="en-US" sz="1800" dirty="0">
                <a:solidFill>
                  <a:srgbClr val="000000"/>
                </a:solidFill>
              </a:rPr>
              <a:t>SDN framework</a:t>
            </a:r>
            <a:endParaRPr lang="sk-SK" dirty="0"/>
          </a:p>
        </p:txBody>
      </p:sp>
      <p:sp>
        <p:nvSpPr>
          <p:cNvPr id="4" name="BlokTextu 3">
            <a:extLst>
              <a:ext uri="{FF2B5EF4-FFF2-40B4-BE49-F238E27FC236}">
                <a16:creationId xmlns:a16="http://schemas.microsoft.com/office/drawing/2014/main" id="{99A27A9E-3F53-7E37-32D6-5F81727FA3AF}"/>
              </a:ext>
            </a:extLst>
          </p:cNvPr>
          <p:cNvSpPr txBox="1"/>
          <p:nvPr/>
        </p:nvSpPr>
        <p:spPr>
          <a:xfrm>
            <a:off x="7287314" y="2973238"/>
            <a:ext cx="1058174" cy="261610"/>
          </a:xfrm>
          <a:prstGeom prst="rect">
            <a:avLst/>
          </a:prstGeom>
          <a:noFill/>
        </p:spPr>
        <p:txBody>
          <a:bodyPr wrap="square" rtlCol="0">
            <a:spAutoFit/>
          </a:bodyPr>
          <a:lstStyle/>
          <a:p>
            <a:r>
              <a:rPr lang="en-US" sz="1100" dirty="0">
                <a:solidFill>
                  <a:srgbClr val="000000"/>
                </a:solidFill>
              </a:rPr>
              <a:t>OpenFlow</a:t>
            </a:r>
            <a:endParaRPr lang="sk-SK" sz="1100" dirty="0"/>
          </a:p>
        </p:txBody>
      </p:sp>
    </p:spTree>
    <p:custDataLst>
      <p:tags r:id="rId1"/>
    </p:custDataLst>
    <p:extLst>
      <p:ext uri="{BB962C8B-B14F-4D97-AF65-F5344CB8AC3E}">
        <p14:creationId xmlns:p14="http://schemas.microsoft.com/office/powerpoint/2010/main" val="41282114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we="http://schemas.microsoft.com/office/webextensions/webextension/2010/11" xmlns:pca="http://schemas.microsoft.com/office/powerpoint/2013/contentapp" Requires="we pca">
          <p:graphicFrame>
            <p:nvGraphicFramePr>
              <p:cNvPr id="4" name="Zástupný objekt pre obsah 3">
                <a:extLst>
                  <a:ext uri="{FF2B5EF4-FFF2-40B4-BE49-F238E27FC236}">
                    <a16:creationId xmlns:a16="http://schemas.microsoft.com/office/drawing/2014/main" id="{FE077794-7F81-5079-3A51-45BB09F71CC1}"/>
                  </a:ext>
                </a:extLst>
              </p:cNvPr>
              <p:cNvGraphicFramePr>
                <a:graphicFrameLocks noGrp="1"/>
              </p:cNvGraphicFramePr>
              <p:nvPr>
                <p:ph idx="1"/>
                <p:extLst>
                  <p:ext uri="{D42A27DB-BD31-4B8C-83A1-F6EECF244321}">
                    <p14:modId xmlns:p14="http://schemas.microsoft.com/office/powerpoint/2010/main" val="3870567721"/>
                  </p:ext>
                </p:extLst>
              </p:nvPr>
            </p:nvGraphicFramePr>
            <p:xfrm>
              <a:off x="474663" y="252549"/>
              <a:ext cx="8280400" cy="4650377"/>
            </p:xfrm>
            <a:graphic>
              <a:graphicData uri="http://schemas.microsoft.com/office/webextensions/webextension/2010/11">
                <we:webextensionref xmlns:we="http://schemas.microsoft.com/office/webextensions/webextension/2010/11" xmlns:r="http://schemas.openxmlformats.org/officeDocument/2006/relationships" r:id="rId2"/>
              </a:graphicData>
            </a:graphic>
          </p:graphicFrame>
        </mc:Choice>
        <mc:Fallback>
          <p:pic>
            <p:nvPicPr>
              <p:cNvPr id="4" name="Zástupný objekt pre obsah 3">
                <a:extLst>
                  <a:ext uri="{FF2B5EF4-FFF2-40B4-BE49-F238E27FC236}">
                    <a16:creationId xmlns:a16="http://schemas.microsoft.com/office/drawing/2014/main" id="{FE077794-7F81-5079-3A51-45BB09F71CC1}"/>
                  </a:ext>
                </a:extLst>
              </p:cNvPr>
              <p:cNvPicPr>
                <a:picLocks noGrp="1" noRot="1" noChangeAspect="1" noMove="1" noResize="1" noEditPoints="1" noAdjustHandles="1" noChangeArrowheads="1" noChangeShapeType="1"/>
              </p:cNvPicPr>
              <p:nvPr/>
            </p:nvPicPr>
            <p:blipFill>
              <a:blip r:embed="rId3"/>
              <a:stretch>
                <a:fillRect/>
              </a:stretch>
            </p:blipFill>
            <p:spPr>
              <a:xfrm>
                <a:off x="474663" y="252549"/>
                <a:ext cx="8280400" cy="4650377"/>
              </a:xfrm>
              <a:prstGeom prst="rect">
                <a:avLst/>
              </a:prstGeom>
            </p:spPr>
          </p:pic>
        </mc:Fallback>
      </mc:AlternateContent>
    </p:spTree>
    <p:extLst>
      <p:ext uri="{BB962C8B-B14F-4D97-AF65-F5344CB8AC3E}">
        <p14:creationId xmlns:p14="http://schemas.microsoft.com/office/powerpoint/2010/main" val="5478155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13.5 Controllers</a:t>
            </a:r>
          </a:p>
        </p:txBody>
      </p:sp>
    </p:spTree>
    <p:custDataLst>
      <p:tags r:id="rId1"/>
    </p:custDataLst>
    <p:extLst>
      <p:ext uri="{BB962C8B-B14F-4D97-AF65-F5344CB8AC3E}">
        <p14:creationId xmlns:p14="http://schemas.microsoft.com/office/powerpoint/2010/main" val="2317129594"/>
      </p:ext>
    </p:extLst>
  </p:cSld>
  <p:clrMapOvr>
    <a:masterClrMapping/>
  </p:clrMapOvr>
  <p:transition spd="slow">
    <p:wip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Controllers</a:t>
            </a:r>
            <a:br>
              <a:rPr lang="en-US" dirty="0"/>
            </a:br>
            <a:r>
              <a:rPr lang="en-US" sz="2400" dirty="0"/>
              <a:t>SDN Controller and Operations</a:t>
            </a:r>
          </a:p>
        </p:txBody>
      </p:sp>
      <p:sp>
        <p:nvSpPr>
          <p:cNvPr id="4" name="Content Placeholder 3">
            <a:extLst>
              <a:ext uri="{FF2B5EF4-FFF2-40B4-BE49-F238E27FC236}">
                <a16:creationId xmlns:a16="http://schemas.microsoft.com/office/drawing/2014/main" id="{20D7018A-AD22-7842-B0F3-35138B0F4124}"/>
              </a:ext>
            </a:extLst>
          </p:cNvPr>
          <p:cNvSpPr>
            <a:spLocks noGrp="1"/>
          </p:cNvSpPr>
          <p:nvPr>
            <p:ph idx="1"/>
          </p:nvPr>
        </p:nvSpPr>
        <p:spPr>
          <a:xfrm>
            <a:off x="474662" y="731837"/>
            <a:ext cx="3623205" cy="3689897"/>
          </a:xfrm>
        </p:spPr>
        <p:txBody>
          <a:bodyPr/>
          <a:lstStyle/>
          <a:p>
            <a:pPr marL="342900" indent="-342900" algn="l">
              <a:buFont typeface="Arial" panose="020B0604020202020204" pitchFamily="34" charset="0"/>
              <a:buChar char="•"/>
            </a:pPr>
            <a:r>
              <a:rPr lang="en-US" sz="1600" dirty="0">
                <a:solidFill>
                  <a:srgbClr val="000000"/>
                </a:solidFill>
              </a:rPr>
              <a:t>The SDN controller defines the data flows between the centralized control plane and the data planes on individual routers and switches.</a:t>
            </a:r>
          </a:p>
          <a:p>
            <a:pPr marL="342900" indent="-342900" algn="l">
              <a:buFont typeface="Arial" panose="020B0604020202020204" pitchFamily="34" charset="0"/>
              <a:buChar char="•"/>
            </a:pPr>
            <a:r>
              <a:rPr lang="en-US" sz="1600" dirty="0">
                <a:solidFill>
                  <a:srgbClr val="000000"/>
                </a:solidFill>
              </a:rPr>
              <a:t>Each flow traveling through the network must first get permission from the SDN controller, which verifies that the communication is permissible according to the network policy.</a:t>
            </a:r>
          </a:p>
          <a:p>
            <a:pPr marL="342900" indent="-342900" algn="l">
              <a:buFont typeface="Arial" panose="020B0604020202020204" pitchFamily="34" charset="0"/>
              <a:buChar char="•"/>
            </a:pPr>
            <a:r>
              <a:rPr lang="en-US" sz="1600" dirty="0">
                <a:solidFill>
                  <a:srgbClr val="000000"/>
                </a:solidFill>
              </a:rPr>
              <a:t>All complex functions are performed by the controller. The controller populates flow tables. Switches manage the flow tables. </a:t>
            </a:r>
          </a:p>
          <a:p>
            <a:pPr marL="342900" indent="-342900" algn="l">
              <a:buFont typeface="Arial" panose="020B0604020202020204" pitchFamily="34" charset="0"/>
              <a:buChar char="•"/>
            </a:pPr>
            <a:endParaRPr lang="en-US" sz="1600" dirty="0">
              <a:solidFill>
                <a:srgbClr val="000000"/>
              </a:solidFill>
            </a:endParaRPr>
          </a:p>
        </p:txBody>
      </p:sp>
      <p:pic>
        <p:nvPicPr>
          <p:cNvPr id="5" name="Picture 4">
            <a:extLst>
              <a:ext uri="{FF2B5EF4-FFF2-40B4-BE49-F238E27FC236}">
                <a16:creationId xmlns:a16="http://schemas.microsoft.com/office/drawing/2014/main" id="{6B11393E-C498-3B43-B7D7-43AC7140E1E8}"/>
              </a:ext>
            </a:extLst>
          </p:cNvPr>
          <p:cNvPicPr>
            <a:picLocks noChangeAspect="1"/>
          </p:cNvPicPr>
          <p:nvPr/>
        </p:nvPicPr>
        <p:blipFill>
          <a:blip r:embed="rId4"/>
          <a:stretch>
            <a:fillRect/>
          </a:stretch>
        </p:blipFill>
        <p:spPr>
          <a:xfrm>
            <a:off x="4172744" y="931122"/>
            <a:ext cx="4668661" cy="3634527"/>
          </a:xfrm>
          <a:prstGeom prst="rect">
            <a:avLst/>
          </a:prstGeom>
        </p:spPr>
      </p:pic>
    </p:spTree>
    <p:custDataLst>
      <p:tags r:id="rId1"/>
    </p:custDataLst>
    <p:extLst>
      <p:ext uri="{BB962C8B-B14F-4D97-AF65-F5344CB8AC3E}">
        <p14:creationId xmlns:p14="http://schemas.microsoft.com/office/powerpoint/2010/main" val="2623081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Controllers</a:t>
            </a:r>
            <a:br>
              <a:rPr lang="en-US" dirty="0"/>
            </a:br>
            <a:r>
              <a:rPr lang="en-US" sz="2400" dirty="0"/>
              <a:t>SDN Controller and Operations (Cont.)</a:t>
            </a:r>
          </a:p>
        </p:txBody>
      </p:sp>
      <p:sp>
        <p:nvSpPr>
          <p:cNvPr id="6" name="Content Placeholder 5">
            <a:extLst>
              <a:ext uri="{FF2B5EF4-FFF2-40B4-BE49-F238E27FC236}">
                <a16:creationId xmlns:a16="http://schemas.microsoft.com/office/drawing/2014/main" id="{75AC3F3B-D70A-C54D-A460-F29B00EC0634}"/>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Within each switch, a series of tables implemented in hardware or firmware are used to manage the flows of packets through the switch. To the switch, a flow is a sequence of packets that matches a specific entry in a flow table.</a:t>
            </a:r>
          </a:p>
          <a:p>
            <a:pPr marL="0" indent="0" algn="l"/>
            <a:r>
              <a:rPr lang="en-US" sz="1600" dirty="0">
                <a:solidFill>
                  <a:srgbClr val="000000"/>
                </a:solidFill>
              </a:rPr>
              <a:t>The three table types shown in the previous figure are as follows:</a:t>
            </a:r>
          </a:p>
          <a:p>
            <a:pPr marL="358835" lvl="1" indent="-285750"/>
            <a:r>
              <a:rPr lang="en-US" b="1" dirty="0">
                <a:solidFill>
                  <a:srgbClr val="000000"/>
                </a:solidFill>
              </a:rPr>
              <a:t>Flow Table</a:t>
            </a:r>
            <a:r>
              <a:rPr lang="en-US" dirty="0">
                <a:solidFill>
                  <a:srgbClr val="000000"/>
                </a:solidFill>
              </a:rPr>
              <a:t> - This table matches incoming packets to a particular flow and specifies the functions that are to be performed on the packets. There may be multiple flow tables that operate in a pipeline fashion.</a:t>
            </a:r>
          </a:p>
          <a:p>
            <a:pPr marL="358835" lvl="1" indent="-285750"/>
            <a:r>
              <a:rPr lang="en-US" b="1" dirty="0">
                <a:solidFill>
                  <a:srgbClr val="000000"/>
                </a:solidFill>
              </a:rPr>
              <a:t>Group Table</a:t>
            </a:r>
            <a:r>
              <a:rPr lang="en-US" dirty="0">
                <a:solidFill>
                  <a:srgbClr val="000000"/>
                </a:solidFill>
              </a:rPr>
              <a:t> - A flow table may direct a flow to a Group Table, which may trigger a variety of actions that affect one or more flows.</a:t>
            </a:r>
          </a:p>
          <a:p>
            <a:pPr marL="358835" lvl="1" indent="-285750"/>
            <a:r>
              <a:rPr lang="en-US" b="1" dirty="0">
                <a:solidFill>
                  <a:srgbClr val="000000"/>
                </a:solidFill>
              </a:rPr>
              <a:t>Meter Table</a:t>
            </a:r>
            <a:r>
              <a:rPr lang="en-US" dirty="0">
                <a:solidFill>
                  <a:srgbClr val="000000"/>
                </a:solidFill>
              </a:rPr>
              <a:t> - This table triggers a variety of performance-related actions on a flow including the ability to rate-limit the traffic.</a:t>
            </a:r>
          </a:p>
          <a:p>
            <a:pPr marL="342900" indent="-342900" algn="l">
              <a:buFont typeface="Arial" panose="020B0604020202020204" pitchFamily="34" charset="0"/>
              <a:buChar char="•"/>
            </a:pPr>
            <a:endParaRPr lang="en-US" sz="1600" dirty="0">
              <a:solidFill>
                <a:srgbClr val="000000"/>
              </a:solidFill>
            </a:endParaRPr>
          </a:p>
        </p:txBody>
      </p:sp>
    </p:spTree>
    <p:custDataLst>
      <p:tags r:id="rId1"/>
    </p:custDataLst>
    <p:extLst>
      <p:ext uri="{BB962C8B-B14F-4D97-AF65-F5344CB8AC3E}">
        <p14:creationId xmlns:p14="http://schemas.microsoft.com/office/powerpoint/2010/main" val="32670098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Controllers</a:t>
            </a:r>
            <a:br>
              <a:rPr lang="en-US" dirty="0"/>
            </a:br>
            <a:r>
              <a:rPr lang="en-US" sz="2400" dirty="0"/>
              <a:t>Core Components of ACI</a:t>
            </a:r>
          </a:p>
        </p:txBody>
      </p:sp>
      <p:sp>
        <p:nvSpPr>
          <p:cNvPr id="5" name="Content Placeholder 4">
            <a:extLst>
              <a:ext uri="{FF2B5EF4-FFF2-40B4-BE49-F238E27FC236}">
                <a16:creationId xmlns:a16="http://schemas.microsoft.com/office/drawing/2014/main" id="{05739350-0880-4944-B1D3-B2AC88A2C86B}"/>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There are three core components of the ACI architecture:</a:t>
            </a:r>
          </a:p>
          <a:p>
            <a:pPr marL="415985" lvl="1" indent="-342900">
              <a:buFont typeface="Arial" panose="020B0604020202020204" pitchFamily="34" charset="0"/>
              <a:buChar char="•"/>
            </a:pPr>
            <a:r>
              <a:rPr lang="en-US" b="1" dirty="0">
                <a:solidFill>
                  <a:srgbClr val="000000"/>
                </a:solidFill>
              </a:rPr>
              <a:t>Application Network Profile (ANP)</a:t>
            </a:r>
            <a:r>
              <a:rPr lang="en-US" dirty="0">
                <a:solidFill>
                  <a:srgbClr val="000000"/>
                </a:solidFill>
              </a:rPr>
              <a:t> - An ANP is a collection of end-point groups (EPG), their connections, and the policies that define those connections. </a:t>
            </a:r>
          </a:p>
          <a:p>
            <a:pPr marL="415985" lvl="1" indent="-342900">
              <a:buFont typeface="Arial" panose="020B0604020202020204" pitchFamily="34" charset="0"/>
              <a:buChar char="•"/>
            </a:pPr>
            <a:r>
              <a:rPr lang="en-US" b="1" dirty="0">
                <a:solidFill>
                  <a:srgbClr val="000000"/>
                </a:solidFill>
              </a:rPr>
              <a:t>Application Policy Infrastructure Controller (APIC)</a:t>
            </a:r>
            <a:r>
              <a:rPr lang="en-US" dirty="0">
                <a:solidFill>
                  <a:srgbClr val="000000"/>
                </a:solidFill>
              </a:rPr>
              <a:t> - APIC is a centralized software controller that manages and operates a scalable ACI clustered fabric. It is designed for programmability and centralized management. It translates application policies into network programming.</a:t>
            </a:r>
          </a:p>
          <a:p>
            <a:pPr marL="415985" lvl="1" indent="-342900">
              <a:buFont typeface="Arial" panose="020B0604020202020204" pitchFamily="34" charset="0"/>
              <a:buChar char="•"/>
            </a:pPr>
            <a:r>
              <a:rPr lang="en-US" b="1" dirty="0">
                <a:solidFill>
                  <a:srgbClr val="000000"/>
                </a:solidFill>
              </a:rPr>
              <a:t>Cisco Nexus 9000 Series switches</a:t>
            </a:r>
            <a:r>
              <a:rPr lang="en-US" dirty="0">
                <a:solidFill>
                  <a:srgbClr val="000000"/>
                </a:solidFill>
              </a:rPr>
              <a:t> - These switches provide an application-aware switching fabric and work with an APIC to manage the virtual and physical network infrastructure.</a:t>
            </a:r>
          </a:p>
          <a:p>
            <a:pPr marL="0" indent="0" algn="l"/>
            <a:r>
              <a:rPr lang="en-US" sz="1600" dirty="0">
                <a:solidFill>
                  <a:srgbClr val="000000"/>
                </a:solidFill>
              </a:rPr>
              <a:t>The APIC is positioned between the ANP and the ACI-enabled network infrastructure. The APIC translates the application requirements into a network configuration to meet those needs.</a:t>
            </a:r>
          </a:p>
          <a:p>
            <a:pPr marL="342900" indent="-342900" algn="l">
              <a:buFont typeface="Arial" panose="020B0604020202020204" pitchFamily="34" charset="0"/>
              <a:buChar char="•"/>
            </a:pPr>
            <a:endParaRPr lang="en-US" sz="1600" dirty="0">
              <a:solidFill>
                <a:srgbClr val="000000"/>
              </a:solidFill>
            </a:endParaRPr>
          </a:p>
        </p:txBody>
      </p:sp>
    </p:spTree>
    <p:custDataLst>
      <p:tags r:id="rId1"/>
    </p:custDataLst>
    <p:extLst>
      <p:ext uri="{BB962C8B-B14F-4D97-AF65-F5344CB8AC3E}">
        <p14:creationId xmlns:p14="http://schemas.microsoft.com/office/powerpoint/2010/main" val="18734115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Controllers</a:t>
            </a:r>
            <a:br>
              <a:rPr lang="en-US" dirty="0"/>
            </a:br>
            <a:r>
              <a:rPr lang="en-US" sz="2400" dirty="0"/>
              <a:t>Core Components of ACI (Cont.)</a:t>
            </a:r>
          </a:p>
        </p:txBody>
      </p:sp>
      <p:pic>
        <p:nvPicPr>
          <p:cNvPr id="7" name="Content Placeholder 6">
            <a:extLst>
              <a:ext uri="{FF2B5EF4-FFF2-40B4-BE49-F238E27FC236}">
                <a16:creationId xmlns:a16="http://schemas.microsoft.com/office/drawing/2014/main" id="{0C2641D2-F026-B047-B703-36EDF3EEFB64}"/>
              </a:ext>
            </a:extLst>
          </p:cNvPr>
          <p:cNvPicPr>
            <a:picLocks noGrp="1" noChangeAspect="1"/>
          </p:cNvPicPr>
          <p:nvPr>
            <p:ph idx="1"/>
          </p:nvPr>
        </p:nvPicPr>
        <p:blipFill>
          <a:blip r:embed="rId4"/>
          <a:stretch>
            <a:fillRect/>
          </a:stretch>
        </p:blipFill>
        <p:spPr>
          <a:xfrm>
            <a:off x="1764699" y="731837"/>
            <a:ext cx="5614602" cy="3896378"/>
          </a:xfrm>
        </p:spPr>
      </p:pic>
    </p:spTree>
    <p:custDataLst>
      <p:tags r:id="rId1"/>
    </p:custDataLst>
    <p:extLst>
      <p:ext uri="{BB962C8B-B14F-4D97-AF65-F5344CB8AC3E}">
        <p14:creationId xmlns:p14="http://schemas.microsoft.com/office/powerpoint/2010/main" val="10503230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Controllers</a:t>
            </a:r>
            <a:br>
              <a:rPr lang="en-US" dirty="0"/>
            </a:br>
            <a:r>
              <a:rPr lang="en-US" sz="2400" dirty="0"/>
              <a:t>Spine-Leaf Topology</a:t>
            </a:r>
          </a:p>
        </p:txBody>
      </p:sp>
      <p:sp>
        <p:nvSpPr>
          <p:cNvPr id="4" name="Content Placeholder 3">
            <a:extLst>
              <a:ext uri="{FF2B5EF4-FFF2-40B4-BE49-F238E27FC236}">
                <a16:creationId xmlns:a16="http://schemas.microsoft.com/office/drawing/2014/main" id="{DC1291EC-E56A-0E4B-BB0E-808FBBE00672}"/>
              </a:ext>
            </a:extLst>
          </p:cNvPr>
          <p:cNvSpPr>
            <a:spLocks noGrp="1"/>
          </p:cNvSpPr>
          <p:nvPr>
            <p:ph idx="1"/>
          </p:nvPr>
        </p:nvSpPr>
        <p:spPr>
          <a:xfrm>
            <a:off x="474663" y="731837"/>
            <a:ext cx="4255382" cy="3689897"/>
          </a:xfrm>
        </p:spPr>
        <p:txBody>
          <a:bodyPr/>
          <a:lstStyle/>
          <a:p>
            <a:pPr marL="342900" indent="-342900" algn="l">
              <a:buFont typeface="Arial" panose="020B0604020202020204" pitchFamily="34" charset="0"/>
              <a:buChar char="•"/>
            </a:pPr>
            <a:r>
              <a:rPr lang="en-US" sz="1600" dirty="0">
                <a:solidFill>
                  <a:srgbClr val="000000"/>
                </a:solidFill>
              </a:rPr>
              <a:t>The Cisco ACI fabric is composed of the APIC and the Cisco Nexus 9000 series switches using two-tier spine-leaf topology, as shown in the figure. The leaf switches attach to the spines, but they never attach to each other. Similarly, the spine switches only attach to the leaf and core switches (not shown). In this two-tier topology, everything is one hop from everything else.</a:t>
            </a:r>
          </a:p>
          <a:p>
            <a:pPr marL="342900" indent="-342900" algn="l">
              <a:buFont typeface="Arial" panose="020B0604020202020204" pitchFamily="34" charset="0"/>
              <a:buChar char="•"/>
            </a:pPr>
            <a:r>
              <a:rPr lang="en-US" sz="1600" b="1" dirty="0">
                <a:solidFill>
                  <a:srgbClr val="000000"/>
                </a:solidFill>
              </a:rPr>
              <a:t>When compared to SDN, the APIC controller does not manipulate the data path directly. Instead, the APIC centralizes the policy definition and programs the leaf switches to forward traffic based on the defined policies</a:t>
            </a:r>
            <a:r>
              <a:rPr lang="en-US" sz="1600" dirty="0">
                <a:solidFill>
                  <a:srgbClr val="000000"/>
                </a:solidFill>
              </a:rPr>
              <a:t>.</a:t>
            </a:r>
          </a:p>
          <a:p>
            <a:pPr marL="342900" indent="-342900" algn="l">
              <a:buFont typeface="Arial" panose="020B0604020202020204" pitchFamily="34" charset="0"/>
              <a:buChar char="•"/>
            </a:pPr>
            <a:endParaRPr lang="en-US" sz="1600" dirty="0">
              <a:solidFill>
                <a:srgbClr val="000000"/>
              </a:solidFill>
            </a:endParaRPr>
          </a:p>
        </p:txBody>
      </p:sp>
      <p:pic>
        <p:nvPicPr>
          <p:cNvPr id="6" name="Picture 5">
            <a:extLst>
              <a:ext uri="{FF2B5EF4-FFF2-40B4-BE49-F238E27FC236}">
                <a16:creationId xmlns:a16="http://schemas.microsoft.com/office/drawing/2014/main" id="{66447B1F-EE36-E14C-8E0B-63305268C443}"/>
              </a:ext>
            </a:extLst>
          </p:cNvPr>
          <p:cNvPicPr>
            <a:picLocks noChangeAspect="1"/>
          </p:cNvPicPr>
          <p:nvPr/>
        </p:nvPicPr>
        <p:blipFill>
          <a:blip r:embed="rId4"/>
          <a:stretch>
            <a:fillRect/>
          </a:stretch>
        </p:blipFill>
        <p:spPr>
          <a:xfrm>
            <a:off x="4730045" y="1438980"/>
            <a:ext cx="4175899" cy="2753766"/>
          </a:xfrm>
          <a:prstGeom prst="rect">
            <a:avLst/>
          </a:prstGeom>
        </p:spPr>
      </p:pic>
    </p:spTree>
    <p:custDataLst>
      <p:tags r:id="rId1"/>
    </p:custDataLst>
    <p:extLst>
      <p:ext uri="{BB962C8B-B14F-4D97-AF65-F5344CB8AC3E}">
        <p14:creationId xmlns:p14="http://schemas.microsoft.com/office/powerpoint/2010/main" val="42073818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Controllers</a:t>
            </a:r>
            <a:br>
              <a:rPr lang="en-US" dirty="0"/>
            </a:br>
            <a:r>
              <a:rPr lang="en-US" sz="2400" dirty="0"/>
              <a:t>SDN Types</a:t>
            </a:r>
          </a:p>
        </p:txBody>
      </p:sp>
      <p:sp>
        <p:nvSpPr>
          <p:cNvPr id="5" name="Content Placeholder 4">
            <a:extLst>
              <a:ext uri="{FF2B5EF4-FFF2-40B4-BE49-F238E27FC236}">
                <a16:creationId xmlns:a16="http://schemas.microsoft.com/office/drawing/2014/main" id="{0CAB5196-2FBB-0E49-93B8-E19637C84583}"/>
              </a:ext>
            </a:extLst>
          </p:cNvPr>
          <p:cNvSpPr>
            <a:spLocks noGrp="1"/>
          </p:cNvSpPr>
          <p:nvPr>
            <p:ph idx="1"/>
          </p:nvPr>
        </p:nvSpPr>
        <p:spPr>
          <a:xfrm>
            <a:off x="474662" y="731838"/>
            <a:ext cx="8280057" cy="1282158"/>
          </a:xfrm>
        </p:spPr>
        <p:txBody>
          <a:bodyPr/>
          <a:lstStyle/>
          <a:p>
            <a:pPr marL="0" indent="0" algn="l"/>
            <a:r>
              <a:rPr lang="en-US" sz="1600" dirty="0">
                <a:solidFill>
                  <a:srgbClr val="000000"/>
                </a:solidFill>
              </a:rPr>
              <a:t>The Cisco Application Policy Infrastructure Controller - Enterprise Module (APIC-EM) extends ACI aimed at enterprise and campus deployments. To better understand APIC-EM, it is helpful to take a broader look at the three types of SDN:</a:t>
            </a:r>
          </a:p>
          <a:p>
            <a:pPr marL="342900" indent="-342900" algn="l">
              <a:buFont typeface="Arial" panose="020B0604020202020204" pitchFamily="34" charset="0"/>
              <a:buChar char="•"/>
            </a:pPr>
            <a:r>
              <a:rPr lang="en-US" sz="1600" b="1" dirty="0">
                <a:solidFill>
                  <a:srgbClr val="000000"/>
                </a:solidFill>
              </a:rPr>
              <a:t>Device-based SDN: </a:t>
            </a:r>
            <a:r>
              <a:rPr lang="en-US" sz="1600" dirty="0">
                <a:solidFill>
                  <a:srgbClr val="000000"/>
                </a:solidFill>
              </a:rPr>
              <a:t>Devices are programmable by applications running on the device itself or on a server in the network, as shown in the figure.</a:t>
            </a:r>
          </a:p>
          <a:p>
            <a:pPr marL="342900" indent="-342900" algn="l">
              <a:buFont typeface="Arial" panose="020B0604020202020204" pitchFamily="34" charset="0"/>
              <a:buChar char="•"/>
            </a:pPr>
            <a:endParaRPr lang="en-US" sz="1600" dirty="0">
              <a:solidFill>
                <a:srgbClr val="000000"/>
              </a:solidFill>
            </a:endParaRPr>
          </a:p>
        </p:txBody>
      </p:sp>
      <p:pic>
        <p:nvPicPr>
          <p:cNvPr id="8" name="Picture 7">
            <a:extLst>
              <a:ext uri="{FF2B5EF4-FFF2-40B4-BE49-F238E27FC236}">
                <a16:creationId xmlns:a16="http://schemas.microsoft.com/office/drawing/2014/main" id="{7C6BC8BC-F35F-6E40-B981-C5E8E05AC342}"/>
              </a:ext>
            </a:extLst>
          </p:cNvPr>
          <p:cNvPicPr>
            <a:picLocks noChangeAspect="1"/>
          </p:cNvPicPr>
          <p:nvPr/>
        </p:nvPicPr>
        <p:blipFill>
          <a:blip r:embed="rId4"/>
          <a:stretch>
            <a:fillRect/>
          </a:stretch>
        </p:blipFill>
        <p:spPr>
          <a:xfrm>
            <a:off x="2648659" y="2140253"/>
            <a:ext cx="3932061" cy="2559452"/>
          </a:xfrm>
          <a:prstGeom prst="rect">
            <a:avLst/>
          </a:prstGeom>
        </p:spPr>
      </p:pic>
    </p:spTree>
    <p:custDataLst>
      <p:tags r:id="rId1"/>
    </p:custDataLst>
    <p:extLst>
      <p:ext uri="{BB962C8B-B14F-4D97-AF65-F5344CB8AC3E}">
        <p14:creationId xmlns:p14="http://schemas.microsoft.com/office/powerpoint/2010/main" val="35798722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Controllers</a:t>
            </a:r>
            <a:br>
              <a:rPr lang="en-US" dirty="0"/>
            </a:br>
            <a:r>
              <a:rPr lang="en-US" sz="2400" dirty="0"/>
              <a:t>SDN Types (Cont.)</a:t>
            </a:r>
          </a:p>
        </p:txBody>
      </p:sp>
      <p:sp>
        <p:nvSpPr>
          <p:cNvPr id="4" name="Content Placeholder 3">
            <a:extLst>
              <a:ext uri="{FF2B5EF4-FFF2-40B4-BE49-F238E27FC236}">
                <a16:creationId xmlns:a16="http://schemas.microsoft.com/office/drawing/2014/main" id="{7D8CC8F6-3AEF-C046-BD84-3C4ED8E84210}"/>
              </a:ext>
            </a:extLst>
          </p:cNvPr>
          <p:cNvSpPr>
            <a:spLocks noGrp="1"/>
          </p:cNvSpPr>
          <p:nvPr>
            <p:ph idx="1"/>
          </p:nvPr>
        </p:nvSpPr>
        <p:spPr>
          <a:xfrm>
            <a:off x="474662" y="731837"/>
            <a:ext cx="8280057" cy="1096963"/>
          </a:xfrm>
        </p:spPr>
        <p:txBody>
          <a:bodyPr/>
          <a:lstStyle/>
          <a:p>
            <a:pPr marL="0" indent="0" algn="l"/>
            <a:r>
              <a:rPr lang="en-US" sz="1600" b="1" dirty="0">
                <a:solidFill>
                  <a:srgbClr val="000000"/>
                </a:solidFill>
              </a:rPr>
              <a:t>Controller-based SDN: </a:t>
            </a:r>
            <a:r>
              <a:rPr lang="en-US" sz="1600" dirty="0">
                <a:solidFill>
                  <a:srgbClr val="000000"/>
                </a:solidFill>
              </a:rPr>
              <a:t>Uses a centralized controller that has knowledge of all devices in the network, as shown in the figure. The applications can interface with the controller responsible for managing devices and manipulating traffic flows throughout the network. The Cisco Open SDN Controller is a commercial distribution of </a:t>
            </a:r>
            <a:r>
              <a:rPr lang="en-US" sz="1600" dirty="0" err="1">
                <a:solidFill>
                  <a:srgbClr val="000000"/>
                </a:solidFill>
              </a:rPr>
              <a:t>OpenDaylight</a:t>
            </a:r>
            <a:r>
              <a:rPr lang="en-US" sz="1600" dirty="0">
                <a:solidFill>
                  <a:srgbClr val="000000"/>
                </a:solidFill>
              </a:rPr>
              <a:t>.</a:t>
            </a:r>
          </a:p>
          <a:p>
            <a:pPr marL="0" indent="0" algn="l"/>
            <a:endParaRPr lang="en-US" sz="1600" dirty="0">
              <a:solidFill>
                <a:srgbClr val="000000"/>
              </a:solidFill>
            </a:endParaRPr>
          </a:p>
        </p:txBody>
      </p:sp>
      <p:pic>
        <p:nvPicPr>
          <p:cNvPr id="7" name="Picture 6">
            <a:extLst>
              <a:ext uri="{FF2B5EF4-FFF2-40B4-BE49-F238E27FC236}">
                <a16:creationId xmlns:a16="http://schemas.microsoft.com/office/drawing/2014/main" id="{3522ED5B-E959-B644-B3A3-A06AC1023DFD}"/>
              </a:ext>
            </a:extLst>
          </p:cNvPr>
          <p:cNvPicPr>
            <a:picLocks noChangeAspect="1"/>
          </p:cNvPicPr>
          <p:nvPr/>
        </p:nvPicPr>
        <p:blipFill>
          <a:blip r:embed="rId4"/>
          <a:stretch>
            <a:fillRect/>
          </a:stretch>
        </p:blipFill>
        <p:spPr>
          <a:xfrm>
            <a:off x="2866672" y="2015969"/>
            <a:ext cx="3410656" cy="2802269"/>
          </a:xfrm>
          <a:prstGeom prst="rect">
            <a:avLst/>
          </a:prstGeom>
        </p:spPr>
      </p:pic>
    </p:spTree>
    <p:custDataLst>
      <p:tags r:id="rId1"/>
    </p:custDataLst>
    <p:extLst>
      <p:ext uri="{BB962C8B-B14F-4D97-AF65-F5344CB8AC3E}">
        <p14:creationId xmlns:p14="http://schemas.microsoft.com/office/powerpoint/2010/main" val="763200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Controllers</a:t>
            </a:r>
            <a:br>
              <a:rPr lang="en-US" dirty="0"/>
            </a:br>
            <a:r>
              <a:rPr lang="en-US" sz="2400" dirty="0"/>
              <a:t>SDN Types (Cont.)</a:t>
            </a:r>
          </a:p>
        </p:txBody>
      </p:sp>
      <p:sp>
        <p:nvSpPr>
          <p:cNvPr id="5" name="Content Placeholder 4">
            <a:extLst>
              <a:ext uri="{FF2B5EF4-FFF2-40B4-BE49-F238E27FC236}">
                <a16:creationId xmlns:a16="http://schemas.microsoft.com/office/drawing/2014/main" id="{70EF733A-51C9-4841-81B5-FF55AEB4CF5A}"/>
              </a:ext>
            </a:extLst>
          </p:cNvPr>
          <p:cNvSpPr>
            <a:spLocks noGrp="1"/>
          </p:cNvSpPr>
          <p:nvPr>
            <p:ph idx="1"/>
          </p:nvPr>
        </p:nvSpPr>
        <p:spPr>
          <a:xfrm>
            <a:off x="474663" y="731837"/>
            <a:ext cx="3939294" cy="3689897"/>
          </a:xfrm>
        </p:spPr>
        <p:txBody>
          <a:bodyPr/>
          <a:lstStyle/>
          <a:p>
            <a:pPr marL="0" indent="0" algn="l"/>
            <a:r>
              <a:rPr lang="en-US" sz="1600" b="1" dirty="0">
                <a:solidFill>
                  <a:srgbClr val="000000"/>
                </a:solidFill>
              </a:rPr>
              <a:t>Policy-based SDN: </a:t>
            </a:r>
            <a:r>
              <a:rPr lang="en-US" sz="1600" dirty="0">
                <a:solidFill>
                  <a:srgbClr val="000000"/>
                </a:solidFill>
              </a:rPr>
              <a:t>Similar to controller-based SDN where a centralized controller has a view of all devices in the network, as shown in the figure. Policy-based SDN includes an additional Policy layer that operates at a higher level of abstraction. It uses built-in applications that automate advanced configuration tasks via a guided workflow and user-friendly GUI. No programming skills are required. Cisco APIC-EM is an example of this type of SDN.</a:t>
            </a:r>
          </a:p>
          <a:p>
            <a:pPr marL="0" indent="0" algn="l"/>
            <a:endParaRPr lang="en-US" sz="1600" dirty="0">
              <a:solidFill>
                <a:srgbClr val="000000"/>
              </a:solidFill>
            </a:endParaRPr>
          </a:p>
        </p:txBody>
      </p:sp>
      <p:pic>
        <p:nvPicPr>
          <p:cNvPr id="8" name="Picture 7">
            <a:extLst>
              <a:ext uri="{FF2B5EF4-FFF2-40B4-BE49-F238E27FC236}">
                <a16:creationId xmlns:a16="http://schemas.microsoft.com/office/drawing/2014/main" id="{3C673F54-7669-6A48-8C9B-49DB1C46A6DE}"/>
              </a:ext>
            </a:extLst>
          </p:cNvPr>
          <p:cNvPicPr>
            <a:picLocks noChangeAspect="1"/>
          </p:cNvPicPr>
          <p:nvPr/>
        </p:nvPicPr>
        <p:blipFill>
          <a:blip r:embed="rId4"/>
          <a:stretch>
            <a:fillRect/>
          </a:stretch>
        </p:blipFill>
        <p:spPr>
          <a:xfrm>
            <a:off x="4888620" y="886502"/>
            <a:ext cx="3615443" cy="3370495"/>
          </a:xfrm>
          <a:prstGeom prst="rect">
            <a:avLst/>
          </a:prstGeom>
        </p:spPr>
      </p:pic>
    </p:spTree>
    <p:custDataLst>
      <p:tags r:id="rId1"/>
    </p:custDataLst>
    <p:extLst>
      <p:ext uri="{BB962C8B-B14F-4D97-AF65-F5344CB8AC3E}">
        <p14:creationId xmlns:p14="http://schemas.microsoft.com/office/powerpoint/2010/main" val="34419347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Controllers</a:t>
            </a:r>
            <a:br>
              <a:rPr lang="en-US" dirty="0"/>
            </a:br>
            <a:r>
              <a:rPr lang="en-US" sz="2400" dirty="0"/>
              <a:t>APIC-EM Features</a:t>
            </a:r>
          </a:p>
        </p:txBody>
      </p:sp>
      <p:sp>
        <p:nvSpPr>
          <p:cNvPr id="4" name="Content Placeholder 3">
            <a:extLst>
              <a:ext uri="{FF2B5EF4-FFF2-40B4-BE49-F238E27FC236}">
                <a16:creationId xmlns:a16="http://schemas.microsoft.com/office/drawing/2014/main" id="{023FB4A2-4E8C-4844-BD2A-21E9FF0D65D0}"/>
              </a:ext>
            </a:extLst>
          </p:cNvPr>
          <p:cNvSpPr>
            <a:spLocks noGrp="1"/>
          </p:cNvSpPr>
          <p:nvPr>
            <p:ph idx="1"/>
          </p:nvPr>
        </p:nvSpPr>
        <p:spPr>
          <a:xfrm>
            <a:off x="474662" y="731837"/>
            <a:ext cx="3736739" cy="3689897"/>
          </a:xfrm>
        </p:spPr>
        <p:txBody>
          <a:bodyPr/>
          <a:lstStyle/>
          <a:p>
            <a:pPr marL="0" indent="0" algn="l"/>
            <a:r>
              <a:rPr lang="en-US" sz="1600" dirty="0">
                <a:solidFill>
                  <a:srgbClr val="000000"/>
                </a:solidFill>
              </a:rPr>
              <a:t>Cisco APIC-EM provides a single interface for network management including:</a:t>
            </a:r>
          </a:p>
          <a:p>
            <a:pPr marL="342900" indent="-342900" algn="l">
              <a:buFont typeface="Arial" panose="020B0604020202020204" pitchFamily="34" charset="0"/>
              <a:buChar char="•"/>
            </a:pPr>
            <a:r>
              <a:rPr lang="en-US" sz="1600" dirty="0">
                <a:solidFill>
                  <a:srgbClr val="000000"/>
                </a:solidFill>
              </a:rPr>
              <a:t>Discovering and accessing device and host inventories.</a:t>
            </a:r>
          </a:p>
          <a:p>
            <a:pPr marL="342900" indent="-342900" algn="l">
              <a:buFont typeface="Arial" panose="020B0604020202020204" pitchFamily="34" charset="0"/>
              <a:buChar char="•"/>
            </a:pPr>
            <a:r>
              <a:rPr lang="en-US" sz="1600" dirty="0">
                <a:solidFill>
                  <a:srgbClr val="000000"/>
                </a:solidFill>
              </a:rPr>
              <a:t>Viewing the topology (as shown in the figure).</a:t>
            </a:r>
          </a:p>
          <a:p>
            <a:pPr marL="342900" indent="-342900" algn="l">
              <a:buFont typeface="Arial" panose="020B0604020202020204" pitchFamily="34" charset="0"/>
              <a:buChar char="•"/>
            </a:pPr>
            <a:r>
              <a:rPr lang="en-US" sz="1600" dirty="0">
                <a:solidFill>
                  <a:srgbClr val="000000"/>
                </a:solidFill>
              </a:rPr>
              <a:t>Tracing a path between end points.</a:t>
            </a:r>
          </a:p>
          <a:p>
            <a:pPr marL="342900" indent="-342900" algn="l">
              <a:buFont typeface="Arial" panose="020B0604020202020204" pitchFamily="34" charset="0"/>
              <a:buChar char="•"/>
            </a:pPr>
            <a:r>
              <a:rPr lang="en-US" sz="1600" dirty="0">
                <a:solidFill>
                  <a:srgbClr val="000000"/>
                </a:solidFill>
              </a:rPr>
              <a:t>Setting policies.</a:t>
            </a:r>
          </a:p>
          <a:p>
            <a:pPr marL="342900" indent="-342900" algn="l">
              <a:buFont typeface="Arial" panose="020B0604020202020204" pitchFamily="34" charset="0"/>
              <a:buChar char="•"/>
            </a:pPr>
            <a:endParaRPr lang="en-US" sz="1600" dirty="0">
              <a:solidFill>
                <a:srgbClr val="000000"/>
              </a:solidFill>
            </a:endParaRPr>
          </a:p>
        </p:txBody>
      </p:sp>
      <p:pic>
        <p:nvPicPr>
          <p:cNvPr id="7" name="Picture 6">
            <a:extLst>
              <a:ext uri="{FF2B5EF4-FFF2-40B4-BE49-F238E27FC236}">
                <a16:creationId xmlns:a16="http://schemas.microsoft.com/office/drawing/2014/main" id="{D9F587AD-630B-FE4F-A308-987C7FDB4058}"/>
              </a:ext>
            </a:extLst>
          </p:cNvPr>
          <p:cNvPicPr>
            <a:picLocks noChangeAspect="1"/>
          </p:cNvPicPr>
          <p:nvPr/>
        </p:nvPicPr>
        <p:blipFill>
          <a:blip r:embed="rId4"/>
          <a:stretch>
            <a:fillRect/>
          </a:stretch>
        </p:blipFill>
        <p:spPr>
          <a:xfrm>
            <a:off x="4289231" y="1048667"/>
            <a:ext cx="4380107" cy="3046165"/>
          </a:xfrm>
          <a:prstGeom prst="rect">
            <a:avLst/>
          </a:prstGeom>
        </p:spPr>
      </p:pic>
    </p:spTree>
    <p:custDataLst>
      <p:tags r:id="rId1"/>
    </p:custDataLst>
    <p:extLst>
      <p:ext uri="{BB962C8B-B14F-4D97-AF65-F5344CB8AC3E}">
        <p14:creationId xmlns:p14="http://schemas.microsoft.com/office/powerpoint/2010/main" val="30737527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Controllers</a:t>
            </a:r>
            <a:br>
              <a:rPr lang="en-US" dirty="0"/>
            </a:br>
            <a:r>
              <a:rPr lang="en-US" sz="2400" dirty="0"/>
              <a:t>APIC-EM Path Trace</a:t>
            </a:r>
          </a:p>
        </p:txBody>
      </p:sp>
      <p:sp>
        <p:nvSpPr>
          <p:cNvPr id="5" name="Content Placeholder 4">
            <a:extLst>
              <a:ext uri="{FF2B5EF4-FFF2-40B4-BE49-F238E27FC236}">
                <a16:creationId xmlns:a16="http://schemas.microsoft.com/office/drawing/2014/main" id="{2545CDE8-73E6-5049-B40F-41C9D4B07407}"/>
              </a:ext>
            </a:extLst>
          </p:cNvPr>
          <p:cNvSpPr>
            <a:spLocks noGrp="1"/>
          </p:cNvSpPr>
          <p:nvPr>
            <p:ph idx="1"/>
          </p:nvPr>
        </p:nvSpPr>
        <p:spPr>
          <a:xfrm>
            <a:off x="474662" y="731837"/>
            <a:ext cx="3611915" cy="3689897"/>
          </a:xfrm>
        </p:spPr>
        <p:txBody>
          <a:bodyPr/>
          <a:lstStyle/>
          <a:p>
            <a:pPr marL="0" indent="0" algn="l"/>
            <a:r>
              <a:rPr lang="en-US" sz="1600" dirty="0">
                <a:solidFill>
                  <a:srgbClr val="000000"/>
                </a:solidFill>
              </a:rPr>
              <a:t>The APIC-EM Path Trace tool allows the administrator to easily visualize traffic flows and discover any conflicting, duplicate, or shadowed ACL entries. This tool examines specific ACLs on the path between two end nodes, displaying any potential issues. You can see where any ACLs along the path either permitted or denied your traffic, as shown in the figure. Notice how Branch-Router2 is permit all traffic. The network administrator can now make adjustments, if necessary, to better filter traffic.</a:t>
            </a:r>
          </a:p>
        </p:txBody>
      </p:sp>
      <p:pic>
        <p:nvPicPr>
          <p:cNvPr id="8" name="Picture 7">
            <a:extLst>
              <a:ext uri="{FF2B5EF4-FFF2-40B4-BE49-F238E27FC236}">
                <a16:creationId xmlns:a16="http://schemas.microsoft.com/office/drawing/2014/main" id="{5317E1E7-DFAF-CE46-9EA3-B8B8A89B7665}"/>
              </a:ext>
            </a:extLst>
          </p:cNvPr>
          <p:cNvPicPr>
            <a:picLocks noChangeAspect="1"/>
          </p:cNvPicPr>
          <p:nvPr/>
        </p:nvPicPr>
        <p:blipFill>
          <a:blip r:embed="rId4"/>
          <a:stretch>
            <a:fillRect/>
          </a:stretch>
        </p:blipFill>
        <p:spPr>
          <a:xfrm>
            <a:off x="4172744" y="586414"/>
            <a:ext cx="4766797" cy="3980744"/>
          </a:xfrm>
          <a:prstGeom prst="rect">
            <a:avLst/>
          </a:prstGeom>
        </p:spPr>
      </p:pic>
    </p:spTree>
    <p:custDataLst>
      <p:tags r:id="rId1"/>
    </p:custDataLst>
    <p:extLst>
      <p:ext uri="{BB962C8B-B14F-4D97-AF65-F5344CB8AC3E}">
        <p14:creationId xmlns:p14="http://schemas.microsoft.com/office/powerpoint/2010/main" val="33760578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we="http://schemas.microsoft.com/office/webextensions/webextension/2010/11" xmlns:pca="http://schemas.microsoft.com/office/powerpoint/2013/contentapp">
        <mc:Choice Requires="we pca">
          <p:graphicFrame>
            <p:nvGraphicFramePr>
              <p:cNvPr id="4" name="Zástupný objekt pre obsah 3">
                <a:extLst>
                  <a:ext uri="{FF2B5EF4-FFF2-40B4-BE49-F238E27FC236}">
                    <a16:creationId xmlns:a16="http://schemas.microsoft.com/office/drawing/2014/main" id="{EAF3DACC-7763-7CBD-132E-7C0711C35C6B}"/>
                  </a:ext>
                </a:extLst>
              </p:cNvPr>
              <p:cNvGraphicFramePr>
                <a:graphicFrameLocks noGrp="1"/>
              </p:cNvGraphicFramePr>
              <p:nvPr>
                <p:ph idx="1"/>
                <p:extLst>
                  <p:ext uri="{D42A27DB-BD31-4B8C-83A1-F6EECF244321}">
                    <p14:modId xmlns:p14="http://schemas.microsoft.com/office/powerpoint/2010/main" val="3825813743"/>
                  </p:ext>
                </p:extLst>
              </p:nvPr>
            </p:nvGraphicFramePr>
            <p:xfrm>
              <a:off x="431800" y="285342"/>
              <a:ext cx="8280400" cy="4626292"/>
            </p:xfrm>
            <a:graphic>
              <a:graphicData uri="http://schemas.microsoft.com/office/webextensions/webextension/2010/11">
                <we:webextensionref xmlns:we="http://schemas.microsoft.com/office/webextensions/webextension/2010/11" xmlns:r="http://schemas.openxmlformats.org/officeDocument/2006/relationships" r:id="rId2"/>
              </a:graphicData>
            </a:graphic>
          </p:graphicFrame>
        </mc:Choice>
        <mc:Fallback xmlns="">
          <p:pic>
            <p:nvPicPr>
              <p:cNvPr id="4" name="Zástupný objekt pre obsah 3">
                <a:extLst>
                  <a:ext uri="{FF2B5EF4-FFF2-40B4-BE49-F238E27FC236}">
                    <a16:creationId xmlns:a16="http://schemas.microsoft.com/office/drawing/2014/main" id="{EAF3DACC-7763-7CBD-132E-7C0711C35C6B}"/>
                  </a:ext>
                </a:extLst>
              </p:cNvPr>
              <p:cNvPicPr>
                <a:picLocks noGrp="1" noRot="1" noChangeAspect="1" noMove="1" noResize="1" noEditPoints="1" noAdjustHandles="1" noChangeArrowheads="1" noChangeShapeType="1"/>
              </p:cNvPicPr>
              <p:nvPr/>
            </p:nvPicPr>
            <p:blipFill>
              <a:blip r:embed="rId3"/>
              <a:stretch>
                <a:fillRect/>
              </a:stretch>
            </p:blipFill>
            <p:spPr>
              <a:xfrm>
                <a:off x="431800" y="285342"/>
                <a:ext cx="8280400" cy="4626292"/>
              </a:xfrm>
              <a:prstGeom prst="rect">
                <a:avLst/>
              </a:prstGeom>
            </p:spPr>
          </p:pic>
        </mc:Fallback>
      </mc:AlternateContent>
    </p:spTree>
    <p:extLst>
      <p:ext uri="{BB962C8B-B14F-4D97-AF65-F5344CB8AC3E}">
        <p14:creationId xmlns:p14="http://schemas.microsoft.com/office/powerpoint/2010/main" val="10597996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4190828277"/>
      </p:ext>
    </p:extLst>
  </p:cSld>
  <p:clrMapOvr>
    <a:masterClrMapping/>
  </p:clrMapOvr>
  <p:transition spd="slow">
    <p:wipe/>
  </p:transition>
</p:sld>
</file>

<file path=ppt/tags/tag1.xml><?xml version="1.0" encoding="utf-8"?>
<p:tagLst xmlns:a="http://schemas.openxmlformats.org/drawingml/2006/main" xmlns:r="http://schemas.openxmlformats.org/officeDocument/2006/relationships" xmlns:p="http://schemas.openxmlformats.org/presentationml/2006/main">
  <p:tag name="ARTICULATE_PROJECT_OPEN" val="0"/>
  <p:tag name="ARTICULATE_SLIDE_COUNT" val="57"/>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Default Theme">
  <a:themeElements>
    <a:clrScheme name="Custom 6">
      <a:dk1>
        <a:srgbClr val="58585B"/>
      </a:dk1>
      <a:lt1>
        <a:srgbClr val="FFFFFF"/>
      </a:lt1>
      <a:dk2>
        <a:srgbClr val="58585B"/>
      </a:dk2>
      <a:lt2>
        <a:srgbClr val="81C569"/>
      </a:lt2>
      <a:accent1>
        <a:srgbClr val="004C69"/>
      </a:accent1>
      <a:accent2>
        <a:srgbClr val="9E0B0F"/>
      </a:accent2>
      <a:accent3>
        <a:srgbClr val="FFFFFF"/>
      </a:accent3>
      <a:accent4>
        <a:srgbClr val="367187"/>
      </a:accent4>
      <a:accent5>
        <a:srgbClr val="38C6F4"/>
      </a:accent5>
      <a:accent6>
        <a:srgbClr val="FBAB18"/>
      </a:accent6>
      <a:hlink>
        <a:srgbClr val="38C6F4"/>
      </a:hlink>
      <a:folHlink>
        <a:srgbClr val="81C569"/>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6A4D7"/>
        </a:solidFill>
        <a:ln>
          <a:noFill/>
        </a:ln>
        <a:effectLst/>
      </a:spPr>
      <a:bodyPr rtlCol="0" anchor="ctr"/>
      <a:lstStyle>
        <a:defPPr algn="ctr">
          <a:defRPr dirty="0"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ITE7_Chp1_Example-1" id="{4A20ED44-3835-F149-9AE4-C332C230E09E}" vid="{AFB5BC48-58F8-AD45-912F-AE2AD65EB6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webextensions/_rels/webextension1.xml.rels><?xml version="1.0" encoding="UTF-8" standalone="yes"?>
<Relationships xmlns="http://schemas.openxmlformats.org/package/2006/relationships"><Relationship Id="rId1" Type="http://schemas.openxmlformats.org/officeDocument/2006/relationships/image" Target="../media/image10.png"/></Relationships>
</file>

<file path=ppt/webextensions/_rels/webextension2.xml.rels><?xml version="1.0" encoding="UTF-8" standalone="yes"?>
<Relationships xmlns="http://schemas.openxmlformats.org/package/2006/relationships"><Relationship Id="rId1" Type="http://schemas.openxmlformats.org/officeDocument/2006/relationships/image" Target="../media/image15.png"/></Relationships>
</file>

<file path=ppt/webextensions/_rels/webextension3.xml.rels><?xml version="1.0" encoding="UTF-8" standalone="yes"?>
<Relationships xmlns="http://schemas.openxmlformats.org/package/2006/relationships"><Relationship Id="rId1" Type="http://schemas.openxmlformats.org/officeDocument/2006/relationships/image" Target="../media/image24.png"/></Relationships>
</file>

<file path=ppt/webextensions/webextension1.xml><?xml version="1.0" encoding="utf-8"?>
<we:webextension xmlns:we="http://schemas.microsoft.com/office/webextensions/webextension/2010/11" id="{98D207BF-D72E-B447-AAAA-D5FD0C946E41}">
  <we:reference id="wa104218073" version="3.0.0.1" store="sk-SK" storeType="OMEX"/>
  <we:alternateReferences>
    <we:reference id="WA104218073" version="3.0.0.1" store="" storeType="OMEX"/>
  </we:alternateReferences>
  <we:properties>
    <we:property name="appSlideData" value="{&quot;slideId&quot;:1308,&quot;confidenceLevel&quot;:2}"/>
    <we:property name="url" value="&quot;multiple_choice_poll/n8DFXfnfutBgflpqSvCFU&quot;"/>
  </we:properties>
  <we:bindings/>
  <we:snapshot xmlns:r="http://schemas.openxmlformats.org/officeDocument/2006/relationships" r:embed="rId1"/>
</we:webextension>
</file>

<file path=ppt/webextensions/webextension2.xml><?xml version="1.0" encoding="utf-8"?>
<we:webextension xmlns:we="http://schemas.microsoft.com/office/webextensions/webextension/2010/11" id="{5F38E733-1C60-EC4D-B69E-B58CE499C676}">
  <we:reference id="wa104218073" version="3.0.0.1" store="sk-SK" storeType="OMEX"/>
  <we:alternateReferences>
    <we:reference id="WA104218073" version="3.0.0.1" store="" storeType="OMEX"/>
  </we:alternateReferences>
  <we:properties>
    <we:property name="appSlideData" value="{&quot;slideId&quot;:1309,&quot;confidenceLevel&quot;:2}"/>
    <we:property name="url" value="&quot;multiple_choice_poll/aqWAO8o9RODEyZjbkwTZ3&quot;"/>
  </we:properties>
  <we:bindings/>
  <we:snapshot xmlns:r="http://schemas.openxmlformats.org/officeDocument/2006/relationships" r:embed="rId1"/>
</we:webextension>
</file>

<file path=ppt/webextensions/webextension3.xml><?xml version="1.0" encoding="utf-8"?>
<we:webextension xmlns:we="http://schemas.microsoft.com/office/webextensions/webextension/2010/11" id="{0DABE9BE-F5E3-0E4A-ABB7-781705D174B2}">
  <we:reference id="wa104218073" version="3.0.0.1" store="sk-SK" storeType="OMEX"/>
  <we:alternateReferences>
    <we:reference id="WA104218073" version="3.0.0.1" store="" storeType="OMEX"/>
  </we:alternateReferences>
  <we:properties>
    <we:property name="appSlideData" value="{&quot;slideId&quot;:1310,&quot;confidenceLevel&quot;:2}"/>
    <we:property name="url" value="&quot;multiple_choice_poll/0wGyGKHUBa5VkulpweZQv&quot;"/>
  </we:properties>
  <we:bindings/>
  <we:snapshot xmlns:r="http://schemas.openxmlformats.org/officeDocument/2006/relationships" r:embed="rId1"/>
</we:webextension>
</file>

<file path=docProps/app.xml><?xml version="1.0" encoding="utf-8"?>
<Properties xmlns="http://schemas.openxmlformats.org/officeDocument/2006/extended-properties" xmlns:vt="http://schemas.openxmlformats.org/officeDocument/2006/docPropsVTypes">
  <Template>Default Theme</Template>
  <TotalTime>5853</TotalTime>
  <Words>4023</Words>
  <Application>Microsoft Macintosh PowerPoint</Application>
  <PresentationFormat>Prezentácia na obrazovke (16:9)</PresentationFormat>
  <Paragraphs>328</Paragraphs>
  <Slides>42</Slides>
  <Notes>39</Notes>
  <HiddenSlides>0</HiddenSlides>
  <MMClips>0</MMClips>
  <ScaleCrop>false</ScaleCrop>
  <HeadingPairs>
    <vt:vector size="6" baseType="variant">
      <vt:variant>
        <vt:lpstr>Použité písma</vt:lpstr>
      </vt:variant>
      <vt:variant>
        <vt:i4>5</vt:i4>
      </vt:variant>
      <vt:variant>
        <vt:lpstr>Motív</vt:lpstr>
      </vt:variant>
      <vt:variant>
        <vt:i4>1</vt:i4>
      </vt:variant>
      <vt:variant>
        <vt:lpstr>Nadpisy snímok</vt:lpstr>
      </vt:variant>
      <vt:variant>
        <vt:i4>42</vt:i4>
      </vt:variant>
    </vt:vector>
  </HeadingPairs>
  <TitlesOfParts>
    <vt:vector size="48" baseType="lpstr">
      <vt:lpstr>-apple-system</vt:lpstr>
      <vt:lpstr>Arial</vt:lpstr>
      <vt:lpstr>Calibri</vt:lpstr>
      <vt:lpstr>CiscoSans ExtraLight</vt:lpstr>
      <vt:lpstr>Wingdings</vt:lpstr>
      <vt:lpstr>Default Theme</vt:lpstr>
      <vt:lpstr>Module 13: Network Virtualization</vt:lpstr>
      <vt:lpstr>Module Objectives</vt:lpstr>
      <vt:lpstr>13.1 Cloud Computing</vt:lpstr>
      <vt:lpstr>Cloud Computing Cloud Overview</vt:lpstr>
      <vt:lpstr>Cloud Computing Cloud Services</vt:lpstr>
      <vt:lpstr>Cloud Computing Cloud Models</vt:lpstr>
      <vt:lpstr>Cloud Computing Cloud Computing versus Data Center</vt:lpstr>
      <vt:lpstr>13.2 Virtualization</vt:lpstr>
      <vt:lpstr>Virtualization Cloud Computing and Virtualization</vt:lpstr>
      <vt:lpstr>Virtualization Dedicated Servers</vt:lpstr>
      <vt:lpstr>Virtualization Server Virtualization</vt:lpstr>
      <vt:lpstr>Virtualization Advantages of Virtualization</vt:lpstr>
      <vt:lpstr>Virtualization Abstraction Layers</vt:lpstr>
      <vt:lpstr>Virtual Network Infrastructure Type 1 Hypervisors</vt:lpstr>
      <vt:lpstr>Virtual Network Infrastructure Installing a VM on a Hypervisor</vt:lpstr>
      <vt:lpstr>Virtualization Type 2 Hypervisors</vt:lpstr>
      <vt:lpstr>Prezentácia programu PowerPoint</vt:lpstr>
      <vt:lpstr>13.3 Virtual Network Infrastructure</vt:lpstr>
      <vt:lpstr>Virtual Network Infrastructure The Complexity of Network Virtualization</vt:lpstr>
      <vt:lpstr>Virtual Network Infrastructure The Complexity of Network Virtualization (Cont.)</vt:lpstr>
      <vt:lpstr>13.4 Software-Defined Networking</vt:lpstr>
      <vt:lpstr>Software-Defined Networking Control Plane and Data Plane</vt:lpstr>
      <vt:lpstr>Software-Defined Networking Control Plane and Data Plane (Cont.)</vt:lpstr>
      <vt:lpstr>Software-Defined Networking Control Plane and Data Plane (Cont.)</vt:lpstr>
      <vt:lpstr>Software-Defined Networking Network Virtualization Technologies</vt:lpstr>
      <vt:lpstr>Software-Defined Networking Network Virtualization Technologies (Cont.)</vt:lpstr>
      <vt:lpstr>Software-Defined Networking Traditional and SDN Architectures</vt:lpstr>
      <vt:lpstr>Software-Defined Networking Traditional and SDN Architectures (Cont.)</vt:lpstr>
      <vt:lpstr>Prezentácia programu PowerPoint</vt:lpstr>
      <vt:lpstr>13.5 Controllers</vt:lpstr>
      <vt:lpstr>Controllers SDN Controller and Operations</vt:lpstr>
      <vt:lpstr>Controllers SDN Controller and Operations (Cont.)</vt:lpstr>
      <vt:lpstr>Controllers Core Components of ACI</vt:lpstr>
      <vt:lpstr>Controllers Core Components of ACI (Cont.)</vt:lpstr>
      <vt:lpstr>Controllers Spine-Leaf Topology</vt:lpstr>
      <vt:lpstr>Controllers SDN Types</vt:lpstr>
      <vt:lpstr>Controllers SDN Types (Cont.)</vt:lpstr>
      <vt:lpstr>Controllers SDN Types (Cont.)</vt:lpstr>
      <vt:lpstr>Controllers APIC-EM Features</vt:lpstr>
      <vt:lpstr>Controllers APIC-EM Path Trace</vt:lpstr>
      <vt:lpstr>Prezentácia programu PowerPoint</vt:lpstr>
      <vt:lpstr>Prezentácia programu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2: Basic Switch and End Device Configuration</dc:title>
  <dc:creator>Stephanie Harvey</dc:creator>
  <cp:lastModifiedBy>Július Baráth</cp:lastModifiedBy>
  <cp:revision>391</cp:revision>
  <dcterms:created xsi:type="dcterms:W3CDTF">2019-10-18T06:21:22Z</dcterms:created>
  <dcterms:modified xsi:type="dcterms:W3CDTF">2025-11-06T08:43:11Z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ffisync_ProviderInitializationData">
    <vt:lpwstr>https://cisco.jiveon.com</vt:lpwstr>
  </property>
  <property fmtid="{D5CDD505-2E9C-101B-9397-08002B2CF9AE}" pid="3" name="Offisync_UpdateToken">
    <vt:lpwstr>1</vt:lpwstr>
  </property>
  <property fmtid="{D5CDD505-2E9C-101B-9397-08002B2CF9AE}" pid="4" name="Offisync_ServerID">
    <vt:lpwstr>07841bbc-cd3c-4a76-827f-75a2226890f4</vt:lpwstr>
  </property>
  <property fmtid="{D5CDD505-2E9C-101B-9397-08002B2CF9AE}" pid="5" name="Offisync_UniqueId">
    <vt:lpwstr>1702406</vt:lpwstr>
  </property>
  <property fmtid="{D5CDD505-2E9C-101B-9397-08002B2CF9AE}" pid="6" name="Jive_VersionGuid">
    <vt:lpwstr>fd96a0b3-f68d-4727-8e4f-2128d37ed30a</vt:lpwstr>
  </property>
  <property fmtid="{D5CDD505-2E9C-101B-9397-08002B2CF9AE}" pid="7" name="Jive_LatestUserAccountName">
    <vt:lpwstr>alljohns</vt:lpwstr>
  </property>
  <property fmtid="{D5CDD505-2E9C-101B-9397-08002B2CF9AE}" pid="8" name="ArticulateGUID">
    <vt:lpwstr>F9A496F7-57D7-4028-9572-D40DFDF3715A</vt:lpwstr>
  </property>
  <property fmtid="{D5CDD505-2E9C-101B-9397-08002B2CF9AE}" pid="9" name="ArticulatePath">
    <vt:lpwstr>ITE7_Chp9_by_jg</vt:lpwstr>
  </property>
</Properties>
</file>
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7.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8.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9.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0.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11.xml" ContentType="application/vnd.openxmlformats-officedocument.presentationml.tags+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7"/>
  </p:notesMasterIdLst>
  <p:sldIdLst>
    <p:sldId id="876" r:id="rId2"/>
    <p:sldId id="860" r:id="rId3"/>
    <p:sldId id="759" r:id="rId4"/>
    <p:sldId id="1054" r:id="rId5"/>
    <p:sldId id="1137" r:id="rId6"/>
    <p:sldId id="1138" r:id="rId7"/>
    <p:sldId id="1140" r:id="rId8"/>
    <p:sldId id="1139" r:id="rId9"/>
    <p:sldId id="1141" r:id="rId10"/>
    <p:sldId id="1142" r:id="rId11"/>
    <p:sldId id="1143" r:id="rId12"/>
    <p:sldId id="1144" r:id="rId13"/>
    <p:sldId id="1145" r:id="rId14"/>
    <p:sldId id="1146" r:id="rId15"/>
    <p:sldId id="1147" r:id="rId16"/>
    <p:sldId id="1148" r:id="rId17"/>
    <p:sldId id="1149" r:id="rId18"/>
    <p:sldId id="1150" r:id="rId19"/>
    <p:sldId id="1151" r:id="rId20"/>
    <p:sldId id="1152" r:id="rId21"/>
    <p:sldId id="1153" r:id="rId22"/>
    <p:sldId id="1154" r:id="rId23"/>
    <p:sldId id="1155" r:id="rId24"/>
    <p:sldId id="1156" r:id="rId25"/>
    <p:sldId id="1158" r:id="rId26"/>
    <p:sldId id="1159" r:id="rId27"/>
    <p:sldId id="1160" r:id="rId28"/>
    <p:sldId id="1162" r:id="rId29"/>
    <p:sldId id="1163" r:id="rId30"/>
    <p:sldId id="1164" r:id="rId31"/>
    <p:sldId id="1165" r:id="rId32"/>
    <p:sldId id="1166" r:id="rId33"/>
    <p:sldId id="1167" r:id="rId34"/>
    <p:sldId id="1168" r:id="rId35"/>
    <p:sldId id="1169" r:id="rId36"/>
    <p:sldId id="1171" r:id="rId37"/>
    <p:sldId id="1172" r:id="rId38"/>
    <p:sldId id="1173" r:id="rId39"/>
    <p:sldId id="1174" r:id="rId40"/>
    <p:sldId id="1177" r:id="rId41"/>
    <p:sldId id="1178" r:id="rId42"/>
    <p:sldId id="1180" r:id="rId43"/>
    <p:sldId id="1181" r:id="rId44"/>
    <p:sldId id="1182" r:id="rId45"/>
    <p:sldId id="291" r:id="rId46"/>
  </p:sldIdLst>
  <p:sldSz cx="9144000" cy="5143500" type="screen16x9"/>
  <p:notesSz cx="6858000" cy="9144000"/>
  <p:custDataLst>
    <p:tags r:id="rId4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05"/>
    <p:restoredTop sz="94694"/>
  </p:normalViewPr>
  <p:slideViewPr>
    <p:cSldViewPr snapToGrid="0" snapToObjects="1">
      <p:cViewPr varScale="1">
        <p:scale>
          <a:sx n="130" d="100"/>
          <a:sy n="130" d="100"/>
        </p:scale>
        <p:origin x="224" y="1792"/>
      </p:cViewPr>
      <p:guideLst>
        <p:guide orient="horz" pos="1620"/>
        <p:guide pos="336"/>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úlius Baráth" userId="e650c4ab-697e-4750-bd58-c1531aabce95" providerId="ADAL" clId="{E353A96A-00E7-504E-979F-C28899EAC933}"/>
    <pc:docChg chg="custSel delSld modSld">
      <pc:chgData name="Július Baráth" userId="e650c4ab-697e-4750-bd58-c1531aabce95" providerId="ADAL" clId="{E353A96A-00E7-504E-979F-C28899EAC933}" dt="2021-09-22T05:39:45.435" v="47" actId="113"/>
      <pc:docMkLst>
        <pc:docMk/>
      </pc:docMkLst>
      <pc:sldChg chg="addSp delSp modSp mod">
        <pc:chgData name="Július Baráth" userId="e650c4ab-697e-4750-bd58-c1531aabce95" providerId="ADAL" clId="{E353A96A-00E7-504E-979F-C28899EAC933}" dt="2021-09-22T05:25:13.552" v="6" actId="113"/>
        <pc:sldMkLst>
          <pc:docMk/>
          <pc:sldMk cId="2358192164" sldId="1160"/>
        </pc:sldMkLst>
      </pc:sldChg>
      <pc:sldChg chg="addSp modSp mod">
        <pc:chgData name="Július Baráth" userId="e650c4ab-697e-4750-bd58-c1531aabce95" providerId="ADAL" clId="{E353A96A-00E7-504E-979F-C28899EAC933}" dt="2021-09-22T05:31:59.377" v="35" actId="1076"/>
        <pc:sldMkLst>
          <pc:docMk/>
          <pc:sldMk cId="3341050886" sldId="1174"/>
        </pc:sldMkLst>
      </pc:sldChg>
      <pc:sldChg chg="addSp modSp del mod">
        <pc:chgData name="Július Baráth" userId="e650c4ab-697e-4750-bd58-c1531aabce95" providerId="ADAL" clId="{E353A96A-00E7-504E-979F-C28899EAC933}" dt="2021-09-22T05:36:45.481" v="44" actId="2696"/>
        <pc:sldMkLst>
          <pc:docMk/>
          <pc:sldMk cId="2372934862" sldId="1175"/>
        </pc:sldMkLst>
      </pc:sldChg>
      <pc:sldChg chg="del">
        <pc:chgData name="Július Baráth" userId="e650c4ab-697e-4750-bd58-c1531aabce95" providerId="ADAL" clId="{E353A96A-00E7-504E-979F-C28899EAC933}" dt="2021-09-22T05:37:11.919" v="45" actId="2696"/>
        <pc:sldMkLst>
          <pc:docMk/>
          <pc:sldMk cId="1995104943" sldId="1176"/>
        </pc:sldMkLst>
      </pc:sldChg>
      <pc:sldChg chg="modSp mod">
        <pc:chgData name="Július Baráth" userId="e650c4ab-697e-4750-bd58-c1531aabce95" providerId="ADAL" clId="{E353A96A-00E7-504E-979F-C28899EAC933}" dt="2021-09-22T05:39:25.720" v="46" actId="113"/>
        <pc:sldMkLst>
          <pc:docMk/>
          <pc:sldMk cId="1915781201" sldId="1181"/>
        </pc:sldMkLst>
      </pc:sldChg>
      <pc:sldChg chg="modSp mod">
        <pc:chgData name="Július Baráth" userId="e650c4ab-697e-4750-bd58-c1531aabce95" providerId="ADAL" clId="{E353A96A-00E7-504E-979F-C28899EAC933}" dt="2021-09-22T05:39:45.435" v="47" actId="113"/>
        <pc:sldMkLst>
          <pc:docMk/>
          <pc:sldMk cId="209985041" sldId="1182"/>
        </pc:sldMkLst>
      </pc:sldChg>
    </pc:docChg>
  </pc:docChgLst>
  <pc:docChgLst>
    <pc:chgData name="Július Baráth" userId="e650c4ab-697e-4750-bd58-c1531aabce95" providerId="ADAL" clId="{81B7E8DD-846F-B848-AC47-073AAFCBD390}"/>
    <pc:docChg chg="undo custSel delSld modSld">
      <pc:chgData name="Július Baráth" userId="e650c4ab-697e-4750-bd58-c1531aabce95" providerId="ADAL" clId="{81B7E8DD-846F-B848-AC47-073AAFCBD390}" dt="2022-09-26T07:04:34.105" v="219" actId="20577"/>
      <pc:docMkLst>
        <pc:docMk/>
      </pc:docMkLst>
      <pc:sldChg chg="modSp mod">
        <pc:chgData name="Július Baráth" userId="e650c4ab-697e-4750-bd58-c1531aabce95" providerId="ADAL" clId="{81B7E8DD-846F-B848-AC47-073AAFCBD390}" dt="2022-09-26T06:19:47.480" v="31" actId="14734"/>
        <pc:sldMkLst>
          <pc:docMk/>
          <pc:sldMk cId="1671064827" sldId="1054"/>
        </pc:sldMkLst>
      </pc:sldChg>
      <pc:sldChg chg="modSp mod">
        <pc:chgData name="Július Baráth" userId="e650c4ab-697e-4750-bd58-c1531aabce95" providerId="ADAL" clId="{81B7E8DD-846F-B848-AC47-073AAFCBD390}" dt="2022-09-26T06:21:11.797" v="32" actId="113"/>
        <pc:sldMkLst>
          <pc:docMk/>
          <pc:sldMk cId="2851478535" sldId="1137"/>
        </pc:sldMkLst>
      </pc:sldChg>
      <pc:sldChg chg="addSp modSp mod">
        <pc:chgData name="Július Baráth" userId="e650c4ab-697e-4750-bd58-c1531aabce95" providerId="ADAL" clId="{81B7E8DD-846F-B848-AC47-073AAFCBD390}" dt="2022-09-26T06:43:46.533" v="38" actId="207"/>
        <pc:sldMkLst>
          <pc:docMk/>
          <pc:sldMk cId="4267783798" sldId="1159"/>
        </pc:sldMkLst>
      </pc:sldChg>
      <pc:sldChg chg="addSp delSp modSp mod">
        <pc:chgData name="Július Baráth" userId="e650c4ab-697e-4750-bd58-c1531aabce95" providerId="ADAL" clId="{81B7E8DD-846F-B848-AC47-073AAFCBD390}" dt="2022-09-26T06:49:39.321" v="136" actId="27636"/>
        <pc:sldMkLst>
          <pc:docMk/>
          <pc:sldMk cId="2358192164" sldId="1160"/>
        </pc:sldMkLst>
      </pc:sldChg>
      <pc:sldChg chg="addSp delSp modSp del mod">
        <pc:chgData name="Július Baráth" userId="e650c4ab-697e-4750-bd58-c1531aabce95" providerId="ADAL" clId="{81B7E8DD-846F-B848-AC47-073AAFCBD390}" dt="2022-09-26T06:49:57.693" v="139" actId="2696"/>
        <pc:sldMkLst>
          <pc:docMk/>
          <pc:sldMk cId="2994669638" sldId="1161"/>
        </pc:sldMkLst>
      </pc:sldChg>
      <pc:sldChg chg="modSp mod">
        <pc:chgData name="Július Baráth" userId="e650c4ab-697e-4750-bd58-c1531aabce95" providerId="ADAL" clId="{81B7E8DD-846F-B848-AC47-073AAFCBD390}" dt="2022-09-26T07:04:34.105" v="219" actId="20577"/>
        <pc:sldMkLst>
          <pc:docMk/>
          <pc:sldMk cId="735450657" sldId="1165"/>
        </pc:sldMkLst>
      </pc:sldChg>
      <pc:sldChg chg="modSp mod">
        <pc:chgData name="Július Baráth" userId="e650c4ab-697e-4750-bd58-c1531aabce95" providerId="ADAL" clId="{81B7E8DD-846F-B848-AC47-073AAFCBD390}" dt="2022-09-26T06:56:40.781" v="215" actId="20577"/>
        <pc:sldMkLst>
          <pc:docMk/>
          <pc:sldMk cId="4253241240" sldId="1166"/>
        </pc:sldMkLst>
      </pc:sldChg>
      <pc:sldChg chg="modSp">
        <pc:chgData name="Július Baráth" userId="e650c4ab-697e-4750-bd58-c1531aabce95" providerId="ADAL" clId="{81B7E8DD-846F-B848-AC47-073AAFCBD390}" dt="2022-09-26T07:01:56.957" v="216" actId="1076"/>
        <pc:sldMkLst>
          <pc:docMk/>
          <pc:sldMk cId="3341050886" sldId="1174"/>
        </pc:sldMkLst>
      </pc:sldChg>
    </pc:docChg>
  </pc:docChgLst>
  <pc:docChgLst>
    <pc:chgData name="Baráth, Július" userId="aebde9b9-dccc-4475-a9ac-c05e78323d7a" providerId="ADAL" clId="{4A0811C8-ED2F-505E-B787-C8270CED5046}"/>
    <pc:docChg chg="modSld">
      <pc:chgData name="Baráth, Július" userId="aebde9b9-dccc-4475-a9ac-c05e78323d7a" providerId="ADAL" clId="{4A0811C8-ED2F-505E-B787-C8270CED5046}" dt="2025-09-10T11:48:33.719" v="1" actId="20577"/>
      <pc:docMkLst>
        <pc:docMk/>
      </pc:docMkLst>
      <pc:sldChg chg="modSp mod">
        <pc:chgData name="Baráth, Július" userId="aebde9b9-dccc-4475-a9ac-c05e78323d7a" providerId="ADAL" clId="{4A0811C8-ED2F-505E-B787-C8270CED5046}" dt="2025-09-10T11:36:56.772" v="0" actId="115"/>
        <pc:sldMkLst>
          <pc:docMk/>
          <pc:sldMk cId="3072090855" sldId="1147"/>
        </pc:sldMkLst>
        <pc:spChg chg="mod">
          <ac:chgData name="Baráth, Július" userId="aebde9b9-dccc-4475-a9ac-c05e78323d7a" providerId="ADAL" clId="{4A0811C8-ED2F-505E-B787-C8270CED5046}" dt="2025-09-10T11:36:56.772" v="0" actId="115"/>
          <ac:spMkLst>
            <pc:docMk/>
            <pc:sldMk cId="3072090855" sldId="1147"/>
            <ac:spMk id="4" creationId="{50693879-5816-3444-9D50-A12F1F37F5DE}"/>
          </ac:spMkLst>
        </pc:spChg>
      </pc:sldChg>
      <pc:sldChg chg="modSp mod">
        <pc:chgData name="Baráth, Július" userId="aebde9b9-dccc-4475-a9ac-c05e78323d7a" providerId="ADAL" clId="{4A0811C8-ED2F-505E-B787-C8270CED5046}" dt="2025-09-10T11:48:33.719" v="1" actId="20577"/>
        <pc:sldMkLst>
          <pc:docMk/>
          <pc:sldMk cId="735450657" sldId="1165"/>
        </pc:sldMkLst>
        <pc:spChg chg="mod">
          <ac:chgData name="Baráth, Július" userId="aebde9b9-dccc-4475-a9ac-c05e78323d7a" providerId="ADAL" clId="{4A0811C8-ED2F-505E-B787-C8270CED5046}" dt="2025-09-10T11:48:33.719" v="1" actId="20577"/>
          <ac:spMkLst>
            <pc:docMk/>
            <pc:sldMk cId="735450657" sldId="1165"/>
            <ac:spMk id="6" creationId="{E069F52E-0461-45E4-BE52-F85A33205591}"/>
          </ac:spMkLst>
        </pc:spChg>
      </pc:sldChg>
    </pc:docChg>
  </pc:docChgLst>
  <pc:docChgLst>
    <pc:chgData name="Baráth, Július" userId="aebde9b9-dccc-4475-a9ac-c05e78323d7a" providerId="ADAL" clId="{B5F20D48-A9AC-1D4F-96C1-E8142CD7C665}"/>
    <pc:docChg chg="undo custSel modSld">
      <pc:chgData name="Baráth, Július" userId="aebde9b9-dccc-4475-a9ac-c05e78323d7a" providerId="ADAL" clId="{B5F20D48-A9AC-1D4F-96C1-E8142CD7C665}" dt="2024-10-03T07:27:20.842" v="1" actId="6549"/>
      <pc:docMkLst>
        <pc:docMk/>
      </pc:docMkLst>
      <pc:sldChg chg="modSp mod">
        <pc:chgData name="Baráth, Július" userId="aebde9b9-dccc-4475-a9ac-c05e78323d7a" providerId="ADAL" clId="{B5F20D48-A9AC-1D4F-96C1-E8142CD7C665}" dt="2024-10-03T07:27:20.842" v="1" actId="6549"/>
        <pc:sldMkLst>
          <pc:docMk/>
          <pc:sldMk cId="2473045176" sldId="1172"/>
        </pc:sldMkLst>
      </pc:sldChg>
    </pc:docChg>
  </pc:docChgLst>
  <pc:docChgLst>
    <pc:chgData name="Július Baráth" userId="e650c4ab-697e-4750-bd58-c1531aabce95" providerId="ADAL" clId="{92B7BD5C-466D-564A-BFD9-89A8BD235F1D}"/>
    <pc:docChg chg="delSld modSld">
      <pc:chgData name="Július Baráth" userId="e650c4ab-697e-4750-bd58-c1531aabce95" providerId="ADAL" clId="{92B7BD5C-466D-564A-BFD9-89A8BD235F1D}" dt="2020-09-10T12:05:00.496" v="25" actId="20577"/>
      <pc:docMkLst>
        <pc:docMk/>
      </pc:docMkLst>
      <pc:sldChg chg="del">
        <pc:chgData name="Július Baráth" userId="e650c4ab-697e-4750-bd58-c1531aabce95" providerId="ADAL" clId="{92B7BD5C-466D-564A-BFD9-89A8BD235F1D}" dt="2020-09-09T12:06:51.046" v="0" actId="2696"/>
        <pc:sldMkLst>
          <pc:docMk/>
          <pc:sldMk cId="343650477" sldId="513"/>
        </pc:sldMkLst>
      </pc:sldChg>
      <pc:sldChg chg="del">
        <pc:chgData name="Július Baráth" userId="e650c4ab-697e-4750-bd58-c1531aabce95" providerId="ADAL" clId="{92B7BD5C-466D-564A-BFD9-89A8BD235F1D}" dt="2020-09-09T12:06:51.121" v="8" actId="2696"/>
        <pc:sldMkLst>
          <pc:docMk/>
          <pc:sldMk cId="3599581950" sldId="730"/>
        </pc:sldMkLst>
      </pc:sldChg>
      <pc:sldChg chg="del">
        <pc:chgData name="Július Baráth" userId="e650c4ab-697e-4750-bd58-c1531aabce95" providerId="ADAL" clId="{92B7BD5C-466D-564A-BFD9-89A8BD235F1D}" dt="2020-09-09T12:06:51.070" v="2" actId="2696"/>
        <pc:sldMkLst>
          <pc:docMk/>
          <pc:sldMk cId="2145273728" sldId="763"/>
        </pc:sldMkLst>
      </pc:sldChg>
      <pc:sldChg chg="del">
        <pc:chgData name="Július Baráth" userId="e650c4ab-697e-4750-bd58-c1531aabce95" providerId="ADAL" clId="{92B7BD5C-466D-564A-BFD9-89A8BD235F1D}" dt="2020-09-09T12:07:49.221" v="14" actId="2696"/>
        <pc:sldMkLst>
          <pc:docMk/>
          <pc:sldMk cId="3271745509" sldId="874"/>
        </pc:sldMkLst>
      </pc:sldChg>
      <pc:sldChg chg="del">
        <pc:chgData name="Július Baráth" userId="e650c4ab-697e-4750-bd58-c1531aabce95" providerId="ADAL" clId="{92B7BD5C-466D-564A-BFD9-89A8BD235F1D}" dt="2020-09-09T12:06:51.104" v="6" actId="2696"/>
        <pc:sldMkLst>
          <pc:docMk/>
          <pc:sldMk cId="2109317603" sldId="1052"/>
        </pc:sldMkLst>
      </pc:sldChg>
      <pc:sldChg chg="del">
        <pc:chgData name="Július Baráth" userId="e650c4ab-697e-4750-bd58-c1531aabce95" providerId="ADAL" clId="{92B7BD5C-466D-564A-BFD9-89A8BD235F1D}" dt="2020-09-09T12:06:51.113" v="7" actId="2696"/>
        <pc:sldMkLst>
          <pc:docMk/>
          <pc:sldMk cId="1129576059" sldId="1069"/>
        </pc:sldMkLst>
      </pc:sldChg>
      <pc:sldChg chg="del">
        <pc:chgData name="Július Baráth" userId="e650c4ab-697e-4750-bd58-c1531aabce95" providerId="ADAL" clId="{92B7BD5C-466D-564A-BFD9-89A8BD235F1D}" dt="2020-09-09T12:06:51.095" v="5" actId="2696"/>
        <pc:sldMkLst>
          <pc:docMk/>
          <pc:sldMk cId="1736058053" sldId="1071"/>
        </pc:sldMkLst>
      </pc:sldChg>
      <pc:sldChg chg="del">
        <pc:chgData name="Július Baráth" userId="e650c4ab-697e-4750-bd58-c1531aabce95" providerId="ADAL" clId="{92B7BD5C-466D-564A-BFD9-89A8BD235F1D}" dt="2020-09-09T12:07:06.565" v="9" actId="2696"/>
        <pc:sldMkLst>
          <pc:docMk/>
          <pc:sldMk cId="385780809" sldId="1131"/>
        </pc:sldMkLst>
      </pc:sldChg>
      <pc:sldChg chg="del">
        <pc:chgData name="Július Baráth" userId="e650c4ab-697e-4750-bd58-c1531aabce95" providerId="ADAL" clId="{92B7BD5C-466D-564A-BFD9-89A8BD235F1D}" dt="2020-09-09T12:07:49.241" v="17" actId="2696"/>
        <pc:sldMkLst>
          <pc:docMk/>
          <pc:sldMk cId="769659545" sldId="1135"/>
        </pc:sldMkLst>
      </pc:sldChg>
      <pc:sldChg chg="del">
        <pc:chgData name="Július Baráth" userId="e650c4ab-697e-4750-bd58-c1531aabce95" providerId="ADAL" clId="{92B7BD5C-466D-564A-BFD9-89A8BD235F1D}" dt="2020-09-09T12:07:49.234" v="16" actId="2696"/>
        <pc:sldMkLst>
          <pc:docMk/>
          <pc:sldMk cId="3316344990" sldId="1136"/>
        </pc:sldMkLst>
      </pc:sldChg>
      <pc:sldChg chg="del">
        <pc:chgData name="Július Baráth" userId="e650c4ab-697e-4750-bd58-c1531aabce95" providerId="ADAL" clId="{92B7BD5C-466D-564A-BFD9-89A8BD235F1D}" dt="2020-09-09T12:07:17.670" v="10" actId="2696"/>
        <pc:sldMkLst>
          <pc:docMk/>
          <pc:sldMk cId="2669784694" sldId="1157"/>
        </pc:sldMkLst>
      </pc:sldChg>
      <pc:sldChg chg="del">
        <pc:chgData name="Július Baráth" userId="e650c4ab-697e-4750-bd58-c1531aabce95" providerId="ADAL" clId="{92B7BD5C-466D-564A-BFD9-89A8BD235F1D}" dt="2020-09-09T12:07:29.696" v="11" actId="2696"/>
        <pc:sldMkLst>
          <pc:docMk/>
          <pc:sldMk cId="2479863595" sldId="1170"/>
        </pc:sldMkLst>
      </pc:sldChg>
      <pc:sldChg chg="modSp mod">
        <pc:chgData name="Július Baráth" userId="e650c4ab-697e-4750-bd58-c1531aabce95" providerId="ADAL" clId="{92B7BD5C-466D-564A-BFD9-89A8BD235F1D}" dt="2020-09-10T12:04:14.539" v="23" actId="20577"/>
        <pc:sldMkLst>
          <pc:docMk/>
          <pc:sldMk cId="2473045176" sldId="1172"/>
        </pc:sldMkLst>
      </pc:sldChg>
      <pc:sldChg chg="modSp mod">
        <pc:chgData name="Július Baráth" userId="e650c4ab-697e-4750-bd58-c1531aabce95" providerId="ADAL" clId="{92B7BD5C-466D-564A-BFD9-89A8BD235F1D}" dt="2020-09-10T12:05:00.496" v="25" actId="20577"/>
        <pc:sldMkLst>
          <pc:docMk/>
          <pc:sldMk cId="2347802964" sldId="1173"/>
        </pc:sldMkLst>
      </pc:sldChg>
      <pc:sldChg chg="del">
        <pc:chgData name="Július Baráth" userId="e650c4ab-697e-4750-bd58-c1531aabce95" providerId="ADAL" clId="{92B7BD5C-466D-564A-BFD9-89A8BD235F1D}" dt="2020-09-09T12:07:37.916" v="12" actId="2696"/>
        <pc:sldMkLst>
          <pc:docMk/>
          <pc:sldMk cId="1659371114" sldId="1179"/>
        </pc:sldMkLst>
      </pc:sldChg>
      <pc:sldChg chg="del">
        <pc:chgData name="Július Baráth" userId="e650c4ab-697e-4750-bd58-c1531aabce95" providerId="ADAL" clId="{92B7BD5C-466D-564A-BFD9-89A8BD235F1D}" dt="2020-09-09T12:07:49.214" v="13" actId="2696"/>
        <pc:sldMkLst>
          <pc:docMk/>
          <pc:sldMk cId="3095965249" sldId="1183"/>
        </pc:sldMkLst>
      </pc:sldChg>
      <pc:sldChg chg="del">
        <pc:chgData name="Július Baráth" userId="e650c4ab-697e-4750-bd58-c1531aabce95" providerId="ADAL" clId="{92B7BD5C-466D-564A-BFD9-89A8BD235F1D}" dt="2020-09-09T12:07:49.228" v="15" actId="2696"/>
        <pc:sldMkLst>
          <pc:docMk/>
          <pc:sldMk cId="1918965451" sldId="1184"/>
        </pc:sldMkLst>
      </pc:sldChg>
      <pc:sldChg chg="del">
        <pc:chgData name="Július Baráth" userId="e650c4ab-697e-4750-bd58-c1531aabce95" providerId="ADAL" clId="{92B7BD5C-466D-564A-BFD9-89A8BD235F1D}" dt="2020-09-09T12:07:49.247" v="18" actId="2696"/>
        <pc:sldMkLst>
          <pc:docMk/>
          <pc:sldMk cId="466659040" sldId="1185"/>
        </pc:sldMkLst>
      </pc:sldChg>
      <pc:sldChg chg="del">
        <pc:chgData name="Július Baráth" userId="e650c4ab-697e-4750-bd58-c1531aabce95" providerId="ADAL" clId="{92B7BD5C-466D-564A-BFD9-89A8BD235F1D}" dt="2020-09-09T12:06:51.078" v="3" actId="2696"/>
        <pc:sldMkLst>
          <pc:docMk/>
          <pc:sldMk cId="2029836133" sldId="1186"/>
        </pc:sldMkLst>
      </pc:sldChg>
      <pc:sldChg chg="del">
        <pc:chgData name="Július Baráth" userId="e650c4ab-697e-4750-bd58-c1531aabce95" providerId="ADAL" clId="{92B7BD5C-466D-564A-BFD9-89A8BD235F1D}" dt="2020-09-09T12:06:51.086" v="4" actId="2696"/>
        <pc:sldMkLst>
          <pc:docMk/>
          <pc:sldMk cId="122153960" sldId="1272"/>
        </pc:sldMkLst>
      </pc:sldChg>
      <pc:sldChg chg="del">
        <pc:chgData name="Július Baráth" userId="e650c4ab-697e-4750-bd58-c1531aabce95" providerId="ADAL" clId="{92B7BD5C-466D-564A-BFD9-89A8BD235F1D}" dt="2020-09-09T12:06:51.058" v="1" actId="2696"/>
        <pc:sldMkLst>
          <pc:docMk/>
          <pc:sldMk cId="780792272" sldId="1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9/10/25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a:t>Cisco Networking Academy Program</a:t>
            </a:r>
          </a:p>
          <a:p>
            <a:r>
              <a:rPr lang="en-US">
                <a:solidFill>
                  <a:schemeClr val="accent5">
                    <a:lumMod val="40000"/>
                    <a:lumOff val="60000"/>
                  </a:schemeClr>
                </a:solidFill>
              </a:rPr>
              <a:t>Enterprise Networking, Security, and Automation v7.0 (ENSA) </a:t>
            </a:r>
          </a:p>
          <a:p>
            <a:pPr>
              <a:buFontTx/>
              <a:buNone/>
            </a:pPr>
            <a:r>
              <a:rPr lang="en-US" b="0"/>
              <a:t>Module 6: NAT for IPv6</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a:t>6 – NAT for IPv4</a:t>
            </a:r>
          </a:p>
          <a:p>
            <a:pPr>
              <a:buFontTx/>
              <a:buNone/>
            </a:pPr>
            <a:r>
              <a:rPr lang="en-GB"/>
              <a:t>6.0.2 -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6.1 – NAT Characteristics</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6.1 – NAT Characteristics</a:t>
            </a:r>
          </a:p>
          <a:p>
            <a:r>
              <a:rPr lang="en-US"/>
              <a:t>6.1.2 – IPv4 Address Space</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6.1 – NAT Characteristics</a:t>
            </a:r>
          </a:p>
          <a:p>
            <a:r>
              <a:rPr lang="en-US"/>
              <a:t>6.1.2 – What is NAT</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a:p>
        </p:txBody>
      </p:sp>
    </p:spTree>
    <p:extLst>
      <p:ext uri="{BB962C8B-B14F-4D97-AF65-F5344CB8AC3E}">
        <p14:creationId xmlns:p14="http://schemas.microsoft.com/office/powerpoint/2010/main" val="2226796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6.1 – NAT Characteristics</a:t>
            </a:r>
          </a:p>
          <a:p>
            <a:r>
              <a:rPr lang="en-US"/>
              <a:t>6.1.3 – How NAT Works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a:p>
        </p:txBody>
      </p:sp>
    </p:spTree>
    <p:extLst>
      <p:ext uri="{BB962C8B-B14F-4D97-AF65-F5344CB8AC3E}">
        <p14:creationId xmlns:p14="http://schemas.microsoft.com/office/powerpoint/2010/main" val="351025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6.1 – NAT Characteristics</a:t>
            </a:r>
          </a:p>
          <a:p>
            <a:r>
              <a:rPr lang="en-US"/>
              <a:t>6.1.4 – NAT Terminology</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a:p>
        </p:txBody>
      </p:sp>
    </p:spTree>
    <p:extLst>
      <p:ext uri="{BB962C8B-B14F-4D97-AF65-F5344CB8AC3E}">
        <p14:creationId xmlns:p14="http://schemas.microsoft.com/office/powerpoint/2010/main" val="1613996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6.1 – NAT Characteristics</a:t>
            </a:r>
          </a:p>
          <a:p>
            <a:r>
              <a:rPr lang="en-US"/>
              <a:t>6.1.4 – NAT Terminology (Cont.)</a:t>
            </a:r>
          </a:p>
          <a:p>
            <a:r>
              <a:rPr lang="en-US"/>
              <a:t>6.1.5 – Check Your Understanding – NAT Characteristics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a:p>
        </p:txBody>
      </p:sp>
    </p:spTree>
    <p:extLst>
      <p:ext uri="{BB962C8B-B14F-4D97-AF65-F5344CB8AC3E}">
        <p14:creationId xmlns:p14="http://schemas.microsoft.com/office/powerpoint/2010/main" val="4187633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6.2 – Types of NAT</a:t>
            </a:r>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a:p>
        </p:txBody>
      </p:sp>
    </p:spTree>
    <p:extLst>
      <p:ext uri="{BB962C8B-B14F-4D97-AF65-F5344CB8AC3E}">
        <p14:creationId xmlns:p14="http://schemas.microsoft.com/office/powerpoint/2010/main" val="2747276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6.2 – Types of NAT</a:t>
            </a:r>
          </a:p>
          <a:p>
            <a:r>
              <a:rPr lang="en-US"/>
              <a:t>6.2.1 – Static NAT</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a:p>
        </p:txBody>
      </p:sp>
    </p:spTree>
    <p:extLst>
      <p:ext uri="{BB962C8B-B14F-4D97-AF65-F5344CB8AC3E}">
        <p14:creationId xmlns:p14="http://schemas.microsoft.com/office/powerpoint/2010/main" val="1192595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6.2 – Types of NAT</a:t>
            </a:r>
          </a:p>
          <a:p>
            <a:r>
              <a:rPr lang="en-US"/>
              <a:t>6.2.2 – Dynamic NAT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a:p>
        </p:txBody>
      </p:sp>
    </p:spTree>
    <p:extLst>
      <p:ext uri="{BB962C8B-B14F-4D97-AF65-F5344CB8AC3E}">
        <p14:creationId xmlns:p14="http://schemas.microsoft.com/office/powerpoint/2010/main" val="3117121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6.2 – Types of NAT</a:t>
            </a:r>
          </a:p>
          <a:p>
            <a:r>
              <a:rPr lang="en-US"/>
              <a:t>6.2.3 – Port Address Translation</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a:p>
        </p:txBody>
      </p:sp>
    </p:spTree>
    <p:extLst>
      <p:ext uri="{BB962C8B-B14F-4D97-AF65-F5344CB8AC3E}">
        <p14:creationId xmlns:p14="http://schemas.microsoft.com/office/powerpoint/2010/main" val="3182947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6.2 – Types of NAT</a:t>
            </a:r>
          </a:p>
          <a:p>
            <a:r>
              <a:rPr lang="en-US"/>
              <a:t>6.2.4 – Next Available Port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a:p>
        </p:txBody>
      </p:sp>
    </p:spTree>
    <p:extLst>
      <p:ext uri="{BB962C8B-B14F-4D97-AF65-F5344CB8AC3E}">
        <p14:creationId xmlns:p14="http://schemas.microsoft.com/office/powerpoint/2010/main" val="2125959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6.2 – Types of NAT</a:t>
            </a:r>
          </a:p>
          <a:p>
            <a:r>
              <a:rPr lang="en-US"/>
              <a:t>6.2.5 – NAT and PAT Comparison</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a:p>
        </p:txBody>
      </p:sp>
    </p:spTree>
    <p:extLst>
      <p:ext uri="{BB962C8B-B14F-4D97-AF65-F5344CB8AC3E}">
        <p14:creationId xmlns:p14="http://schemas.microsoft.com/office/powerpoint/2010/main" val="14031003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6.2 – Types of NAT</a:t>
            </a:r>
          </a:p>
          <a:p>
            <a:r>
              <a:rPr lang="en-US"/>
              <a:t>6.2.6 – Packets without a Layer 4 Segment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a:p>
        </p:txBody>
      </p:sp>
    </p:spTree>
    <p:extLst>
      <p:ext uri="{BB962C8B-B14F-4D97-AF65-F5344CB8AC3E}">
        <p14:creationId xmlns:p14="http://schemas.microsoft.com/office/powerpoint/2010/main" val="3474725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6.3 – NAT Advantages and Disadvantages</a:t>
            </a:r>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a:p>
        </p:txBody>
      </p:sp>
    </p:spTree>
    <p:extLst>
      <p:ext uri="{BB962C8B-B14F-4D97-AF65-F5344CB8AC3E}">
        <p14:creationId xmlns:p14="http://schemas.microsoft.com/office/powerpoint/2010/main" val="3535546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6.3 – NAT Advantages and Disadvantages</a:t>
            </a:r>
          </a:p>
          <a:p>
            <a:r>
              <a:rPr lang="en-US"/>
              <a:t>6.3.1 – Advantages of NAT</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a:p>
        </p:txBody>
      </p:sp>
    </p:spTree>
    <p:extLst>
      <p:ext uri="{BB962C8B-B14F-4D97-AF65-F5344CB8AC3E}">
        <p14:creationId xmlns:p14="http://schemas.microsoft.com/office/powerpoint/2010/main" val="1272255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6.3 – NAT Advantages and Disadvantages</a:t>
            </a:r>
          </a:p>
          <a:p>
            <a:r>
              <a:rPr lang="en-US"/>
              <a:t>6.3.2 – Disadvantages of NAT</a:t>
            </a:r>
          </a:p>
          <a:p>
            <a:r>
              <a:rPr lang="en-US"/>
              <a:t>6.3.3 – Check Your Understanding – NAT Advantages and Disadvantages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a:p>
        </p:txBody>
      </p:sp>
    </p:spTree>
    <p:extLst>
      <p:ext uri="{BB962C8B-B14F-4D97-AF65-F5344CB8AC3E}">
        <p14:creationId xmlns:p14="http://schemas.microsoft.com/office/powerpoint/2010/main" val="31987654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6.4 – Static NAT</a:t>
            </a:r>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a:p>
        </p:txBody>
      </p:sp>
    </p:spTree>
    <p:extLst>
      <p:ext uri="{BB962C8B-B14F-4D97-AF65-F5344CB8AC3E}">
        <p14:creationId xmlns:p14="http://schemas.microsoft.com/office/powerpoint/2010/main" val="39121486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6.4 – Static NAT</a:t>
            </a:r>
          </a:p>
          <a:p>
            <a:r>
              <a:rPr lang="en-US"/>
              <a:t>6.4.1 – Static NAT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a:p>
        </p:txBody>
      </p:sp>
    </p:spTree>
    <p:extLst>
      <p:ext uri="{BB962C8B-B14F-4D97-AF65-F5344CB8AC3E}">
        <p14:creationId xmlns:p14="http://schemas.microsoft.com/office/powerpoint/2010/main" val="1585051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6.4 – Static NAT</a:t>
            </a:r>
          </a:p>
          <a:p>
            <a:r>
              <a:rPr lang="en-US"/>
              <a:t>6.4.2 – Configure Static NAT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a:p>
        </p:txBody>
      </p:sp>
    </p:spTree>
    <p:extLst>
      <p:ext uri="{BB962C8B-B14F-4D97-AF65-F5344CB8AC3E}">
        <p14:creationId xmlns:p14="http://schemas.microsoft.com/office/powerpoint/2010/main" val="40399997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6.4 – Static NAT</a:t>
            </a:r>
          </a:p>
          <a:p>
            <a:r>
              <a:rPr lang="en-US"/>
              <a:t>6.4.3 – Analyze Static NAT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a:p>
        </p:txBody>
      </p:sp>
    </p:spTree>
    <p:extLst>
      <p:ext uri="{BB962C8B-B14F-4D97-AF65-F5344CB8AC3E}">
        <p14:creationId xmlns:p14="http://schemas.microsoft.com/office/powerpoint/2010/main" val="2393989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6.4 – Static NAT</a:t>
            </a:r>
          </a:p>
          <a:p>
            <a:r>
              <a:rPr lang="en-US"/>
              <a:t>6.4.4 – Verify Static NAT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a:p>
        </p:txBody>
      </p:sp>
    </p:spTree>
    <p:extLst>
      <p:ext uri="{BB962C8B-B14F-4D97-AF65-F5344CB8AC3E}">
        <p14:creationId xmlns:p14="http://schemas.microsoft.com/office/powerpoint/2010/main" val="36779120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6.4 – Static NAT</a:t>
            </a:r>
          </a:p>
          <a:p>
            <a:r>
              <a:rPr lang="en-US"/>
              <a:t>6.4.4 – Verify Static NAT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a:p>
        </p:txBody>
      </p:sp>
    </p:spTree>
    <p:extLst>
      <p:ext uri="{BB962C8B-B14F-4D97-AF65-F5344CB8AC3E}">
        <p14:creationId xmlns:p14="http://schemas.microsoft.com/office/powerpoint/2010/main" val="13191188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6.5 – Dynamic NAT</a:t>
            </a:r>
          </a:p>
        </p:txBody>
      </p:sp>
      <p:sp>
        <p:nvSpPr>
          <p:cNvPr id="4" name="Slide Number Placeholder 3"/>
          <p:cNvSpPr>
            <a:spLocks noGrp="1"/>
          </p:cNvSpPr>
          <p:nvPr>
            <p:ph type="sldNum" sz="quarter" idx="10"/>
          </p:nvPr>
        </p:nvSpPr>
        <p:spPr/>
        <p:txBody>
          <a:bodyPr/>
          <a:lstStyle/>
          <a:p>
            <a:fld id="{5641018C-6CAF-B84E-B92C-ECB119457FBA}" type="slidenum">
              <a:rPr lang="en-US" smtClean="0"/>
              <a:t>25</a:t>
            </a:fld>
            <a:endParaRPr lang="en-US"/>
          </a:p>
        </p:txBody>
      </p:sp>
    </p:spTree>
    <p:extLst>
      <p:ext uri="{BB962C8B-B14F-4D97-AF65-F5344CB8AC3E}">
        <p14:creationId xmlns:p14="http://schemas.microsoft.com/office/powerpoint/2010/main" val="5659839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6.5 – Dynamic NAT</a:t>
            </a:r>
          </a:p>
          <a:p>
            <a:r>
              <a:rPr lang="en-US"/>
              <a:t>6.5.1 – Dynamic NAT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a:p>
        </p:txBody>
      </p:sp>
    </p:spTree>
    <p:extLst>
      <p:ext uri="{BB962C8B-B14F-4D97-AF65-F5344CB8AC3E}">
        <p14:creationId xmlns:p14="http://schemas.microsoft.com/office/powerpoint/2010/main" val="11444302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6.5 – Dynamic NAT</a:t>
            </a:r>
          </a:p>
          <a:p>
            <a:r>
              <a:rPr lang="en-US"/>
              <a:t>6.5.2 – Configure Dynamic NAT</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a:p>
        </p:txBody>
      </p:sp>
    </p:spTree>
    <p:extLst>
      <p:ext uri="{BB962C8B-B14F-4D97-AF65-F5344CB8AC3E}">
        <p14:creationId xmlns:p14="http://schemas.microsoft.com/office/powerpoint/2010/main" val="33724876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6.5 – Dynamic NAT</a:t>
            </a:r>
          </a:p>
          <a:p>
            <a:r>
              <a:rPr lang="en-US"/>
              <a:t>6.5.3 – Analyze Dynamic NAT – Inside to Outside</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a:p>
        </p:txBody>
      </p:sp>
    </p:spTree>
    <p:extLst>
      <p:ext uri="{BB962C8B-B14F-4D97-AF65-F5344CB8AC3E}">
        <p14:creationId xmlns:p14="http://schemas.microsoft.com/office/powerpoint/2010/main" val="38568388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6.5 – Dynamic NAT</a:t>
            </a:r>
          </a:p>
          <a:p>
            <a:r>
              <a:rPr lang="en-US"/>
              <a:t>6.5.4 – Analyze Dynamic NAT – Outside to Inside</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a:p>
        </p:txBody>
      </p:sp>
    </p:spTree>
    <p:extLst>
      <p:ext uri="{BB962C8B-B14F-4D97-AF65-F5344CB8AC3E}">
        <p14:creationId xmlns:p14="http://schemas.microsoft.com/office/powerpoint/2010/main" val="822091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6.5 – Dynamic NAT</a:t>
            </a:r>
          </a:p>
          <a:p>
            <a:r>
              <a:rPr lang="en-US"/>
              <a:t>6.5.4 – Analyze Dynamic NAT – Outside to Inside (Cont.)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a:p>
        </p:txBody>
      </p:sp>
    </p:spTree>
    <p:extLst>
      <p:ext uri="{BB962C8B-B14F-4D97-AF65-F5344CB8AC3E}">
        <p14:creationId xmlns:p14="http://schemas.microsoft.com/office/powerpoint/2010/main" val="23513992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6.5 – Dynamic NAT</a:t>
            </a:r>
          </a:p>
          <a:p>
            <a:r>
              <a:rPr lang="en-US"/>
              <a:t>6.5.5 – Verify Dynamic NAT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a:p>
        </p:txBody>
      </p:sp>
    </p:spTree>
    <p:extLst>
      <p:ext uri="{BB962C8B-B14F-4D97-AF65-F5344CB8AC3E}">
        <p14:creationId xmlns:p14="http://schemas.microsoft.com/office/powerpoint/2010/main" val="21185771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6.5 – Dynamic NAT</a:t>
            </a:r>
          </a:p>
          <a:p>
            <a:r>
              <a:rPr lang="en-US"/>
              <a:t>6.5.5 – Verify Dynamic NAT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a:p>
        </p:txBody>
      </p:sp>
    </p:spTree>
    <p:extLst>
      <p:ext uri="{BB962C8B-B14F-4D97-AF65-F5344CB8AC3E}">
        <p14:creationId xmlns:p14="http://schemas.microsoft.com/office/powerpoint/2010/main" val="32565485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6.5 – Dynamic NAT</a:t>
            </a:r>
          </a:p>
          <a:p>
            <a:r>
              <a:rPr lang="en-US"/>
              <a:t>6.5.5 – Verify Dynamic NAT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a:p>
        </p:txBody>
      </p:sp>
    </p:spTree>
    <p:extLst>
      <p:ext uri="{BB962C8B-B14F-4D97-AF65-F5344CB8AC3E}">
        <p14:creationId xmlns:p14="http://schemas.microsoft.com/office/powerpoint/2010/main" val="12766531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6.5 – Dynamic NAT</a:t>
            </a:r>
          </a:p>
          <a:p>
            <a:r>
              <a:rPr lang="en-US"/>
              <a:t>6.5.5 – Verify Dynamic NAT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a:p>
        </p:txBody>
      </p:sp>
    </p:spTree>
    <p:extLst>
      <p:ext uri="{BB962C8B-B14F-4D97-AF65-F5344CB8AC3E}">
        <p14:creationId xmlns:p14="http://schemas.microsoft.com/office/powerpoint/2010/main" val="10306918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6.5 – Dynamic NAT</a:t>
            </a:r>
          </a:p>
          <a:p>
            <a:r>
              <a:rPr lang="en-US"/>
              <a:t>6.5.5 – Verify Dynamic NAT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a:p>
        </p:txBody>
      </p:sp>
    </p:spTree>
    <p:extLst>
      <p:ext uri="{BB962C8B-B14F-4D97-AF65-F5344CB8AC3E}">
        <p14:creationId xmlns:p14="http://schemas.microsoft.com/office/powerpoint/2010/main" val="8254988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6.6 – PAT</a:t>
            </a:r>
          </a:p>
        </p:txBody>
      </p:sp>
      <p:sp>
        <p:nvSpPr>
          <p:cNvPr id="4" name="Slide Number Placeholder 3"/>
          <p:cNvSpPr>
            <a:spLocks noGrp="1"/>
          </p:cNvSpPr>
          <p:nvPr>
            <p:ph type="sldNum" sz="quarter" idx="10"/>
          </p:nvPr>
        </p:nvSpPr>
        <p:spPr/>
        <p:txBody>
          <a:bodyPr/>
          <a:lstStyle/>
          <a:p>
            <a:fld id="{5641018C-6CAF-B84E-B92C-ECB119457FBA}" type="slidenum">
              <a:rPr lang="en-US" smtClean="0"/>
              <a:t>36</a:t>
            </a:fld>
            <a:endParaRPr lang="en-US"/>
          </a:p>
        </p:txBody>
      </p:sp>
    </p:spTree>
    <p:extLst>
      <p:ext uri="{BB962C8B-B14F-4D97-AF65-F5344CB8AC3E}">
        <p14:creationId xmlns:p14="http://schemas.microsoft.com/office/powerpoint/2010/main" val="4307926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6.6 – PAT</a:t>
            </a:r>
          </a:p>
          <a:p>
            <a:r>
              <a:rPr lang="en-US"/>
              <a:t>6.6.2 – Configure PAT to Use a Single IPv4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a:p>
        </p:txBody>
      </p:sp>
    </p:spTree>
    <p:extLst>
      <p:ext uri="{BB962C8B-B14F-4D97-AF65-F5344CB8AC3E}">
        <p14:creationId xmlns:p14="http://schemas.microsoft.com/office/powerpoint/2010/main" val="27312747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6.6 – PAT</a:t>
            </a:r>
          </a:p>
          <a:p>
            <a:r>
              <a:rPr lang="en-US"/>
              <a:t>6.6.3 – Configure PAT to Use an Address Pool</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a:p>
        </p:txBody>
      </p:sp>
    </p:spTree>
    <p:extLst>
      <p:ext uri="{BB962C8B-B14F-4D97-AF65-F5344CB8AC3E}">
        <p14:creationId xmlns:p14="http://schemas.microsoft.com/office/powerpoint/2010/main" val="41583945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6.6 – PAT</a:t>
            </a:r>
          </a:p>
          <a:p>
            <a:r>
              <a:rPr lang="en-US"/>
              <a:t>6.6.4 – Analyze PAT – Server to PC</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a:p>
        </p:txBody>
      </p:sp>
    </p:spTree>
    <p:extLst>
      <p:ext uri="{BB962C8B-B14F-4D97-AF65-F5344CB8AC3E}">
        <p14:creationId xmlns:p14="http://schemas.microsoft.com/office/powerpoint/2010/main" val="9881341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6.6 – PAT</a:t>
            </a:r>
          </a:p>
          <a:p>
            <a:r>
              <a:rPr lang="en-US"/>
              <a:t>6.6.6 – Verify PAT</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a:p>
        </p:txBody>
      </p:sp>
    </p:spTree>
    <p:extLst>
      <p:ext uri="{BB962C8B-B14F-4D97-AF65-F5344CB8AC3E}">
        <p14:creationId xmlns:p14="http://schemas.microsoft.com/office/powerpoint/2010/main" val="11831363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6.6 – PAT</a:t>
            </a:r>
          </a:p>
          <a:p>
            <a:r>
              <a:rPr lang="en-US"/>
              <a:t>6.6.6 – Verify PAT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a:p>
        </p:txBody>
      </p:sp>
    </p:spTree>
    <p:extLst>
      <p:ext uri="{BB962C8B-B14F-4D97-AF65-F5344CB8AC3E}">
        <p14:creationId xmlns:p14="http://schemas.microsoft.com/office/powerpoint/2010/main" val="9668206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6.7 – NAT64</a:t>
            </a:r>
          </a:p>
        </p:txBody>
      </p:sp>
      <p:sp>
        <p:nvSpPr>
          <p:cNvPr id="4" name="Slide Number Placeholder 3"/>
          <p:cNvSpPr>
            <a:spLocks noGrp="1"/>
          </p:cNvSpPr>
          <p:nvPr>
            <p:ph type="sldNum" sz="quarter" idx="10"/>
          </p:nvPr>
        </p:nvSpPr>
        <p:spPr/>
        <p:txBody>
          <a:bodyPr/>
          <a:lstStyle/>
          <a:p>
            <a:fld id="{5641018C-6CAF-B84E-B92C-ECB119457FBA}" type="slidenum">
              <a:rPr lang="en-US" smtClean="0"/>
              <a:t>42</a:t>
            </a:fld>
            <a:endParaRPr lang="en-US"/>
          </a:p>
        </p:txBody>
      </p:sp>
    </p:spTree>
    <p:extLst>
      <p:ext uri="{BB962C8B-B14F-4D97-AF65-F5344CB8AC3E}">
        <p14:creationId xmlns:p14="http://schemas.microsoft.com/office/powerpoint/2010/main" val="25717747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6.7 – NAT64</a:t>
            </a:r>
          </a:p>
          <a:p>
            <a:r>
              <a:rPr lang="en-US"/>
              <a:t>6.7.1 – NAT for IPv6?</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a:p>
        </p:txBody>
      </p:sp>
    </p:spTree>
    <p:extLst>
      <p:ext uri="{BB962C8B-B14F-4D97-AF65-F5344CB8AC3E}">
        <p14:creationId xmlns:p14="http://schemas.microsoft.com/office/powerpoint/2010/main" val="12533627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 NAT for IPv4</a:t>
            </a:r>
          </a:p>
          <a:p>
            <a:r>
              <a:rPr lang="en-US"/>
              <a:t>6.7 – NAT64</a:t>
            </a:r>
          </a:p>
          <a:p>
            <a:r>
              <a:rPr lang="en-US"/>
              <a:t>6.7.2 – NAT64</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a:p>
        </p:txBody>
      </p:sp>
    </p:spTree>
    <p:extLst>
      <p:ext uri="{BB962C8B-B14F-4D97-AF65-F5344CB8AC3E}">
        <p14:creationId xmlns:p14="http://schemas.microsoft.com/office/powerpoint/2010/main" val="36916428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a:solidFill>
                  <a:schemeClr val="accent5">
                    <a:lumMod val="40000"/>
                    <a:lumOff val="60000"/>
                  </a:schemeClr>
                </a:solidFill>
              </a:rPr>
              <a:t>Module 6: NAT for IPv4</a:t>
            </a:r>
          </a:p>
        </p:txBody>
      </p:sp>
      <p:sp>
        <p:nvSpPr>
          <p:cNvPr id="7" name="Subtitle 6"/>
          <p:cNvSpPr>
            <a:spLocks noGrp="1"/>
          </p:cNvSpPr>
          <p:nvPr>
            <p:ph type="subTitle" idx="1"/>
          </p:nvPr>
        </p:nvSpPr>
        <p:spPr>
          <a:xfrm>
            <a:off x="469497" y="3809526"/>
            <a:ext cx="2368954" cy="902174"/>
          </a:xfrm>
        </p:spPr>
        <p:txBody>
          <a:bodyPr/>
          <a:lstStyle/>
          <a:p>
            <a:r>
              <a:rPr lang="en-US">
                <a:solidFill>
                  <a:schemeClr val="accent5">
                    <a:lumMod val="40000"/>
                    <a:lumOff val="60000"/>
                  </a:schemeClr>
                </a:solidFill>
              </a:rPr>
              <a:t>Enterprise Networking, Security, and Automation v7.0 (ENSA) </a:t>
            </a:r>
          </a:p>
          <a:p>
            <a:endParaRPr lang="en-US"/>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41394"/>
            <a:ext cx="9144000" cy="605390"/>
          </a:xfrm>
        </p:spPr>
        <p:txBody>
          <a:bodyPr/>
          <a:lstStyle/>
          <a:p>
            <a:pPr eaLnBrk="1" hangingPunct="1"/>
            <a:r>
              <a:rPr lang="en-US"/>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NAT for IPv4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a:ln>
                <a:noFill/>
              </a:ln>
              <a:solidFill>
                <a:schemeClr val="tx1"/>
              </a:solidFill>
              <a:effectLst/>
              <a:latin typeface="+mn-lt"/>
            </a:endParaRPr>
          </a:p>
          <a:p>
            <a:pPr lvl="0" defTabSz="914400" eaLnBrk="0" hangingPunct="0"/>
            <a:r>
              <a:rPr kumimoji="0" lang="en-US" altLang="en-US"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 </a:t>
            </a:r>
            <a:r>
              <a:rPr lang="en-US" sz="1600"/>
              <a:t>Configure NAT services on the edge router to provide IPv4 address scalability.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263553868"/>
              </p:ext>
            </p:extLst>
          </p:nvPr>
        </p:nvGraphicFramePr>
        <p:xfrm>
          <a:off x="766914" y="1892354"/>
          <a:ext cx="7604088" cy="2441701"/>
        </p:xfrm>
        <a:graphic>
          <a:graphicData uri="http://schemas.openxmlformats.org/drawingml/2006/table">
            <a:tbl>
              <a:tblPr firstRow="1" firstCol="1" bandRow="1">
                <a:tableStyleId>{5C22544A-7EE6-4342-B048-85BDC9FD1C3A}</a:tableStyleId>
              </a:tblPr>
              <a:tblGrid>
                <a:gridCol w="2833021">
                  <a:extLst>
                    <a:ext uri="{9D8B030D-6E8A-4147-A177-3AD203B41FA5}">
                      <a16:colId xmlns:a16="http://schemas.microsoft.com/office/drawing/2014/main" val="1523797708"/>
                    </a:ext>
                  </a:extLst>
                </a:gridCol>
                <a:gridCol w="4771067">
                  <a:extLst>
                    <a:ext uri="{9D8B030D-6E8A-4147-A177-3AD203B41FA5}">
                      <a16:colId xmlns:a16="http://schemas.microsoft.com/office/drawing/2014/main" val="2750207184"/>
                    </a:ext>
                  </a:extLst>
                </a:gridCol>
              </a:tblGrid>
              <a:tr h="160199">
                <a:tc>
                  <a:txBody>
                    <a:bodyPr/>
                    <a:lstStyle/>
                    <a:p>
                      <a:pPr marL="0" marR="0">
                        <a:lnSpc>
                          <a:spcPct val="107000"/>
                        </a:lnSpc>
                        <a:spcBef>
                          <a:spcPts val="0"/>
                        </a:spcBef>
                        <a:spcAft>
                          <a:spcPts val="0"/>
                        </a:spcAft>
                      </a:pPr>
                      <a:r>
                        <a:rPr lang="en-US" sz="1200">
                          <a:effectLst/>
                        </a:rPr>
                        <a:t>Topic Title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rPr>
                        <a:t>Topic Objective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28882">
                <a:tc>
                  <a:txBody>
                    <a:bodyPr/>
                    <a:lstStyle/>
                    <a:p>
                      <a:pPr marL="0" marR="0">
                        <a:lnSpc>
                          <a:spcPct val="107000"/>
                        </a:lnSpc>
                        <a:spcBef>
                          <a:spcPts val="0"/>
                        </a:spcBef>
                        <a:spcAft>
                          <a:spcPts val="0"/>
                        </a:spcAft>
                      </a:pPr>
                      <a:r>
                        <a:rPr lang="en-US" sz="1200">
                          <a:effectLst/>
                        </a:rPr>
                        <a:t>NAT Characteristics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t>Explain the purpose and function of NAT.</a:t>
                      </a:r>
                      <a:endPar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282544">
                <a:tc>
                  <a:txBody>
                    <a:bodyPr/>
                    <a:lstStyle/>
                    <a:p>
                      <a:pPr marL="0" marR="0">
                        <a:lnSpc>
                          <a:spcPct val="107000"/>
                        </a:lnSpc>
                        <a:spcBef>
                          <a:spcPts val="0"/>
                        </a:spcBef>
                        <a:spcAft>
                          <a:spcPts val="0"/>
                        </a:spcAft>
                      </a:pPr>
                      <a:r>
                        <a:rPr lang="en-US" sz="1200">
                          <a:effectLst/>
                        </a:rPr>
                        <a:t>Types of NAT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t>Explain the operation of different types of NAT.</a:t>
                      </a:r>
                      <a:endPar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328882">
                <a:tc>
                  <a:txBody>
                    <a:bodyPr/>
                    <a:lstStyle/>
                    <a:p>
                      <a:pPr marL="0" marR="0">
                        <a:lnSpc>
                          <a:spcPct val="107000"/>
                        </a:lnSpc>
                        <a:spcBef>
                          <a:spcPts val="0"/>
                        </a:spcBef>
                        <a:spcAft>
                          <a:spcPts val="0"/>
                        </a:spcAft>
                      </a:pPr>
                      <a:r>
                        <a:rPr lang="en-US" sz="1200">
                          <a:effectLst/>
                        </a:rPr>
                        <a:t>NAT Advantages and Disadvantages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t>Describe the advantages and disadvantages of NAT.</a:t>
                      </a:r>
                      <a:endPar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328882">
                <a:tc>
                  <a:txBody>
                    <a:bodyPr/>
                    <a:lstStyle/>
                    <a:p>
                      <a:pPr marL="0" marR="0">
                        <a:lnSpc>
                          <a:spcPct val="107000"/>
                        </a:lnSpc>
                        <a:spcBef>
                          <a:spcPts val="0"/>
                        </a:spcBef>
                        <a:spcAft>
                          <a:spcPts val="0"/>
                        </a:spcAft>
                      </a:pPr>
                      <a:r>
                        <a:rPr lang="en-US" sz="1200">
                          <a:effectLst/>
                        </a:rPr>
                        <a:t>Static NAT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t>Configure static NAT using the CLI.</a:t>
                      </a:r>
                      <a:endPar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r h="328882">
                <a:tc>
                  <a:txBody>
                    <a:bodyPr/>
                    <a:lstStyle/>
                    <a:p>
                      <a:pPr marL="0" marR="0">
                        <a:lnSpc>
                          <a:spcPct val="107000"/>
                        </a:lnSpc>
                        <a:spcBef>
                          <a:spcPts val="0"/>
                        </a:spcBef>
                        <a:spcAft>
                          <a:spcPts val="0"/>
                        </a:spcAft>
                      </a:pPr>
                      <a:r>
                        <a:rPr lang="en-US" sz="1200">
                          <a:effectLst/>
                          <a:latin typeface="Calibri" panose="020F0502020204030204" pitchFamily="34" charset="0"/>
                          <a:ea typeface="Calibri" panose="020F0502020204030204" pitchFamily="34" charset="0"/>
                          <a:cs typeface="Times New Roman" panose="02020603050405020304" pitchFamily="18" charset="0"/>
                        </a:rPr>
                        <a:t>Dynamic NAT</a:t>
                      </a:r>
                    </a:p>
                  </a:txBody>
                  <a:tcPr marL="68580" marR="68580" marT="0" marB="0"/>
                </a:tc>
                <a:tc>
                  <a:txBody>
                    <a:bodyPr/>
                    <a:lstStyle/>
                    <a:p>
                      <a:pPr marL="0" marR="0">
                        <a:lnSpc>
                          <a:spcPct val="107000"/>
                        </a:lnSpc>
                        <a:spcBef>
                          <a:spcPts val="0"/>
                        </a:spcBef>
                        <a:spcAft>
                          <a:spcPts val="0"/>
                        </a:spcAft>
                      </a:pPr>
                      <a:r>
                        <a:rPr lang="en-US" sz="1100"/>
                        <a:t>Configure dynamic NAT using the CLI.</a:t>
                      </a:r>
                      <a:endPar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5486783"/>
                  </a:ext>
                </a:extLst>
              </a:tr>
              <a:tr h="328882">
                <a:tc>
                  <a:txBody>
                    <a:bodyPr/>
                    <a:lstStyle/>
                    <a:p>
                      <a:pPr marL="0" marR="0">
                        <a:lnSpc>
                          <a:spcPct val="107000"/>
                        </a:lnSpc>
                        <a:spcBef>
                          <a:spcPts val="0"/>
                        </a:spcBef>
                        <a:spcAft>
                          <a:spcPts val="0"/>
                        </a:spcAft>
                      </a:pPr>
                      <a:r>
                        <a:rPr lang="en-US" sz="1200">
                          <a:effectLst/>
                          <a:latin typeface="Calibri" panose="020F0502020204030204" pitchFamily="34" charset="0"/>
                          <a:ea typeface="Calibri" panose="020F0502020204030204" pitchFamily="34" charset="0"/>
                          <a:cs typeface="Times New Roman" panose="02020603050405020304" pitchFamily="18" charset="0"/>
                        </a:rPr>
                        <a:t>PAT</a:t>
                      </a:r>
                    </a:p>
                  </a:txBody>
                  <a:tcPr marL="68580" marR="68580" marT="0" marB="0"/>
                </a:tc>
                <a:tc>
                  <a:txBody>
                    <a:bodyPr/>
                    <a:lstStyle/>
                    <a:p>
                      <a:pPr marL="0" marR="0">
                        <a:lnSpc>
                          <a:spcPct val="107000"/>
                        </a:lnSpc>
                        <a:spcBef>
                          <a:spcPts val="0"/>
                        </a:spcBef>
                        <a:spcAft>
                          <a:spcPts val="0"/>
                        </a:spcAft>
                      </a:pPr>
                      <a:r>
                        <a:rPr lang="en-US" sz="1100"/>
                        <a:t>Configure PAT using the CLI.</a:t>
                      </a:r>
                      <a:endPar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01594653"/>
                  </a:ext>
                </a:extLst>
              </a:tr>
              <a:tr h="328882">
                <a:tc>
                  <a:txBody>
                    <a:bodyPr/>
                    <a:lstStyle/>
                    <a:p>
                      <a:pPr marL="0" marR="0">
                        <a:lnSpc>
                          <a:spcPct val="107000"/>
                        </a:lnSpc>
                        <a:spcBef>
                          <a:spcPts val="0"/>
                        </a:spcBef>
                        <a:spcAft>
                          <a:spcPts val="0"/>
                        </a:spcAft>
                      </a:pPr>
                      <a:r>
                        <a:rPr lang="en-US" sz="1200">
                          <a:effectLst/>
                          <a:latin typeface="Calibri" panose="020F0502020204030204" pitchFamily="34" charset="0"/>
                          <a:ea typeface="Calibri" panose="020F0502020204030204" pitchFamily="34" charset="0"/>
                          <a:cs typeface="Times New Roman" panose="02020603050405020304" pitchFamily="18" charset="0"/>
                        </a:rPr>
                        <a:t>NAT64</a:t>
                      </a:r>
                    </a:p>
                  </a:txBody>
                  <a:tcPr marL="68580" marR="68580" marT="0" marB="0"/>
                </a:tc>
                <a:tc>
                  <a:txBody>
                    <a:bodyPr/>
                    <a:lstStyle/>
                    <a:p>
                      <a:pPr marL="0" marR="0">
                        <a:lnSpc>
                          <a:spcPct val="107000"/>
                        </a:lnSpc>
                        <a:spcBef>
                          <a:spcPts val="0"/>
                        </a:spcBef>
                        <a:spcAft>
                          <a:spcPts val="0"/>
                        </a:spcAft>
                      </a:pPr>
                      <a:r>
                        <a:rPr lang="en-US" sz="1100"/>
                        <a:t>Describe NAT for IPv6.</a:t>
                      </a:r>
                      <a:endPar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5006725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a:solidFill>
                  <a:schemeClr val="accent5">
                    <a:lumMod val="40000"/>
                    <a:lumOff val="60000"/>
                  </a:schemeClr>
                </a:solidFill>
              </a:rPr>
              <a:t>6.1 NAT Characteristics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NAT Characteristics</a:t>
            </a:r>
            <a:br>
              <a:rPr lang="en-US"/>
            </a:br>
            <a:r>
              <a:rPr lang="en-US" sz="2400"/>
              <a:t>IPv4 Address Space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807197"/>
          </a:xfrm>
        </p:spPr>
        <p:txBody>
          <a:bodyPr/>
          <a:lstStyle/>
          <a:p>
            <a:pPr marL="285750" indent="-285750" algn="l">
              <a:buFont typeface="Arial" panose="020B0604020202020204" pitchFamily="34" charset="0"/>
              <a:buChar char="•"/>
            </a:pPr>
            <a:r>
              <a:rPr lang="en-US" sz="1600">
                <a:solidFill>
                  <a:srgbClr val="000000"/>
                </a:solidFill>
              </a:rPr>
              <a:t>Networks are commonly implemented using private IPv4 addresses, as defined in RFC 1918.</a:t>
            </a:r>
          </a:p>
          <a:p>
            <a:pPr marL="285750" indent="-285750" algn="l">
              <a:buFont typeface="Arial" panose="020B0604020202020204" pitchFamily="34" charset="0"/>
              <a:buChar char="•"/>
            </a:pPr>
            <a:r>
              <a:rPr lang="en-US" sz="1600">
                <a:solidFill>
                  <a:srgbClr val="000000"/>
                </a:solidFill>
              </a:rPr>
              <a:t>Private IPv4 addresses cannot be routed over the internet and are used within an organization or site to allow devices to communicate locally.</a:t>
            </a:r>
          </a:p>
          <a:p>
            <a:pPr marL="285750" indent="-285750" algn="l">
              <a:buFont typeface="Arial" panose="020B0604020202020204" pitchFamily="34" charset="0"/>
              <a:buChar char="•"/>
            </a:pPr>
            <a:r>
              <a:rPr lang="en-US" sz="1600">
                <a:solidFill>
                  <a:srgbClr val="000000"/>
                </a:solidFill>
              </a:rPr>
              <a:t>To allow a device with a private IPv4 address to access devices and resources outside of the local network, the private address must first be translated to a public address.</a:t>
            </a:r>
          </a:p>
          <a:p>
            <a:pPr marL="285750" indent="-285750" algn="l">
              <a:buFont typeface="Arial" panose="020B0604020202020204" pitchFamily="34" charset="0"/>
              <a:buChar char="•"/>
            </a:pPr>
            <a:r>
              <a:rPr lang="en-US" sz="1600">
                <a:solidFill>
                  <a:srgbClr val="000000"/>
                </a:solidFill>
              </a:rPr>
              <a:t>NAT provides the translation of private addresses to public addresses.</a:t>
            </a:r>
          </a:p>
        </p:txBody>
      </p:sp>
      <p:graphicFrame>
        <p:nvGraphicFramePr>
          <p:cNvPr id="9" name="Content Placeholder 3">
            <a:extLst>
              <a:ext uri="{FF2B5EF4-FFF2-40B4-BE49-F238E27FC236}">
                <a16:creationId xmlns:a16="http://schemas.microsoft.com/office/drawing/2014/main" id="{B5F121B8-4F04-440C-B80A-CDC61C915FC4}"/>
              </a:ext>
            </a:extLst>
          </p:cNvPr>
          <p:cNvGraphicFramePr>
            <a:graphicFrameLocks/>
          </p:cNvGraphicFramePr>
          <p:nvPr>
            <p:extLst>
              <p:ext uri="{D42A27DB-BD31-4B8C-83A1-F6EECF244321}">
                <p14:modId xmlns:p14="http://schemas.microsoft.com/office/powerpoint/2010/main" val="3806423831"/>
              </p:ext>
            </p:extLst>
          </p:nvPr>
        </p:nvGraphicFramePr>
        <p:xfrm>
          <a:off x="5016842" y="1219248"/>
          <a:ext cx="3874397" cy="1375854"/>
        </p:xfrm>
        <a:graphic>
          <a:graphicData uri="http://schemas.openxmlformats.org/drawingml/2006/table">
            <a:tbl>
              <a:tblPr firstRow="1" bandRow="1">
                <a:tableStyleId>{5C22544A-7EE6-4342-B048-85BDC9FD1C3A}</a:tableStyleId>
              </a:tblPr>
              <a:tblGrid>
                <a:gridCol w="595194">
                  <a:extLst>
                    <a:ext uri="{9D8B030D-6E8A-4147-A177-3AD203B41FA5}">
                      <a16:colId xmlns:a16="http://schemas.microsoft.com/office/drawing/2014/main" val="20001"/>
                    </a:ext>
                  </a:extLst>
                </a:gridCol>
                <a:gridCol w="2100591">
                  <a:extLst>
                    <a:ext uri="{9D8B030D-6E8A-4147-A177-3AD203B41FA5}">
                      <a16:colId xmlns:a16="http://schemas.microsoft.com/office/drawing/2014/main" val="3156509146"/>
                    </a:ext>
                  </a:extLst>
                </a:gridCol>
                <a:gridCol w="1178612">
                  <a:extLst>
                    <a:ext uri="{9D8B030D-6E8A-4147-A177-3AD203B41FA5}">
                      <a16:colId xmlns:a16="http://schemas.microsoft.com/office/drawing/2014/main" val="20002"/>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Class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a:t>Activity Type</a:t>
                      </a:r>
                    </a:p>
                  </a:txBody>
                  <a:tcPr marL="68580" marR="68580" marT="34290" marB="34290" anchor="ctr"/>
                </a:tc>
                <a:tc>
                  <a:txBody>
                    <a:bodyPr/>
                    <a:lstStyle/>
                    <a:p>
                      <a:r>
                        <a:rPr lang="en-US" sz="1200"/>
                        <a:t>Activity Name</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t>A</a:t>
                      </a:r>
                    </a:p>
                    <a:p>
                      <a:pPr algn="ctr"/>
                      <a:r>
                        <a:rPr lang="en-US" sz="800" dirty="0"/>
                        <a:t>(1-127)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10.0.0.0 – 10.255.255.255</a:t>
                      </a:r>
                    </a:p>
                  </a:txBody>
                  <a:tcPr marL="68580" marR="68580" marT="34290" marB="34290" anchor="ctr"/>
                </a:tc>
                <a:tc>
                  <a:txBody>
                    <a:bodyPr/>
                    <a:lstStyle/>
                    <a:p>
                      <a:r>
                        <a:rPr lang="en-US" sz="1100"/>
                        <a:t>10.0.0.0/8</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t>B</a:t>
                      </a:r>
                    </a:p>
                    <a:p>
                      <a:pPr algn="ctr"/>
                      <a:r>
                        <a:rPr lang="en-US" sz="800" dirty="0"/>
                        <a:t>(128-191)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172.16.0.0 – 172.31.255.255</a:t>
                      </a:r>
                    </a:p>
                  </a:txBody>
                  <a:tcPr marL="68580" marR="68580" marT="34290" marB="34290" anchor="ctr"/>
                </a:tc>
                <a:tc>
                  <a:txBody>
                    <a:bodyPr/>
                    <a:lstStyle/>
                    <a:p>
                      <a:r>
                        <a:rPr lang="en-US" sz="1100"/>
                        <a:t>172.16.0.0/12</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t>C</a:t>
                      </a:r>
                    </a:p>
                    <a:p>
                      <a:pPr algn="ctr"/>
                      <a:r>
                        <a:rPr lang="en-US" sz="800" dirty="0"/>
                        <a:t>(192-223)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a:t>192.168.0.0 – 192.168.255.255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192.168.0.0/16</a:t>
                      </a:r>
                    </a:p>
                  </a:txBody>
                  <a:tcPr marL="68580" marR="68580" marT="34290" marB="34290" anchor="ctr"/>
                </a:tc>
                <a:extLst>
                  <a:ext uri="{0D108BD9-81ED-4DB2-BD59-A6C34878D82A}">
                    <a16:rowId xmlns:a16="http://schemas.microsoft.com/office/drawing/2014/main" val="10008"/>
                  </a:ext>
                </a:extLst>
              </a:tr>
            </a:tbl>
          </a:graphicData>
        </a:graphic>
      </p:graphicFrame>
      <p:pic>
        <p:nvPicPr>
          <p:cNvPr id="8" name="Picture 7">
            <a:extLst>
              <a:ext uri="{FF2B5EF4-FFF2-40B4-BE49-F238E27FC236}">
                <a16:creationId xmlns:a16="http://schemas.microsoft.com/office/drawing/2014/main" id="{515380D8-C9C9-44F5-9C37-38ABF708F5E6}"/>
              </a:ext>
            </a:extLst>
          </p:cNvPr>
          <p:cNvPicPr>
            <a:picLocks noChangeAspect="1"/>
          </p:cNvPicPr>
          <p:nvPr/>
        </p:nvPicPr>
        <p:blipFill>
          <a:blip r:embed="rId3"/>
          <a:stretch>
            <a:fillRect/>
          </a:stretch>
        </p:blipFill>
        <p:spPr>
          <a:xfrm>
            <a:off x="5016842" y="3079599"/>
            <a:ext cx="3621817" cy="1305119"/>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NAT Characteristics</a:t>
            </a:r>
            <a:br>
              <a:rPr lang="en-US"/>
            </a:br>
            <a:r>
              <a:rPr lang="en-US" sz="2400"/>
              <a:t>What is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807197"/>
          </a:xfrm>
        </p:spPr>
        <p:txBody>
          <a:bodyPr/>
          <a:lstStyle/>
          <a:p>
            <a:pPr marL="285750" indent="-285750" algn="l">
              <a:buFont typeface="Arial" panose="020B0604020202020204" pitchFamily="34" charset="0"/>
              <a:buChar char="•"/>
            </a:pPr>
            <a:r>
              <a:rPr lang="en-US" sz="1600" dirty="0">
                <a:solidFill>
                  <a:srgbClr val="000000"/>
                </a:solidFill>
              </a:rPr>
              <a:t>The primary use of NAT is to conserve public IPv4 addresses.</a:t>
            </a:r>
          </a:p>
          <a:p>
            <a:pPr marL="285750" indent="-285750" algn="l">
              <a:buFont typeface="Arial" panose="020B0604020202020204" pitchFamily="34" charset="0"/>
              <a:buChar char="•"/>
            </a:pPr>
            <a:r>
              <a:rPr lang="en-US" sz="1600" dirty="0">
                <a:solidFill>
                  <a:srgbClr val="000000"/>
                </a:solidFill>
              </a:rPr>
              <a:t>NAT allows networks to use private IPv4 addresses internally and translates them to a public address when needed.</a:t>
            </a:r>
          </a:p>
          <a:p>
            <a:pPr marL="285750" indent="-285750" algn="l">
              <a:buFont typeface="Arial" panose="020B0604020202020204" pitchFamily="34" charset="0"/>
              <a:buChar char="•"/>
            </a:pPr>
            <a:r>
              <a:rPr lang="en-US" sz="1600" dirty="0">
                <a:solidFill>
                  <a:srgbClr val="000000"/>
                </a:solidFill>
              </a:rPr>
              <a:t>A NAT router typically operates at the border of a </a:t>
            </a:r>
            <a:r>
              <a:rPr lang="en-US" sz="1600" b="1" dirty="0">
                <a:solidFill>
                  <a:srgbClr val="000000"/>
                </a:solidFill>
              </a:rPr>
              <a:t>stub network</a:t>
            </a:r>
            <a:r>
              <a:rPr lang="en-US" sz="1600" dirty="0">
                <a:solidFill>
                  <a:srgbClr val="000000"/>
                </a:solidFill>
              </a:rPr>
              <a:t>.</a:t>
            </a:r>
          </a:p>
          <a:p>
            <a:pPr marL="285750" indent="-285750" algn="l">
              <a:buFont typeface="Arial" panose="020B0604020202020204" pitchFamily="34" charset="0"/>
              <a:buChar char="•"/>
            </a:pPr>
            <a:r>
              <a:rPr lang="en-US" sz="1600" dirty="0">
                <a:solidFill>
                  <a:srgbClr val="000000"/>
                </a:solidFill>
              </a:rPr>
              <a:t>When a device inside the stub network wants to communicate with a device outside of its network, the packet is forwarded to the border router which performs the NAT process, translating the internal private address of the device to a public, outside, routable address.</a:t>
            </a:r>
          </a:p>
          <a:p>
            <a:pPr marL="0" indent="0" algn="l"/>
            <a:endParaRPr lang="en-US" sz="1400" dirty="0">
              <a:solidFill>
                <a:srgbClr val="000000"/>
              </a:solidFill>
            </a:endParaRPr>
          </a:p>
        </p:txBody>
      </p:sp>
      <p:pic>
        <p:nvPicPr>
          <p:cNvPr id="7" name="Picture 6">
            <a:extLst>
              <a:ext uri="{FF2B5EF4-FFF2-40B4-BE49-F238E27FC236}">
                <a16:creationId xmlns:a16="http://schemas.microsoft.com/office/drawing/2014/main" id="{7DC6B7C5-99DD-491F-B9AE-23EE81145E31}"/>
              </a:ext>
            </a:extLst>
          </p:cNvPr>
          <p:cNvPicPr>
            <a:picLocks noChangeAspect="1"/>
          </p:cNvPicPr>
          <p:nvPr/>
        </p:nvPicPr>
        <p:blipFill>
          <a:blip r:embed="rId3"/>
          <a:stretch>
            <a:fillRect/>
          </a:stretch>
        </p:blipFill>
        <p:spPr>
          <a:xfrm>
            <a:off x="4572000" y="1219522"/>
            <a:ext cx="4230047" cy="2704456"/>
          </a:xfrm>
          <a:prstGeom prst="rect">
            <a:avLst/>
          </a:prstGeom>
        </p:spPr>
      </p:pic>
    </p:spTree>
    <p:extLst>
      <p:ext uri="{BB962C8B-B14F-4D97-AF65-F5344CB8AC3E}">
        <p14:creationId xmlns:p14="http://schemas.microsoft.com/office/powerpoint/2010/main" val="2851478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NAT Characteristics</a:t>
            </a:r>
            <a:br>
              <a:rPr lang="en-US"/>
            </a:br>
            <a:r>
              <a:rPr lang="en-US" sz="2400"/>
              <a:t>How NAT 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13123" y="731837"/>
            <a:ext cx="5045329" cy="4115860"/>
          </a:xfrm>
        </p:spPr>
        <p:txBody>
          <a:bodyPr/>
          <a:lstStyle/>
          <a:p>
            <a:pPr marL="0" indent="0" algn="l"/>
            <a:r>
              <a:rPr lang="en-US" sz="1400" dirty="0">
                <a:solidFill>
                  <a:srgbClr val="000000"/>
                </a:solidFill>
              </a:rPr>
              <a:t>PC1 wants to communicate with an outside web server with public address 209.165.201.1.</a:t>
            </a:r>
          </a:p>
          <a:p>
            <a:pPr marL="228600" indent="-228600" algn="l">
              <a:buFont typeface="+mj-lt"/>
              <a:buAutoNum type="arabicPeriod"/>
            </a:pPr>
            <a:r>
              <a:rPr lang="en-US" sz="1400" dirty="0">
                <a:solidFill>
                  <a:srgbClr val="000000"/>
                </a:solidFill>
              </a:rPr>
              <a:t>PC1 sends a packet addressed to the web server. </a:t>
            </a:r>
          </a:p>
          <a:p>
            <a:pPr marL="228600" indent="-228600" algn="l">
              <a:buFont typeface="+mj-lt"/>
              <a:buAutoNum type="arabicPeriod"/>
            </a:pPr>
            <a:r>
              <a:rPr lang="en-US" sz="1400" dirty="0">
                <a:solidFill>
                  <a:srgbClr val="000000"/>
                </a:solidFill>
              </a:rPr>
              <a:t>R2 receives the packet and reads the source IPv4 address to determine if it needs translation.</a:t>
            </a:r>
          </a:p>
          <a:p>
            <a:pPr marL="228600" indent="-228600" algn="l">
              <a:buFont typeface="+mj-lt"/>
              <a:buAutoNum type="arabicPeriod"/>
            </a:pPr>
            <a:r>
              <a:rPr lang="en-US" sz="1400" dirty="0">
                <a:solidFill>
                  <a:srgbClr val="000000"/>
                </a:solidFill>
              </a:rPr>
              <a:t>R2 adds mapping of the local to global address to the NAT table.</a:t>
            </a:r>
          </a:p>
          <a:p>
            <a:pPr marL="228600" indent="-228600" algn="l">
              <a:buFont typeface="+mj-lt"/>
              <a:buAutoNum type="arabicPeriod"/>
            </a:pPr>
            <a:r>
              <a:rPr lang="en-US" sz="1400" dirty="0">
                <a:solidFill>
                  <a:srgbClr val="000000"/>
                </a:solidFill>
              </a:rPr>
              <a:t>R2 sends the packet with the translated source address toward the destination.</a:t>
            </a:r>
          </a:p>
          <a:p>
            <a:pPr marL="228600" indent="-228600" algn="l">
              <a:buFont typeface="+mj-lt"/>
              <a:buAutoNum type="arabicPeriod"/>
            </a:pPr>
            <a:r>
              <a:rPr lang="en-US" sz="1400" dirty="0">
                <a:solidFill>
                  <a:srgbClr val="000000"/>
                </a:solidFill>
              </a:rPr>
              <a:t>The web server responds with a packet addressed to the inside global address of PC1 (209.165.200.226).</a:t>
            </a:r>
          </a:p>
          <a:p>
            <a:pPr marL="228600" indent="-228600" algn="l">
              <a:buFont typeface="+mj-lt"/>
              <a:buAutoNum type="arabicPeriod"/>
            </a:pPr>
            <a:r>
              <a:rPr lang="en-US" sz="1400" dirty="0">
                <a:solidFill>
                  <a:srgbClr val="000000"/>
                </a:solidFill>
              </a:rPr>
              <a:t>R2 receives the packet with destination address 209.165.200.226. R2 checks the NAT table and finds an entry for this mapping. R2 uses this information and translates the inside global address (209.165.200.226) to the inside local address (192.168.10.10), and the packet is forwarded toward PC1.</a:t>
            </a:r>
          </a:p>
          <a:p>
            <a:pPr marL="228600" indent="-228600" algn="l">
              <a:buFont typeface="+mj-lt"/>
              <a:buAutoNum type="arabicPeriod"/>
            </a:pPr>
            <a:endParaRPr lang="en-US" sz="1200" dirty="0">
              <a:solidFill>
                <a:srgbClr val="000000"/>
              </a:solidFill>
            </a:endParaRPr>
          </a:p>
        </p:txBody>
      </p:sp>
      <p:pic>
        <p:nvPicPr>
          <p:cNvPr id="2" name="Picture 1">
            <a:extLst>
              <a:ext uri="{FF2B5EF4-FFF2-40B4-BE49-F238E27FC236}">
                <a16:creationId xmlns:a16="http://schemas.microsoft.com/office/drawing/2014/main" id="{0177C11A-554F-4416-BE0C-E4F7434D7F09}"/>
              </a:ext>
            </a:extLst>
          </p:cNvPr>
          <p:cNvPicPr>
            <a:picLocks noChangeAspect="1"/>
          </p:cNvPicPr>
          <p:nvPr/>
        </p:nvPicPr>
        <p:blipFill>
          <a:blip r:embed="rId3"/>
          <a:stretch>
            <a:fillRect/>
          </a:stretch>
        </p:blipFill>
        <p:spPr>
          <a:xfrm>
            <a:off x="5158452" y="1541376"/>
            <a:ext cx="3712798" cy="2060747"/>
          </a:xfrm>
          <a:prstGeom prst="rect">
            <a:avLst/>
          </a:prstGeom>
        </p:spPr>
      </p:pic>
    </p:spTree>
    <p:extLst>
      <p:ext uri="{BB962C8B-B14F-4D97-AF65-F5344CB8AC3E}">
        <p14:creationId xmlns:p14="http://schemas.microsoft.com/office/powerpoint/2010/main" val="26887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NAT Characteristics</a:t>
            </a:r>
            <a:br>
              <a:rPr lang="en-US"/>
            </a:br>
            <a:r>
              <a:rPr lang="en-US" sz="2400"/>
              <a:t>NAT Terminology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3807197"/>
          </a:xfrm>
        </p:spPr>
        <p:txBody>
          <a:bodyPr/>
          <a:lstStyle/>
          <a:p>
            <a:pPr marL="0" indent="0" algn="l"/>
            <a:r>
              <a:rPr lang="en-US" sz="1600">
                <a:solidFill>
                  <a:srgbClr val="000000"/>
                </a:solidFill>
              </a:rPr>
              <a:t>NAT includes four types of addresses:</a:t>
            </a:r>
          </a:p>
          <a:p>
            <a:pPr algn="l">
              <a:buFont typeface="Arial" panose="020B0604020202020204" pitchFamily="34" charset="0"/>
              <a:buChar char="•"/>
            </a:pPr>
            <a:r>
              <a:rPr lang="en-US" sz="1600">
                <a:solidFill>
                  <a:srgbClr val="000000"/>
                </a:solidFill>
              </a:rPr>
              <a:t>Inside local address</a:t>
            </a:r>
          </a:p>
          <a:p>
            <a:pPr algn="l">
              <a:buFont typeface="Arial" panose="020B0604020202020204" pitchFamily="34" charset="0"/>
              <a:buChar char="•"/>
            </a:pPr>
            <a:r>
              <a:rPr lang="en-US" sz="1600">
                <a:solidFill>
                  <a:srgbClr val="000000"/>
                </a:solidFill>
              </a:rPr>
              <a:t>Inside global address</a:t>
            </a:r>
          </a:p>
          <a:p>
            <a:pPr algn="l">
              <a:buFont typeface="Arial" panose="020B0604020202020204" pitchFamily="34" charset="0"/>
              <a:buChar char="•"/>
            </a:pPr>
            <a:r>
              <a:rPr lang="en-US" sz="1600">
                <a:solidFill>
                  <a:srgbClr val="000000"/>
                </a:solidFill>
              </a:rPr>
              <a:t>Outside local address</a:t>
            </a:r>
          </a:p>
          <a:p>
            <a:pPr algn="l">
              <a:buFont typeface="Arial" panose="020B0604020202020204" pitchFamily="34" charset="0"/>
              <a:buChar char="•"/>
            </a:pPr>
            <a:r>
              <a:rPr lang="en-US" sz="1600">
                <a:solidFill>
                  <a:srgbClr val="000000"/>
                </a:solidFill>
              </a:rPr>
              <a:t>Outside global address</a:t>
            </a:r>
          </a:p>
          <a:p>
            <a:pPr marL="0" indent="0" algn="l"/>
            <a:r>
              <a:rPr lang="en-US" sz="1600">
                <a:solidFill>
                  <a:srgbClr val="000000"/>
                </a:solidFill>
              </a:rPr>
              <a:t>NAT terminology is always applied from the perspective of the device with the translated address:</a:t>
            </a:r>
            <a:endParaRPr lang="en-US" sz="1600" b="1">
              <a:solidFill>
                <a:srgbClr val="000000"/>
              </a:solidFill>
            </a:endParaRPr>
          </a:p>
          <a:p>
            <a:pPr marL="285750" indent="-285750" algn="l">
              <a:buFont typeface="Arial" panose="020B0604020202020204" pitchFamily="34" charset="0"/>
              <a:buChar char="•"/>
            </a:pPr>
            <a:r>
              <a:rPr lang="en-US" sz="1600" b="1">
                <a:solidFill>
                  <a:srgbClr val="000000"/>
                </a:solidFill>
              </a:rPr>
              <a:t>Inside address</a:t>
            </a:r>
            <a:r>
              <a:rPr lang="en-US" sz="1600">
                <a:solidFill>
                  <a:srgbClr val="000000"/>
                </a:solidFill>
              </a:rPr>
              <a:t> - The address of the device which is being translated by NAT.</a:t>
            </a:r>
          </a:p>
          <a:p>
            <a:pPr marL="285750" indent="-285750" algn="l">
              <a:buFont typeface="Arial" panose="020B0604020202020204" pitchFamily="34" charset="0"/>
              <a:buChar char="•"/>
            </a:pPr>
            <a:r>
              <a:rPr lang="en-US" sz="1600" b="1">
                <a:solidFill>
                  <a:srgbClr val="000000"/>
                </a:solidFill>
              </a:rPr>
              <a:t>Outside address</a:t>
            </a:r>
            <a:r>
              <a:rPr lang="en-US" sz="1600">
                <a:solidFill>
                  <a:srgbClr val="000000"/>
                </a:solidFill>
              </a:rPr>
              <a:t> - The address of the destination device.</a:t>
            </a:r>
          </a:p>
          <a:p>
            <a:pPr marL="285750" indent="-285750" algn="l">
              <a:buFont typeface="Arial" panose="020B0604020202020204" pitchFamily="34" charset="0"/>
              <a:buChar char="•"/>
            </a:pPr>
            <a:r>
              <a:rPr lang="en-US" sz="1600" b="1">
                <a:solidFill>
                  <a:srgbClr val="000000"/>
                </a:solidFill>
              </a:rPr>
              <a:t>Local address</a:t>
            </a:r>
            <a:r>
              <a:rPr lang="en-US" sz="1600">
                <a:solidFill>
                  <a:srgbClr val="000000"/>
                </a:solidFill>
              </a:rPr>
              <a:t> - A local address is any address that appears on the inside portion of the network.</a:t>
            </a:r>
          </a:p>
          <a:p>
            <a:pPr marL="285750" indent="-285750" algn="l">
              <a:buFont typeface="Arial" panose="020B0604020202020204" pitchFamily="34" charset="0"/>
              <a:buChar char="•"/>
            </a:pPr>
            <a:r>
              <a:rPr lang="en-US" sz="1600" b="1">
                <a:solidFill>
                  <a:srgbClr val="000000"/>
                </a:solidFill>
              </a:rPr>
              <a:t>Global address</a:t>
            </a:r>
            <a:r>
              <a:rPr lang="en-US" sz="1600">
                <a:solidFill>
                  <a:srgbClr val="000000"/>
                </a:solidFill>
              </a:rPr>
              <a:t> - A global address is any address that appears on the outside portion of the network.</a:t>
            </a:r>
          </a:p>
          <a:p>
            <a:pPr marL="0" indent="0" algn="l"/>
            <a:endParaRPr lang="en-US" sz="1200">
              <a:solidFill>
                <a:srgbClr val="000000"/>
              </a:solidFill>
            </a:endParaRPr>
          </a:p>
          <a:p>
            <a:pPr marL="0" indent="0" algn="l"/>
            <a:endParaRPr lang="en-US" sz="1200">
              <a:solidFill>
                <a:srgbClr val="000000"/>
              </a:solidFill>
            </a:endParaRPr>
          </a:p>
        </p:txBody>
      </p:sp>
    </p:spTree>
    <p:extLst>
      <p:ext uri="{BB962C8B-B14F-4D97-AF65-F5344CB8AC3E}">
        <p14:creationId xmlns:p14="http://schemas.microsoft.com/office/powerpoint/2010/main" val="268423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NAT Characteristics</a:t>
            </a:r>
            <a:br>
              <a:rPr lang="en-US"/>
            </a:br>
            <a:r>
              <a:rPr lang="en-US" sz="2400"/>
              <a:t>NAT Terminology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37063" y="668151"/>
            <a:ext cx="5023094" cy="3807197"/>
          </a:xfrm>
        </p:spPr>
        <p:txBody>
          <a:bodyPr/>
          <a:lstStyle/>
          <a:p>
            <a:pPr marL="0" indent="0" algn="l"/>
            <a:r>
              <a:rPr lang="en-US" sz="1400" b="1">
                <a:solidFill>
                  <a:srgbClr val="000000"/>
                </a:solidFill>
              </a:rPr>
              <a:t>Inside local address</a:t>
            </a:r>
          </a:p>
          <a:p>
            <a:pPr marL="0" indent="0" algn="l"/>
            <a:r>
              <a:rPr lang="en-US" sz="1400">
                <a:solidFill>
                  <a:srgbClr val="000000"/>
                </a:solidFill>
              </a:rPr>
              <a:t>The address of the source as seen from inside the network. This is typically a private IPv4 address. The inside local address of PC1 is 192.168.10.10.</a:t>
            </a:r>
          </a:p>
          <a:p>
            <a:pPr marL="0" indent="0" algn="l"/>
            <a:r>
              <a:rPr lang="en-US" sz="1400" b="1">
                <a:solidFill>
                  <a:srgbClr val="000000"/>
                </a:solidFill>
              </a:rPr>
              <a:t>Inside global addresses</a:t>
            </a:r>
          </a:p>
          <a:p>
            <a:pPr marL="0" indent="0" algn="l"/>
            <a:r>
              <a:rPr lang="en-US" sz="1400">
                <a:solidFill>
                  <a:srgbClr val="000000"/>
                </a:solidFill>
              </a:rPr>
              <a:t>The address of source as seen from the outside network. The inside global address of PC1 is 209.165.200.226</a:t>
            </a:r>
          </a:p>
          <a:p>
            <a:pPr marL="0" indent="0" algn="l"/>
            <a:r>
              <a:rPr lang="en-US" sz="1400" b="1">
                <a:solidFill>
                  <a:srgbClr val="000000"/>
                </a:solidFill>
              </a:rPr>
              <a:t>Outside global address</a:t>
            </a:r>
          </a:p>
          <a:p>
            <a:pPr marL="0" indent="0" algn="l"/>
            <a:r>
              <a:rPr lang="en-US" sz="1400">
                <a:solidFill>
                  <a:srgbClr val="000000"/>
                </a:solidFill>
              </a:rPr>
              <a:t>The address of the destination as seen from the outside network. The outside global address of the web server is 209.165.201.1</a:t>
            </a:r>
          </a:p>
          <a:p>
            <a:pPr marL="0" indent="0" algn="l"/>
            <a:r>
              <a:rPr lang="en-US" sz="1400" b="1">
                <a:solidFill>
                  <a:srgbClr val="000000"/>
                </a:solidFill>
              </a:rPr>
              <a:t>Outside local address</a:t>
            </a:r>
          </a:p>
          <a:p>
            <a:pPr marL="0" indent="0" algn="l"/>
            <a:r>
              <a:rPr lang="en-US" sz="1400">
                <a:solidFill>
                  <a:srgbClr val="000000"/>
                </a:solidFill>
              </a:rPr>
              <a:t>The address of the destination as seen from the inside network. PC1 sends traffic to the web server at the IPv4 address 209.165.201.1. While uncommon, this address could be different than the globally routable address of the destination.</a:t>
            </a:r>
          </a:p>
        </p:txBody>
      </p:sp>
      <p:pic>
        <p:nvPicPr>
          <p:cNvPr id="5" name="Picture 4">
            <a:extLst>
              <a:ext uri="{FF2B5EF4-FFF2-40B4-BE49-F238E27FC236}">
                <a16:creationId xmlns:a16="http://schemas.microsoft.com/office/drawing/2014/main" id="{2F19BFB1-0B05-4B03-9EC6-F5CC037FB1DA}"/>
              </a:ext>
            </a:extLst>
          </p:cNvPr>
          <p:cNvPicPr>
            <a:picLocks noChangeAspect="1"/>
          </p:cNvPicPr>
          <p:nvPr/>
        </p:nvPicPr>
        <p:blipFill>
          <a:blip r:embed="rId3"/>
          <a:stretch>
            <a:fillRect/>
          </a:stretch>
        </p:blipFill>
        <p:spPr>
          <a:xfrm>
            <a:off x="5439275" y="1327452"/>
            <a:ext cx="3467662" cy="2490916"/>
          </a:xfrm>
          <a:prstGeom prst="rect">
            <a:avLst/>
          </a:prstGeom>
        </p:spPr>
      </p:pic>
    </p:spTree>
    <p:extLst>
      <p:ext uri="{BB962C8B-B14F-4D97-AF65-F5344CB8AC3E}">
        <p14:creationId xmlns:p14="http://schemas.microsoft.com/office/powerpoint/2010/main" val="3452145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a:solidFill>
                  <a:schemeClr val="accent5">
                    <a:lumMod val="40000"/>
                    <a:lumOff val="60000"/>
                  </a:schemeClr>
                </a:solidFill>
              </a:rPr>
              <a:t>6.2 Types of NAT</a:t>
            </a:r>
          </a:p>
        </p:txBody>
      </p:sp>
    </p:spTree>
    <p:custDataLst>
      <p:tags r:id="rId1"/>
    </p:custDataLst>
    <p:extLst>
      <p:ext uri="{BB962C8B-B14F-4D97-AF65-F5344CB8AC3E}">
        <p14:creationId xmlns:p14="http://schemas.microsoft.com/office/powerpoint/2010/main" val="257177954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NAT</a:t>
            </a:r>
            <a:br>
              <a:rPr lang="en-US"/>
            </a:br>
            <a:r>
              <a:rPr lang="en-US" sz="2400"/>
              <a:t>Static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807197"/>
          </a:xfrm>
        </p:spPr>
        <p:txBody>
          <a:bodyPr/>
          <a:lstStyle/>
          <a:p>
            <a:pPr marL="0" indent="0" algn="l"/>
            <a:r>
              <a:rPr lang="en-US" sz="1600">
                <a:solidFill>
                  <a:srgbClr val="000000"/>
                </a:solidFill>
              </a:rPr>
              <a:t>Static NAT uses a one-to-one mapping of local and global addresses configured by the network administrator that remain constant.</a:t>
            </a:r>
          </a:p>
          <a:p>
            <a:pPr marL="171450" indent="-171450" algn="l">
              <a:buFont typeface="Arial" panose="020B0604020202020204" pitchFamily="34" charset="0"/>
              <a:buChar char="•"/>
            </a:pPr>
            <a:r>
              <a:rPr lang="en-US" sz="1600">
                <a:solidFill>
                  <a:srgbClr val="000000"/>
                </a:solidFill>
              </a:rPr>
              <a:t>Static NAT is useful for web servers or devices that must have a consistent address that is accessible from the internet, such as a company web server. </a:t>
            </a:r>
          </a:p>
          <a:p>
            <a:pPr marL="171450" indent="-171450" algn="l">
              <a:buFont typeface="Arial" panose="020B0604020202020204" pitchFamily="34" charset="0"/>
              <a:buChar char="•"/>
            </a:pPr>
            <a:r>
              <a:rPr lang="en-US" sz="1600">
                <a:solidFill>
                  <a:srgbClr val="000000"/>
                </a:solidFill>
              </a:rPr>
              <a:t>It is also useful for devices that must be accessible by authorized personnel when offsite, but not by the general public on the internet.</a:t>
            </a:r>
          </a:p>
        </p:txBody>
      </p:sp>
      <p:sp>
        <p:nvSpPr>
          <p:cNvPr id="6" name="Rectangle 5">
            <a:extLst>
              <a:ext uri="{FF2B5EF4-FFF2-40B4-BE49-F238E27FC236}">
                <a16:creationId xmlns:a16="http://schemas.microsoft.com/office/drawing/2014/main" id="{D319AADB-E749-48FD-9D9B-E822781DB2D4}"/>
              </a:ext>
            </a:extLst>
          </p:cNvPr>
          <p:cNvSpPr/>
          <p:nvPr/>
        </p:nvSpPr>
        <p:spPr>
          <a:xfrm>
            <a:off x="4910208" y="3980776"/>
            <a:ext cx="3705891" cy="738664"/>
          </a:xfrm>
          <a:prstGeom prst="rect">
            <a:avLst/>
          </a:prstGeom>
        </p:spPr>
        <p:txBody>
          <a:bodyPr wrap="square">
            <a:spAutoFit/>
          </a:bodyPr>
          <a:lstStyle/>
          <a:p>
            <a:r>
              <a:rPr lang="en-US" sz="1400" b="1"/>
              <a:t>Note</a:t>
            </a:r>
            <a:r>
              <a:rPr lang="en-US" sz="1400"/>
              <a:t>: Static NAT requires that enough public addresses are available to satisfy the total number of simultaneous user sessions.</a:t>
            </a:r>
          </a:p>
        </p:txBody>
      </p:sp>
      <p:pic>
        <p:nvPicPr>
          <p:cNvPr id="2" name="Picture 1">
            <a:extLst>
              <a:ext uri="{FF2B5EF4-FFF2-40B4-BE49-F238E27FC236}">
                <a16:creationId xmlns:a16="http://schemas.microsoft.com/office/drawing/2014/main" id="{5BC9CE4A-9BF8-4B26-9139-B53C76F013B9}"/>
              </a:ext>
            </a:extLst>
          </p:cNvPr>
          <p:cNvPicPr>
            <a:picLocks noChangeAspect="1"/>
          </p:cNvPicPr>
          <p:nvPr/>
        </p:nvPicPr>
        <p:blipFill>
          <a:blip r:embed="rId3"/>
          <a:stretch>
            <a:fillRect/>
          </a:stretch>
        </p:blipFill>
        <p:spPr>
          <a:xfrm>
            <a:off x="4910209" y="731837"/>
            <a:ext cx="3801820" cy="3091696"/>
          </a:xfrm>
          <a:prstGeom prst="rect">
            <a:avLst/>
          </a:prstGeom>
        </p:spPr>
      </p:pic>
    </p:spTree>
    <p:extLst>
      <p:ext uri="{BB962C8B-B14F-4D97-AF65-F5344CB8AC3E}">
        <p14:creationId xmlns:p14="http://schemas.microsoft.com/office/powerpoint/2010/main" val="343571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NAT</a:t>
            </a:r>
            <a:br>
              <a:rPr lang="en-US"/>
            </a:br>
            <a:r>
              <a:rPr lang="en-US" sz="2400"/>
              <a:t>Dynamic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2293135"/>
          </a:xfrm>
        </p:spPr>
        <p:txBody>
          <a:bodyPr/>
          <a:lstStyle/>
          <a:p>
            <a:pPr marL="0" indent="0" algn="l"/>
            <a:r>
              <a:rPr lang="en-US" sz="1600">
                <a:solidFill>
                  <a:srgbClr val="000000"/>
                </a:solidFill>
              </a:rPr>
              <a:t>Dynamic NAT uses a pool of public addresses and assigns them on a first-come, first-served basis. </a:t>
            </a:r>
          </a:p>
          <a:p>
            <a:pPr marL="285750" indent="-285750" algn="l">
              <a:buFont typeface="Arial" panose="020B0604020202020204" pitchFamily="34" charset="0"/>
              <a:buChar char="•"/>
            </a:pPr>
            <a:r>
              <a:rPr lang="en-US" sz="1600">
                <a:solidFill>
                  <a:srgbClr val="000000"/>
                </a:solidFill>
              </a:rPr>
              <a:t>When an inside device requests access to an outside network, dynamic NAT assigns an available public IPv4 address from the pool.</a:t>
            </a:r>
          </a:p>
          <a:p>
            <a:pPr marL="285750" indent="-285750" algn="l">
              <a:buFont typeface="Arial" panose="020B0604020202020204" pitchFamily="34" charset="0"/>
              <a:buChar char="•"/>
            </a:pPr>
            <a:r>
              <a:rPr lang="en-US" sz="1600">
                <a:solidFill>
                  <a:srgbClr val="000000"/>
                </a:solidFill>
              </a:rPr>
              <a:t>The other addresses in the pool are still available for use. </a:t>
            </a:r>
          </a:p>
        </p:txBody>
      </p:sp>
      <p:sp>
        <p:nvSpPr>
          <p:cNvPr id="7" name="Rectangle 6">
            <a:extLst>
              <a:ext uri="{FF2B5EF4-FFF2-40B4-BE49-F238E27FC236}">
                <a16:creationId xmlns:a16="http://schemas.microsoft.com/office/drawing/2014/main" id="{D9996920-B929-4F44-9824-7725C9EEF40B}"/>
              </a:ext>
            </a:extLst>
          </p:cNvPr>
          <p:cNvSpPr/>
          <p:nvPr/>
        </p:nvSpPr>
        <p:spPr>
          <a:xfrm>
            <a:off x="337703" y="3268379"/>
            <a:ext cx="4234297" cy="830997"/>
          </a:xfrm>
          <a:prstGeom prst="rect">
            <a:avLst/>
          </a:prstGeom>
        </p:spPr>
        <p:txBody>
          <a:bodyPr wrap="square">
            <a:spAutoFit/>
          </a:bodyPr>
          <a:lstStyle/>
          <a:p>
            <a:r>
              <a:rPr lang="en-US" sz="1600" b="1">
                <a:latin typeface="+mn-lt"/>
              </a:rPr>
              <a:t>Note</a:t>
            </a:r>
            <a:r>
              <a:rPr lang="en-US" sz="1600">
                <a:latin typeface="+mn-lt"/>
              </a:rPr>
              <a:t>: Dynamic NAT requires that enough public addresses are available to satisfy the total number of simultaneous user sessions</a:t>
            </a:r>
            <a:r>
              <a:rPr lang="en-US" sz="1600"/>
              <a:t>.</a:t>
            </a:r>
          </a:p>
        </p:txBody>
      </p:sp>
      <p:pic>
        <p:nvPicPr>
          <p:cNvPr id="5" name="Picture 4">
            <a:extLst>
              <a:ext uri="{FF2B5EF4-FFF2-40B4-BE49-F238E27FC236}">
                <a16:creationId xmlns:a16="http://schemas.microsoft.com/office/drawing/2014/main" id="{D5D0E6BD-6429-4B15-BBCD-5302ADA99F2B}"/>
              </a:ext>
            </a:extLst>
          </p:cNvPr>
          <p:cNvPicPr>
            <a:picLocks noChangeAspect="1"/>
          </p:cNvPicPr>
          <p:nvPr/>
        </p:nvPicPr>
        <p:blipFill>
          <a:blip r:embed="rId3"/>
          <a:stretch>
            <a:fillRect/>
          </a:stretch>
        </p:blipFill>
        <p:spPr>
          <a:xfrm>
            <a:off x="4936604" y="967651"/>
            <a:ext cx="3775425" cy="2900892"/>
          </a:xfrm>
          <a:prstGeom prst="rect">
            <a:avLst/>
          </a:prstGeom>
        </p:spPr>
      </p:pic>
    </p:spTree>
    <p:extLst>
      <p:ext uri="{BB962C8B-B14F-4D97-AF65-F5344CB8AC3E}">
        <p14:creationId xmlns:p14="http://schemas.microsoft.com/office/powerpoint/2010/main" val="2702213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NAT</a:t>
            </a:r>
            <a:br>
              <a:rPr lang="en-US"/>
            </a:br>
            <a:r>
              <a:rPr lang="en-US" sz="2400"/>
              <a:t>Port Address Translation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807197"/>
          </a:xfrm>
        </p:spPr>
        <p:txBody>
          <a:bodyPr/>
          <a:lstStyle/>
          <a:p>
            <a:pPr marL="0" indent="0" algn="l"/>
            <a:r>
              <a:rPr lang="en-US" sz="1600">
                <a:solidFill>
                  <a:srgbClr val="000000"/>
                </a:solidFill>
              </a:rPr>
              <a:t>Port Address Translation (PAT), also known as NAT overload, maps multiple private IPv4 addresses to a single public IPv4 address or a few addresses.</a:t>
            </a:r>
          </a:p>
          <a:p>
            <a:pPr marL="285750" indent="-285750" algn="l">
              <a:buFont typeface="Arial" panose="020B0604020202020204" pitchFamily="34" charset="0"/>
              <a:buChar char="•"/>
            </a:pPr>
            <a:r>
              <a:rPr lang="en-US" sz="1600">
                <a:solidFill>
                  <a:srgbClr val="000000"/>
                </a:solidFill>
              </a:rPr>
              <a:t>With PAT, when the NAT router receives a packet from the client, it uses the source port number to uniquely identify the specific NAT translation.</a:t>
            </a:r>
          </a:p>
          <a:p>
            <a:pPr marL="285750" indent="-285750" algn="l">
              <a:buFont typeface="Arial" panose="020B0604020202020204" pitchFamily="34" charset="0"/>
              <a:buChar char="•"/>
            </a:pPr>
            <a:r>
              <a:rPr lang="en-US" sz="1600">
                <a:solidFill>
                  <a:srgbClr val="000000"/>
                </a:solidFill>
              </a:rPr>
              <a:t>PAT ensures that devices use a different TCP port number for each session with a server on the internet.</a:t>
            </a:r>
          </a:p>
        </p:txBody>
      </p:sp>
      <p:pic>
        <p:nvPicPr>
          <p:cNvPr id="2" name="Picture 1">
            <a:extLst>
              <a:ext uri="{FF2B5EF4-FFF2-40B4-BE49-F238E27FC236}">
                <a16:creationId xmlns:a16="http://schemas.microsoft.com/office/drawing/2014/main" id="{DA67F2E0-B90A-4E85-B79F-69CBF146FA25}"/>
              </a:ext>
            </a:extLst>
          </p:cNvPr>
          <p:cNvPicPr>
            <a:picLocks noChangeAspect="1"/>
          </p:cNvPicPr>
          <p:nvPr/>
        </p:nvPicPr>
        <p:blipFill>
          <a:blip r:embed="rId3"/>
          <a:stretch>
            <a:fillRect/>
          </a:stretch>
        </p:blipFill>
        <p:spPr>
          <a:xfrm>
            <a:off x="4819910" y="1136822"/>
            <a:ext cx="3785284" cy="2427879"/>
          </a:xfrm>
          <a:prstGeom prst="rect">
            <a:avLst/>
          </a:prstGeom>
        </p:spPr>
      </p:pic>
    </p:spTree>
    <p:extLst>
      <p:ext uri="{BB962C8B-B14F-4D97-AF65-F5344CB8AC3E}">
        <p14:creationId xmlns:p14="http://schemas.microsoft.com/office/powerpoint/2010/main" val="117928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NAT</a:t>
            </a:r>
            <a:br>
              <a:rPr lang="en-US"/>
            </a:br>
            <a:r>
              <a:rPr lang="en-US" sz="2400"/>
              <a:t>Next Available Port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807197"/>
          </a:xfrm>
        </p:spPr>
        <p:txBody>
          <a:bodyPr/>
          <a:lstStyle/>
          <a:p>
            <a:pPr marL="0" indent="0" algn="l"/>
            <a:r>
              <a:rPr lang="en-US" sz="1600">
                <a:solidFill>
                  <a:srgbClr val="000000"/>
                </a:solidFill>
              </a:rPr>
              <a:t>PAT attempts to preserve the original source port. If the original source port is already used, PAT assigns the first available port number starting from the beginning of the appropriate port group 0-511, 512-1,023, or 1,024-65,535.</a:t>
            </a:r>
          </a:p>
          <a:p>
            <a:pPr marL="285750" indent="-285750" algn="l">
              <a:buFont typeface="Arial" panose="020B0604020202020204" pitchFamily="34" charset="0"/>
              <a:buChar char="•"/>
            </a:pPr>
            <a:r>
              <a:rPr lang="en-US" sz="1600">
                <a:solidFill>
                  <a:srgbClr val="000000"/>
                </a:solidFill>
              </a:rPr>
              <a:t>When there are no more ports available and there is more than one external address in the address pool, PAT moves to the next address to try to allocate the original source port. </a:t>
            </a:r>
          </a:p>
          <a:p>
            <a:pPr marL="285750" indent="-285750" algn="l">
              <a:buFont typeface="Arial" panose="020B0604020202020204" pitchFamily="34" charset="0"/>
              <a:buChar char="•"/>
            </a:pPr>
            <a:r>
              <a:rPr lang="en-US" sz="1600">
                <a:solidFill>
                  <a:srgbClr val="000000"/>
                </a:solidFill>
              </a:rPr>
              <a:t>The process continues until there are no more available ports or external IPv4 addresses in the address pool.</a:t>
            </a:r>
          </a:p>
        </p:txBody>
      </p:sp>
      <p:pic>
        <p:nvPicPr>
          <p:cNvPr id="5" name="Picture 4">
            <a:extLst>
              <a:ext uri="{FF2B5EF4-FFF2-40B4-BE49-F238E27FC236}">
                <a16:creationId xmlns:a16="http://schemas.microsoft.com/office/drawing/2014/main" id="{95CEA0BD-915F-45DB-944F-319F1F17C6BB}"/>
              </a:ext>
            </a:extLst>
          </p:cNvPr>
          <p:cNvPicPr>
            <a:picLocks noChangeAspect="1"/>
          </p:cNvPicPr>
          <p:nvPr/>
        </p:nvPicPr>
        <p:blipFill>
          <a:blip r:embed="rId3"/>
          <a:stretch>
            <a:fillRect/>
          </a:stretch>
        </p:blipFill>
        <p:spPr>
          <a:xfrm>
            <a:off x="4766953" y="1467858"/>
            <a:ext cx="4061689" cy="2207784"/>
          </a:xfrm>
          <a:prstGeom prst="rect">
            <a:avLst/>
          </a:prstGeom>
        </p:spPr>
      </p:pic>
    </p:spTree>
    <p:extLst>
      <p:ext uri="{BB962C8B-B14F-4D97-AF65-F5344CB8AC3E}">
        <p14:creationId xmlns:p14="http://schemas.microsoft.com/office/powerpoint/2010/main" val="3383848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NAT</a:t>
            </a:r>
            <a:br>
              <a:rPr lang="en-US"/>
            </a:br>
            <a:r>
              <a:rPr lang="en-US" sz="2400" err="1"/>
              <a:t>NAT</a:t>
            </a:r>
            <a:r>
              <a:rPr lang="en-US" sz="2400"/>
              <a:t> and PAT Comparison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841407"/>
          </a:xfrm>
        </p:spPr>
        <p:txBody>
          <a:bodyPr/>
          <a:lstStyle/>
          <a:p>
            <a:pPr marL="0" indent="0" algn="l"/>
            <a:r>
              <a:rPr lang="en-US" sz="1600">
                <a:solidFill>
                  <a:srgbClr val="000000"/>
                </a:solidFill>
              </a:rPr>
              <a:t>Summary of the differences between NAT and PAT.</a:t>
            </a:r>
          </a:p>
          <a:p>
            <a:pPr marL="0" indent="0" algn="l"/>
            <a:r>
              <a:rPr lang="en-US" sz="1400" b="1">
                <a:solidFill>
                  <a:srgbClr val="000000"/>
                </a:solidFill>
              </a:rPr>
              <a:t>NAT</a:t>
            </a:r>
            <a:r>
              <a:rPr lang="en-US" sz="1400">
                <a:solidFill>
                  <a:srgbClr val="000000"/>
                </a:solidFill>
              </a:rPr>
              <a:t> - Only modifies the IPv4 addresses</a:t>
            </a:r>
          </a:p>
          <a:p>
            <a:pPr marL="0" indent="0" algn="l"/>
            <a:endParaRPr lang="en-US" sz="1400">
              <a:solidFill>
                <a:srgbClr val="000000"/>
              </a:solidFill>
            </a:endParaRPr>
          </a:p>
          <a:p>
            <a:pPr marL="0" indent="0" algn="l"/>
            <a:endParaRPr lang="en-US" sz="1400">
              <a:solidFill>
                <a:srgbClr val="000000"/>
              </a:solidFill>
            </a:endParaRPr>
          </a:p>
          <a:p>
            <a:pPr marL="0" indent="0" algn="l"/>
            <a:endParaRPr lang="en-US" sz="1400">
              <a:solidFill>
                <a:srgbClr val="000000"/>
              </a:solidFill>
            </a:endParaRPr>
          </a:p>
          <a:p>
            <a:pPr marL="0" indent="0" algn="l"/>
            <a:endParaRPr lang="en-US" sz="1400">
              <a:solidFill>
                <a:srgbClr val="000000"/>
              </a:solidFill>
            </a:endParaRPr>
          </a:p>
          <a:p>
            <a:pPr marL="0" indent="0" algn="l"/>
            <a:r>
              <a:rPr lang="en-US" sz="1400" b="1">
                <a:solidFill>
                  <a:srgbClr val="000000"/>
                </a:solidFill>
              </a:rPr>
              <a:t>PAT</a:t>
            </a:r>
            <a:r>
              <a:rPr lang="en-US" sz="1400">
                <a:solidFill>
                  <a:srgbClr val="000000"/>
                </a:solidFill>
              </a:rPr>
              <a:t> - PAT modifies both the IPv4 address and the port number.</a:t>
            </a:r>
          </a:p>
        </p:txBody>
      </p:sp>
      <p:graphicFrame>
        <p:nvGraphicFramePr>
          <p:cNvPr id="7" name="Content Placeholder 3">
            <a:extLst>
              <a:ext uri="{FF2B5EF4-FFF2-40B4-BE49-F238E27FC236}">
                <a16:creationId xmlns:a16="http://schemas.microsoft.com/office/drawing/2014/main" id="{4CC75CEC-45C9-4653-899A-51999B23A46A}"/>
              </a:ext>
            </a:extLst>
          </p:cNvPr>
          <p:cNvGraphicFramePr>
            <a:graphicFrameLocks/>
          </p:cNvGraphicFramePr>
          <p:nvPr>
            <p:extLst>
              <p:ext uri="{D42A27DB-BD31-4B8C-83A1-F6EECF244321}">
                <p14:modId xmlns:p14="http://schemas.microsoft.com/office/powerpoint/2010/main" val="2637896232"/>
              </p:ext>
            </p:extLst>
          </p:nvPr>
        </p:nvGraphicFramePr>
        <p:xfrm>
          <a:off x="477557" y="1811596"/>
          <a:ext cx="3695187" cy="652218"/>
        </p:xfrm>
        <a:graphic>
          <a:graphicData uri="http://schemas.openxmlformats.org/drawingml/2006/table">
            <a:tbl>
              <a:tblPr firstRow="1" bandRow="1">
                <a:tableStyleId>{5C22544A-7EE6-4342-B048-85BDC9FD1C3A}</a:tableStyleId>
              </a:tblPr>
              <a:tblGrid>
                <a:gridCol w="1849019">
                  <a:extLst>
                    <a:ext uri="{9D8B030D-6E8A-4147-A177-3AD203B41FA5}">
                      <a16:colId xmlns:a16="http://schemas.microsoft.com/office/drawing/2014/main" val="3156509146"/>
                    </a:ext>
                  </a:extLst>
                </a:gridCol>
                <a:gridCol w="1846168">
                  <a:extLst>
                    <a:ext uri="{9D8B030D-6E8A-4147-A177-3AD203B41FA5}">
                      <a16:colId xmlns:a16="http://schemas.microsoft.com/office/drawing/2014/main" val="20002"/>
                    </a:ext>
                  </a:extLst>
                </a:gridCol>
              </a:tblGrid>
              <a:tr h="301434">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a:t>Inside Global Address</a:t>
                      </a:r>
                    </a:p>
                  </a:txBody>
                  <a:tcPr marL="68580" marR="68580" marT="34290" marB="34290" anchor="ctr"/>
                </a:tc>
                <a:tc>
                  <a:txBody>
                    <a:bodyPr/>
                    <a:lstStyle/>
                    <a:p>
                      <a:r>
                        <a:rPr lang="en-US" sz="1100"/>
                        <a:t>Inside Local Address</a:t>
                      </a:r>
                    </a:p>
                  </a:txBody>
                  <a:tcPr marL="68580" marR="68580" marT="34290" marB="34290" anchor="ctr"/>
                </a:tc>
                <a:extLst>
                  <a:ext uri="{0D108BD9-81ED-4DB2-BD59-A6C34878D82A}">
                    <a16:rowId xmlns:a16="http://schemas.microsoft.com/office/drawing/2014/main" val="10000"/>
                  </a:ext>
                </a:extLst>
              </a:tr>
              <a:tr h="350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209.165.200.226</a:t>
                      </a:r>
                    </a:p>
                  </a:txBody>
                  <a:tcPr marL="68580" marR="68580" marT="34290" marB="34290" anchor="ctr"/>
                </a:tc>
                <a:tc>
                  <a:txBody>
                    <a:bodyPr/>
                    <a:lstStyle/>
                    <a:p>
                      <a:r>
                        <a:rPr lang="en-US" sz="1100"/>
                        <a:t>192.168.10.10</a:t>
                      </a:r>
                    </a:p>
                  </a:txBody>
                  <a:tcPr marL="68580" marR="68580" marT="34290" marB="34290" anchor="ctr"/>
                </a:tc>
                <a:extLst>
                  <a:ext uri="{0D108BD9-81ED-4DB2-BD59-A6C34878D82A}">
                    <a16:rowId xmlns:a16="http://schemas.microsoft.com/office/drawing/2014/main" val="10001"/>
                  </a:ext>
                </a:extLst>
              </a:tr>
            </a:tbl>
          </a:graphicData>
        </a:graphic>
      </p:graphicFrame>
      <p:graphicFrame>
        <p:nvGraphicFramePr>
          <p:cNvPr id="8" name="Content Placeholder 3">
            <a:extLst>
              <a:ext uri="{FF2B5EF4-FFF2-40B4-BE49-F238E27FC236}">
                <a16:creationId xmlns:a16="http://schemas.microsoft.com/office/drawing/2014/main" id="{B0216FFA-3DE9-4BB7-AEB8-D90808DCBBDF}"/>
              </a:ext>
            </a:extLst>
          </p:cNvPr>
          <p:cNvGraphicFramePr>
            <a:graphicFrameLocks/>
          </p:cNvGraphicFramePr>
          <p:nvPr>
            <p:extLst>
              <p:ext uri="{D42A27DB-BD31-4B8C-83A1-F6EECF244321}">
                <p14:modId xmlns:p14="http://schemas.microsoft.com/office/powerpoint/2010/main" val="2383632428"/>
              </p:ext>
            </p:extLst>
          </p:nvPr>
        </p:nvGraphicFramePr>
        <p:xfrm>
          <a:off x="477557" y="3254870"/>
          <a:ext cx="3695187" cy="652218"/>
        </p:xfrm>
        <a:graphic>
          <a:graphicData uri="http://schemas.openxmlformats.org/drawingml/2006/table">
            <a:tbl>
              <a:tblPr firstRow="1" bandRow="1">
                <a:tableStyleId>{5C22544A-7EE6-4342-B048-85BDC9FD1C3A}</a:tableStyleId>
              </a:tblPr>
              <a:tblGrid>
                <a:gridCol w="1849019">
                  <a:extLst>
                    <a:ext uri="{9D8B030D-6E8A-4147-A177-3AD203B41FA5}">
                      <a16:colId xmlns:a16="http://schemas.microsoft.com/office/drawing/2014/main" val="3156509146"/>
                    </a:ext>
                  </a:extLst>
                </a:gridCol>
                <a:gridCol w="1846168">
                  <a:extLst>
                    <a:ext uri="{9D8B030D-6E8A-4147-A177-3AD203B41FA5}">
                      <a16:colId xmlns:a16="http://schemas.microsoft.com/office/drawing/2014/main" val="20002"/>
                    </a:ext>
                  </a:extLst>
                </a:gridCol>
              </a:tblGrid>
              <a:tr h="301434">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a:t>Inside Global Address</a:t>
                      </a:r>
                    </a:p>
                  </a:txBody>
                  <a:tcPr marL="68580" marR="68580" marT="34290" marB="34290" anchor="ctr"/>
                </a:tc>
                <a:tc>
                  <a:txBody>
                    <a:bodyPr/>
                    <a:lstStyle/>
                    <a:p>
                      <a:r>
                        <a:rPr lang="en-US" sz="1100"/>
                        <a:t>Inside Local Address</a:t>
                      </a:r>
                    </a:p>
                  </a:txBody>
                  <a:tcPr marL="68580" marR="68580" marT="34290" marB="34290" anchor="ctr"/>
                </a:tc>
                <a:extLst>
                  <a:ext uri="{0D108BD9-81ED-4DB2-BD59-A6C34878D82A}">
                    <a16:rowId xmlns:a16="http://schemas.microsoft.com/office/drawing/2014/main" val="10000"/>
                  </a:ext>
                </a:extLst>
              </a:tr>
              <a:tr h="350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209.165.200.226:2031</a:t>
                      </a:r>
                    </a:p>
                  </a:txBody>
                  <a:tcPr marL="68580" marR="68580" marT="34290" marB="34290" anchor="ctr"/>
                </a:tc>
                <a:tc>
                  <a:txBody>
                    <a:bodyPr/>
                    <a:lstStyle/>
                    <a:p>
                      <a:r>
                        <a:rPr lang="en-US" sz="1100"/>
                        <a:t>192.168.10.10:2031</a:t>
                      </a:r>
                    </a:p>
                  </a:txBody>
                  <a:tcPr marL="68580" marR="68580" marT="34290" marB="34290" anchor="ctr"/>
                </a:tc>
                <a:extLst>
                  <a:ext uri="{0D108BD9-81ED-4DB2-BD59-A6C34878D82A}">
                    <a16:rowId xmlns:a16="http://schemas.microsoft.com/office/drawing/2014/main" val="10001"/>
                  </a:ext>
                </a:extLst>
              </a:tr>
            </a:tbl>
          </a:graphicData>
        </a:graphic>
      </p:graphicFrame>
      <p:graphicFrame>
        <p:nvGraphicFramePr>
          <p:cNvPr id="6" name="Content Placeholder 3">
            <a:extLst>
              <a:ext uri="{FF2B5EF4-FFF2-40B4-BE49-F238E27FC236}">
                <a16:creationId xmlns:a16="http://schemas.microsoft.com/office/drawing/2014/main" id="{D8660A0A-6E2A-4997-9584-58F05B01C4C7}"/>
              </a:ext>
            </a:extLst>
          </p:cNvPr>
          <p:cNvGraphicFramePr>
            <a:graphicFrameLocks/>
          </p:cNvGraphicFramePr>
          <p:nvPr>
            <p:extLst>
              <p:ext uri="{D42A27DB-BD31-4B8C-83A1-F6EECF244321}">
                <p14:modId xmlns:p14="http://schemas.microsoft.com/office/powerpoint/2010/main" val="1827549943"/>
              </p:ext>
            </p:extLst>
          </p:nvPr>
        </p:nvGraphicFramePr>
        <p:xfrm>
          <a:off x="5016842" y="855418"/>
          <a:ext cx="3695187" cy="2564574"/>
        </p:xfrm>
        <a:graphic>
          <a:graphicData uri="http://schemas.openxmlformats.org/drawingml/2006/table">
            <a:tbl>
              <a:tblPr firstRow="1" bandRow="1">
                <a:tableStyleId>{5C22544A-7EE6-4342-B048-85BDC9FD1C3A}</a:tableStyleId>
              </a:tblPr>
              <a:tblGrid>
                <a:gridCol w="1849019">
                  <a:extLst>
                    <a:ext uri="{9D8B030D-6E8A-4147-A177-3AD203B41FA5}">
                      <a16:colId xmlns:a16="http://schemas.microsoft.com/office/drawing/2014/main" val="3156509146"/>
                    </a:ext>
                  </a:extLst>
                </a:gridCol>
                <a:gridCol w="1846168">
                  <a:extLst>
                    <a:ext uri="{9D8B030D-6E8A-4147-A177-3AD203B41FA5}">
                      <a16:colId xmlns:a16="http://schemas.microsoft.com/office/drawing/2014/main" val="20002"/>
                    </a:ext>
                  </a:extLst>
                </a:gridCol>
              </a:tblGrid>
              <a:tr h="301434">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a:t>NAT</a:t>
                      </a:r>
                    </a:p>
                  </a:txBody>
                  <a:tcPr marL="68580" marR="68580" marT="34290" marB="34290" anchor="ctr"/>
                </a:tc>
                <a:tc>
                  <a:txBody>
                    <a:bodyPr/>
                    <a:lstStyle/>
                    <a:p>
                      <a:r>
                        <a:rPr lang="en-US" sz="1100"/>
                        <a:t>PAT</a:t>
                      </a:r>
                    </a:p>
                  </a:txBody>
                  <a:tcPr marL="68580" marR="68580" marT="34290" marB="34290" anchor="ctr"/>
                </a:tc>
                <a:extLst>
                  <a:ext uri="{0D108BD9-81ED-4DB2-BD59-A6C34878D82A}">
                    <a16:rowId xmlns:a16="http://schemas.microsoft.com/office/drawing/2014/main" val="10000"/>
                  </a:ext>
                </a:extLst>
              </a:tr>
              <a:tr h="350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One-to-one mapping between Inside Local and Inside Global addresses.</a:t>
                      </a:r>
                    </a:p>
                  </a:txBody>
                  <a:tcPr marL="68580" marR="68580" marT="34290" marB="34290" anchor="ctr"/>
                </a:tc>
                <a:tc>
                  <a:txBody>
                    <a:bodyPr/>
                    <a:lstStyle/>
                    <a:p>
                      <a:r>
                        <a:rPr lang="en-US" sz="1100"/>
                        <a:t>One Inside Global address can be mapped to many Inside Local addresses.</a:t>
                      </a:r>
                    </a:p>
                  </a:txBody>
                  <a:tcPr marL="68580" marR="68580" marT="34290" marB="34290" anchor="ctr"/>
                </a:tc>
                <a:extLst>
                  <a:ext uri="{0D108BD9-81ED-4DB2-BD59-A6C34878D82A}">
                    <a16:rowId xmlns:a16="http://schemas.microsoft.com/office/drawing/2014/main" val="10001"/>
                  </a:ext>
                </a:extLst>
              </a:tr>
              <a:tr h="350784">
                <a:tc>
                  <a:txBody>
                    <a:bodyPr/>
                    <a:lstStyle/>
                    <a:p>
                      <a:r>
                        <a:rPr lang="en-US" sz="1100"/>
                        <a:t>Uses only IPv4 addresses in translation process.</a:t>
                      </a:r>
                    </a:p>
                  </a:txBody>
                  <a:tcPr anchor="ctr"/>
                </a:tc>
                <a:tc>
                  <a:txBody>
                    <a:bodyPr/>
                    <a:lstStyle/>
                    <a:p>
                      <a:r>
                        <a:rPr lang="en-US" sz="1100"/>
                        <a:t>Uses IPv4 addresses and TCP or UDP source port numbers in translation process.</a:t>
                      </a:r>
                    </a:p>
                  </a:txBody>
                  <a:tcPr anchor="ctr"/>
                </a:tc>
                <a:extLst>
                  <a:ext uri="{0D108BD9-81ED-4DB2-BD59-A6C34878D82A}">
                    <a16:rowId xmlns:a16="http://schemas.microsoft.com/office/drawing/2014/main" val="10006"/>
                  </a:ext>
                </a:extLst>
              </a:tr>
              <a:tr h="350784">
                <a:tc>
                  <a:txBody>
                    <a:bodyPr/>
                    <a:lstStyle/>
                    <a:p>
                      <a:r>
                        <a:rPr lang="en-US" sz="1100"/>
                        <a:t>A unique Inside Global address is required for each inside host accessing the outside network.</a:t>
                      </a:r>
                    </a:p>
                  </a:txBody>
                  <a:tcPr anchor="ctr"/>
                </a:tc>
                <a:tc>
                  <a:txBody>
                    <a:bodyPr/>
                    <a:lstStyle/>
                    <a:p>
                      <a:r>
                        <a:rPr lang="en-US" sz="1100"/>
                        <a:t>A single unique Inside Global address can be shared by many inside hosts accessing the outside network.</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55107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NAT</a:t>
            </a:r>
            <a:br>
              <a:rPr lang="en-US"/>
            </a:br>
            <a:r>
              <a:rPr lang="en-US" sz="2400"/>
              <a:t>Packets without a Layer 4 Segment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020051" cy="2180012"/>
          </a:xfrm>
        </p:spPr>
        <p:txBody>
          <a:bodyPr/>
          <a:lstStyle/>
          <a:p>
            <a:pPr marL="0" indent="0" algn="l"/>
            <a:r>
              <a:rPr lang="en-US" sz="1800" dirty="0">
                <a:solidFill>
                  <a:srgbClr val="000000"/>
                </a:solidFill>
              </a:rPr>
              <a:t>Some packets do not contain a Layer 4 port number, such as ICMPv4 messages. Each of these types of protocols is handled differently by PAT.</a:t>
            </a:r>
          </a:p>
          <a:p>
            <a:pPr marL="0" indent="0" algn="l"/>
            <a:endParaRPr lang="en-US" sz="1800" dirty="0">
              <a:solidFill>
                <a:srgbClr val="000000"/>
              </a:solidFill>
            </a:endParaRPr>
          </a:p>
          <a:p>
            <a:pPr marL="0" indent="0" algn="l"/>
            <a:r>
              <a:rPr lang="en-US" sz="1800" dirty="0">
                <a:solidFill>
                  <a:srgbClr val="000000"/>
                </a:solidFill>
              </a:rPr>
              <a:t>For example, ICMPv4 query messages, echo requests, and echo replies include a </a:t>
            </a:r>
            <a:r>
              <a:rPr lang="en-US" sz="1800" u="sng" dirty="0">
                <a:solidFill>
                  <a:srgbClr val="000000"/>
                </a:solidFill>
              </a:rPr>
              <a:t>Query ID</a:t>
            </a:r>
            <a:r>
              <a:rPr lang="en-US" sz="1800" dirty="0">
                <a:solidFill>
                  <a:srgbClr val="000000"/>
                </a:solidFill>
              </a:rPr>
              <a:t>. ICMPv4 uses the Query ID to identify an echo request with its corresponding echo reply.</a:t>
            </a:r>
          </a:p>
        </p:txBody>
      </p:sp>
      <p:sp>
        <p:nvSpPr>
          <p:cNvPr id="2" name="Rectangle 1">
            <a:extLst>
              <a:ext uri="{FF2B5EF4-FFF2-40B4-BE49-F238E27FC236}">
                <a16:creationId xmlns:a16="http://schemas.microsoft.com/office/drawing/2014/main" id="{70A81402-35E2-48DB-86D6-B8CEA1CFDAFF}"/>
              </a:ext>
            </a:extLst>
          </p:cNvPr>
          <p:cNvSpPr/>
          <p:nvPr/>
        </p:nvSpPr>
        <p:spPr>
          <a:xfrm>
            <a:off x="518984" y="3143262"/>
            <a:ext cx="7826504" cy="830997"/>
          </a:xfrm>
          <a:prstGeom prst="rect">
            <a:avLst/>
          </a:prstGeom>
        </p:spPr>
        <p:txBody>
          <a:bodyPr wrap="square">
            <a:spAutoFit/>
          </a:bodyPr>
          <a:lstStyle/>
          <a:p>
            <a:r>
              <a:rPr lang="en-US" sz="1600" b="1"/>
              <a:t>Note</a:t>
            </a:r>
            <a:r>
              <a:rPr lang="en-US" sz="1600"/>
              <a:t>: Other ICMPv4 messages do not use the Query ID. These messages and other protocols that do not use TCP or UDP port numbers vary and are beyond the scope of this curriculum.</a:t>
            </a:r>
          </a:p>
        </p:txBody>
      </p:sp>
    </p:spTree>
    <p:extLst>
      <p:ext uri="{BB962C8B-B14F-4D97-AF65-F5344CB8AC3E}">
        <p14:creationId xmlns:p14="http://schemas.microsoft.com/office/powerpoint/2010/main" val="3072090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a:solidFill>
                  <a:schemeClr val="accent5">
                    <a:lumMod val="40000"/>
                    <a:lumOff val="60000"/>
                  </a:schemeClr>
                </a:solidFill>
              </a:rPr>
              <a:t>6.3 NAT Advantages and Disadvantages</a:t>
            </a:r>
          </a:p>
        </p:txBody>
      </p:sp>
    </p:spTree>
    <p:custDataLst>
      <p:tags r:id="rId1"/>
    </p:custDataLst>
    <p:extLst>
      <p:ext uri="{BB962C8B-B14F-4D97-AF65-F5344CB8AC3E}">
        <p14:creationId xmlns:p14="http://schemas.microsoft.com/office/powerpoint/2010/main" val="156005256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NAT Advantages and Disadvantages</a:t>
            </a:r>
            <a:br>
              <a:rPr lang="en-US"/>
            </a:br>
            <a:r>
              <a:rPr lang="en-US" sz="2400"/>
              <a:t>Advantages of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020051" cy="2579760"/>
          </a:xfrm>
        </p:spPr>
        <p:txBody>
          <a:bodyPr/>
          <a:lstStyle/>
          <a:p>
            <a:pPr marL="0" indent="0" algn="l"/>
            <a:r>
              <a:rPr lang="en-US" sz="1800">
                <a:solidFill>
                  <a:srgbClr val="000000"/>
                </a:solidFill>
              </a:rPr>
              <a:t>NAT provides many benefits:</a:t>
            </a:r>
          </a:p>
          <a:p>
            <a:pPr marL="285750" indent="-285750" algn="l">
              <a:buFont typeface="Arial" panose="020B0604020202020204" pitchFamily="34" charset="0"/>
              <a:buChar char="•"/>
            </a:pPr>
            <a:r>
              <a:rPr lang="en-US" sz="1600">
                <a:solidFill>
                  <a:srgbClr val="000000"/>
                </a:solidFill>
              </a:rPr>
              <a:t>NAT conserves the legally registered addressing scheme by allowing the privatization of intranets. </a:t>
            </a:r>
          </a:p>
          <a:p>
            <a:pPr marL="285750" indent="-285750" algn="l">
              <a:buFont typeface="Arial" panose="020B0604020202020204" pitchFamily="34" charset="0"/>
              <a:buChar char="•"/>
            </a:pPr>
            <a:r>
              <a:rPr lang="en-US" sz="1600">
                <a:solidFill>
                  <a:srgbClr val="000000"/>
                </a:solidFill>
              </a:rPr>
              <a:t>NAT conserves addresses through application port-level multiplexing. </a:t>
            </a:r>
          </a:p>
          <a:p>
            <a:pPr marL="285750" indent="-285750" algn="l">
              <a:buFont typeface="Arial" panose="020B0604020202020204" pitchFamily="34" charset="0"/>
              <a:buChar char="•"/>
            </a:pPr>
            <a:r>
              <a:rPr lang="en-US" sz="1600">
                <a:solidFill>
                  <a:srgbClr val="000000"/>
                </a:solidFill>
              </a:rPr>
              <a:t>NAT increases the flexibility of connections to the public network.</a:t>
            </a:r>
          </a:p>
          <a:p>
            <a:pPr marL="285750" indent="-285750" algn="l">
              <a:buFont typeface="Arial" panose="020B0604020202020204" pitchFamily="34" charset="0"/>
              <a:buChar char="•"/>
            </a:pPr>
            <a:r>
              <a:rPr lang="en-US" sz="1600">
                <a:solidFill>
                  <a:srgbClr val="000000"/>
                </a:solidFill>
              </a:rPr>
              <a:t>NAT provides consistency for internal network addressing schemes. </a:t>
            </a:r>
          </a:p>
          <a:p>
            <a:pPr marL="285750" indent="-285750" algn="l">
              <a:buFont typeface="Arial" panose="020B0604020202020204" pitchFamily="34" charset="0"/>
              <a:buChar char="•"/>
            </a:pPr>
            <a:r>
              <a:rPr lang="en-US" sz="1600">
                <a:solidFill>
                  <a:srgbClr val="000000"/>
                </a:solidFill>
              </a:rPr>
              <a:t>NAT allows the existing private IPv4 address scheme to remain while allowing for easy change to a new public addressing scheme. </a:t>
            </a:r>
          </a:p>
          <a:p>
            <a:pPr marL="285750" indent="-285750" algn="l">
              <a:buFont typeface="Arial" panose="020B0604020202020204" pitchFamily="34" charset="0"/>
              <a:buChar char="•"/>
            </a:pPr>
            <a:r>
              <a:rPr lang="en-US" sz="1600">
                <a:solidFill>
                  <a:srgbClr val="000000"/>
                </a:solidFill>
              </a:rPr>
              <a:t>NAT hides the IPv4 addresses of users and other devices. </a:t>
            </a:r>
            <a:endParaRPr lang="en-US" sz="1400">
              <a:solidFill>
                <a:srgbClr val="000000"/>
              </a:solidFill>
            </a:endParaRPr>
          </a:p>
        </p:txBody>
      </p:sp>
    </p:spTree>
    <p:extLst>
      <p:ext uri="{BB962C8B-B14F-4D97-AF65-F5344CB8AC3E}">
        <p14:creationId xmlns:p14="http://schemas.microsoft.com/office/powerpoint/2010/main" val="2266092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NAT Advantages and Disadvantages</a:t>
            </a:r>
            <a:br>
              <a:rPr lang="en-US"/>
            </a:br>
            <a:r>
              <a:rPr lang="en-US" sz="2400"/>
              <a:t>Disadvantages of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020051" cy="2579760"/>
          </a:xfrm>
        </p:spPr>
        <p:txBody>
          <a:bodyPr/>
          <a:lstStyle/>
          <a:p>
            <a:pPr marL="0" indent="0" algn="l"/>
            <a:r>
              <a:rPr lang="en-US" sz="1800">
                <a:solidFill>
                  <a:srgbClr val="000000"/>
                </a:solidFill>
              </a:rPr>
              <a:t>NAT does have drawbacks:</a:t>
            </a:r>
          </a:p>
          <a:p>
            <a:pPr marL="285750" indent="-285750" algn="l">
              <a:buFont typeface="Arial" panose="020B0604020202020204" pitchFamily="34" charset="0"/>
              <a:buChar char="•"/>
            </a:pPr>
            <a:r>
              <a:rPr lang="en-US" sz="1600">
                <a:solidFill>
                  <a:srgbClr val="000000"/>
                </a:solidFill>
              </a:rPr>
              <a:t>NAT increases forwarding delays.</a:t>
            </a:r>
          </a:p>
          <a:p>
            <a:pPr marL="285750" indent="-285750" algn="l">
              <a:buFont typeface="Arial" panose="020B0604020202020204" pitchFamily="34" charset="0"/>
              <a:buChar char="•"/>
            </a:pPr>
            <a:r>
              <a:rPr lang="en-US" sz="1600">
                <a:solidFill>
                  <a:srgbClr val="000000"/>
                </a:solidFill>
              </a:rPr>
              <a:t>End-to-end addressing is lost.</a:t>
            </a:r>
          </a:p>
          <a:p>
            <a:pPr marL="285750" indent="-285750" algn="l">
              <a:buFont typeface="Arial" panose="020B0604020202020204" pitchFamily="34" charset="0"/>
              <a:buChar char="•"/>
            </a:pPr>
            <a:r>
              <a:rPr lang="en-US" sz="1600">
                <a:solidFill>
                  <a:srgbClr val="000000"/>
                </a:solidFill>
              </a:rPr>
              <a:t>End-to-end IPv4 traceability is lost.</a:t>
            </a:r>
          </a:p>
          <a:p>
            <a:pPr marL="285750" indent="-285750" algn="l">
              <a:buFont typeface="Arial" panose="020B0604020202020204" pitchFamily="34" charset="0"/>
              <a:buChar char="•"/>
            </a:pPr>
            <a:r>
              <a:rPr lang="en-US" sz="1600">
                <a:solidFill>
                  <a:srgbClr val="000000"/>
                </a:solidFill>
              </a:rPr>
              <a:t>NAT complicates the use of tunneling protocols, such as IPsec.</a:t>
            </a:r>
          </a:p>
          <a:p>
            <a:pPr marL="285750" indent="-285750" algn="l">
              <a:buFont typeface="Arial" panose="020B0604020202020204" pitchFamily="34" charset="0"/>
              <a:buChar char="•"/>
            </a:pPr>
            <a:r>
              <a:rPr lang="en-US" sz="1600">
                <a:solidFill>
                  <a:srgbClr val="000000"/>
                </a:solidFill>
              </a:rPr>
              <a:t>Services that require the initiation of TCP connections from the outside network, or stateless protocols, such as those using UDP, can be disrupted. </a:t>
            </a:r>
          </a:p>
          <a:p>
            <a:pPr marL="285750" indent="-285750" algn="l">
              <a:buFont typeface="Arial" panose="020B0604020202020204" pitchFamily="34" charset="0"/>
              <a:buChar char="•"/>
            </a:pPr>
            <a:endParaRPr lang="en-US" sz="1600">
              <a:solidFill>
                <a:srgbClr val="000000"/>
              </a:solidFill>
            </a:endParaRPr>
          </a:p>
          <a:p>
            <a:pPr marL="285750" indent="-285750" algn="l">
              <a:buFont typeface="Arial" panose="020B0604020202020204" pitchFamily="34" charset="0"/>
              <a:buChar char="•"/>
            </a:pPr>
            <a:endParaRPr lang="en-US" sz="1600">
              <a:solidFill>
                <a:srgbClr val="000000"/>
              </a:solidFill>
            </a:endParaRPr>
          </a:p>
          <a:p>
            <a:pPr marL="285750" indent="-285750" algn="l">
              <a:buFont typeface="Arial" panose="020B0604020202020204" pitchFamily="34" charset="0"/>
              <a:buChar char="•"/>
            </a:pPr>
            <a:endParaRPr lang="en-US" sz="1400">
              <a:solidFill>
                <a:srgbClr val="000000"/>
              </a:solidFill>
            </a:endParaRPr>
          </a:p>
        </p:txBody>
      </p:sp>
    </p:spTree>
    <p:extLst>
      <p:ext uri="{BB962C8B-B14F-4D97-AF65-F5344CB8AC3E}">
        <p14:creationId xmlns:p14="http://schemas.microsoft.com/office/powerpoint/2010/main" val="3818488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a:solidFill>
                  <a:schemeClr val="accent5">
                    <a:lumMod val="40000"/>
                    <a:lumOff val="60000"/>
                  </a:schemeClr>
                </a:solidFill>
              </a:rPr>
              <a:t>6.4 Static NAT</a:t>
            </a:r>
          </a:p>
        </p:txBody>
      </p:sp>
    </p:spTree>
    <p:custDataLst>
      <p:tags r:id="rId1"/>
    </p:custDataLst>
    <p:extLst>
      <p:ext uri="{BB962C8B-B14F-4D97-AF65-F5344CB8AC3E}">
        <p14:creationId xmlns:p14="http://schemas.microsoft.com/office/powerpoint/2010/main" val="336389058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Static NAT Scenario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510635"/>
          </a:xfrm>
        </p:spPr>
        <p:txBody>
          <a:bodyPr/>
          <a:lstStyle/>
          <a:p>
            <a:pPr marL="285750" indent="-285750" algn="l">
              <a:buFont typeface="Arial" panose="020B0604020202020204" pitchFamily="34" charset="0"/>
              <a:buChar char="•"/>
            </a:pPr>
            <a:r>
              <a:rPr lang="en-US" sz="1800">
                <a:solidFill>
                  <a:srgbClr val="000000"/>
                </a:solidFill>
              </a:rPr>
              <a:t>Static NAT is a one-to-one mapping between an inside address and an outside address. </a:t>
            </a:r>
          </a:p>
          <a:p>
            <a:pPr marL="285750" indent="-285750" algn="l">
              <a:buFont typeface="Arial" panose="020B0604020202020204" pitchFamily="34" charset="0"/>
              <a:buChar char="•"/>
            </a:pPr>
            <a:r>
              <a:rPr lang="en-US" sz="1800">
                <a:solidFill>
                  <a:srgbClr val="000000"/>
                </a:solidFill>
              </a:rPr>
              <a:t>Static NAT allows external devices to initiate connections to internal devices using the statically assigned public address. </a:t>
            </a:r>
          </a:p>
          <a:p>
            <a:pPr marL="285750" indent="-285750" algn="l">
              <a:buFont typeface="Arial" panose="020B0604020202020204" pitchFamily="34" charset="0"/>
              <a:buChar char="•"/>
            </a:pPr>
            <a:r>
              <a:rPr lang="en-US" sz="1800">
                <a:solidFill>
                  <a:srgbClr val="000000"/>
                </a:solidFill>
              </a:rPr>
              <a:t>For instance, an internal web server may be mapped to a specific inside global address so that it is accessible from outside networks.</a:t>
            </a:r>
            <a:endParaRPr lang="en-US" sz="1600">
              <a:solidFill>
                <a:srgbClr val="000000"/>
              </a:solidFill>
            </a:endParaRPr>
          </a:p>
          <a:p>
            <a:pPr marL="285750" indent="-285750" algn="l">
              <a:buFont typeface="Arial" panose="020B0604020202020204" pitchFamily="34" charset="0"/>
              <a:buChar char="•"/>
            </a:pPr>
            <a:endParaRPr lang="en-US" sz="1600">
              <a:solidFill>
                <a:srgbClr val="000000"/>
              </a:solidFill>
            </a:endParaRPr>
          </a:p>
          <a:p>
            <a:pPr marL="285750" indent="-285750" algn="l">
              <a:buFont typeface="Arial" panose="020B0604020202020204" pitchFamily="34" charset="0"/>
              <a:buChar char="•"/>
            </a:pPr>
            <a:endParaRPr lang="en-US" sz="1400">
              <a:solidFill>
                <a:srgbClr val="000000"/>
              </a:solidFill>
            </a:endParaRPr>
          </a:p>
        </p:txBody>
      </p:sp>
      <p:pic>
        <p:nvPicPr>
          <p:cNvPr id="2" name="Picture 1">
            <a:extLst>
              <a:ext uri="{FF2B5EF4-FFF2-40B4-BE49-F238E27FC236}">
                <a16:creationId xmlns:a16="http://schemas.microsoft.com/office/drawing/2014/main" id="{5603F9AA-EF4E-4334-898A-B492770E997E}"/>
              </a:ext>
            </a:extLst>
          </p:cNvPr>
          <p:cNvPicPr>
            <a:picLocks noChangeAspect="1"/>
          </p:cNvPicPr>
          <p:nvPr/>
        </p:nvPicPr>
        <p:blipFill>
          <a:blip r:embed="rId3"/>
          <a:stretch>
            <a:fillRect/>
          </a:stretch>
        </p:blipFill>
        <p:spPr>
          <a:xfrm>
            <a:off x="4741003" y="1694420"/>
            <a:ext cx="4002202" cy="1754660"/>
          </a:xfrm>
          <a:prstGeom prst="rect">
            <a:avLst/>
          </a:prstGeom>
        </p:spPr>
      </p:pic>
    </p:spTree>
    <p:extLst>
      <p:ext uri="{BB962C8B-B14F-4D97-AF65-F5344CB8AC3E}">
        <p14:creationId xmlns:p14="http://schemas.microsoft.com/office/powerpoint/2010/main" val="31467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Configure Static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1614405"/>
          </a:xfrm>
        </p:spPr>
        <p:txBody>
          <a:bodyPr/>
          <a:lstStyle/>
          <a:p>
            <a:pPr marL="0" indent="0" algn="l"/>
            <a:r>
              <a:rPr lang="en-US">
                <a:solidFill>
                  <a:srgbClr val="000000"/>
                </a:solidFill>
              </a:rPr>
              <a:t>There are two basic tasks when configuring static NAT translations:</a:t>
            </a:r>
          </a:p>
          <a:p>
            <a:pPr marL="285750" indent="-285750" algn="l">
              <a:buFont typeface="Arial" panose="020B0604020202020204" pitchFamily="34" charset="0"/>
              <a:buChar char="•"/>
            </a:pPr>
            <a:r>
              <a:rPr lang="en-US" sz="1600" b="1">
                <a:solidFill>
                  <a:srgbClr val="000000"/>
                </a:solidFill>
              </a:rPr>
              <a:t>Step 1 </a:t>
            </a:r>
            <a:r>
              <a:rPr lang="en-US" sz="1600">
                <a:solidFill>
                  <a:srgbClr val="000000"/>
                </a:solidFill>
              </a:rPr>
              <a:t>- Create a mapping between the inside local address and the inside global addresses using the </a:t>
            </a:r>
            <a:r>
              <a:rPr lang="en-US" sz="1600" b="1">
                <a:solidFill>
                  <a:srgbClr val="000000"/>
                </a:solidFill>
              </a:rPr>
              <a:t>ip nat inside source static </a:t>
            </a:r>
            <a:r>
              <a:rPr lang="en-US" sz="1600">
                <a:solidFill>
                  <a:srgbClr val="000000"/>
                </a:solidFill>
              </a:rPr>
              <a:t>command.</a:t>
            </a:r>
          </a:p>
          <a:p>
            <a:pPr marL="285750" indent="-285750" algn="l">
              <a:buFont typeface="Arial" panose="020B0604020202020204" pitchFamily="34" charset="0"/>
              <a:buChar char="•"/>
            </a:pPr>
            <a:r>
              <a:rPr lang="en-US" sz="1600" b="1">
                <a:solidFill>
                  <a:srgbClr val="000000"/>
                </a:solidFill>
              </a:rPr>
              <a:t>Step 2</a:t>
            </a:r>
            <a:r>
              <a:rPr lang="en-US" sz="1600">
                <a:solidFill>
                  <a:srgbClr val="000000"/>
                </a:solidFill>
              </a:rPr>
              <a:t> - The interfaces participating in the translation are configured as inside or outside relative to NAT with the </a:t>
            </a:r>
            <a:r>
              <a:rPr lang="en-US" sz="1600" b="1">
                <a:solidFill>
                  <a:srgbClr val="000000"/>
                </a:solidFill>
              </a:rPr>
              <a:t>ip nat inside </a:t>
            </a:r>
            <a:r>
              <a:rPr lang="en-US" sz="1600">
                <a:solidFill>
                  <a:srgbClr val="000000"/>
                </a:solidFill>
              </a:rPr>
              <a:t>and </a:t>
            </a:r>
            <a:r>
              <a:rPr lang="en-US" sz="1600" b="1">
                <a:solidFill>
                  <a:srgbClr val="000000"/>
                </a:solidFill>
              </a:rPr>
              <a:t>ip nat outside </a:t>
            </a:r>
            <a:r>
              <a:rPr lang="en-US" sz="1600">
                <a:solidFill>
                  <a:srgbClr val="000000"/>
                </a:solidFill>
              </a:rPr>
              <a:t>commands.</a:t>
            </a:r>
          </a:p>
          <a:p>
            <a:pPr marL="0" indent="0" algn="l"/>
            <a:endParaRPr lang="en-US" sz="1600">
              <a:solidFill>
                <a:srgbClr val="000000"/>
              </a:solidFill>
            </a:endParaRPr>
          </a:p>
        </p:txBody>
      </p:sp>
      <p:sp>
        <p:nvSpPr>
          <p:cNvPr id="5" name="TextBox 4">
            <a:extLst>
              <a:ext uri="{FF2B5EF4-FFF2-40B4-BE49-F238E27FC236}">
                <a16:creationId xmlns:a16="http://schemas.microsoft.com/office/drawing/2014/main" id="{477D55F0-599C-47AB-8CC2-3EC9AC35A522}"/>
              </a:ext>
            </a:extLst>
          </p:cNvPr>
          <p:cNvSpPr txBox="1"/>
          <p:nvPr/>
        </p:nvSpPr>
        <p:spPr>
          <a:xfrm>
            <a:off x="993429" y="2741505"/>
            <a:ext cx="5634876" cy="1546577"/>
          </a:xfrm>
          <a:prstGeom prst="rect">
            <a:avLst/>
          </a:prstGeom>
          <a:solidFill>
            <a:srgbClr val="000000"/>
          </a:solidFill>
        </p:spPr>
        <p:txBody>
          <a:bodyPr wrap="none" rtlCol="0">
            <a:spAutoFit/>
          </a:bodyPr>
          <a:lstStyle/>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err="1">
                <a:solidFill>
                  <a:schemeClr val="accent6">
                    <a:lumMod val="75000"/>
                  </a:schemeClr>
                </a:solidFill>
                <a:latin typeface="Courier New" panose="02070309020205020404" pitchFamily="49" charset="0"/>
                <a:cs typeface="Courier New" panose="02070309020205020404" pitchFamily="49" charset="0"/>
              </a:rPr>
              <a:t>ip</a:t>
            </a:r>
            <a:r>
              <a:rPr lang="en-US" sz="1050" b="1" dirty="0">
                <a:solidFill>
                  <a:schemeClr val="accent6">
                    <a:lumMod val="75000"/>
                  </a:schemeClr>
                </a:solidFill>
                <a:latin typeface="Courier New" panose="02070309020205020404" pitchFamily="49" charset="0"/>
                <a:cs typeface="Courier New" panose="02070309020205020404" pitchFamily="49" charset="0"/>
              </a:rPr>
              <a:t> </a:t>
            </a:r>
            <a:r>
              <a:rPr lang="en-US" sz="1050" b="1" dirty="0" err="1">
                <a:solidFill>
                  <a:schemeClr val="accent6">
                    <a:lumMod val="75000"/>
                  </a:schemeClr>
                </a:solidFill>
                <a:latin typeface="Courier New" panose="02070309020205020404" pitchFamily="49" charset="0"/>
                <a:cs typeface="Courier New" panose="02070309020205020404" pitchFamily="49" charset="0"/>
              </a:rPr>
              <a:t>nat</a:t>
            </a:r>
            <a:r>
              <a:rPr lang="en-US" sz="1050" b="1" dirty="0">
                <a:solidFill>
                  <a:schemeClr val="accent6">
                    <a:lumMod val="75000"/>
                  </a:schemeClr>
                </a:solidFill>
                <a:latin typeface="Courier New" panose="02070309020205020404" pitchFamily="49" charset="0"/>
                <a:cs typeface="Courier New" panose="02070309020205020404" pitchFamily="49" charset="0"/>
              </a:rPr>
              <a:t> inside source static 192.168.10.254 209.165.201.5</a:t>
            </a:r>
          </a:p>
          <a:p>
            <a:r>
              <a:rPr lang="en-US" sz="1050" dirty="0">
                <a:solidFill>
                  <a:schemeClr val="bg1"/>
                </a:solidFill>
                <a:latin typeface="Courier New" panose="02070309020205020404" pitchFamily="49" charset="0"/>
                <a:cs typeface="Courier New" panose="02070309020205020404" pitchFamily="49" charset="0"/>
              </a:rPr>
              <a:t>R2(config)#</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interface serial 0/1/0</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err="1">
                <a:solidFill>
                  <a:schemeClr val="bg1"/>
                </a:solidFill>
                <a:latin typeface="Courier New" panose="02070309020205020404" pitchFamily="49" charset="0"/>
                <a:cs typeface="Courier New" panose="02070309020205020404" pitchFamily="49" charset="0"/>
              </a:rPr>
              <a:t>ip</a:t>
            </a:r>
            <a:r>
              <a:rPr lang="en-US" sz="1050" b="1" dirty="0">
                <a:solidFill>
                  <a:schemeClr val="bg1"/>
                </a:solidFill>
                <a:latin typeface="Courier New" panose="02070309020205020404" pitchFamily="49" charset="0"/>
                <a:cs typeface="Courier New" panose="02070309020205020404" pitchFamily="49" charset="0"/>
              </a:rPr>
              <a:t> address 192.168.1.2 255.255.255.252</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err="1">
                <a:solidFill>
                  <a:schemeClr val="accent6">
                    <a:lumMod val="75000"/>
                  </a:schemeClr>
                </a:solidFill>
                <a:latin typeface="Courier New" panose="02070309020205020404" pitchFamily="49" charset="0"/>
                <a:cs typeface="Courier New" panose="02070309020205020404" pitchFamily="49" charset="0"/>
              </a:rPr>
              <a:t>ip</a:t>
            </a:r>
            <a:r>
              <a:rPr lang="en-US" sz="1050" b="1" dirty="0">
                <a:solidFill>
                  <a:schemeClr val="accent6">
                    <a:lumMod val="75000"/>
                  </a:schemeClr>
                </a:solidFill>
                <a:latin typeface="Courier New" panose="02070309020205020404" pitchFamily="49" charset="0"/>
                <a:cs typeface="Courier New" panose="02070309020205020404" pitchFamily="49" charset="0"/>
              </a:rPr>
              <a:t> </a:t>
            </a:r>
            <a:r>
              <a:rPr lang="en-US" sz="1050" b="1" dirty="0" err="1">
                <a:solidFill>
                  <a:schemeClr val="accent6">
                    <a:lumMod val="75000"/>
                  </a:schemeClr>
                </a:solidFill>
                <a:latin typeface="Courier New" panose="02070309020205020404" pitchFamily="49" charset="0"/>
                <a:cs typeface="Courier New" panose="02070309020205020404" pitchFamily="49" charset="0"/>
              </a:rPr>
              <a:t>nat</a:t>
            </a:r>
            <a:r>
              <a:rPr lang="en-US" sz="1050" b="1" dirty="0">
                <a:solidFill>
                  <a:schemeClr val="accent6">
                    <a:lumMod val="75000"/>
                  </a:schemeClr>
                </a:solidFill>
                <a:latin typeface="Courier New" panose="02070309020205020404" pitchFamily="49" charset="0"/>
                <a:cs typeface="Courier New" panose="02070309020205020404" pitchFamily="49" charset="0"/>
              </a:rPr>
              <a:t> inside</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a:solidFill>
                  <a:schemeClr val="bg1"/>
                </a:solidFill>
                <a:latin typeface="Courier New" panose="02070309020205020404" pitchFamily="49" charset="0"/>
                <a:cs typeface="Courier New" panose="02070309020205020404" pitchFamily="49" charset="0"/>
              </a:rPr>
              <a:t>exit</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interface serial 0/1/1</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err="1">
                <a:solidFill>
                  <a:schemeClr val="bg1"/>
                </a:solidFill>
                <a:latin typeface="Courier New" panose="02070309020205020404" pitchFamily="49" charset="0"/>
                <a:cs typeface="Courier New" panose="02070309020205020404" pitchFamily="49" charset="0"/>
              </a:rPr>
              <a:t>ip</a:t>
            </a:r>
            <a:r>
              <a:rPr lang="en-US" sz="1050" b="1" dirty="0">
                <a:solidFill>
                  <a:schemeClr val="bg1"/>
                </a:solidFill>
                <a:latin typeface="Courier New" panose="02070309020205020404" pitchFamily="49" charset="0"/>
                <a:cs typeface="Courier New" panose="02070309020205020404" pitchFamily="49" charset="0"/>
              </a:rPr>
              <a:t> address 209.165.200.1 255.255.255.252</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err="1">
                <a:solidFill>
                  <a:schemeClr val="accent6">
                    <a:lumMod val="75000"/>
                  </a:schemeClr>
                </a:solidFill>
                <a:latin typeface="Courier New" panose="02070309020205020404" pitchFamily="49" charset="0"/>
                <a:cs typeface="Courier New" panose="02070309020205020404" pitchFamily="49" charset="0"/>
              </a:rPr>
              <a:t>ip</a:t>
            </a:r>
            <a:r>
              <a:rPr lang="en-US" sz="1050" b="1" dirty="0">
                <a:solidFill>
                  <a:schemeClr val="accent6">
                    <a:lumMod val="75000"/>
                  </a:schemeClr>
                </a:solidFill>
                <a:latin typeface="Courier New" panose="02070309020205020404" pitchFamily="49" charset="0"/>
                <a:cs typeface="Courier New" panose="02070309020205020404" pitchFamily="49" charset="0"/>
              </a:rPr>
              <a:t> </a:t>
            </a:r>
            <a:r>
              <a:rPr lang="en-US" sz="1050" b="1" dirty="0" err="1">
                <a:solidFill>
                  <a:schemeClr val="accent6">
                    <a:lumMod val="75000"/>
                  </a:schemeClr>
                </a:solidFill>
                <a:latin typeface="Courier New" panose="02070309020205020404" pitchFamily="49" charset="0"/>
                <a:cs typeface="Courier New" panose="02070309020205020404" pitchFamily="49" charset="0"/>
              </a:rPr>
              <a:t>nat</a:t>
            </a:r>
            <a:r>
              <a:rPr lang="en-US" sz="1050" b="1" dirty="0">
                <a:solidFill>
                  <a:schemeClr val="accent6">
                    <a:lumMod val="75000"/>
                  </a:schemeClr>
                </a:solidFill>
                <a:latin typeface="Courier New" panose="02070309020205020404" pitchFamily="49" charset="0"/>
                <a:cs typeface="Courier New" panose="02070309020205020404" pitchFamily="49" charset="0"/>
              </a:rPr>
              <a:t> outside</a:t>
            </a:r>
          </a:p>
        </p:txBody>
      </p:sp>
    </p:spTree>
    <p:extLst>
      <p:ext uri="{BB962C8B-B14F-4D97-AF65-F5344CB8AC3E}">
        <p14:creationId xmlns:p14="http://schemas.microsoft.com/office/powerpoint/2010/main" val="1632547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Analyze Static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4396" y="613610"/>
            <a:ext cx="4920091" cy="3916279"/>
          </a:xfrm>
        </p:spPr>
        <p:txBody>
          <a:bodyPr/>
          <a:lstStyle/>
          <a:p>
            <a:pPr marL="0" indent="0" algn="l"/>
            <a:r>
              <a:rPr lang="en-US" sz="1600">
                <a:solidFill>
                  <a:srgbClr val="000000"/>
                </a:solidFill>
              </a:rPr>
              <a:t>The static NAT translation process between the client and the web server:</a:t>
            </a:r>
          </a:p>
          <a:p>
            <a:pPr marL="228600" indent="-228600" algn="l">
              <a:buFont typeface="+mj-lt"/>
              <a:buAutoNum type="arabicPeriod"/>
            </a:pPr>
            <a:r>
              <a:rPr lang="en-US" sz="1600">
                <a:solidFill>
                  <a:srgbClr val="000000"/>
                </a:solidFill>
              </a:rPr>
              <a:t>The client sends a packet to the web server.</a:t>
            </a:r>
          </a:p>
          <a:p>
            <a:pPr marL="228600" indent="-228600" algn="l">
              <a:buFont typeface="+mj-lt"/>
              <a:buAutoNum type="arabicPeriod"/>
            </a:pPr>
            <a:r>
              <a:rPr lang="en-US" sz="1600">
                <a:solidFill>
                  <a:srgbClr val="000000"/>
                </a:solidFill>
              </a:rPr>
              <a:t>R2 receives packets from the client on its NAT outside interface and checks its NAT table. </a:t>
            </a:r>
          </a:p>
          <a:p>
            <a:pPr marL="228600" indent="-228600" algn="l">
              <a:buFont typeface="+mj-lt"/>
              <a:buAutoNum type="arabicPeriod"/>
            </a:pPr>
            <a:r>
              <a:rPr lang="en-US" sz="1600">
                <a:solidFill>
                  <a:srgbClr val="000000"/>
                </a:solidFill>
              </a:rPr>
              <a:t>R2 translates the inside global address of to the inside local address and forwards the packet towards the web server.</a:t>
            </a:r>
          </a:p>
          <a:p>
            <a:pPr marL="228600" indent="-228600" algn="l">
              <a:buFont typeface="+mj-lt"/>
              <a:buAutoNum type="arabicPeriod"/>
            </a:pPr>
            <a:r>
              <a:rPr lang="en-US" sz="1600">
                <a:solidFill>
                  <a:srgbClr val="000000"/>
                </a:solidFill>
              </a:rPr>
              <a:t>The web server receives the packet and responds to the client using its inside local address.</a:t>
            </a:r>
          </a:p>
          <a:p>
            <a:pPr marL="228600" indent="-228600" algn="l">
              <a:buFont typeface="+mj-lt"/>
              <a:buAutoNum type="arabicPeriod"/>
            </a:pPr>
            <a:r>
              <a:rPr lang="en-US" sz="1600">
                <a:solidFill>
                  <a:srgbClr val="000000"/>
                </a:solidFill>
              </a:rPr>
              <a:t>(a) R2 receives the packet from the web server on its NAT inside interface with source address of the inside local address of the web server and (b) translates the source address to the inside global address. </a:t>
            </a:r>
          </a:p>
        </p:txBody>
      </p:sp>
      <p:pic>
        <p:nvPicPr>
          <p:cNvPr id="2" name="Picture 1">
            <a:extLst>
              <a:ext uri="{FF2B5EF4-FFF2-40B4-BE49-F238E27FC236}">
                <a16:creationId xmlns:a16="http://schemas.microsoft.com/office/drawing/2014/main" id="{FF590F7B-7C1D-4A18-825C-640351652AAC}"/>
              </a:ext>
            </a:extLst>
          </p:cNvPr>
          <p:cNvPicPr>
            <a:picLocks noChangeAspect="1"/>
          </p:cNvPicPr>
          <p:nvPr/>
        </p:nvPicPr>
        <p:blipFill>
          <a:blip r:embed="rId3"/>
          <a:stretch>
            <a:fillRect/>
          </a:stretch>
        </p:blipFill>
        <p:spPr>
          <a:xfrm>
            <a:off x="5024487" y="1243862"/>
            <a:ext cx="4093595" cy="2429532"/>
          </a:xfrm>
          <a:prstGeom prst="rect">
            <a:avLst/>
          </a:prstGeom>
        </p:spPr>
      </p:pic>
    </p:spTree>
    <p:extLst>
      <p:ext uri="{BB962C8B-B14F-4D97-AF65-F5344CB8AC3E}">
        <p14:creationId xmlns:p14="http://schemas.microsoft.com/office/powerpoint/2010/main" val="4192273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Verify Static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78922" y="731837"/>
            <a:ext cx="8345488" cy="1467368"/>
          </a:xfrm>
        </p:spPr>
        <p:txBody>
          <a:bodyPr/>
          <a:lstStyle/>
          <a:p>
            <a:pPr marL="0" indent="0" algn="l"/>
            <a:r>
              <a:rPr lang="en-US" sz="1600">
                <a:solidFill>
                  <a:srgbClr val="000000"/>
                </a:solidFill>
              </a:rPr>
              <a:t>To verify NAT operation, issue the </a:t>
            </a:r>
            <a:r>
              <a:rPr lang="en-US" sz="1600" b="1">
                <a:solidFill>
                  <a:srgbClr val="000000"/>
                </a:solidFill>
              </a:rPr>
              <a:t>show ip nat translations</a:t>
            </a:r>
            <a:r>
              <a:rPr lang="en-US" sz="1600">
                <a:solidFill>
                  <a:srgbClr val="000000"/>
                </a:solidFill>
              </a:rPr>
              <a:t> command.</a:t>
            </a:r>
          </a:p>
          <a:p>
            <a:pPr marL="285750" indent="-285750" algn="l">
              <a:buFont typeface="Arial" panose="020B0604020202020204" pitchFamily="34" charset="0"/>
              <a:buChar char="•"/>
            </a:pPr>
            <a:r>
              <a:rPr lang="en-US" sz="1600">
                <a:solidFill>
                  <a:srgbClr val="000000"/>
                </a:solidFill>
              </a:rPr>
              <a:t>This command shows active NAT translations. </a:t>
            </a:r>
          </a:p>
          <a:p>
            <a:pPr marL="285750" indent="-285750" algn="l">
              <a:buFont typeface="Arial" panose="020B0604020202020204" pitchFamily="34" charset="0"/>
              <a:buChar char="•"/>
            </a:pPr>
            <a:r>
              <a:rPr lang="en-US" sz="1600">
                <a:solidFill>
                  <a:srgbClr val="000000"/>
                </a:solidFill>
              </a:rPr>
              <a:t>Because the example is a static NAT configuration, the translation is always present in the NAT table regardless of any active communications.</a:t>
            </a:r>
          </a:p>
          <a:p>
            <a:pPr marL="285750" indent="-285750" algn="l">
              <a:buFont typeface="Arial" panose="020B0604020202020204" pitchFamily="34" charset="0"/>
              <a:buChar char="•"/>
            </a:pPr>
            <a:r>
              <a:rPr lang="en-US" sz="1600">
                <a:solidFill>
                  <a:srgbClr val="000000"/>
                </a:solidFill>
              </a:rPr>
              <a:t>If the command is issued during an active session, the output also indicates the address of the outside device.</a:t>
            </a:r>
          </a:p>
        </p:txBody>
      </p:sp>
      <p:sp>
        <p:nvSpPr>
          <p:cNvPr id="5" name="TextBox 4">
            <a:extLst>
              <a:ext uri="{FF2B5EF4-FFF2-40B4-BE49-F238E27FC236}">
                <a16:creationId xmlns:a16="http://schemas.microsoft.com/office/drawing/2014/main" id="{273F9887-658E-40D2-A4F9-AF10A096AAD3}"/>
              </a:ext>
            </a:extLst>
          </p:cNvPr>
          <p:cNvSpPr txBox="1"/>
          <p:nvPr/>
        </p:nvSpPr>
        <p:spPr>
          <a:xfrm>
            <a:off x="547392" y="2571750"/>
            <a:ext cx="7808548" cy="738664"/>
          </a:xfrm>
          <a:prstGeom prst="rect">
            <a:avLst/>
          </a:prstGeom>
          <a:solidFill>
            <a:srgbClr val="000000"/>
          </a:solidFill>
        </p:spPr>
        <p:txBody>
          <a:bodyPr wrap="square" rtlCol="0">
            <a:spAutoFit/>
          </a:bodyPr>
          <a:lstStyle/>
          <a:p>
            <a:r>
              <a:rPr lang="en-US" sz="1050">
                <a:solidFill>
                  <a:schemeClr val="bg1"/>
                </a:solidFill>
                <a:latin typeface="Courier New" panose="02070309020205020404" pitchFamily="49" charset="0"/>
                <a:cs typeface="Courier New" panose="02070309020205020404" pitchFamily="49" charset="0"/>
              </a:rPr>
              <a:t>R2# </a:t>
            </a:r>
            <a:r>
              <a:rPr lang="en-US" sz="1050" b="1">
                <a:solidFill>
                  <a:schemeClr val="bg1"/>
                </a:solidFill>
                <a:latin typeface="Courier New" panose="02070309020205020404" pitchFamily="49" charset="0"/>
                <a:cs typeface="Courier New" panose="02070309020205020404" pitchFamily="49" charset="0"/>
              </a:rPr>
              <a:t>show ip nat translations</a:t>
            </a:r>
          </a:p>
          <a:p>
            <a:r>
              <a:rPr lang="en-US" sz="1050">
                <a:solidFill>
                  <a:schemeClr val="bg1"/>
                </a:solidFill>
                <a:latin typeface="Courier New" panose="02070309020205020404" pitchFamily="49" charset="0"/>
                <a:cs typeface="Courier New" panose="02070309020205020404" pitchFamily="49" charset="0"/>
              </a:rPr>
              <a:t>Pro  Inside global       Inside local       Outside local     Outside global</a:t>
            </a:r>
          </a:p>
          <a:p>
            <a:r>
              <a:rPr lang="en-US" sz="1050">
                <a:solidFill>
                  <a:schemeClr val="bg1"/>
                </a:solidFill>
                <a:latin typeface="Courier New" panose="02070309020205020404" pitchFamily="49" charset="0"/>
                <a:cs typeface="Courier New" panose="02070309020205020404" pitchFamily="49" charset="0"/>
              </a:rPr>
              <a:t>---  209.165.201.5       192.168.10.254     ---               ---</a:t>
            </a:r>
          </a:p>
          <a:p>
            <a:r>
              <a:rPr lang="en-US" sz="1050">
                <a:solidFill>
                  <a:schemeClr val="bg1"/>
                </a:solidFill>
                <a:latin typeface="Courier New" panose="02070309020205020404" pitchFamily="49" charset="0"/>
                <a:cs typeface="Courier New" panose="02070309020205020404" pitchFamily="49" charset="0"/>
              </a:rPr>
              <a:t>Total number of translations: 1</a:t>
            </a:r>
            <a:endParaRPr lang="en-US" sz="1050" b="1">
              <a:solidFill>
                <a:schemeClr val="accent6">
                  <a:lumMod val="75000"/>
                </a:schemeClr>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78AD0EEB-FD03-47DE-A7E4-FE736DEF6604}"/>
              </a:ext>
            </a:extLst>
          </p:cNvPr>
          <p:cNvSpPr txBox="1"/>
          <p:nvPr/>
        </p:nvSpPr>
        <p:spPr>
          <a:xfrm>
            <a:off x="547392" y="3623619"/>
            <a:ext cx="6756978" cy="900246"/>
          </a:xfrm>
          <a:prstGeom prst="rect">
            <a:avLst/>
          </a:prstGeom>
          <a:solidFill>
            <a:srgbClr val="000000"/>
          </a:solidFill>
        </p:spPr>
        <p:txBody>
          <a:bodyPr wrap="none" rtlCol="0">
            <a:spAutoFit/>
          </a:bodyPr>
          <a:lstStyle/>
          <a:p>
            <a:r>
              <a:rPr lang="en-US" sz="1050">
                <a:solidFill>
                  <a:schemeClr val="bg1"/>
                </a:solidFill>
                <a:latin typeface="Courier New" panose="02070309020205020404" pitchFamily="49" charset="0"/>
                <a:cs typeface="Courier New" panose="02070309020205020404" pitchFamily="49" charset="0"/>
              </a:rPr>
              <a:t>R2# </a:t>
            </a:r>
            <a:r>
              <a:rPr lang="en-US" sz="1050" b="1">
                <a:solidFill>
                  <a:schemeClr val="bg1"/>
                </a:solidFill>
                <a:latin typeface="Courier New" panose="02070309020205020404" pitchFamily="49" charset="0"/>
                <a:cs typeface="Courier New" panose="02070309020205020404" pitchFamily="49" charset="0"/>
              </a:rPr>
              <a:t>show ip nat translations</a:t>
            </a:r>
          </a:p>
          <a:p>
            <a:r>
              <a:rPr lang="en-US" sz="1050">
                <a:solidFill>
                  <a:schemeClr val="bg1"/>
                </a:solidFill>
                <a:latin typeface="Courier New" panose="02070309020205020404" pitchFamily="49" charset="0"/>
                <a:cs typeface="Courier New" panose="02070309020205020404" pitchFamily="49" charset="0"/>
              </a:rPr>
              <a:t>Pro  Inside global       Inside local        Outside local         Outside global</a:t>
            </a:r>
          </a:p>
          <a:p>
            <a:r>
              <a:rPr lang="en-US" sz="1050">
                <a:solidFill>
                  <a:schemeClr val="bg1"/>
                </a:solidFill>
                <a:latin typeface="Courier New" panose="02070309020205020404" pitchFamily="49" charset="0"/>
                <a:cs typeface="Courier New" panose="02070309020205020404" pitchFamily="49" charset="0"/>
              </a:rPr>
              <a:t>tcp  209.165.201.5       192.168.10.254      209.165.200.254       209.165.200.254</a:t>
            </a:r>
          </a:p>
          <a:p>
            <a:r>
              <a:rPr lang="en-US" sz="1050">
                <a:solidFill>
                  <a:schemeClr val="bg1"/>
                </a:solidFill>
                <a:latin typeface="Courier New" panose="02070309020205020404" pitchFamily="49" charset="0"/>
                <a:cs typeface="Courier New" panose="02070309020205020404" pitchFamily="49" charset="0"/>
              </a:rPr>
              <a:t>---  209.165.201.5       192.168.10.254        ---                   ---</a:t>
            </a:r>
          </a:p>
          <a:p>
            <a:r>
              <a:rPr lang="en-US" sz="1050">
                <a:solidFill>
                  <a:schemeClr val="bg1"/>
                </a:solidFill>
                <a:latin typeface="Courier New" panose="02070309020205020404" pitchFamily="49" charset="0"/>
                <a:cs typeface="Courier New" panose="02070309020205020404" pitchFamily="49" charset="0"/>
              </a:rPr>
              <a:t>Total number of translations: 2</a:t>
            </a:r>
            <a:endParaRPr lang="en-US" sz="1050" b="1">
              <a:solidFill>
                <a:schemeClr val="accent6">
                  <a:lumMod val="7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19262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Verify Static NAT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1467368"/>
          </a:xfrm>
        </p:spPr>
        <p:txBody>
          <a:bodyPr/>
          <a:lstStyle/>
          <a:p>
            <a:pPr marL="0" indent="0" algn="l"/>
            <a:r>
              <a:rPr lang="en-US" sz="1600">
                <a:solidFill>
                  <a:srgbClr val="000000"/>
                </a:solidFill>
              </a:rPr>
              <a:t>Another useful command is </a:t>
            </a:r>
            <a:r>
              <a:rPr lang="en-US" sz="1600" b="1">
                <a:solidFill>
                  <a:srgbClr val="000000"/>
                </a:solidFill>
              </a:rPr>
              <a:t>show ip nat statistics.</a:t>
            </a:r>
          </a:p>
          <a:p>
            <a:pPr marL="285750" indent="-285750" algn="l">
              <a:buFont typeface="Arial" panose="020B0604020202020204" pitchFamily="34" charset="0"/>
              <a:buChar char="•"/>
            </a:pPr>
            <a:r>
              <a:rPr lang="en-US" sz="1600">
                <a:solidFill>
                  <a:srgbClr val="000000"/>
                </a:solidFill>
              </a:rPr>
              <a:t>It displays information about the total number of active translations, NAT configuration parameters, the number of addresses in the pool, and the number of addresses that have been allocated.</a:t>
            </a:r>
          </a:p>
          <a:p>
            <a:pPr marL="285750" indent="-285750" algn="l">
              <a:buFont typeface="Arial" panose="020B0604020202020204" pitchFamily="34" charset="0"/>
              <a:buChar char="•"/>
            </a:pPr>
            <a:r>
              <a:rPr lang="en-US" sz="1600">
                <a:solidFill>
                  <a:srgbClr val="000000"/>
                </a:solidFill>
              </a:rPr>
              <a:t>To verify that the NAT translation is working, it is best to clear statistics from any past translations using the </a:t>
            </a:r>
            <a:r>
              <a:rPr lang="en-US" sz="1600" b="1">
                <a:solidFill>
                  <a:srgbClr val="000000"/>
                </a:solidFill>
              </a:rPr>
              <a:t>clear ip nat statistics</a:t>
            </a:r>
            <a:r>
              <a:rPr lang="en-US" sz="1600">
                <a:solidFill>
                  <a:srgbClr val="000000"/>
                </a:solidFill>
              </a:rPr>
              <a:t> command before testing.</a:t>
            </a:r>
          </a:p>
        </p:txBody>
      </p:sp>
      <p:sp>
        <p:nvSpPr>
          <p:cNvPr id="5" name="TextBox 4">
            <a:extLst>
              <a:ext uri="{FF2B5EF4-FFF2-40B4-BE49-F238E27FC236}">
                <a16:creationId xmlns:a16="http://schemas.microsoft.com/office/drawing/2014/main" id="{273F9887-658E-40D2-A4F9-AF10A096AAD3}"/>
              </a:ext>
            </a:extLst>
          </p:cNvPr>
          <p:cNvSpPr txBox="1"/>
          <p:nvPr/>
        </p:nvSpPr>
        <p:spPr>
          <a:xfrm>
            <a:off x="536940" y="2897732"/>
            <a:ext cx="7808548" cy="1569660"/>
          </a:xfrm>
          <a:prstGeom prst="rect">
            <a:avLst/>
          </a:prstGeom>
          <a:solidFill>
            <a:srgbClr val="000000"/>
          </a:solidFill>
        </p:spPr>
        <p:txBody>
          <a:bodyPr wrap="square" rtlCol="0">
            <a:spAutoFit/>
          </a:bodyPr>
          <a:lstStyle/>
          <a:p>
            <a:r>
              <a:rPr lang="en-US" sz="1200">
                <a:solidFill>
                  <a:schemeClr val="bg1"/>
                </a:solidFill>
                <a:latin typeface="Courier New" panose="02070309020205020404" pitchFamily="49" charset="0"/>
                <a:cs typeface="Courier New" panose="02070309020205020404" pitchFamily="49" charset="0"/>
              </a:rPr>
              <a:t>R2# </a:t>
            </a:r>
            <a:r>
              <a:rPr lang="en-US" sz="1200" b="1">
                <a:solidFill>
                  <a:schemeClr val="bg1"/>
                </a:solidFill>
                <a:latin typeface="Courier New" panose="02070309020205020404" pitchFamily="49" charset="0"/>
                <a:cs typeface="Courier New" panose="02070309020205020404" pitchFamily="49" charset="0"/>
              </a:rPr>
              <a:t>show ip nat statistics</a:t>
            </a:r>
          </a:p>
          <a:p>
            <a:r>
              <a:rPr lang="en-US" sz="1200">
                <a:solidFill>
                  <a:schemeClr val="bg1"/>
                </a:solidFill>
                <a:latin typeface="Courier New" panose="02070309020205020404" pitchFamily="49" charset="0"/>
                <a:cs typeface="Courier New" panose="02070309020205020404" pitchFamily="49" charset="0"/>
              </a:rPr>
              <a:t>Total active translations: 1 (1 static, 0 dynamic; 0 extended)</a:t>
            </a:r>
          </a:p>
          <a:p>
            <a:r>
              <a:rPr lang="en-US" sz="1200">
                <a:solidFill>
                  <a:schemeClr val="bg1"/>
                </a:solidFill>
                <a:latin typeface="Courier New" panose="02070309020205020404" pitchFamily="49" charset="0"/>
                <a:cs typeface="Courier New" panose="02070309020205020404" pitchFamily="49" charset="0"/>
              </a:rPr>
              <a:t>Outside interfaces:</a:t>
            </a:r>
          </a:p>
          <a:p>
            <a:r>
              <a:rPr lang="en-US" sz="1200">
                <a:solidFill>
                  <a:schemeClr val="bg1"/>
                </a:solidFill>
                <a:latin typeface="Courier New" panose="02070309020205020404" pitchFamily="49" charset="0"/>
                <a:cs typeface="Courier New" panose="02070309020205020404" pitchFamily="49" charset="0"/>
              </a:rPr>
              <a:t>  Serial0/1/1</a:t>
            </a:r>
          </a:p>
          <a:p>
            <a:r>
              <a:rPr lang="en-US" sz="1200">
                <a:solidFill>
                  <a:schemeClr val="bg1"/>
                </a:solidFill>
                <a:latin typeface="Courier New" panose="02070309020205020404" pitchFamily="49" charset="0"/>
                <a:cs typeface="Courier New" panose="02070309020205020404" pitchFamily="49" charset="0"/>
              </a:rPr>
              <a:t>Inside interfaces:</a:t>
            </a:r>
          </a:p>
          <a:p>
            <a:r>
              <a:rPr lang="en-US" sz="1200">
                <a:solidFill>
                  <a:schemeClr val="bg1"/>
                </a:solidFill>
                <a:latin typeface="Courier New" panose="02070309020205020404" pitchFamily="49" charset="0"/>
                <a:cs typeface="Courier New" panose="02070309020205020404" pitchFamily="49" charset="0"/>
              </a:rPr>
              <a:t>  Serial0/1/0</a:t>
            </a:r>
          </a:p>
          <a:p>
            <a:r>
              <a:rPr lang="en-US" sz="1200">
                <a:solidFill>
                  <a:schemeClr val="accent6">
                    <a:lumMod val="75000"/>
                  </a:schemeClr>
                </a:solidFill>
                <a:latin typeface="Courier New" panose="02070309020205020404" pitchFamily="49" charset="0"/>
                <a:cs typeface="Courier New" panose="02070309020205020404" pitchFamily="49" charset="0"/>
              </a:rPr>
              <a:t>Hits: 4  Misses: 1</a:t>
            </a:r>
          </a:p>
          <a:p>
            <a:r>
              <a:rPr lang="en-US" sz="1200">
                <a:solidFill>
                  <a:schemeClr val="bg1"/>
                </a:solidFill>
                <a:latin typeface="Courier New" panose="02070309020205020404" pitchFamily="49" charset="0"/>
                <a:cs typeface="Courier New" panose="02070309020205020404" pitchFamily="49" charset="0"/>
              </a:rPr>
              <a:t>(output omitted)</a:t>
            </a:r>
            <a:endParaRPr lang="en-US" sz="1200" b="1">
              <a:solidFill>
                <a:schemeClr val="accent6">
                  <a:lumMod val="7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18297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a:solidFill>
                  <a:schemeClr val="accent5">
                    <a:lumMod val="40000"/>
                    <a:lumOff val="60000"/>
                  </a:schemeClr>
                </a:solidFill>
              </a:rPr>
              <a:t>6.5 Dynamic NAT</a:t>
            </a:r>
          </a:p>
        </p:txBody>
      </p:sp>
    </p:spTree>
    <p:custDataLst>
      <p:tags r:id="rId1"/>
    </p:custDataLst>
    <p:extLst>
      <p:ext uri="{BB962C8B-B14F-4D97-AF65-F5344CB8AC3E}">
        <p14:creationId xmlns:p14="http://schemas.microsoft.com/office/powerpoint/2010/main" val="186429950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Dynamic NAT Scenario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510635"/>
          </a:xfrm>
        </p:spPr>
        <p:txBody>
          <a:bodyPr/>
          <a:lstStyle/>
          <a:p>
            <a:pPr marL="285750" indent="-285750" algn="l">
              <a:buFont typeface="Arial" panose="020B0604020202020204" pitchFamily="34" charset="0"/>
              <a:buChar char="•"/>
            </a:pPr>
            <a:r>
              <a:rPr lang="en-US" sz="1800">
                <a:solidFill>
                  <a:srgbClr val="000000"/>
                </a:solidFill>
              </a:rPr>
              <a:t>Dynamic NAT automatically maps inside local addresses to inside global addresses.</a:t>
            </a:r>
          </a:p>
          <a:p>
            <a:pPr marL="285750" indent="-285750" algn="l">
              <a:buFont typeface="Arial" panose="020B0604020202020204" pitchFamily="34" charset="0"/>
              <a:buChar char="•"/>
            </a:pPr>
            <a:r>
              <a:rPr lang="en-US" sz="1800">
                <a:solidFill>
                  <a:srgbClr val="000000"/>
                </a:solidFill>
              </a:rPr>
              <a:t>Dynamic NAT uses a pool of inside global addresses.</a:t>
            </a:r>
            <a:endParaRPr lang="en-US" sz="1600">
              <a:solidFill>
                <a:srgbClr val="000000"/>
              </a:solidFill>
            </a:endParaRPr>
          </a:p>
          <a:p>
            <a:pPr marL="285750" indent="-285750" algn="l">
              <a:buFont typeface="Arial" panose="020B0604020202020204" pitchFamily="34" charset="0"/>
              <a:buChar char="•"/>
            </a:pPr>
            <a:r>
              <a:rPr lang="en-US" sz="1800">
                <a:solidFill>
                  <a:srgbClr val="000000"/>
                </a:solidFill>
              </a:rPr>
              <a:t>The pool of inside global addresses is available to any device on the inside network on a first-come first-served basis.</a:t>
            </a:r>
          </a:p>
          <a:p>
            <a:pPr marL="285750" indent="-285750" algn="l">
              <a:buFont typeface="Arial" panose="020B0604020202020204" pitchFamily="34" charset="0"/>
              <a:buChar char="•"/>
            </a:pPr>
            <a:r>
              <a:rPr lang="en-US" sz="1800">
                <a:solidFill>
                  <a:srgbClr val="000000"/>
                </a:solidFill>
              </a:rPr>
              <a:t>If all addresses in the pool are in use, a device must wait for an available address before it can access the outside network.</a:t>
            </a:r>
          </a:p>
          <a:p>
            <a:pPr marL="285750" indent="-285750" algn="l">
              <a:buFont typeface="Arial" panose="020B0604020202020204" pitchFamily="34" charset="0"/>
              <a:buChar char="•"/>
            </a:pPr>
            <a:endParaRPr lang="en-US" sz="1400">
              <a:solidFill>
                <a:srgbClr val="000000"/>
              </a:solidFill>
            </a:endParaRPr>
          </a:p>
        </p:txBody>
      </p:sp>
      <p:pic>
        <p:nvPicPr>
          <p:cNvPr id="5" name="Picture 4">
            <a:extLst>
              <a:ext uri="{FF2B5EF4-FFF2-40B4-BE49-F238E27FC236}">
                <a16:creationId xmlns:a16="http://schemas.microsoft.com/office/drawing/2014/main" id="{442592A8-A473-4812-8DA8-E167F4D11661}"/>
              </a:ext>
            </a:extLst>
          </p:cNvPr>
          <p:cNvPicPr>
            <a:picLocks noChangeAspect="1"/>
          </p:cNvPicPr>
          <p:nvPr/>
        </p:nvPicPr>
        <p:blipFill>
          <a:blip r:embed="rId3"/>
          <a:stretch>
            <a:fillRect/>
          </a:stretch>
        </p:blipFill>
        <p:spPr>
          <a:xfrm>
            <a:off x="4653079" y="1708570"/>
            <a:ext cx="4350016" cy="1804330"/>
          </a:xfrm>
          <a:prstGeom prst="rect">
            <a:avLst/>
          </a:prstGeom>
        </p:spPr>
      </p:pic>
      <p:sp>
        <p:nvSpPr>
          <p:cNvPr id="2" name="Ovál 1">
            <a:extLst>
              <a:ext uri="{FF2B5EF4-FFF2-40B4-BE49-F238E27FC236}">
                <a16:creationId xmlns:a16="http://schemas.microsoft.com/office/drawing/2014/main" id="{841A4CB7-26B4-C843-A8BC-14E9826E8CDF}"/>
              </a:ext>
            </a:extLst>
          </p:cNvPr>
          <p:cNvSpPr/>
          <p:nvPr/>
        </p:nvSpPr>
        <p:spPr>
          <a:xfrm>
            <a:off x="5367454" y="2981093"/>
            <a:ext cx="141248" cy="148683"/>
          </a:xfrm>
          <a:prstGeom prst="ellipse">
            <a:avLst/>
          </a:prstGeom>
          <a:solidFill>
            <a:schemeClr val="accent6">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dirty="0"/>
          </a:p>
        </p:txBody>
      </p:sp>
    </p:spTree>
    <p:extLst>
      <p:ext uri="{BB962C8B-B14F-4D97-AF65-F5344CB8AC3E}">
        <p14:creationId xmlns:p14="http://schemas.microsoft.com/office/powerpoint/2010/main" val="4267783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Configure Dynamic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1908803"/>
          </a:xfrm>
        </p:spPr>
        <p:txBody>
          <a:bodyPr>
            <a:normAutofit fontScale="92500" lnSpcReduction="10000"/>
          </a:bodyPr>
          <a:lstStyle/>
          <a:p>
            <a:pPr marL="0" indent="0" algn="l"/>
            <a:r>
              <a:rPr lang="en-US" sz="1500" dirty="0">
                <a:solidFill>
                  <a:srgbClr val="000000"/>
                </a:solidFill>
              </a:rPr>
              <a:t>There are </a:t>
            </a:r>
            <a:r>
              <a:rPr lang="en-US" sz="1500" b="1" dirty="0">
                <a:solidFill>
                  <a:srgbClr val="000000"/>
                </a:solidFill>
              </a:rPr>
              <a:t>five</a:t>
            </a:r>
            <a:r>
              <a:rPr lang="en-US" sz="1500" dirty="0">
                <a:solidFill>
                  <a:srgbClr val="000000"/>
                </a:solidFill>
              </a:rPr>
              <a:t> tasks when configuring dynamic NAT translations:</a:t>
            </a:r>
          </a:p>
          <a:p>
            <a:pPr marL="285750" indent="-285750" algn="l">
              <a:buFont typeface="Arial" panose="020B0604020202020204" pitchFamily="34" charset="0"/>
              <a:buChar char="•"/>
            </a:pPr>
            <a:r>
              <a:rPr lang="en-US" sz="1500" b="1" dirty="0">
                <a:solidFill>
                  <a:srgbClr val="000000"/>
                </a:solidFill>
              </a:rPr>
              <a:t>Step 1 </a:t>
            </a:r>
            <a:r>
              <a:rPr lang="en-US" sz="1500" dirty="0">
                <a:solidFill>
                  <a:srgbClr val="000000"/>
                </a:solidFill>
              </a:rPr>
              <a:t>- Define the pool of addresses that will be used for translation using the </a:t>
            </a:r>
            <a:r>
              <a:rPr lang="en-US" sz="1500" b="1" dirty="0" err="1">
                <a:solidFill>
                  <a:srgbClr val="000000"/>
                </a:solidFill>
              </a:rPr>
              <a:t>ip</a:t>
            </a:r>
            <a:r>
              <a:rPr lang="en-US" sz="1500" b="1" dirty="0">
                <a:solidFill>
                  <a:srgbClr val="000000"/>
                </a:solidFill>
              </a:rPr>
              <a:t> </a:t>
            </a:r>
            <a:r>
              <a:rPr lang="en-US" sz="1500" b="1" dirty="0" err="1">
                <a:solidFill>
                  <a:srgbClr val="000000"/>
                </a:solidFill>
              </a:rPr>
              <a:t>nat</a:t>
            </a:r>
            <a:r>
              <a:rPr lang="en-US" sz="1500" b="1" dirty="0">
                <a:solidFill>
                  <a:srgbClr val="000000"/>
                </a:solidFill>
              </a:rPr>
              <a:t> pool</a:t>
            </a:r>
            <a:r>
              <a:rPr lang="en-US" sz="1500" dirty="0">
                <a:solidFill>
                  <a:srgbClr val="000000"/>
                </a:solidFill>
              </a:rPr>
              <a:t> command. </a:t>
            </a:r>
          </a:p>
          <a:p>
            <a:pPr marL="285750" indent="-285750" algn="l">
              <a:buFont typeface="Arial" panose="020B0604020202020204" pitchFamily="34" charset="0"/>
              <a:buChar char="•"/>
            </a:pPr>
            <a:r>
              <a:rPr lang="en-US" sz="1500" b="1" dirty="0">
                <a:solidFill>
                  <a:srgbClr val="000000"/>
                </a:solidFill>
              </a:rPr>
              <a:t>Step 2</a:t>
            </a:r>
            <a:r>
              <a:rPr lang="en-US" sz="1500" dirty="0">
                <a:solidFill>
                  <a:srgbClr val="000000"/>
                </a:solidFill>
              </a:rPr>
              <a:t> - Configure a standard ACL to identify (permit) only those addresses that are to be translated.</a:t>
            </a:r>
          </a:p>
          <a:p>
            <a:pPr marL="285750" indent="-285750" algn="l">
              <a:buFont typeface="Arial" panose="020B0604020202020204" pitchFamily="34" charset="0"/>
              <a:buChar char="•"/>
            </a:pPr>
            <a:r>
              <a:rPr lang="en-US" sz="1500" b="1" dirty="0">
                <a:solidFill>
                  <a:srgbClr val="000000"/>
                </a:solidFill>
              </a:rPr>
              <a:t>Step 3 </a:t>
            </a:r>
            <a:r>
              <a:rPr lang="en-US" sz="1500" dirty="0">
                <a:solidFill>
                  <a:srgbClr val="000000"/>
                </a:solidFill>
              </a:rPr>
              <a:t>-</a:t>
            </a:r>
            <a:r>
              <a:rPr lang="en-US" sz="1500" b="1" dirty="0">
                <a:solidFill>
                  <a:srgbClr val="000000"/>
                </a:solidFill>
              </a:rPr>
              <a:t> </a:t>
            </a:r>
            <a:r>
              <a:rPr lang="en-US" sz="1500" dirty="0">
                <a:solidFill>
                  <a:srgbClr val="000000"/>
                </a:solidFill>
              </a:rPr>
              <a:t>Bind the ACL to the pool, using the </a:t>
            </a:r>
            <a:r>
              <a:rPr lang="en-US" sz="1500" b="1" dirty="0" err="1">
                <a:solidFill>
                  <a:srgbClr val="000000"/>
                </a:solidFill>
              </a:rPr>
              <a:t>ip</a:t>
            </a:r>
            <a:r>
              <a:rPr lang="en-US" sz="1500" b="1" dirty="0">
                <a:solidFill>
                  <a:srgbClr val="000000"/>
                </a:solidFill>
              </a:rPr>
              <a:t> </a:t>
            </a:r>
            <a:r>
              <a:rPr lang="en-US" sz="1500" b="1" dirty="0" err="1">
                <a:solidFill>
                  <a:srgbClr val="000000"/>
                </a:solidFill>
              </a:rPr>
              <a:t>nat</a:t>
            </a:r>
            <a:r>
              <a:rPr lang="en-US" sz="1500" b="1" dirty="0">
                <a:solidFill>
                  <a:srgbClr val="000000"/>
                </a:solidFill>
              </a:rPr>
              <a:t> inside source list</a:t>
            </a:r>
            <a:r>
              <a:rPr lang="en-US" sz="1500" dirty="0">
                <a:solidFill>
                  <a:srgbClr val="000000"/>
                </a:solidFill>
              </a:rPr>
              <a:t> command.</a:t>
            </a:r>
          </a:p>
          <a:p>
            <a:pPr marL="285750" indent="-285750" algn="l">
              <a:buFont typeface="Arial" panose="020B0604020202020204" pitchFamily="34" charset="0"/>
              <a:buChar char="•"/>
            </a:pPr>
            <a:r>
              <a:rPr lang="en-US" sz="1500" b="1" dirty="0">
                <a:solidFill>
                  <a:srgbClr val="000000"/>
                </a:solidFill>
              </a:rPr>
              <a:t>Step 4 </a:t>
            </a:r>
            <a:r>
              <a:rPr lang="en-US" sz="1500" dirty="0">
                <a:solidFill>
                  <a:srgbClr val="000000"/>
                </a:solidFill>
              </a:rPr>
              <a:t>- Identify which interfaces are inside. </a:t>
            </a:r>
          </a:p>
          <a:p>
            <a:pPr marL="285750" indent="-285750" algn="l">
              <a:buFont typeface="Arial" panose="020B0604020202020204" pitchFamily="34" charset="0"/>
              <a:buChar char="•"/>
            </a:pPr>
            <a:r>
              <a:rPr lang="en-US" sz="1500" b="1" dirty="0">
                <a:solidFill>
                  <a:srgbClr val="000000"/>
                </a:solidFill>
              </a:rPr>
              <a:t>Step 5</a:t>
            </a:r>
            <a:r>
              <a:rPr lang="en-US" sz="1500" dirty="0">
                <a:solidFill>
                  <a:srgbClr val="000000"/>
                </a:solidFill>
              </a:rPr>
              <a:t> - Identify which interfaces are outside. </a:t>
            </a:r>
          </a:p>
          <a:p>
            <a:pPr marL="285750" indent="-285750" algn="l">
              <a:buFont typeface="Arial" panose="020B0604020202020204" pitchFamily="34" charset="0"/>
              <a:buChar char="•"/>
            </a:pPr>
            <a:endParaRPr lang="en-US" sz="1200" dirty="0">
              <a:solidFill>
                <a:srgbClr val="000000"/>
              </a:solidFill>
            </a:endParaRPr>
          </a:p>
        </p:txBody>
      </p:sp>
      <p:sp>
        <p:nvSpPr>
          <p:cNvPr id="5" name="TextBox 5">
            <a:extLst>
              <a:ext uri="{FF2B5EF4-FFF2-40B4-BE49-F238E27FC236}">
                <a16:creationId xmlns:a16="http://schemas.microsoft.com/office/drawing/2014/main" id="{EE8BB02D-5AB4-594C-AB0F-F353A5D47448}"/>
              </a:ext>
            </a:extLst>
          </p:cNvPr>
          <p:cNvSpPr txBox="1"/>
          <p:nvPr/>
        </p:nvSpPr>
        <p:spPr>
          <a:xfrm>
            <a:off x="307621" y="3002931"/>
            <a:ext cx="8528758" cy="1223412"/>
          </a:xfrm>
          <a:prstGeom prst="rect">
            <a:avLst/>
          </a:prstGeom>
          <a:solidFill>
            <a:srgbClr val="000000"/>
          </a:solidFill>
        </p:spPr>
        <p:txBody>
          <a:bodyPr wrap="square" rtlCol="0">
            <a:spAutoFit/>
          </a:bodyPr>
          <a:lstStyle/>
          <a:p>
            <a:r>
              <a:rPr lang="en-US" sz="1050">
                <a:solidFill>
                  <a:schemeClr val="bg1"/>
                </a:solidFill>
                <a:latin typeface="Courier New" panose="02070309020205020404" pitchFamily="49" charset="0"/>
                <a:cs typeface="Courier New" panose="02070309020205020404" pitchFamily="49" charset="0"/>
              </a:rPr>
              <a:t>R2(config)# </a:t>
            </a:r>
            <a:r>
              <a:rPr lang="en-US" sz="1050" b="1">
                <a:solidFill>
                  <a:schemeClr val="bg1"/>
                </a:solidFill>
                <a:latin typeface="Courier New" panose="02070309020205020404" pitchFamily="49" charset="0"/>
                <a:cs typeface="Courier New" panose="02070309020205020404" pitchFamily="49" charset="0"/>
              </a:rPr>
              <a:t>ip nat pool NAT-POOL1 209.165.200.226 209.165.200.240 netmask 255.255.255.224</a:t>
            </a:r>
          </a:p>
          <a:p>
            <a:r>
              <a:rPr lang="en-US" sz="1050">
                <a:solidFill>
                  <a:schemeClr val="bg1"/>
                </a:solidFill>
                <a:latin typeface="Courier New" panose="02070309020205020404" pitchFamily="49" charset="0"/>
                <a:cs typeface="Courier New" panose="02070309020205020404" pitchFamily="49" charset="0"/>
              </a:rPr>
              <a:t>R2(config)# </a:t>
            </a:r>
            <a:r>
              <a:rPr lang="en-US" sz="1050" b="1">
                <a:solidFill>
                  <a:schemeClr val="bg1"/>
                </a:solidFill>
                <a:latin typeface="Courier New" panose="02070309020205020404" pitchFamily="49" charset="0"/>
                <a:cs typeface="Courier New" panose="02070309020205020404" pitchFamily="49" charset="0"/>
              </a:rPr>
              <a:t>access-list 1 permit 192.168.0.0 0.0.255.255</a:t>
            </a:r>
          </a:p>
          <a:p>
            <a:r>
              <a:rPr lang="en-US" sz="1050">
                <a:solidFill>
                  <a:schemeClr val="bg1"/>
                </a:solidFill>
                <a:latin typeface="Courier New" panose="02070309020205020404" pitchFamily="49" charset="0"/>
                <a:cs typeface="Courier New" panose="02070309020205020404" pitchFamily="49" charset="0"/>
              </a:rPr>
              <a:t>R2(config)# </a:t>
            </a:r>
            <a:r>
              <a:rPr lang="en-US" sz="1050" b="1">
                <a:solidFill>
                  <a:schemeClr val="bg1"/>
                </a:solidFill>
                <a:latin typeface="Courier New" panose="02070309020205020404" pitchFamily="49" charset="0"/>
                <a:cs typeface="Courier New" panose="02070309020205020404" pitchFamily="49" charset="0"/>
              </a:rPr>
              <a:t>ip nat inside source list 1 pool NAT-POOL1</a:t>
            </a:r>
          </a:p>
          <a:p>
            <a:r>
              <a:rPr lang="pt-BR" sz="1050">
                <a:solidFill>
                  <a:schemeClr val="bg1"/>
                </a:solidFill>
                <a:latin typeface="Courier New" panose="02070309020205020404" pitchFamily="49" charset="0"/>
                <a:cs typeface="Courier New" panose="02070309020205020404" pitchFamily="49" charset="0"/>
              </a:rPr>
              <a:t>R2(config)# </a:t>
            </a:r>
            <a:r>
              <a:rPr lang="pt-BR" sz="1050" b="1">
                <a:solidFill>
                  <a:schemeClr val="bg1"/>
                </a:solidFill>
                <a:latin typeface="Courier New" panose="02070309020205020404" pitchFamily="49" charset="0"/>
                <a:cs typeface="Courier New" panose="02070309020205020404" pitchFamily="49" charset="0"/>
              </a:rPr>
              <a:t>interface serial 0/1/0</a:t>
            </a:r>
          </a:p>
          <a:p>
            <a:r>
              <a:rPr lang="pt-BR" sz="1050">
                <a:solidFill>
                  <a:schemeClr val="bg1"/>
                </a:solidFill>
                <a:latin typeface="Courier New" panose="02070309020205020404" pitchFamily="49" charset="0"/>
                <a:cs typeface="Courier New" panose="02070309020205020404" pitchFamily="49" charset="0"/>
              </a:rPr>
              <a:t>R2(config-if)# </a:t>
            </a:r>
            <a:r>
              <a:rPr lang="pt-BR" sz="1050" b="1">
                <a:solidFill>
                  <a:srgbClr val="FFC000"/>
                </a:solidFill>
                <a:latin typeface="Courier New" panose="02070309020205020404" pitchFamily="49" charset="0"/>
                <a:cs typeface="Courier New" panose="02070309020205020404" pitchFamily="49" charset="0"/>
              </a:rPr>
              <a:t>ip nat inside</a:t>
            </a:r>
          </a:p>
          <a:p>
            <a:r>
              <a:rPr lang="pt-BR" sz="1050">
                <a:solidFill>
                  <a:schemeClr val="bg1"/>
                </a:solidFill>
                <a:latin typeface="Courier New" panose="02070309020205020404" pitchFamily="49" charset="0"/>
                <a:cs typeface="Courier New" panose="02070309020205020404" pitchFamily="49" charset="0"/>
              </a:rPr>
              <a:t>R2(config-if)# </a:t>
            </a:r>
            <a:r>
              <a:rPr lang="pt-BR" sz="1050" b="1">
                <a:solidFill>
                  <a:schemeClr val="bg1"/>
                </a:solidFill>
                <a:latin typeface="Courier New" panose="02070309020205020404" pitchFamily="49" charset="0"/>
                <a:cs typeface="Courier New" panose="02070309020205020404" pitchFamily="49" charset="0"/>
              </a:rPr>
              <a:t>interface serial 0/1/1</a:t>
            </a:r>
          </a:p>
          <a:p>
            <a:r>
              <a:rPr lang="pt-BR" sz="1050">
                <a:solidFill>
                  <a:schemeClr val="bg1"/>
                </a:solidFill>
                <a:latin typeface="Courier New" panose="02070309020205020404" pitchFamily="49" charset="0"/>
                <a:cs typeface="Courier New" panose="02070309020205020404" pitchFamily="49" charset="0"/>
              </a:rPr>
              <a:t>R2(config-if)# </a:t>
            </a:r>
            <a:r>
              <a:rPr lang="pt-BR" sz="1050" b="1">
                <a:solidFill>
                  <a:srgbClr val="FFC000"/>
                </a:solidFill>
                <a:latin typeface="Courier New" panose="02070309020205020404" pitchFamily="49" charset="0"/>
                <a:cs typeface="Courier New" panose="02070309020205020404" pitchFamily="49" charset="0"/>
              </a:rPr>
              <a:t>ip nat outside</a:t>
            </a:r>
            <a:endParaRPr lang="en-US" sz="1050" b="1">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58192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Analyze Dynamic NAT – Inside to Outside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 y="855418"/>
            <a:ext cx="4572000" cy="4136996"/>
          </a:xfrm>
        </p:spPr>
        <p:txBody>
          <a:bodyPr/>
          <a:lstStyle/>
          <a:p>
            <a:pPr marL="0" indent="0" algn="l"/>
            <a:r>
              <a:rPr lang="en-US" sz="1600">
                <a:solidFill>
                  <a:srgbClr val="000000"/>
                </a:solidFill>
              </a:rPr>
              <a:t>Dynamic NAT translation process:</a:t>
            </a:r>
          </a:p>
          <a:p>
            <a:pPr marL="342900" indent="-342900" algn="l">
              <a:buFont typeface="+mj-lt"/>
              <a:buAutoNum type="arabicPeriod"/>
            </a:pPr>
            <a:r>
              <a:rPr lang="en-US" sz="1600">
                <a:solidFill>
                  <a:srgbClr val="000000"/>
                </a:solidFill>
              </a:rPr>
              <a:t>PC1 and PC2 send packets requesting a connection to the server.</a:t>
            </a:r>
          </a:p>
          <a:p>
            <a:pPr marL="342900" indent="-342900" algn="l">
              <a:buFont typeface="+mj-lt"/>
              <a:buAutoNum type="arabicPeriod"/>
            </a:pPr>
            <a:r>
              <a:rPr lang="en-US" sz="1600">
                <a:solidFill>
                  <a:srgbClr val="000000"/>
                </a:solidFill>
              </a:rPr>
              <a:t>R2 receives the first packet from PC1, checks the ALC to determine if the packet should be translated, selects an available global address, and creates a translation entry in the NAT table.</a:t>
            </a:r>
          </a:p>
          <a:p>
            <a:pPr marL="342900" indent="-342900" algn="l">
              <a:buFont typeface="+mj-lt"/>
              <a:buAutoNum type="arabicPeriod"/>
            </a:pPr>
            <a:r>
              <a:rPr lang="en-US" sz="1600">
                <a:solidFill>
                  <a:srgbClr val="000000"/>
                </a:solidFill>
              </a:rPr>
              <a:t>R2 replaces the inside local source address of PC1, 192.168.10.10, with the translated inside global address of 209.165.200.226 and forwards the packet. (The same process occurs for the packet from PC2 using the translated address of 209.165.200.227.)</a:t>
            </a:r>
          </a:p>
          <a:p>
            <a:pPr marL="285750" indent="-285750" algn="l">
              <a:buFont typeface="Arial" panose="020B0604020202020204" pitchFamily="34" charset="0"/>
              <a:buChar char="•"/>
            </a:pPr>
            <a:endParaRPr lang="en-US" sz="1600">
              <a:solidFill>
                <a:srgbClr val="000000"/>
              </a:solidFill>
            </a:endParaRPr>
          </a:p>
          <a:p>
            <a:pPr marL="0" indent="0" algn="l"/>
            <a:endParaRPr lang="en-US" sz="1200">
              <a:solidFill>
                <a:srgbClr val="000000"/>
              </a:solidFill>
            </a:endParaRPr>
          </a:p>
        </p:txBody>
      </p:sp>
      <p:pic>
        <p:nvPicPr>
          <p:cNvPr id="2" name="Picture 1">
            <a:extLst>
              <a:ext uri="{FF2B5EF4-FFF2-40B4-BE49-F238E27FC236}">
                <a16:creationId xmlns:a16="http://schemas.microsoft.com/office/drawing/2014/main" id="{E686AF63-BC2D-49E1-848F-276B6A74C084}"/>
              </a:ext>
            </a:extLst>
          </p:cNvPr>
          <p:cNvPicPr>
            <a:picLocks noChangeAspect="1"/>
          </p:cNvPicPr>
          <p:nvPr/>
        </p:nvPicPr>
        <p:blipFill>
          <a:blip r:embed="rId3"/>
          <a:stretch>
            <a:fillRect/>
          </a:stretch>
        </p:blipFill>
        <p:spPr>
          <a:xfrm>
            <a:off x="4572000" y="1110016"/>
            <a:ext cx="4241113" cy="3178066"/>
          </a:xfrm>
          <a:prstGeom prst="rect">
            <a:avLst/>
          </a:prstGeom>
        </p:spPr>
      </p:pic>
    </p:spTree>
    <p:extLst>
      <p:ext uri="{BB962C8B-B14F-4D97-AF65-F5344CB8AC3E}">
        <p14:creationId xmlns:p14="http://schemas.microsoft.com/office/powerpoint/2010/main" val="2590505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Analyze Dynamic NAT – Outside to Inside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75415" y="855418"/>
            <a:ext cx="4496586" cy="4136996"/>
          </a:xfrm>
        </p:spPr>
        <p:txBody>
          <a:bodyPr/>
          <a:lstStyle/>
          <a:p>
            <a:pPr marL="0" indent="0" algn="l"/>
            <a:r>
              <a:rPr lang="en-US" sz="1800">
                <a:solidFill>
                  <a:srgbClr val="000000"/>
                </a:solidFill>
              </a:rPr>
              <a:t>Dynamic NAT translation process:</a:t>
            </a:r>
          </a:p>
          <a:p>
            <a:pPr marL="342900" indent="-342900" algn="l">
              <a:buFont typeface="+mj-lt"/>
              <a:buAutoNum type="arabicPeriod" startAt="4"/>
            </a:pPr>
            <a:r>
              <a:rPr lang="en-US" sz="1400">
                <a:solidFill>
                  <a:srgbClr val="000000"/>
                </a:solidFill>
              </a:rPr>
              <a:t>The server receives the packet from PC1 and responds using the destination address of 209.165.200.226. The server receives the packet from PC2, it responds to using the destination address of 209.165.200.227.</a:t>
            </a:r>
          </a:p>
          <a:p>
            <a:pPr marL="342900" indent="-342900" algn="l">
              <a:buFont typeface="+mj-lt"/>
              <a:buAutoNum type="arabicPeriod" startAt="4"/>
            </a:pPr>
            <a:r>
              <a:rPr lang="en-US" sz="1400">
                <a:solidFill>
                  <a:srgbClr val="000000"/>
                </a:solidFill>
              </a:rPr>
              <a:t>(a) When R2 receives the packet with the destination address of 209.165.200.226; it performs a NAT table lookup and translates the address back to the inside local address and forwards the packet toward PC1.</a:t>
            </a:r>
            <a:br>
              <a:rPr lang="en-US" sz="1400">
                <a:solidFill>
                  <a:srgbClr val="000000"/>
                </a:solidFill>
              </a:rPr>
            </a:br>
            <a:r>
              <a:rPr lang="en-US" sz="1400">
                <a:solidFill>
                  <a:srgbClr val="000000"/>
                </a:solidFill>
              </a:rPr>
              <a:t>(b) When R2 receives the packet with the destination address of 209.165.200.227; it performs a NAT table lookup and translates the address back to the inside local address 192.168.11.10 and forwards the packet toward PC2.</a:t>
            </a:r>
          </a:p>
          <a:p>
            <a:pPr marL="0" indent="0" algn="l"/>
            <a:endParaRPr lang="en-US" sz="1200">
              <a:solidFill>
                <a:srgbClr val="000000"/>
              </a:solidFill>
            </a:endParaRPr>
          </a:p>
        </p:txBody>
      </p:sp>
      <p:pic>
        <p:nvPicPr>
          <p:cNvPr id="5" name="Picture 4">
            <a:extLst>
              <a:ext uri="{FF2B5EF4-FFF2-40B4-BE49-F238E27FC236}">
                <a16:creationId xmlns:a16="http://schemas.microsoft.com/office/drawing/2014/main" id="{DAD416A2-B74F-4E34-958C-CB28BBC47954}"/>
              </a:ext>
            </a:extLst>
          </p:cNvPr>
          <p:cNvPicPr>
            <a:picLocks noChangeAspect="1"/>
          </p:cNvPicPr>
          <p:nvPr/>
        </p:nvPicPr>
        <p:blipFill>
          <a:blip r:embed="rId3"/>
          <a:stretch>
            <a:fillRect/>
          </a:stretch>
        </p:blipFill>
        <p:spPr>
          <a:xfrm>
            <a:off x="4810639" y="1366414"/>
            <a:ext cx="3995330" cy="3115003"/>
          </a:xfrm>
          <a:prstGeom prst="rect">
            <a:avLst/>
          </a:prstGeom>
        </p:spPr>
      </p:pic>
    </p:spTree>
    <p:extLst>
      <p:ext uri="{BB962C8B-B14F-4D97-AF65-F5344CB8AC3E}">
        <p14:creationId xmlns:p14="http://schemas.microsoft.com/office/powerpoint/2010/main" val="472496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Analyze Dynamic NAT – Outside to Inside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4136996"/>
          </a:xfrm>
        </p:spPr>
        <p:txBody>
          <a:bodyPr/>
          <a:lstStyle/>
          <a:p>
            <a:pPr marL="0" indent="0" algn="l"/>
            <a:r>
              <a:rPr lang="en-US" sz="1800">
                <a:solidFill>
                  <a:srgbClr val="000000"/>
                </a:solidFill>
              </a:rPr>
              <a:t>Dynamic NAT translation process:</a:t>
            </a:r>
          </a:p>
          <a:p>
            <a:pPr marL="342900" indent="-342900" algn="l">
              <a:buFont typeface="+mj-lt"/>
              <a:buAutoNum type="arabicPeriod" startAt="6"/>
            </a:pPr>
            <a:r>
              <a:rPr lang="en-US" sz="1400">
                <a:solidFill>
                  <a:srgbClr val="000000"/>
                </a:solidFill>
              </a:rPr>
              <a:t>PC1 and PC2 receive the packets and continue the conversation. The router performs Steps 2 to 5 for each packet.</a:t>
            </a:r>
            <a:endParaRPr lang="en-US" sz="1200">
              <a:solidFill>
                <a:srgbClr val="000000"/>
              </a:solidFill>
            </a:endParaRPr>
          </a:p>
        </p:txBody>
      </p:sp>
      <p:pic>
        <p:nvPicPr>
          <p:cNvPr id="5" name="Picture 4">
            <a:extLst>
              <a:ext uri="{FF2B5EF4-FFF2-40B4-BE49-F238E27FC236}">
                <a16:creationId xmlns:a16="http://schemas.microsoft.com/office/drawing/2014/main" id="{DAD416A2-B74F-4E34-958C-CB28BBC47954}"/>
              </a:ext>
            </a:extLst>
          </p:cNvPr>
          <p:cNvPicPr>
            <a:picLocks noChangeAspect="1"/>
          </p:cNvPicPr>
          <p:nvPr/>
        </p:nvPicPr>
        <p:blipFill>
          <a:blip r:embed="rId3"/>
          <a:stretch>
            <a:fillRect/>
          </a:stretch>
        </p:blipFill>
        <p:spPr>
          <a:xfrm>
            <a:off x="4810639" y="1366414"/>
            <a:ext cx="3995330" cy="3115003"/>
          </a:xfrm>
          <a:prstGeom prst="rect">
            <a:avLst/>
          </a:prstGeom>
        </p:spPr>
      </p:pic>
    </p:spTree>
    <p:extLst>
      <p:ext uri="{BB962C8B-B14F-4D97-AF65-F5344CB8AC3E}">
        <p14:creationId xmlns:p14="http://schemas.microsoft.com/office/powerpoint/2010/main" val="350505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Verify Dynamic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900246"/>
          </a:xfrm>
        </p:spPr>
        <p:txBody>
          <a:bodyPr/>
          <a:lstStyle/>
          <a:p>
            <a:pPr marL="0" indent="0" algn="l"/>
            <a:r>
              <a:rPr lang="en-US" sz="1800" dirty="0">
                <a:solidFill>
                  <a:srgbClr val="000000"/>
                </a:solidFill>
              </a:rPr>
              <a:t>The output of the </a:t>
            </a:r>
            <a:r>
              <a:rPr lang="en-US" sz="1800" b="1" dirty="0">
                <a:solidFill>
                  <a:srgbClr val="000000"/>
                </a:solidFill>
              </a:rPr>
              <a:t>show </a:t>
            </a:r>
            <a:r>
              <a:rPr lang="en-US" sz="1800" b="1" dirty="0" err="1">
                <a:solidFill>
                  <a:srgbClr val="000000"/>
                </a:solidFill>
              </a:rPr>
              <a:t>ip</a:t>
            </a:r>
            <a:r>
              <a:rPr lang="en-US" sz="1800" b="1" dirty="0">
                <a:solidFill>
                  <a:srgbClr val="000000"/>
                </a:solidFill>
              </a:rPr>
              <a:t> </a:t>
            </a:r>
            <a:r>
              <a:rPr lang="en-US" sz="1800" b="1" dirty="0" err="1">
                <a:solidFill>
                  <a:srgbClr val="000000"/>
                </a:solidFill>
              </a:rPr>
              <a:t>nat</a:t>
            </a:r>
            <a:r>
              <a:rPr lang="en-US" sz="1800" b="1" dirty="0">
                <a:solidFill>
                  <a:srgbClr val="000000"/>
                </a:solidFill>
              </a:rPr>
              <a:t> translations</a:t>
            </a:r>
            <a:r>
              <a:rPr lang="en-US" sz="1800" dirty="0">
                <a:solidFill>
                  <a:srgbClr val="000000"/>
                </a:solidFill>
              </a:rPr>
              <a:t> command displays </a:t>
            </a:r>
            <a:r>
              <a:rPr lang="en-US" sz="1800" u="sng" dirty="0">
                <a:solidFill>
                  <a:srgbClr val="000000"/>
                </a:solidFill>
              </a:rPr>
              <a:t>all static translations</a:t>
            </a:r>
            <a:r>
              <a:rPr lang="en-US" sz="1800" dirty="0">
                <a:solidFill>
                  <a:srgbClr val="000000"/>
                </a:solidFill>
              </a:rPr>
              <a:t> that have been configured and </a:t>
            </a:r>
            <a:r>
              <a:rPr lang="en-US" sz="1800" u="sng" dirty="0">
                <a:solidFill>
                  <a:srgbClr val="000000"/>
                </a:solidFill>
              </a:rPr>
              <a:t>any dynamic translations </a:t>
            </a:r>
            <a:r>
              <a:rPr lang="en-US" sz="1800" dirty="0">
                <a:solidFill>
                  <a:srgbClr val="000000"/>
                </a:solidFill>
              </a:rPr>
              <a:t>that have been created by traffic.</a:t>
            </a:r>
            <a:endParaRPr lang="en-US" sz="1200" dirty="0">
              <a:solidFill>
                <a:srgbClr val="000000"/>
              </a:solidFill>
            </a:endParaRPr>
          </a:p>
        </p:txBody>
      </p:sp>
      <p:sp>
        <p:nvSpPr>
          <p:cNvPr id="6" name="TextBox 5">
            <a:extLst>
              <a:ext uri="{FF2B5EF4-FFF2-40B4-BE49-F238E27FC236}">
                <a16:creationId xmlns:a16="http://schemas.microsoft.com/office/drawing/2014/main" id="{E069F52E-0461-45E4-BE52-F85A33205591}"/>
              </a:ext>
            </a:extLst>
          </p:cNvPr>
          <p:cNvSpPr txBox="1"/>
          <p:nvPr/>
        </p:nvSpPr>
        <p:spPr>
          <a:xfrm>
            <a:off x="307621" y="2063918"/>
            <a:ext cx="8528758" cy="1223412"/>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show </a:t>
            </a:r>
            <a:r>
              <a:rPr lang="en-US" sz="1050" b="1" dirty="0" err="1">
                <a:solidFill>
                  <a:schemeClr val="bg1"/>
                </a:solidFill>
                <a:latin typeface="Courier New" panose="02070309020205020404" pitchFamily="49" charset="0"/>
                <a:cs typeface="Courier New" panose="02070309020205020404" pitchFamily="49" charset="0"/>
              </a:rPr>
              <a:t>ip</a:t>
            </a:r>
            <a:r>
              <a:rPr lang="en-US" sz="1050" b="1" dirty="0">
                <a:solidFill>
                  <a:schemeClr val="bg1"/>
                </a:solidFill>
                <a:latin typeface="Courier New" panose="02070309020205020404" pitchFamily="49" charset="0"/>
                <a:cs typeface="Courier New" panose="02070309020205020404" pitchFamily="49" charset="0"/>
              </a:rPr>
              <a:t> </a:t>
            </a:r>
            <a:r>
              <a:rPr lang="en-US" sz="1050" b="1" dirty="0" err="1">
                <a:solidFill>
                  <a:schemeClr val="bg1"/>
                </a:solidFill>
                <a:latin typeface="Courier New" panose="02070309020205020404" pitchFamily="49" charset="0"/>
                <a:cs typeface="Courier New" panose="02070309020205020404" pitchFamily="49" charset="0"/>
              </a:rPr>
              <a:t>nat</a:t>
            </a:r>
            <a:r>
              <a:rPr lang="en-US" sz="1050" b="1" dirty="0">
                <a:solidFill>
                  <a:schemeClr val="bg1"/>
                </a:solidFill>
                <a:latin typeface="Courier New" panose="02070309020205020404" pitchFamily="49" charset="0"/>
                <a:cs typeface="Courier New" panose="02070309020205020404" pitchFamily="49" charset="0"/>
              </a:rPr>
              <a:t> translations</a:t>
            </a:r>
          </a:p>
          <a:p>
            <a:r>
              <a:rPr lang="en-US" sz="1050" dirty="0">
                <a:solidFill>
                  <a:schemeClr val="bg1"/>
                </a:solidFill>
                <a:latin typeface="Courier New" panose="02070309020205020404" pitchFamily="49" charset="0"/>
                <a:cs typeface="Courier New" panose="02070309020205020404" pitchFamily="49" charset="0"/>
              </a:rPr>
              <a:t>Pro Inside global      Inside local       Outside local      Outside global</a:t>
            </a:r>
          </a:p>
          <a:p>
            <a:r>
              <a:rPr lang="en-US" sz="1050" dirty="0">
                <a:solidFill>
                  <a:schemeClr val="bg1"/>
                </a:solidFill>
                <a:latin typeface="Courier New" panose="02070309020205020404" pitchFamily="49" charset="0"/>
                <a:cs typeface="Courier New" panose="02070309020205020404" pitchFamily="49" charset="0"/>
              </a:rPr>
              <a:t>--- 209.165.200.228    192.168.10.10      ---                ---</a:t>
            </a:r>
          </a:p>
          <a:p>
            <a:r>
              <a:rPr lang="en-US" sz="1050" dirty="0">
                <a:solidFill>
                  <a:schemeClr val="bg1"/>
                </a:solidFill>
                <a:latin typeface="Courier New" panose="02070309020205020404" pitchFamily="49" charset="0"/>
                <a:cs typeface="Courier New" panose="02070309020205020404" pitchFamily="49" charset="0"/>
              </a:rPr>
              <a:t>--- 209.165.200.229    192.168.11.10      ---                ---</a:t>
            </a:r>
          </a:p>
          <a:p>
            <a:r>
              <a:rPr lang="en-US" sz="1050" dirty="0" err="1">
                <a:solidFill>
                  <a:schemeClr val="bg1"/>
                </a:solidFill>
                <a:latin typeface="Courier New" panose="02070309020205020404" pitchFamily="49" charset="0"/>
                <a:cs typeface="Courier New" panose="02070309020205020404" pitchFamily="49" charset="0"/>
              </a:rPr>
              <a:t>tcp</a:t>
            </a:r>
            <a:r>
              <a:rPr lang="en-US" sz="1050" dirty="0">
                <a:solidFill>
                  <a:schemeClr val="bg1"/>
                </a:solidFill>
                <a:latin typeface="Courier New" panose="02070309020205020404" pitchFamily="49" charset="0"/>
                <a:cs typeface="Courier New" panose="02070309020205020404" pitchFamily="49" charset="0"/>
              </a:rPr>
              <a:t> 209.165.200.230    192.168.20.1       147.232.16.12      147.232.16.12</a:t>
            </a:r>
          </a:p>
          <a:p>
            <a:endParaRPr lang="en-US" sz="1050" dirty="0">
              <a:solidFill>
                <a:schemeClr val="bg1"/>
              </a:solidFill>
              <a:latin typeface="Courier New" panose="02070309020205020404" pitchFamily="49" charset="0"/>
              <a:cs typeface="Courier New" panose="02070309020205020404" pitchFamily="49" charset="0"/>
            </a:endParaRPr>
          </a:p>
          <a:p>
            <a:r>
              <a:rPr lang="en-US" sz="1050" dirty="0">
                <a:solidFill>
                  <a:schemeClr val="bg1"/>
                </a:solidFill>
                <a:latin typeface="Courier New" panose="02070309020205020404" pitchFamily="49" charset="0"/>
                <a:cs typeface="Courier New" panose="02070309020205020404" pitchFamily="49" charset="0"/>
              </a:rPr>
              <a:t>R2#</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35450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Verify Dynamic NAT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1039370"/>
          </a:xfrm>
        </p:spPr>
        <p:txBody>
          <a:bodyPr/>
          <a:lstStyle/>
          <a:p>
            <a:pPr marL="0" indent="0" algn="l"/>
            <a:r>
              <a:rPr lang="en-US" sz="1800">
                <a:solidFill>
                  <a:srgbClr val="000000"/>
                </a:solidFill>
              </a:rPr>
              <a:t>Adding the </a:t>
            </a:r>
            <a:r>
              <a:rPr lang="en-US" sz="1800" b="1">
                <a:solidFill>
                  <a:srgbClr val="000000"/>
                </a:solidFill>
              </a:rPr>
              <a:t>verbose</a:t>
            </a:r>
            <a:r>
              <a:rPr lang="en-US" sz="1800">
                <a:solidFill>
                  <a:srgbClr val="000000"/>
                </a:solidFill>
              </a:rPr>
              <a:t> keyword displays additional information about each translation, including how long ago the entry was created and used.</a:t>
            </a:r>
            <a:endParaRPr lang="en-US" sz="1200">
              <a:solidFill>
                <a:srgbClr val="000000"/>
              </a:solidFill>
            </a:endParaRPr>
          </a:p>
        </p:txBody>
      </p:sp>
      <p:sp>
        <p:nvSpPr>
          <p:cNvPr id="6" name="TextBox 5">
            <a:extLst>
              <a:ext uri="{FF2B5EF4-FFF2-40B4-BE49-F238E27FC236}">
                <a16:creationId xmlns:a16="http://schemas.microsoft.com/office/drawing/2014/main" id="{E069F52E-0461-45E4-BE52-F85A33205591}"/>
              </a:ext>
            </a:extLst>
          </p:cNvPr>
          <p:cNvSpPr txBox="1"/>
          <p:nvPr/>
        </p:nvSpPr>
        <p:spPr>
          <a:xfrm>
            <a:off x="307621" y="2063918"/>
            <a:ext cx="8528758" cy="2677656"/>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show </a:t>
            </a:r>
            <a:r>
              <a:rPr lang="en-US" sz="1050" b="1" dirty="0" err="1">
                <a:solidFill>
                  <a:schemeClr val="bg1"/>
                </a:solidFill>
                <a:latin typeface="Courier New" panose="02070309020205020404" pitchFamily="49" charset="0"/>
                <a:cs typeface="Courier New" panose="02070309020205020404" pitchFamily="49" charset="0"/>
              </a:rPr>
              <a:t>ip</a:t>
            </a:r>
            <a:r>
              <a:rPr lang="en-US" sz="1050" b="1" dirty="0">
                <a:solidFill>
                  <a:schemeClr val="bg1"/>
                </a:solidFill>
                <a:latin typeface="Courier New" panose="02070309020205020404" pitchFamily="49" charset="0"/>
                <a:cs typeface="Courier New" panose="02070309020205020404" pitchFamily="49" charset="0"/>
              </a:rPr>
              <a:t> </a:t>
            </a:r>
            <a:r>
              <a:rPr lang="en-US" sz="1050" b="1" dirty="0" err="1">
                <a:solidFill>
                  <a:schemeClr val="bg1"/>
                </a:solidFill>
                <a:latin typeface="Courier New" panose="02070309020205020404" pitchFamily="49" charset="0"/>
                <a:cs typeface="Courier New" panose="02070309020205020404" pitchFamily="49" charset="0"/>
              </a:rPr>
              <a:t>nat</a:t>
            </a:r>
            <a:r>
              <a:rPr lang="en-US" sz="1050" b="1" dirty="0">
                <a:solidFill>
                  <a:schemeClr val="bg1"/>
                </a:solidFill>
                <a:latin typeface="Courier New" panose="02070309020205020404" pitchFamily="49" charset="0"/>
                <a:cs typeface="Courier New" panose="02070309020205020404" pitchFamily="49" charset="0"/>
              </a:rPr>
              <a:t> translation verbose</a:t>
            </a:r>
          </a:p>
          <a:p>
            <a:r>
              <a:rPr lang="en-US" sz="1050" dirty="0">
                <a:solidFill>
                  <a:schemeClr val="bg1"/>
                </a:solidFill>
                <a:latin typeface="Courier New" panose="02070309020205020404" pitchFamily="49" charset="0"/>
                <a:cs typeface="Courier New" panose="02070309020205020404" pitchFamily="49" charset="0"/>
              </a:rPr>
              <a:t>Pro Inside global      Inside local       Outside local      Outside global</a:t>
            </a:r>
          </a:p>
          <a:p>
            <a:r>
              <a:rPr lang="en-US" sz="1050" dirty="0" err="1">
                <a:solidFill>
                  <a:schemeClr val="bg1"/>
                </a:solidFill>
                <a:latin typeface="Courier New" panose="02070309020205020404" pitchFamily="49" charset="0"/>
                <a:cs typeface="Courier New" panose="02070309020205020404" pitchFamily="49" charset="0"/>
              </a:rPr>
              <a:t>tcp</a:t>
            </a:r>
            <a:r>
              <a:rPr lang="en-US" sz="1050" dirty="0">
                <a:solidFill>
                  <a:schemeClr val="bg1"/>
                </a:solidFill>
                <a:latin typeface="Courier New" panose="02070309020205020404" pitchFamily="49" charset="0"/>
                <a:cs typeface="Courier New" panose="02070309020205020404" pitchFamily="49" charset="0"/>
              </a:rPr>
              <a:t> 209.165.200.228    192.168.10.10      ---                ---</a:t>
            </a:r>
          </a:p>
          <a:p>
            <a:r>
              <a:rPr lang="en-US" sz="1050" dirty="0">
                <a:solidFill>
                  <a:schemeClr val="bg1"/>
                </a:solidFill>
                <a:latin typeface="Courier New" panose="02070309020205020404" pitchFamily="49" charset="0"/>
                <a:cs typeface="Courier New" panose="02070309020205020404" pitchFamily="49" charset="0"/>
              </a:rPr>
              <a:t>    create 00:02:11, use 00:02:11 timeout:86400000, left 23:57:48, Map-Id(In): 1, </a:t>
            </a:r>
          </a:p>
          <a:p>
            <a:r>
              <a:rPr lang="en-US" sz="1050" dirty="0">
                <a:solidFill>
                  <a:schemeClr val="bg1"/>
                </a:solidFill>
                <a:latin typeface="Courier New" panose="02070309020205020404" pitchFamily="49" charset="0"/>
                <a:cs typeface="Courier New" panose="02070309020205020404" pitchFamily="49" charset="0"/>
              </a:rPr>
              <a:t>    flags: </a:t>
            </a:r>
          </a:p>
          <a:p>
            <a:r>
              <a:rPr lang="en-US" sz="1050" dirty="0">
                <a:solidFill>
                  <a:schemeClr val="bg1"/>
                </a:solidFill>
                <a:latin typeface="Courier New" panose="02070309020205020404" pitchFamily="49" charset="0"/>
                <a:cs typeface="Courier New" panose="02070309020205020404" pitchFamily="49" charset="0"/>
              </a:rPr>
              <a:t>none, </a:t>
            </a:r>
            <a:r>
              <a:rPr lang="en-US" sz="1050" dirty="0" err="1">
                <a:solidFill>
                  <a:schemeClr val="bg1"/>
                </a:solidFill>
                <a:latin typeface="Courier New" panose="02070309020205020404" pitchFamily="49" charset="0"/>
                <a:cs typeface="Courier New" panose="02070309020205020404" pitchFamily="49" charset="0"/>
              </a:rPr>
              <a:t>use_count</a:t>
            </a:r>
            <a:r>
              <a:rPr lang="en-US" sz="1050" dirty="0">
                <a:solidFill>
                  <a:schemeClr val="bg1"/>
                </a:solidFill>
                <a:latin typeface="Courier New" panose="02070309020205020404" pitchFamily="49" charset="0"/>
                <a:cs typeface="Courier New" panose="02070309020205020404" pitchFamily="49" charset="0"/>
              </a:rPr>
              <a:t>: 0, entry-id: 10, </a:t>
            </a:r>
            <a:r>
              <a:rPr lang="en-US" sz="1050" dirty="0" err="1">
                <a:solidFill>
                  <a:schemeClr val="bg1"/>
                </a:solidFill>
                <a:latin typeface="Courier New" panose="02070309020205020404" pitchFamily="49" charset="0"/>
                <a:cs typeface="Courier New" panose="02070309020205020404" pitchFamily="49" charset="0"/>
              </a:rPr>
              <a:t>lc_entries</a:t>
            </a:r>
            <a:r>
              <a:rPr lang="en-US" sz="1050" dirty="0">
                <a:solidFill>
                  <a:schemeClr val="bg1"/>
                </a:solidFill>
                <a:latin typeface="Courier New" panose="02070309020205020404" pitchFamily="49" charset="0"/>
                <a:cs typeface="Courier New" panose="02070309020205020404" pitchFamily="49" charset="0"/>
              </a:rPr>
              <a:t>: 0</a:t>
            </a:r>
          </a:p>
          <a:p>
            <a:r>
              <a:rPr lang="en-US" sz="1050" dirty="0" err="1">
                <a:solidFill>
                  <a:schemeClr val="bg1"/>
                </a:solidFill>
                <a:latin typeface="Courier New" panose="02070309020205020404" pitchFamily="49" charset="0"/>
                <a:cs typeface="Courier New" panose="02070309020205020404" pitchFamily="49" charset="0"/>
              </a:rPr>
              <a:t>tcp</a:t>
            </a:r>
            <a:r>
              <a:rPr lang="en-US" sz="1050" dirty="0">
                <a:solidFill>
                  <a:schemeClr val="bg1"/>
                </a:solidFill>
                <a:latin typeface="Courier New" panose="02070309020205020404" pitchFamily="49" charset="0"/>
                <a:cs typeface="Courier New" panose="02070309020205020404" pitchFamily="49" charset="0"/>
              </a:rPr>
              <a:t> 209.165.200.229    192.168.11.10      ---                ---</a:t>
            </a:r>
          </a:p>
          <a:p>
            <a:r>
              <a:rPr lang="en-US" sz="1050" dirty="0">
                <a:solidFill>
                  <a:schemeClr val="bg1"/>
                </a:solidFill>
                <a:latin typeface="Courier New" panose="02070309020205020404" pitchFamily="49" charset="0"/>
                <a:cs typeface="Courier New" panose="02070309020205020404" pitchFamily="49" charset="0"/>
              </a:rPr>
              <a:t>    create 00:02:10, use 00:02:10 timeout:86400000, left 23:57:49, Map-Id(In): 1, </a:t>
            </a:r>
          </a:p>
          <a:p>
            <a:r>
              <a:rPr lang="en-US" sz="1050" dirty="0">
                <a:solidFill>
                  <a:schemeClr val="bg1"/>
                </a:solidFill>
                <a:latin typeface="Courier New" panose="02070309020205020404" pitchFamily="49" charset="0"/>
                <a:cs typeface="Courier New" panose="02070309020205020404" pitchFamily="49" charset="0"/>
              </a:rPr>
              <a:t>    flags: </a:t>
            </a:r>
          </a:p>
          <a:p>
            <a:r>
              <a:rPr lang="en-US" sz="1050" dirty="0">
                <a:solidFill>
                  <a:schemeClr val="bg1"/>
                </a:solidFill>
                <a:latin typeface="Courier New" panose="02070309020205020404" pitchFamily="49" charset="0"/>
                <a:cs typeface="Courier New" panose="02070309020205020404" pitchFamily="49" charset="0"/>
              </a:rPr>
              <a:t>none, </a:t>
            </a:r>
            <a:r>
              <a:rPr lang="en-US" sz="1050" dirty="0" err="1">
                <a:solidFill>
                  <a:schemeClr val="bg1"/>
                </a:solidFill>
                <a:latin typeface="Courier New" panose="02070309020205020404" pitchFamily="49" charset="0"/>
                <a:cs typeface="Courier New" panose="02070309020205020404" pitchFamily="49" charset="0"/>
              </a:rPr>
              <a:t>use_count</a:t>
            </a:r>
            <a:r>
              <a:rPr lang="en-US" sz="1050" dirty="0">
                <a:solidFill>
                  <a:schemeClr val="bg1"/>
                </a:solidFill>
                <a:latin typeface="Courier New" panose="02070309020205020404" pitchFamily="49" charset="0"/>
                <a:cs typeface="Courier New" panose="02070309020205020404" pitchFamily="49" charset="0"/>
              </a:rPr>
              <a:t>: 0, entry-id: 12, </a:t>
            </a:r>
            <a:r>
              <a:rPr lang="en-US" sz="1050" dirty="0" err="1">
                <a:solidFill>
                  <a:schemeClr val="bg1"/>
                </a:solidFill>
                <a:latin typeface="Courier New" panose="02070309020205020404" pitchFamily="49" charset="0"/>
                <a:cs typeface="Courier New" panose="02070309020205020404" pitchFamily="49" charset="0"/>
              </a:rPr>
              <a:t>lc_entries</a:t>
            </a:r>
            <a:r>
              <a:rPr lang="en-US" sz="1050" dirty="0">
                <a:solidFill>
                  <a:schemeClr val="bg1"/>
                </a:solidFill>
                <a:latin typeface="Courier New" panose="02070309020205020404" pitchFamily="49" charset="0"/>
                <a:cs typeface="Courier New" panose="02070309020205020404" pitchFamily="49" charset="0"/>
              </a:rPr>
              <a:t>: 0</a:t>
            </a:r>
          </a:p>
          <a:p>
            <a:r>
              <a:rPr lang="en-US" sz="1050" dirty="0" err="1">
                <a:solidFill>
                  <a:schemeClr val="bg1"/>
                </a:solidFill>
                <a:latin typeface="Courier New" panose="02070309020205020404" pitchFamily="49" charset="0"/>
                <a:cs typeface="Courier New" panose="02070309020205020404" pitchFamily="49" charset="0"/>
              </a:rPr>
              <a:t>tcp</a:t>
            </a:r>
            <a:r>
              <a:rPr lang="en-US" sz="1050" dirty="0">
                <a:solidFill>
                  <a:schemeClr val="bg1"/>
                </a:solidFill>
                <a:latin typeface="Courier New" panose="02070309020205020404" pitchFamily="49" charset="0"/>
                <a:cs typeface="Courier New" panose="02070309020205020404" pitchFamily="49" charset="0"/>
              </a:rPr>
              <a:t> 209.165.200.230    192.168.20.1       ---                ---</a:t>
            </a:r>
          </a:p>
          <a:p>
            <a:r>
              <a:rPr lang="en-US" sz="1050" dirty="0">
                <a:solidFill>
                  <a:schemeClr val="bg1"/>
                </a:solidFill>
                <a:latin typeface="Courier New" panose="02070309020205020404" pitchFamily="49" charset="0"/>
                <a:cs typeface="Courier New" panose="02070309020205020404" pitchFamily="49" charset="0"/>
              </a:rPr>
              <a:t>    create 00:02:10, use 00:02:11 timeout:86400000, left 23:57:50, Map-Id(In): 1, </a:t>
            </a:r>
          </a:p>
          <a:p>
            <a:r>
              <a:rPr lang="en-US" sz="1050" dirty="0">
                <a:solidFill>
                  <a:schemeClr val="bg1"/>
                </a:solidFill>
                <a:latin typeface="Courier New" panose="02070309020205020404" pitchFamily="49" charset="0"/>
                <a:cs typeface="Courier New" panose="02070309020205020404" pitchFamily="49" charset="0"/>
              </a:rPr>
              <a:t>    flags: </a:t>
            </a:r>
          </a:p>
          <a:p>
            <a:r>
              <a:rPr lang="en-US" sz="1050" dirty="0">
                <a:solidFill>
                  <a:schemeClr val="bg1"/>
                </a:solidFill>
                <a:latin typeface="Courier New" panose="02070309020205020404" pitchFamily="49" charset="0"/>
                <a:cs typeface="Courier New" panose="02070309020205020404" pitchFamily="49" charset="0"/>
              </a:rPr>
              <a:t>none, </a:t>
            </a:r>
            <a:r>
              <a:rPr lang="en-US" sz="1050" dirty="0" err="1">
                <a:solidFill>
                  <a:schemeClr val="bg1"/>
                </a:solidFill>
                <a:latin typeface="Courier New" panose="02070309020205020404" pitchFamily="49" charset="0"/>
                <a:cs typeface="Courier New" panose="02070309020205020404" pitchFamily="49" charset="0"/>
              </a:rPr>
              <a:t>use_count</a:t>
            </a:r>
            <a:r>
              <a:rPr lang="en-US" sz="1050" dirty="0">
                <a:solidFill>
                  <a:schemeClr val="bg1"/>
                </a:solidFill>
                <a:latin typeface="Courier New" panose="02070309020205020404" pitchFamily="49" charset="0"/>
                <a:cs typeface="Courier New" panose="02070309020205020404" pitchFamily="49" charset="0"/>
              </a:rPr>
              <a:t>: 0, entry-id: 13, </a:t>
            </a:r>
            <a:r>
              <a:rPr lang="en-US" sz="1050" dirty="0" err="1">
                <a:solidFill>
                  <a:schemeClr val="bg1"/>
                </a:solidFill>
                <a:latin typeface="Courier New" panose="02070309020205020404" pitchFamily="49" charset="0"/>
                <a:cs typeface="Courier New" panose="02070309020205020404" pitchFamily="49" charset="0"/>
              </a:rPr>
              <a:t>lc_entries</a:t>
            </a:r>
            <a:r>
              <a:rPr lang="en-US" sz="1050" dirty="0">
                <a:solidFill>
                  <a:schemeClr val="bg1"/>
                </a:solidFill>
                <a:latin typeface="Courier New" panose="02070309020205020404" pitchFamily="49" charset="0"/>
                <a:cs typeface="Courier New" panose="02070309020205020404" pitchFamily="49" charset="0"/>
              </a:rPr>
              <a:t>: 0</a:t>
            </a:r>
          </a:p>
          <a:p>
            <a:endParaRPr lang="en-US" sz="1050" dirty="0">
              <a:solidFill>
                <a:schemeClr val="bg1"/>
              </a:solidFill>
              <a:latin typeface="Courier New" panose="02070309020205020404" pitchFamily="49" charset="0"/>
              <a:cs typeface="Courier New" panose="02070309020205020404" pitchFamily="49" charset="0"/>
            </a:endParaRPr>
          </a:p>
          <a:p>
            <a:r>
              <a:rPr lang="en-US" sz="1050" dirty="0">
                <a:solidFill>
                  <a:schemeClr val="bg1"/>
                </a:solidFill>
                <a:latin typeface="Courier New" panose="02070309020205020404" pitchFamily="49" charset="0"/>
                <a:cs typeface="Courier New" panose="02070309020205020404" pitchFamily="49" charset="0"/>
              </a:rPr>
              <a:t>R2#</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53241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Verify Dynamic NAT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1284467"/>
          </a:xfrm>
        </p:spPr>
        <p:txBody>
          <a:bodyPr/>
          <a:lstStyle/>
          <a:p>
            <a:pPr marL="0" indent="0" algn="l"/>
            <a:r>
              <a:rPr lang="en-US" sz="1600">
                <a:solidFill>
                  <a:srgbClr val="000000"/>
                </a:solidFill>
              </a:rPr>
              <a:t>By default, translation entries time out after 24 hours, unless the timers have been reconfigured with the </a:t>
            </a:r>
            <a:r>
              <a:rPr lang="en-US" sz="1600" b="1">
                <a:solidFill>
                  <a:srgbClr val="000000"/>
                </a:solidFill>
              </a:rPr>
              <a:t>ip nat translation timeout</a:t>
            </a:r>
            <a:r>
              <a:rPr lang="en-US" sz="1600">
                <a:solidFill>
                  <a:srgbClr val="000000"/>
                </a:solidFill>
              </a:rPr>
              <a:t> </a:t>
            </a:r>
            <a:r>
              <a:rPr lang="en-US" sz="1600" i="1">
                <a:solidFill>
                  <a:srgbClr val="000000"/>
                </a:solidFill>
              </a:rPr>
              <a:t>timeout-seconds</a:t>
            </a:r>
            <a:r>
              <a:rPr lang="en-US" sz="1600">
                <a:solidFill>
                  <a:srgbClr val="000000"/>
                </a:solidFill>
              </a:rPr>
              <a:t> command in global configuration mode. To clear dynamic entries before the timeout has expired, use the </a:t>
            </a:r>
            <a:r>
              <a:rPr lang="en-US" sz="1600" b="1">
                <a:solidFill>
                  <a:srgbClr val="000000"/>
                </a:solidFill>
              </a:rPr>
              <a:t>clear ip nat translation</a:t>
            </a:r>
            <a:r>
              <a:rPr lang="en-US" sz="1600">
                <a:solidFill>
                  <a:srgbClr val="000000"/>
                </a:solidFill>
              </a:rPr>
              <a:t> privileged EXEC mode command.</a:t>
            </a:r>
          </a:p>
        </p:txBody>
      </p:sp>
      <p:sp>
        <p:nvSpPr>
          <p:cNvPr id="6" name="TextBox 5">
            <a:extLst>
              <a:ext uri="{FF2B5EF4-FFF2-40B4-BE49-F238E27FC236}">
                <a16:creationId xmlns:a16="http://schemas.microsoft.com/office/drawing/2014/main" id="{E069F52E-0461-45E4-BE52-F85A33205591}"/>
              </a:ext>
            </a:extLst>
          </p:cNvPr>
          <p:cNvSpPr txBox="1"/>
          <p:nvPr/>
        </p:nvSpPr>
        <p:spPr>
          <a:xfrm>
            <a:off x="307621" y="2263793"/>
            <a:ext cx="8528758" cy="430887"/>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clear </a:t>
            </a:r>
            <a:r>
              <a:rPr lang="en-US" sz="1050" b="1" dirty="0" err="1">
                <a:solidFill>
                  <a:schemeClr val="bg1"/>
                </a:solidFill>
                <a:latin typeface="Courier New" panose="02070309020205020404" pitchFamily="49" charset="0"/>
                <a:cs typeface="Courier New" panose="02070309020205020404" pitchFamily="49" charset="0"/>
              </a:rPr>
              <a:t>ip</a:t>
            </a:r>
            <a:r>
              <a:rPr lang="en-US" sz="1050" b="1" dirty="0">
                <a:solidFill>
                  <a:schemeClr val="bg1"/>
                </a:solidFill>
                <a:latin typeface="Courier New" panose="02070309020205020404" pitchFamily="49" charset="0"/>
                <a:cs typeface="Courier New" panose="02070309020205020404" pitchFamily="49" charset="0"/>
              </a:rPr>
              <a:t> </a:t>
            </a:r>
            <a:r>
              <a:rPr lang="en-US" sz="1050" b="1" dirty="0" err="1">
                <a:solidFill>
                  <a:schemeClr val="bg1"/>
                </a:solidFill>
                <a:latin typeface="Courier New" panose="02070309020205020404" pitchFamily="49" charset="0"/>
                <a:cs typeface="Courier New" panose="02070309020205020404" pitchFamily="49" charset="0"/>
              </a:rPr>
              <a:t>nat</a:t>
            </a:r>
            <a:r>
              <a:rPr lang="en-US" sz="1050" b="1" dirty="0">
                <a:solidFill>
                  <a:schemeClr val="bg1"/>
                </a:solidFill>
                <a:latin typeface="Courier New" panose="02070309020205020404" pitchFamily="49" charset="0"/>
                <a:cs typeface="Courier New" panose="02070309020205020404" pitchFamily="49" charset="0"/>
              </a:rPr>
              <a:t> translation *</a:t>
            </a:r>
          </a:p>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show </a:t>
            </a:r>
            <a:r>
              <a:rPr lang="en-US" sz="1050" b="1" dirty="0" err="1">
                <a:solidFill>
                  <a:schemeClr val="bg1"/>
                </a:solidFill>
                <a:latin typeface="Courier New" panose="02070309020205020404" pitchFamily="49" charset="0"/>
                <a:cs typeface="Courier New" panose="02070309020205020404" pitchFamily="49" charset="0"/>
              </a:rPr>
              <a:t>ip</a:t>
            </a:r>
            <a:r>
              <a:rPr lang="en-US" sz="1050" b="1" dirty="0">
                <a:solidFill>
                  <a:schemeClr val="bg1"/>
                </a:solidFill>
                <a:latin typeface="Courier New" panose="02070309020205020404" pitchFamily="49" charset="0"/>
                <a:cs typeface="Courier New" panose="02070309020205020404" pitchFamily="49" charset="0"/>
              </a:rPr>
              <a:t> </a:t>
            </a:r>
            <a:r>
              <a:rPr lang="en-US" sz="1050" b="1" dirty="0" err="1">
                <a:solidFill>
                  <a:schemeClr val="bg1"/>
                </a:solidFill>
                <a:latin typeface="Courier New" panose="02070309020205020404" pitchFamily="49" charset="0"/>
                <a:cs typeface="Courier New" panose="02070309020205020404" pitchFamily="49" charset="0"/>
              </a:rPr>
              <a:t>nat</a:t>
            </a:r>
            <a:r>
              <a:rPr lang="en-US" sz="1050" b="1" dirty="0">
                <a:solidFill>
                  <a:schemeClr val="bg1"/>
                </a:solidFill>
                <a:latin typeface="Courier New" panose="02070309020205020404" pitchFamily="49" charset="0"/>
                <a:cs typeface="Courier New" panose="02070309020205020404" pitchFamily="49" charset="0"/>
              </a:rPr>
              <a:t> translation</a:t>
            </a:r>
            <a:endParaRPr lang="en-US" sz="1050" b="1" dirty="0">
              <a:solidFill>
                <a:srgbClr val="FFC000"/>
              </a:solidFill>
              <a:latin typeface="Courier New" panose="02070309020205020404" pitchFamily="49" charset="0"/>
              <a:cs typeface="Courier New" panose="02070309020205020404" pitchFamily="49" charset="0"/>
            </a:endParaRPr>
          </a:p>
        </p:txBody>
      </p:sp>
      <p:graphicFrame>
        <p:nvGraphicFramePr>
          <p:cNvPr id="5" name="Content Placeholder 3">
            <a:extLst>
              <a:ext uri="{FF2B5EF4-FFF2-40B4-BE49-F238E27FC236}">
                <a16:creationId xmlns:a16="http://schemas.microsoft.com/office/drawing/2014/main" id="{DBC7A83C-E0EE-48CF-9FB3-8433E5D2F4F2}"/>
              </a:ext>
            </a:extLst>
          </p:cNvPr>
          <p:cNvGraphicFramePr>
            <a:graphicFrameLocks/>
          </p:cNvGraphicFramePr>
          <p:nvPr>
            <p:extLst>
              <p:ext uri="{D42A27DB-BD31-4B8C-83A1-F6EECF244321}">
                <p14:modId xmlns:p14="http://schemas.microsoft.com/office/powerpoint/2010/main" val="1740921106"/>
              </p:ext>
            </p:extLst>
          </p:nvPr>
        </p:nvGraphicFramePr>
        <p:xfrm>
          <a:off x="715887" y="2911367"/>
          <a:ext cx="7345684" cy="1782989"/>
        </p:xfrm>
        <a:graphic>
          <a:graphicData uri="http://schemas.openxmlformats.org/drawingml/2006/table">
            <a:tbl>
              <a:tblPr firstRow="1" bandRow="1">
                <a:tableStyleId>{5C22544A-7EE6-4342-B048-85BDC9FD1C3A}</a:tableStyleId>
              </a:tblPr>
              <a:tblGrid>
                <a:gridCol w="3675676">
                  <a:extLst>
                    <a:ext uri="{9D8B030D-6E8A-4147-A177-3AD203B41FA5}">
                      <a16:colId xmlns:a16="http://schemas.microsoft.com/office/drawing/2014/main" val="3156509146"/>
                    </a:ext>
                  </a:extLst>
                </a:gridCol>
                <a:gridCol w="3670008">
                  <a:extLst>
                    <a:ext uri="{9D8B030D-6E8A-4147-A177-3AD203B41FA5}">
                      <a16:colId xmlns:a16="http://schemas.microsoft.com/office/drawing/2014/main" val="20002"/>
                    </a:ext>
                  </a:extLst>
                </a:gridCol>
              </a:tblGrid>
              <a:tr h="281849">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a:t>Command</a:t>
                      </a:r>
                    </a:p>
                  </a:txBody>
                  <a:tcPr marL="68580" marR="68580" marT="34290" marB="34290" anchor="ctr"/>
                </a:tc>
                <a:tc>
                  <a:txBody>
                    <a:bodyPr/>
                    <a:lstStyle/>
                    <a:p>
                      <a:r>
                        <a:rPr lang="en-US" sz="1100"/>
                        <a:t>Description</a:t>
                      </a:r>
                    </a:p>
                  </a:txBody>
                  <a:tcPr marL="68580" marR="68580" marT="34290" marB="34290" anchor="ctr"/>
                </a:tc>
                <a:extLst>
                  <a:ext uri="{0D108BD9-81ED-4DB2-BD59-A6C34878D82A}">
                    <a16:rowId xmlns:a16="http://schemas.microsoft.com/office/drawing/2014/main" val="10000"/>
                  </a:ext>
                </a:extLst>
              </a:tr>
              <a:tr h="3476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a:solidFill>
                            <a:schemeClr val="dk1"/>
                          </a:solidFill>
                          <a:effectLst/>
                          <a:latin typeface="Courier New" panose="02070309020205020404" pitchFamily="49" charset="0"/>
                          <a:ea typeface="+mn-ea"/>
                          <a:cs typeface="Courier New" panose="02070309020205020404" pitchFamily="49" charset="0"/>
                        </a:rPr>
                        <a:t>clear ip nat translation *</a:t>
                      </a:r>
                      <a:endParaRPr lang="en-US" sz="1000">
                        <a:latin typeface="Courier New" panose="02070309020205020404" pitchFamily="49" charset="0"/>
                        <a:cs typeface="Courier New" panose="02070309020205020404" pitchFamily="49" charset="0"/>
                      </a:endParaRPr>
                    </a:p>
                  </a:txBody>
                  <a:tcPr marL="68580" marR="68580" marT="34290" marB="34290" anchor="ctr"/>
                </a:tc>
                <a:tc>
                  <a:txBody>
                    <a:bodyPr/>
                    <a:lstStyle/>
                    <a:p>
                      <a:r>
                        <a:rPr lang="en-US" sz="1100"/>
                        <a:t>Clears all dynamic address translation entries from the NAT translation table.</a:t>
                      </a:r>
                    </a:p>
                  </a:txBody>
                  <a:tcPr marL="68580" marR="68580" marT="34290" marB="34290" anchor="ctr"/>
                </a:tc>
                <a:extLst>
                  <a:ext uri="{0D108BD9-81ED-4DB2-BD59-A6C34878D82A}">
                    <a16:rowId xmlns:a16="http://schemas.microsoft.com/office/drawing/2014/main" val="10001"/>
                  </a:ext>
                </a:extLst>
              </a:tr>
              <a:tr h="341077">
                <a:tc>
                  <a:txBody>
                    <a:bodyPr/>
                    <a:lstStyle/>
                    <a:p>
                      <a:r>
                        <a:rPr lang="en-US" sz="1000" b="1">
                          <a:latin typeface="Courier New" panose="02070309020205020404" pitchFamily="49" charset="0"/>
                          <a:cs typeface="Courier New" panose="02070309020205020404" pitchFamily="49" charset="0"/>
                        </a:rPr>
                        <a:t>clear ip nat translation inside</a:t>
                      </a:r>
                      <a:r>
                        <a:rPr lang="en-US" sz="1000">
                          <a:latin typeface="Courier New" panose="02070309020205020404" pitchFamily="49" charset="0"/>
                          <a:cs typeface="Courier New" panose="02070309020205020404" pitchFamily="49" charset="0"/>
                        </a:rPr>
                        <a:t> </a:t>
                      </a:r>
                      <a:r>
                        <a:rPr lang="en-US" sz="1000" i="1">
                          <a:latin typeface="Courier New" panose="02070309020205020404" pitchFamily="49" charset="0"/>
                          <a:cs typeface="Courier New" panose="02070309020205020404" pitchFamily="49" charset="0"/>
                        </a:rPr>
                        <a:t>global-ip local-ip </a:t>
                      </a:r>
                      <a:r>
                        <a:rPr lang="en-US" sz="1000">
                          <a:latin typeface="Courier New" panose="02070309020205020404" pitchFamily="49" charset="0"/>
                          <a:cs typeface="Courier New" panose="02070309020205020404" pitchFamily="49" charset="0"/>
                        </a:rPr>
                        <a:t>[</a:t>
                      </a:r>
                      <a:r>
                        <a:rPr lang="en-US" sz="1000" b="1">
                          <a:latin typeface="Courier New" panose="02070309020205020404" pitchFamily="49" charset="0"/>
                          <a:cs typeface="Courier New" panose="02070309020205020404" pitchFamily="49" charset="0"/>
                        </a:rPr>
                        <a:t>outside</a:t>
                      </a:r>
                      <a:r>
                        <a:rPr lang="en-US" sz="1000" i="1">
                          <a:latin typeface="Courier New" panose="02070309020205020404" pitchFamily="49" charset="0"/>
                          <a:cs typeface="Courier New" panose="02070309020205020404" pitchFamily="49" charset="0"/>
                        </a:rPr>
                        <a:t> local-ip global-ip</a:t>
                      </a:r>
                      <a:r>
                        <a:rPr lang="en-US" sz="1000">
                          <a:latin typeface="Courier New" panose="02070309020205020404" pitchFamily="49" charset="0"/>
                          <a:cs typeface="Courier New" panose="02070309020205020404" pitchFamily="49" charset="0"/>
                        </a:rPr>
                        <a:t>]</a:t>
                      </a:r>
                    </a:p>
                  </a:txBody>
                  <a:tcPr anchor="ctr"/>
                </a:tc>
                <a:tc>
                  <a:txBody>
                    <a:bodyPr/>
                    <a:lstStyle/>
                    <a:p>
                      <a:r>
                        <a:rPr lang="en-US" sz="1000"/>
                        <a:t>Clears a simple dynamic translation entry containing an inside translation or both inside and outside translation.</a:t>
                      </a:r>
                    </a:p>
                  </a:txBody>
                  <a:tcPr anchor="ctr"/>
                </a:tc>
                <a:extLst>
                  <a:ext uri="{0D108BD9-81ED-4DB2-BD59-A6C34878D82A}">
                    <a16:rowId xmlns:a16="http://schemas.microsoft.com/office/drawing/2014/main" val="10006"/>
                  </a:ext>
                </a:extLst>
              </a:tr>
              <a:tr h="603444">
                <a:tc>
                  <a:txBody>
                    <a:bodyPr/>
                    <a:lstStyle/>
                    <a:p>
                      <a:r>
                        <a:rPr lang="en-US" sz="1000" b="1">
                          <a:latin typeface="Courier New" panose="02070309020205020404" pitchFamily="49" charset="0"/>
                          <a:cs typeface="Courier New" panose="02070309020205020404" pitchFamily="49" charset="0"/>
                        </a:rPr>
                        <a:t>clear ip nat translation</a:t>
                      </a:r>
                      <a:r>
                        <a:rPr lang="en-US" sz="1000">
                          <a:latin typeface="Courier New" panose="02070309020205020404" pitchFamily="49" charset="0"/>
                          <a:cs typeface="Courier New" panose="02070309020205020404" pitchFamily="49" charset="0"/>
                        </a:rPr>
                        <a:t> </a:t>
                      </a:r>
                      <a:r>
                        <a:rPr lang="en-US" sz="1000" i="1">
                          <a:latin typeface="Courier New" panose="02070309020205020404" pitchFamily="49" charset="0"/>
                          <a:cs typeface="Courier New" panose="02070309020205020404" pitchFamily="49" charset="0"/>
                        </a:rPr>
                        <a:t>protocol</a:t>
                      </a:r>
                      <a:r>
                        <a:rPr lang="en-US" sz="1000">
                          <a:latin typeface="Courier New" panose="02070309020205020404" pitchFamily="49" charset="0"/>
                          <a:cs typeface="Courier New" panose="02070309020205020404" pitchFamily="49" charset="0"/>
                        </a:rPr>
                        <a:t> </a:t>
                      </a:r>
                      <a:r>
                        <a:rPr lang="en-US" sz="1000" b="1">
                          <a:latin typeface="Courier New" panose="02070309020205020404" pitchFamily="49" charset="0"/>
                          <a:cs typeface="Courier New" panose="02070309020205020404" pitchFamily="49" charset="0"/>
                        </a:rPr>
                        <a:t>inside</a:t>
                      </a:r>
                      <a:r>
                        <a:rPr lang="en-US" sz="1000">
                          <a:latin typeface="Courier New" panose="02070309020205020404" pitchFamily="49" charset="0"/>
                          <a:cs typeface="Courier New" panose="02070309020205020404" pitchFamily="49" charset="0"/>
                        </a:rPr>
                        <a:t> </a:t>
                      </a:r>
                      <a:r>
                        <a:rPr lang="en-US" sz="1000" i="1">
                          <a:latin typeface="Courier New" panose="02070309020205020404" pitchFamily="49" charset="0"/>
                          <a:cs typeface="Courier New" panose="02070309020205020404" pitchFamily="49" charset="0"/>
                        </a:rPr>
                        <a:t>global-ip global-port local-ip local-port</a:t>
                      </a:r>
                      <a:r>
                        <a:rPr lang="en-US" sz="1000">
                          <a:latin typeface="Courier New" panose="02070309020205020404" pitchFamily="49" charset="0"/>
                          <a:cs typeface="Courier New" panose="02070309020205020404" pitchFamily="49" charset="0"/>
                        </a:rPr>
                        <a:t> [ </a:t>
                      </a:r>
                      <a:r>
                        <a:rPr lang="en-US" sz="1000" b="1">
                          <a:latin typeface="Courier New" panose="02070309020205020404" pitchFamily="49" charset="0"/>
                          <a:cs typeface="Courier New" panose="02070309020205020404" pitchFamily="49" charset="0"/>
                        </a:rPr>
                        <a:t>outside</a:t>
                      </a:r>
                      <a:r>
                        <a:rPr lang="en-US" sz="1000">
                          <a:latin typeface="Courier New" panose="02070309020205020404" pitchFamily="49" charset="0"/>
                          <a:cs typeface="Courier New" panose="02070309020205020404" pitchFamily="49" charset="0"/>
                        </a:rPr>
                        <a:t> </a:t>
                      </a:r>
                      <a:r>
                        <a:rPr lang="en-US" sz="1000" i="1">
                          <a:latin typeface="Courier New" panose="02070309020205020404" pitchFamily="49" charset="0"/>
                          <a:cs typeface="Courier New" panose="02070309020205020404" pitchFamily="49" charset="0"/>
                        </a:rPr>
                        <a:t>local-ip local-port global-ip global-port</a:t>
                      </a:r>
                      <a:r>
                        <a:rPr lang="en-US" sz="1000">
                          <a:latin typeface="Courier New" panose="02070309020205020404" pitchFamily="49" charset="0"/>
                          <a:cs typeface="Courier New" panose="02070309020205020404" pitchFamily="49" charset="0"/>
                        </a:rPr>
                        <a:t>]</a:t>
                      </a:r>
                    </a:p>
                  </a:txBody>
                  <a:tcPr anchor="ctr"/>
                </a:tc>
                <a:tc>
                  <a:txBody>
                    <a:bodyPr/>
                    <a:lstStyle/>
                    <a:p>
                      <a:r>
                        <a:rPr lang="en-US" sz="1000"/>
                        <a:t>Clears an extended dynamic translation entry.</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1718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Verify Dynamic NAT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871762"/>
          </a:xfrm>
        </p:spPr>
        <p:txBody>
          <a:bodyPr/>
          <a:lstStyle/>
          <a:p>
            <a:pPr marL="0" indent="0" algn="l"/>
            <a:r>
              <a:rPr lang="en-US" sz="1600">
                <a:solidFill>
                  <a:srgbClr val="000000"/>
                </a:solidFill>
              </a:rPr>
              <a:t>The </a:t>
            </a:r>
            <a:r>
              <a:rPr lang="en-US" sz="1600" b="1">
                <a:solidFill>
                  <a:srgbClr val="000000"/>
                </a:solidFill>
              </a:rPr>
              <a:t>show ip nat statistics</a:t>
            </a:r>
            <a:r>
              <a:rPr lang="en-US" sz="1600">
                <a:solidFill>
                  <a:srgbClr val="000000"/>
                </a:solidFill>
              </a:rPr>
              <a:t> command displays information about the total number of active translations, NAT configuration parameters, the number of addresses in the pool, and how many of the addresses have been allocated.</a:t>
            </a:r>
          </a:p>
        </p:txBody>
      </p:sp>
      <p:sp>
        <p:nvSpPr>
          <p:cNvPr id="6" name="TextBox 5">
            <a:extLst>
              <a:ext uri="{FF2B5EF4-FFF2-40B4-BE49-F238E27FC236}">
                <a16:creationId xmlns:a16="http://schemas.microsoft.com/office/drawing/2014/main" id="{E069F52E-0461-45E4-BE52-F85A33205591}"/>
              </a:ext>
            </a:extLst>
          </p:cNvPr>
          <p:cNvSpPr txBox="1"/>
          <p:nvPr/>
        </p:nvSpPr>
        <p:spPr>
          <a:xfrm>
            <a:off x="431971" y="1727180"/>
            <a:ext cx="8528758" cy="2862322"/>
          </a:xfrm>
          <a:prstGeom prst="rect">
            <a:avLst/>
          </a:prstGeom>
          <a:solidFill>
            <a:srgbClr val="000000"/>
          </a:solidFill>
        </p:spPr>
        <p:txBody>
          <a:bodyPr wrap="square" rtlCol="0">
            <a:spAutoFit/>
          </a:bodyPr>
          <a:lstStyle/>
          <a:p>
            <a:r>
              <a:rPr lang="en-US" sz="1000">
                <a:solidFill>
                  <a:schemeClr val="bg1"/>
                </a:solidFill>
                <a:latin typeface="Courier New" panose="02070309020205020404" pitchFamily="49" charset="0"/>
                <a:cs typeface="Courier New" panose="02070309020205020404" pitchFamily="49" charset="0"/>
              </a:rPr>
              <a:t>R2# </a:t>
            </a:r>
            <a:r>
              <a:rPr lang="en-US" sz="1000" b="1">
                <a:solidFill>
                  <a:schemeClr val="bg1"/>
                </a:solidFill>
                <a:latin typeface="Courier New" panose="02070309020205020404" pitchFamily="49" charset="0"/>
                <a:cs typeface="Courier New" panose="02070309020205020404" pitchFamily="49" charset="0"/>
              </a:rPr>
              <a:t>show ip nat statistics </a:t>
            </a:r>
          </a:p>
          <a:p>
            <a:r>
              <a:rPr lang="en-US" sz="1000">
                <a:solidFill>
                  <a:schemeClr val="bg1"/>
                </a:solidFill>
                <a:latin typeface="Courier New" panose="02070309020205020404" pitchFamily="49" charset="0"/>
                <a:cs typeface="Courier New" panose="02070309020205020404" pitchFamily="49" charset="0"/>
              </a:rPr>
              <a:t>Total active translations: 4 (0 static, 4 dynamic; 0 extended)</a:t>
            </a:r>
          </a:p>
          <a:p>
            <a:r>
              <a:rPr lang="en-US" sz="1000">
                <a:solidFill>
                  <a:schemeClr val="bg1"/>
                </a:solidFill>
                <a:latin typeface="Courier New" panose="02070309020205020404" pitchFamily="49" charset="0"/>
                <a:cs typeface="Courier New" panose="02070309020205020404" pitchFamily="49" charset="0"/>
              </a:rPr>
              <a:t>Peak translations: 4, occurred 00:31:43 ago</a:t>
            </a:r>
          </a:p>
          <a:p>
            <a:r>
              <a:rPr lang="en-US" sz="1000">
                <a:solidFill>
                  <a:schemeClr val="bg1"/>
                </a:solidFill>
                <a:latin typeface="Courier New" panose="02070309020205020404" pitchFamily="49" charset="0"/>
                <a:cs typeface="Courier New" panose="02070309020205020404" pitchFamily="49" charset="0"/>
              </a:rPr>
              <a:t>Outside interfaces:</a:t>
            </a:r>
          </a:p>
          <a:p>
            <a:r>
              <a:rPr lang="en-US" sz="1000">
                <a:solidFill>
                  <a:schemeClr val="bg1"/>
                </a:solidFill>
                <a:latin typeface="Courier New" panose="02070309020205020404" pitchFamily="49" charset="0"/>
                <a:cs typeface="Courier New" panose="02070309020205020404" pitchFamily="49" charset="0"/>
              </a:rPr>
              <a:t>  Serial0/1/1</a:t>
            </a:r>
          </a:p>
          <a:p>
            <a:r>
              <a:rPr lang="en-US" sz="1000">
                <a:solidFill>
                  <a:schemeClr val="bg1"/>
                </a:solidFill>
                <a:latin typeface="Courier New" panose="02070309020205020404" pitchFamily="49" charset="0"/>
                <a:cs typeface="Courier New" panose="02070309020205020404" pitchFamily="49" charset="0"/>
              </a:rPr>
              <a:t>Inside interfaces: </a:t>
            </a:r>
          </a:p>
          <a:p>
            <a:r>
              <a:rPr lang="en-US" sz="1000">
                <a:solidFill>
                  <a:schemeClr val="bg1"/>
                </a:solidFill>
                <a:latin typeface="Courier New" panose="02070309020205020404" pitchFamily="49" charset="0"/>
                <a:cs typeface="Courier New" panose="02070309020205020404" pitchFamily="49" charset="0"/>
              </a:rPr>
              <a:t>  Serial0/1/0</a:t>
            </a:r>
          </a:p>
          <a:p>
            <a:r>
              <a:rPr lang="en-US" sz="1000">
                <a:solidFill>
                  <a:schemeClr val="bg1"/>
                </a:solidFill>
                <a:latin typeface="Courier New" panose="02070309020205020404" pitchFamily="49" charset="0"/>
                <a:cs typeface="Courier New" panose="02070309020205020404" pitchFamily="49" charset="0"/>
              </a:rPr>
              <a:t>Hits: 47  Misses: 0</a:t>
            </a:r>
          </a:p>
          <a:p>
            <a:r>
              <a:rPr lang="en-US" sz="1000">
                <a:solidFill>
                  <a:schemeClr val="bg1"/>
                </a:solidFill>
                <a:latin typeface="Courier New" panose="02070309020205020404" pitchFamily="49" charset="0"/>
                <a:cs typeface="Courier New" panose="02070309020205020404" pitchFamily="49" charset="0"/>
              </a:rPr>
              <a:t>CEF Translated packets: 47, CEF Punted packets: 0</a:t>
            </a:r>
          </a:p>
          <a:p>
            <a:r>
              <a:rPr lang="en-US" sz="1000">
                <a:solidFill>
                  <a:schemeClr val="bg1"/>
                </a:solidFill>
                <a:latin typeface="Courier New" panose="02070309020205020404" pitchFamily="49" charset="0"/>
                <a:cs typeface="Courier New" panose="02070309020205020404" pitchFamily="49" charset="0"/>
              </a:rPr>
              <a:t>Expired translations: 5</a:t>
            </a:r>
          </a:p>
          <a:p>
            <a:r>
              <a:rPr lang="en-US" sz="1000">
                <a:solidFill>
                  <a:schemeClr val="bg1"/>
                </a:solidFill>
                <a:latin typeface="Courier New" panose="02070309020205020404" pitchFamily="49" charset="0"/>
                <a:cs typeface="Courier New" panose="02070309020205020404" pitchFamily="49" charset="0"/>
              </a:rPr>
              <a:t>Dynamic mappings:</a:t>
            </a:r>
          </a:p>
          <a:p>
            <a:r>
              <a:rPr lang="en-US" sz="1000">
                <a:solidFill>
                  <a:schemeClr val="bg1"/>
                </a:solidFill>
                <a:latin typeface="Courier New" panose="02070309020205020404" pitchFamily="49" charset="0"/>
                <a:cs typeface="Courier New" panose="02070309020205020404" pitchFamily="49" charset="0"/>
              </a:rPr>
              <a:t>-- Inside Source</a:t>
            </a:r>
          </a:p>
          <a:p>
            <a:r>
              <a:rPr lang="en-US" sz="1000">
                <a:solidFill>
                  <a:schemeClr val="bg1"/>
                </a:solidFill>
                <a:latin typeface="Courier New" panose="02070309020205020404" pitchFamily="49" charset="0"/>
                <a:cs typeface="Courier New" panose="02070309020205020404" pitchFamily="49" charset="0"/>
              </a:rPr>
              <a:t>[Id: 1] access-list 1 pool NAT-POOL1 refcount 4</a:t>
            </a:r>
          </a:p>
          <a:p>
            <a:r>
              <a:rPr lang="en-US" sz="1000">
                <a:solidFill>
                  <a:schemeClr val="bg1"/>
                </a:solidFill>
                <a:latin typeface="Courier New" panose="02070309020205020404" pitchFamily="49" charset="0"/>
                <a:cs typeface="Courier New" panose="02070309020205020404" pitchFamily="49" charset="0"/>
              </a:rPr>
              <a:t> </a:t>
            </a:r>
            <a:r>
              <a:rPr lang="en-US" sz="1000">
                <a:solidFill>
                  <a:schemeClr val="accent6">
                    <a:lumMod val="75000"/>
                  </a:schemeClr>
                </a:solidFill>
                <a:latin typeface="Courier New" panose="02070309020205020404" pitchFamily="49" charset="0"/>
                <a:cs typeface="Courier New" panose="02070309020205020404" pitchFamily="49" charset="0"/>
              </a:rPr>
              <a:t>pool NAT-POOL1: netmask 255.255.255.224</a:t>
            </a:r>
          </a:p>
          <a:p>
            <a:r>
              <a:rPr lang="en-US" sz="1000">
                <a:solidFill>
                  <a:schemeClr val="accent6">
                    <a:lumMod val="75000"/>
                  </a:schemeClr>
                </a:solidFill>
                <a:latin typeface="Courier New" panose="02070309020205020404" pitchFamily="49" charset="0"/>
                <a:cs typeface="Courier New" panose="02070309020205020404" pitchFamily="49" charset="0"/>
              </a:rPr>
              <a:t>	start 209.165.200.226 end 209.165.200.240</a:t>
            </a:r>
          </a:p>
          <a:p>
            <a:r>
              <a:rPr lang="en-US" sz="1000">
                <a:solidFill>
                  <a:schemeClr val="accent6">
                    <a:lumMod val="75000"/>
                  </a:schemeClr>
                </a:solidFill>
                <a:latin typeface="Courier New" panose="02070309020205020404" pitchFamily="49" charset="0"/>
                <a:cs typeface="Courier New" panose="02070309020205020404" pitchFamily="49" charset="0"/>
              </a:rPr>
              <a:t>	type generic, total addresses 15, allocated 2 (13%), misses 0</a:t>
            </a:r>
          </a:p>
          <a:p>
            <a:r>
              <a:rPr lang="en-US" sz="1000">
                <a:solidFill>
                  <a:schemeClr val="bg1"/>
                </a:solidFill>
                <a:latin typeface="Courier New" panose="02070309020205020404" pitchFamily="49" charset="0"/>
                <a:cs typeface="Courier New" panose="02070309020205020404" pitchFamily="49" charset="0"/>
              </a:rPr>
              <a:t>(output omitted)</a:t>
            </a:r>
          </a:p>
          <a:p>
            <a:r>
              <a:rPr lang="en-US" sz="1000">
                <a:solidFill>
                  <a:schemeClr val="bg1"/>
                </a:solidFill>
                <a:latin typeface="Courier New" panose="02070309020205020404" pitchFamily="49" charset="0"/>
                <a:cs typeface="Courier New" panose="02070309020205020404" pitchFamily="49" charset="0"/>
              </a:rPr>
              <a:t>R2#</a:t>
            </a:r>
            <a:endParaRPr lang="en-US" sz="1000" b="1">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10182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Static NAT</a:t>
            </a:r>
            <a:br>
              <a:rPr lang="en-US"/>
            </a:br>
            <a:r>
              <a:rPr lang="en-US" sz="2400"/>
              <a:t>Verify Dynamic NAT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643444"/>
          </a:xfrm>
        </p:spPr>
        <p:txBody>
          <a:bodyPr/>
          <a:lstStyle/>
          <a:p>
            <a:pPr marL="0" indent="0" algn="l"/>
            <a:r>
              <a:rPr lang="en-US" sz="1600">
                <a:solidFill>
                  <a:srgbClr val="000000"/>
                </a:solidFill>
              </a:rPr>
              <a:t>The </a:t>
            </a:r>
            <a:r>
              <a:rPr lang="en-US" sz="1600" b="1">
                <a:solidFill>
                  <a:srgbClr val="000000"/>
                </a:solidFill>
              </a:rPr>
              <a:t>show running-config</a:t>
            </a:r>
            <a:r>
              <a:rPr lang="en-US" sz="1600">
                <a:solidFill>
                  <a:srgbClr val="000000"/>
                </a:solidFill>
              </a:rPr>
              <a:t> command and show s the NAT, ACL, interface, or pool commands with the required values. </a:t>
            </a:r>
          </a:p>
        </p:txBody>
      </p:sp>
      <p:sp>
        <p:nvSpPr>
          <p:cNvPr id="6" name="TextBox 5">
            <a:extLst>
              <a:ext uri="{FF2B5EF4-FFF2-40B4-BE49-F238E27FC236}">
                <a16:creationId xmlns:a16="http://schemas.microsoft.com/office/drawing/2014/main" id="{E069F52E-0461-45E4-BE52-F85A33205591}"/>
              </a:ext>
            </a:extLst>
          </p:cNvPr>
          <p:cNvSpPr txBox="1"/>
          <p:nvPr/>
        </p:nvSpPr>
        <p:spPr>
          <a:xfrm>
            <a:off x="431971" y="1727180"/>
            <a:ext cx="8528758" cy="577081"/>
          </a:xfrm>
          <a:prstGeom prst="rect">
            <a:avLst/>
          </a:prstGeom>
          <a:solidFill>
            <a:srgbClr val="000000"/>
          </a:solidFill>
        </p:spPr>
        <p:txBody>
          <a:bodyPr wrap="square" rtlCol="0">
            <a:spAutoFit/>
          </a:bodyPr>
          <a:lstStyle/>
          <a:p>
            <a:r>
              <a:rPr lang="en-US" sz="1050">
                <a:solidFill>
                  <a:schemeClr val="bg1"/>
                </a:solidFill>
                <a:latin typeface="Courier New" panose="02070309020205020404" pitchFamily="49" charset="0"/>
                <a:cs typeface="Courier New" panose="02070309020205020404" pitchFamily="49" charset="0"/>
              </a:rPr>
              <a:t>R2# </a:t>
            </a:r>
            <a:r>
              <a:rPr lang="en-US" sz="1050" b="1">
                <a:solidFill>
                  <a:schemeClr val="bg1"/>
                </a:solidFill>
                <a:latin typeface="Courier New" panose="02070309020205020404" pitchFamily="49" charset="0"/>
                <a:cs typeface="Courier New" panose="02070309020205020404" pitchFamily="49" charset="0"/>
              </a:rPr>
              <a:t>show running-config | include NAT</a:t>
            </a:r>
          </a:p>
          <a:p>
            <a:r>
              <a:rPr lang="en-US" sz="1050">
                <a:solidFill>
                  <a:schemeClr val="bg1"/>
                </a:solidFill>
                <a:latin typeface="Courier New" panose="02070309020205020404" pitchFamily="49" charset="0"/>
                <a:cs typeface="Courier New" panose="02070309020205020404" pitchFamily="49" charset="0"/>
              </a:rPr>
              <a:t>ip nat pool NAT-POOL1 209.165.200.226 209.165.200.240 netmask 255.255.255.224</a:t>
            </a:r>
          </a:p>
          <a:p>
            <a:r>
              <a:rPr lang="en-US" sz="1050">
                <a:solidFill>
                  <a:schemeClr val="bg1"/>
                </a:solidFill>
                <a:latin typeface="Courier New" panose="02070309020205020404" pitchFamily="49" charset="0"/>
                <a:cs typeface="Courier New" panose="02070309020205020404" pitchFamily="49" charset="0"/>
              </a:rPr>
              <a:t>ip nat inside source list 1 pool NAT-POOL1</a:t>
            </a:r>
            <a:endParaRPr lang="en-US" sz="1050" b="1">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81831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a:solidFill>
                  <a:schemeClr val="accent5">
                    <a:lumMod val="40000"/>
                    <a:lumOff val="60000"/>
                  </a:schemeClr>
                </a:solidFill>
              </a:rPr>
              <a:t>6.6 PAT</a:t>
            </a:r>
          </a:p>
        </p:txBody>
      </p:sp>
    </p:spTree>
    <p:custDataLst>
      <p:tags r:id="rId1"/>
    </p:custDataLst>
    <p:extLst>
      <p:ext uri="{BB962C8B-B14F-4D97-AF65-F5344CB8AC3E}">
        <p14:creationId xmlns:p14="http://schemas.microsoft.com/office/powerpoint/2010/main" val="2967422330"/>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PAT</a:t>
            </a:r>
            <a:br>
              <a:rPr lang="en-US"/>
            </a:br>
            <a:r>
              <a:rPr lang="en-US" sz="2400"/>
              <a:t>Configure PAT to Use a Single IPv4 Address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007836" cy="2076968"/>
          </a:xfrm>
        </p:spPr>
        <p:txBody>
          <a:bodyPr/>
          <a:lstStyle/>
          <a:p>
            <a:pPr marL="0" indent="0" algn="l"/>
            <a:r>
              <a:rPr lang="en-US" sz="1600" dirty="0">
                <a:solidFill>
                  <a:srgbClr val="000000"/>
                </a:solidFill>
              </a:rPr>
              <a:t>To configure PAT to use a single IPv4 address, add the keyword </a:t>
            </a:r>
            <a:r>
              <a:rPr lang="en-US" sz="1600" b="1" dirty="0">
                <a:solidFill>
                  <a:srgbClr val="000000"/>
                </a:solidFill>
              </a:rPr>
              <a:t>overload</a:t>
            </a:r>
            <a:r>
              <a:rPr lang="en-US" sz="1600" dirty="0">
                <a:solidFill>
                  <a:srgbClr val="000000"/>
                </a:solidFill>
              </a:rPr>
              <a:t> to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nat</a:t>
            </a:r>
            <a:r>
              <a:rPr lang="en-US" sz="1600" b="1" dirty="0">
                <a:solidFill>
                  <a:srgbClr val="000000"/>
                </a:solidFill>
              </a:rPr>
              <a:t> inside source</a:t>
            </a:r>
            <a:r>
              <a:rPr lang="en-US" sz="1600" dirty="0">
                <a:solidFill>
                  <a:srgbClr val="000000"/>
                </a:solidFill>
              </a:rPr>
              <a:t> command.</a:t>
            </a:r>
          </a:p>
          <a:p>
            <a:pPr marL="0" indent="0" algn="l"/>
            <a:endParaRPr lang="en-US" sz="1600" dirty="0">
              <a:solidFill>
                <a:srgbClr val="000000"/>
              </a:solidFill>
            </a:endParaRPr>
          </a:p>
          <a:p>
            <a:pPr marL="0" indent="0" algn="l"/>
            <a:r>
              <a:rPr lang="en-US" sz="1600" dirty="0">
                <a:solidFill>
                  <a:srgbClr val="000000"/>
                </a:solidFill>
              </a:rPr>
              <a:t>In the example, all hosts from network 192.168.0.0/16 (matching ACL 1) that send traffic through router R2 to the internet will be translated to IPv4 address 209.165.200.225 (IPv4 address of interface S0/1/1). The traffic flows will be identified by port numbers in the NAT table because the </a:t>
            </a:r>
            <a:r>
              <a:rPr lang="en-US" sz="1600" b="1" dirty="0">
                <a:solidFill>
                  <a:srgbClr val="000000"/>
                </a:solidFill>
              </a:rPr>
              <a:t>overload</a:t>
            </a:r>
            <a:r>
              <a:rPr lang="en-US" sz="1600" dirty="0">
                <a:solidFill>
                  <a:srgbClr val="000000"/>
                </a:solidFill>
              </a:rPr>
              <a:t> keyword is configured.</a:t>
            </a:r>
          </a:p>
          <a:p>
            <a:pPr marL="0" indent="0" algn="l"/>
            <a:endParaRPr lang="en-US" sz="1800" dirty="0">
              <a:solidFill>
                <a:srgbClr val="000000"/>
              </a:solidFill>
            </a:endParaRPr>
          </a:p>
        </p:txBody>
      </p:sp>
      <p:sp>
        <p:nvSpPr>
          <p:cNvPr id="6" name="TextBox 5">
            <a:extLst>
              <a:ext uri="{FF2B5EF4-FFF2-40B4-BE49-F238E27FC236}">
                <a16:creationId xmlns:a16="http://schemas.microsoft.com/office/drawing/2014/main" id="{8E4D9B25-7DC2-4015-BF3F-0D2A1A29248A}"/>
              </a:ext>
            </a:extLst>
          </p:cNvPr>
          <p:cNvSpPr txBox="1"/>
          <p:nvPr/>
        </p:nvSpPr>
        <p:spPr>
          <a:xfrm>
            <a:off x="431971" y="2932387"/>
            <a:ext cx="8280058" cy="1223412"/>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err="1">
                <a:solidFill>
                  <a:schemeClr val="bg1"/>
                </a:solidFill>
                <a:latin typeface="Courier New" panose="02070309020205020404" pitchFamily="49" charset="0"/>
                <a:cs typeface="Courier New" panose="02070309020205020404" pitchFamily="49" charset="0"/>
              </a:rPr>
              <a:t>ip</a:t>
            </a:r>
            <a:r>
              <a:rPr lang="en-US" sz="1050" b="1" dirty="0">
                <a:solidFill>
                  <a:schemeClr val="bg1"/>
                </a:solidFill>
                <a:latin typeface="Courier New" panose="02070309020205020404" pitchFamily="49" charset="0"/>
                <a:cs typeface="Courier New" panose="02070309020205020404" pitchFamily="49" charset="0"/>
              </a:rPr>
              <a:t> </a:t>
            </a:r>
            <a:r>
              <a:rPr lang="en-US" sz="1050" b="1" dirty="0" err="1">
                <a:solidFill>
                  <a:schemeClr val="bg1"/>
                </a:solidFill>
                <a:latin typeface="Courier New" panose="02070309020205020404" pitchFamily="49" charset="0"/>
                <a:cs typeface="Courier New" panose="02070309020205020404" pitchFamily="49" charset="0"/>
              </a:rPr>
              <a:t>nat</a:t>
            </a:r>
            <a:r>
              <a:rPr lang="en-US" sz="1050" b="1" dirty="0">
                <a:solidFill>
                  <a:schemeClr val="bg1"/>
                </a:solidFill>
                <a:latin typeface="Courier New" panose="02070309020205020404" pitchFamily="49" charset="0"/>
                <a:cs typeface="Courier New" panose="02070309020205020404" pitchFamily="49" charset="0"/>
              </a:rPr>
              <a:t> inside source list 1 interface serial 0/1/1 </a:t>
            </a:r>
            <a:r>
              <a:rPr lang="en-US" sz="1050" b="1" dirty="0">
                <a:solidFill>
                  <a:schemeClr val="accent6">
                    <a:lumMod val="75000"/>
                  </a:schemeClr>
                </a:solidFill>
                <a:latin typeface="Courier New" panose="02070309020205020404" pitchFamily="49" charset="0"/>
                <a:cs typeface="Courier New" panose="02070309020205020404" pitchFamily="49" charset="0"/>
              </a:rPr>
              <a:t>overload</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access-list 1 permit 192.168.0.0 0.0.255.255</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interface serial0/1/0</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err="1">
                <a:solidFill>
                  <a:schemeClr val="bg1"/>
                </a:solidFill>
                <a:latin typeface="Courier New" panose="02070309020205020404" pitchFamily="49" charset="0"/>
                <a:cs typeface="Courier New" panose="02070309020205020404" pitchFamily="49" charset="0"/>
              </a:rPr>
              <a:t>ip</a:t>
            </a:r>
            <a:r>
              <a:rPr lang="en-US" sz="1050" b="1" dirty="0">
                <a:solidFill>
                  <a:schemeClr val="bg1"/>
                </a:solidFill>
                <a:latin typeface="Courier New" panose="02070309020205020404" pitchFamily="49" charset="0"/>
                <a:cs typeface="Courier New" panose="02070309020205020404" pitchFamily="49" charset="0"/>
              </a:rPr>
              <a:t> </a:t>
            </a:r>
            <a:r>
              <a:rPr lang="en-US" sz="1050" b="1" dirty="0" err="1">
                <a:solidFill>
                  <a:schemeClr val="bg1"/>
                </a:solidFill>
                <a:latin typeface="Courier New" panose="02070309020205020404" pitchFamily="49" charset="0"/>
                <a:cs typeface="Courier New" panose="02070309020205020404" pitchFamily="49" charset="0"/>
              </a:rPr>
              <a:t>nat</a:t>
            </a:r>
            <a:r>
              <a:rPr lang="en-US" sz="1050" b="1" dirty="0">
                <a:solidFill>
                  <a:schemeClr val="bg1"/>
                </a:solidFill>
                <a:latin typeface="Courier New" panose="02070309020205020404" pitchFamily="49" charset="0"/>
                <a:cs typeface="Courier New" panose="02070309020205020404" pitchFamily="49" charset="0"/>
              </a:rPr>
              <a:t> inside</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a:solidFill>
                  <a:schemeClr val="bg1"/>
                </a:solidFill>
                <a:latin typeface="Courier New" panose="02070309020205020404" pitchFamily="49" charset="0"/>
                <a:cs typeface="Courier New" panose="02070309020205020404" pitchFamily="49" charset="0"/>
              </a:rPr>
              <a:t>exit</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interface Serial0/1/1</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err="1">
                <a:solidFill>
                  <a:schemeClr val="bg1"/>
                </a:solidFill>
                <a:latin typeface="Courier New" panose="02070309020205020404" pitchFamily="49" charset="0"/>
                <a:cs typeface="Courier New" panose="02070309020205020404" pitchFamily="49" charset="0"/>
              </a:rPr>
              <a:t>ip</a:t>
            </a:r>
            <a:r>
              <a:rPr lang="en-US" sz="1050" b="1" dirty="0">
                <a:solidFill>
                  <a:schemeClr val="bg1"/>
                </a:solidFill>
                <a:latin typeface="Courier New" panose="02070309020205020404" pitchFamily="49" charset="0"/>
                <a:cs typeface="Courier New" panose="02070309020205020404" pitchFamily="49" charset="0"/>
              </a:rPr>
              <a:t> </a:t>
            </a:r>
            <a:r>
              <a:rPr lang="en-US" sz="1050" b="1" dirty="0" err="1">
                <a:solidFill>
                  <a:schemeClr val="bg1"/>
                </a:solidFill>
                <a:latin typeface="Courier New" panose="02070309020205020404" pitchFamily="49" charset="0"/>
                <a:cs typeface="Courier New" panose="02070309020205020404" pitchFamily="49" charset="0"/>
              </a:rPr>
              <a:t>nat</a:t>
            </a:r>
            <a:r>
              <a:rPr lang="en-US" sz="1050" b="1" dirty="0">
                <a:solidFill>
                  <a:schemeClr val="bg1"/>
                </a:solidFill>
                <a:latin typeface="Courier New" panose="02070309020205020404" pitchFamily="49" charset="0"/>
                <a:cs typeface="Courier New" panose="02070309020205020404" pitchFamily="49" charset="0"/>
              </a:rPr>
              <a:t> outside</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73045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PAT</a:t>
            </a:r>
            <a:br>
              <a:rPr lang="en-US"/>
            </a:br>
            <a:r>
              <a:rPr lang="en-US" sz="2400"/>
              <a:t>Configure PAT to Use an Address Pool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568082" y="823837"/>
            <a:ext cx="8007836" cy="2076968"/>
          </a:xfrm>
        </p:spPr>
        <p:txBody>
          <a:bodyPr/>
          <a:lstStyle/>
          <a:p>
            <a:pPr marL="0" indent="0" algn="l"/>
            <a:r>
              <a:rPr lang="en-US" sz="1600">
                <a:solidFill>
                  <a:srgbClr val="000000"/>
                </a:solidFill>
              </a:rPr>
              <a:t>An ISP may allocate more than one public IPv4 address to an organization. In this scenario the organization can configure PAT to use a pool of IPv4 public addresses for translation.</a:t>
            </a:r>
          </a:p>
          <a:p>
            <a:pPr marL="0" indent="0" algn="l"/>
            <a:r>
              <a:rPr lang="en-US" sz="1600">
                <a:solidFill>
                  <a:srgbClr val="000000"/>
                </a:solidFill>
              </a:rPr>
              <a:t>To configure PAT for a dynamic NAT address pool, simply add the keyword </a:t>
            </a:r>
            <a:r>
              <a:rPr lang="en-US" sz="1600" b="1">
                <a:solidFill>
                  <a:srgbClr val="000000"/>
                </a:solidFill>
              </a:rPr>
              <a:t>overload</a:t>
            </a:r>
            <a:r>
              <a:rPr lang="en-US" sz="1600">
                <a:solidFill>
                  <a:srgbClr val="000000"/>
                </a:solidFill>
              </a:rPr>
              <a:t> to the </a:t>
            </a:r>
            <a:r>
              <a:rPr lang="en-US" sz="1600" b="1">
                <a:solidFill>
                  <a:srgbClr val="000000"/>
                </a:solidFill>
              </a:rPr>
              <a:t>ip nat inside source</a:t>
            </a:r>
            <a:r>
              <a:rPr lang="en-US" sz="1600">
                <a:solidFill>
                  <a:srgbClr val="000000"/>
                </a:solidFill>
              </a:rPr>
              <a:t> command.</a:t>
            </a:r>
          </a:p>
          <a:p>
            <a:pPr marL="0" indent="0" algn="l"/>
            <a:endParaRPr lang="en-US" sz="1600">
              <a:solidFill>
                <a:srgbClr val="000000"/>
              </a:solidFill>
            </a:endParaRPr>
          </a:p>
          <a:p>
            <a:pPr marL="0" indent="0" algn="l"/>
            <a:r>
              <a:rPr lang="en-US" sz="1600">
                <a:solidFill>
                  <a:srgbClr val="000000"/>
                </a:solidFill>
              </a:rPr>
              <a:t>In the example, NAT-POOL2 is bound to an ACL to permit 192.168.0.0/16 to be translated. These hosts can share an IPv4 address from the pool because PAT is enabled with the keyword </a:t>
            </a:r>
            <a:r>
              <a:rPr lang="en-US" sz="1600" b="1">
                <a:solidFill>
                  <a:srgbClr val="000000"/>
                </a:solidFill>
              </a:rPr>
              <a:t>overload</a:t>
            </a:r>
            <a:r>
              <a:rPr lang="en-US" sz="1400">
                <a:solidFill>
                  <a:srgbClr val="000000"/>
                </a:solidFill>
              </a:rPr>
              <a:t>.</a:t>
            </a:r>
          </a:p>
        </p:txBody>
      </p:sp>
      <p:sp>
        <p:nvSpPr>
          <p:cNvPr id="6" name="TextBox 5">
            <a:extLst>
              <a:ext uri="{FF2B5EF4-FFF2-40B4-BE49-F238E27FC236}">
                <a16:creationId xmlns:a16="http://schemas.microsoft.com/office/drawing/2014/main" id="{8E4D9B25-7DC2-4015-BF3F-0D2A1A29248A}"/>
              </a:ext>
            </a:extLst>
          </p:cNvPr>
          <p:cNvSpPr txBox="1"/>
          <p:nvPr/>
        </p:nvSpPr>
        <p:spPr>
          <a:xfrm>
            <a:off x="431971" y="3281179"/>
            <a:ext cx="8280058" cy="1223412"/>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R2(config)# </a:t>
            </a:r>
            <a:r>
              <a:rPr lang="en-US" sz="1050" dirty="0" err="1">
                <a:solidFill>
                  <a:schemeClr val="bg1"/>
                </a:solidFill>
                <a:latin typeface="Courier New" panose="02070309020205020404" pitchFamily="49" charset="0"/>
                <a:cs typeface="Courier New" panose="02070309020205020404" pitchFamily="49" charset="0"/>
              </a:rPr>
              <a:t>ip</a:t>
            </a:r>
            <a:r>
              <a:rPr lang="en-US" sz="1050" dirty="0">
                <a:solidFill>
                  <a:schemeClr val="bg1"/>
                </a:solidFill>
                <a:latin typeface="Courier New" panose="02070309020205020404" pitchFamily="49" charset="0"/>
                <a:cs typeface="Courier New" panose="02070309020205020404" pitchFamily="49" charset="0"/>
              </a:rPr>
              <a:t> </a:t>
            </a:r>
            <a:r>
              <a:rPr lang="en-US" sz="1050" dirty="0" err="1">
                <a:solidFill>
                  <a:schemeClr val="bg1"/>
                </a:solidFill>
                <a:latin typeface="Courier New" panose="02070309020205020404" pitchFamily="49" charset="0"/>
                <a:cs typeface="Courier New" panose="02070309020205020404" pitchFamily="49" charset="0"/>
              </a:rPr>
              <a:t>nat</a:t>
            </a:r>
            <a:r>
              <a:rPr lang="en-US" sz="1050" dirty="0">
                <a:solidFill>
                  <a:schemeClr val="bg1"/>
                </a:solidFill>
                <a:latin typeface="Courier New" panose="02070309020205020404" pitchFamily="49" charset="0"/>
                <a:cs typeface="Courier New" panose="02070309020205020404" pitchFamily="49" charset="0"/>
              </a:rPr>
              <a:t> pool NAT-POOL2 209.165.200.226 209.165.200.240 netmask 255.255.255.224</a:t>
            </a:r>
          </a:p>
          <a:p>
            <a:r>
              <a:rPr lang="en-US" sz="1050" dirty="0">
                <a:solidFill>
                  <a:schemeClr val="bg1"/>
                </a:solidFill>
                <a:latin typeface="Courier New" panose="02070309020205020404" pitchFamily="49" charset="0"/>
                <a:cs typeface="Courier New" panose="02070309020205020404" pitchFamily="49" charset="0"/>
              </a:rPr>
              <a:t>R2(config)# access-list 1 permit 192.168.0.0 0.0.255.255</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dirty="0" err="1">
                <a:solidFill>
                  <a:schemeClr val="bg1"/>
                </a:solidFill>
                <a:latin typeface="Courier New" panose="02070309020205020404" pitchFamily="49" charset="0"/>
                <a:cs typeface="Courier New" panose="02070309020205020404" pitchFamily="49" charset="0"/>
              </a:rPr>
              <a:t>ip</a:t>
            </a:r>
            <a:r>
              <a:rPr lang="en-US" sz="1050" dirty="0">
                <a:solidFill>
                  <a:schemeClr val="bg1"/>
                </a:solidFill>
                <a:latin typeface="Courier New" panose="02070309020205020404" pitchFamily="49" charset="0"/>
                <a:cs typeface="Courier New" panose="02070309020205020404" pitchFamily="49" charset="0"/>
              </a:rPr>
              <a:t> </a:t>
            </a:r>
            <a:r>
              <a:rPr lang="en-US" sz="1050" dirty="0" err="1">
                <a:solidFill>
                  <a:schemeClr val="bg1"/>
                </a:solidFill>
                <a:latin typeface="Courier New" panose="02070309020205020404" pitchFamily="49" charset="0"/>
                <a:cs typeface="Courier New" panose="02070309020205020404" pitchFamily="49" charset="0"/>
              </a:rPr>
              <a:t>nat</a:t>
            </a:r>
            <a:r>
              <a:rPr lang="en-US" sz="1050" dirty="0">
                <a:solidFill>
                  <a:schemeClr val="bg1"/>
                </a:solidFill>
                <a:latin typeface="Courier New" panose="02070309020205020404" pitchFamily="49" charset="0"/>
                <a:cs typeface="Courier New" panose="02070309020205020404" pitchFamily="49" charset="0"/>
              </a:rPr>
              <a:t> inside source list 1 pool NAT-POOL2 </a:t>
            </a:r>
            <a:r>
              <a:rPr lang="en-US" sz="1050" dirty="0">
                <a:solidFill>
                  <a:schemeClr val="accent6">
                    <a:lumMod val="75000"/>
                  </a:schemeClr>
                </a:solidFill>
                <a:latin typeface="Courier New" panose="02070309020205020404" pitchFamily="49" charset="0"/>
                <a:cs typeface="Courier New" panose="02070309020205020404" pitchFamily="49" charset="0"/>
              </a:rPr>
              <a:t>overload</a:t>
            </a:r>
          </a:p>
          <a:p>
            <a:r>
              <a:rPr lang="en-US" sz="1050" dirty="0">
                <a:solidFill>
                  <a:schemeClr val="bg1"/>
                </a:solidFill>
                <a:latin typeface="Courier New" panose="02070309020205020404" pitchFamily="49" charset="0"/>
                <a:cs typeface="Courier New" panose="02070309020205020404" pitchFamily="49" charset="0"/>
              </a:rPr>
              <a:t>R2(config)# interface serial0/1/0</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dirty="0" err="1">
                <a:solidFill>
                  <a:schemeClr val="bg1"/>
                </a:solidFill>
                <a:latin typeface="Courier New" panose="02070309020205020404" pitchFamily="49" charset="0"/>
                <a:cs typeface="Courier New" panose="02070309020205020404" pitchFamily="49" charset="0"/>
              </a:rPr>
              <a:t>ip</a:t>
            </a:r>
            <a:r>
              <a:rPr lang="en-US" sz="1050" dirty="0">
                <a:solidFill>
                  <a:schemeClr val="bg1"/>
                </a:solidFill>
                <a:latin typeface="Courier New" panose="02070309020205020404" pitchFamily="49" charset="0"/>
                <a:cs typeface="Courier New" panose="02070309020205020404" pitchFamily="49" charset="0"/>
              </a:rPr>
              <a:t> </a:t>
            </a:r>
            <a:r>
              <a:rPr lang="en-US" sz="1050" dirty="0" err="1">
                <a:solidFill>
                  <a:schemeClr val="bg1"/>
                </a:solidFill>
                <a:latin typeface="Courier New" panose="02070309020205020404" pitchFamily="49" charset="0"/>
                <a:cs typeface="Courier New" panose="02070309020205020404" pitchFamily="49" charset="0"/>
              </a:rPr>
              <a:t>nat</a:t>
            </a:r>
            <a:r>
              <a:rPr lang="en-US" sz="1050" dirty="0">
                <a:solidFill>
                  <a:schemeClr val="bg1"/>
                </a:solidFill>
                <a:latin typeface="Courier New" panose="02070309020205020404" pitchFamily="49" charset="0"/>
                <a:cs typeface="Courier New" panose="02070309020205020404" pitchFamily="49" charset="0"/>
              </a:rPr>
              <a:t> inside</a:t>
            </a:r>
          </a:p>
          <a:p>
            <a:r>
              <a:rPr lang="en-US" sz="1050" dirty="0">
                <a:solidFill>
                  <a:schemeClr val="bg1"/>
                </a:solidFill>
                <a:latin typeface="Courier New" panose="02070309020205020404" pitchFamily="49" charset="0"/>
                <a:cs typeface="Courier New" panose="02070309020205020404" pitchFamily="49" charset="0"/>
              </a:rPr>
              <a:t>R2(config-if)# interface serial0/1/1</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dirty="0" err="1">
                <a:solidFill>
                  <a:schemeClr val="bg1"/>
                </a:solidFill>
                <a:latin typeface="Courier New" panose="02070309020205020404" pitchFamily="49" charset="0"/>
                <a:cs typeface="Courier New" panose="02070309020205020404" pitchFamily="49" charset="0"/>
              </a:rPr>
              <a:t>ip</a:t>
            </a:r>
            <a:r>
              <a:rPr lang="en-US" sz="1050" dirty="0">
                <a:solidFill>
                  <a:schemeClr val="bg1"/>
                </a:solidFill>
                <a:latin typeface="Courier New" panose="02070309020205020404" pitchFamily="49" charset="0"/>
                <a:cs typeface="Courier New" panose="02070309020205020404" pitchFamily="49" charset="0"/>
              </a:rPr>
              <a:t> </a:t>
            </a:r>
            <a:r>
              <a:rPr lang="en-US" sz="1050" dirty="0" err="1">
                <a:solidFill>
                  <a:schemeClr val="bg1"/>
                </a:solidFill>
                <a:latin typeface="Courier New" panose="02070309020205020404" pitchFamily="49" charset="0"/>
                <a:cs typeface="Courier New" panose="02070309020205020404" pitchFamily="49" charset="0"/>
              </a:rPr>
              <a:t>nat</a:t>
            </a:r>
            <a:r>
              <a:rPr lang="en-US" sz="1050" dirty="0">
                <a:solidFill>
                  <a:schemeClr val="bg1"/>
                </a:solidFill>
                <a:latin typeface="Courier New" panose="02070309020205020404" pitchFamily="49" charset="0"/>
                <a:cs typeface="Courier New" panose="02070309020205020404" pitchFamily="49" charset="0"/>
              </a:rPr>
              <a:t> outside</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47802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a:t>
            </a:r>
            <a:br>
              <a:rPr lang="en-US" dirty="0"/>
            </a:br>
            <a:r>
              <a:rPr lang="en-US" sz="2400" dirty="0"/>
              <a:t>Analyze PAT – Server to PC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855419"/>
            <a:ext cx="4235669" cy="3815706"/>
          </a:xfrm>
        </p:spPr>
        <p:txBody>
          <a:bodyPr/>
          <a:lstStyle/>
          <a:p>
            <a:pPr marL="342900" indent="-342900" algn="l">
              <a:buFont typeface="+mj-lt"/>
              <a:buAutoNum type="arabicPeriod"/>
            </a:pPr>
            <a:r>
              <a:rPr lang="en-US" sz="1600">
                <a:solidFill>
                  <a:srgbClr val="000000"/>
                </a:solidFill>
              </a:rPr>
              <a:t>PC1 and PC2 send packets to Svr1 and Svr2.</a:t>
            </a:r>
          </a:p>
          <a:p>
            <a:pPr marL="342900" indent="-342900" algn="l">
              <a:buFont typeface="+mj-lt"/>
              <a:buAutoNum type="arabicPeriod"/>
            </a:pPr>
            <a:r>
              <a:rPr lang="en-US" sz="1600">
                <a:solidFill>
                  <a:srgbClr val="000000"/>
                </a:solidFill>
              </a:rPr>
              <a:t>The packet from PC1 reaches R2 first. R2 modifies the source IPv4 address to 209.165.200.225 (inside global address). The packet is then forwarded towards Svr1.</a:t>
            </a:r>
          </a:p>
          <a:p>
            <a:pPr marL="342900" indent="-342900" algn="l">
              <a:buFont typeface="+mj-lt"/>
              <a:buAutoNum type="arabicPeriod"/>
            </a:pPr>
            <a:r>
              <a:rPr lang="en-US" sz="1600">
                <a:solidFill>
                  <a:srgbClr val="000000"/>
                </a:solidFill>
              </a:rPr>
              <a:t>The packet from PC2 arrives at R2. PAT changes the source IPv4 address of PC2 to the inside global address 209.165.200.225. PC2 has the same source port number as the translation for PC1. PAT increments the source port number until it is a unique value in its table. In this instance, 1445.</a:t>
            </a:r>
          </a:p>
        </p:txBody>
      </p:sp>
      <p:pic>
        <p:nvPicPr>
          <p:cNvPr id="2" name="Picture 1">
            <a:extLst>
              <a:ext uri="{FF2B5EF4-FFF2-40B4-BE49-F238E27FC236}">
                <a16:creationId xmlns:a16="http://schemas.microsoft.com/office/drawing/2014/main" id="{FFE8261F-EEFC-4354-95EA-D985E6FF03C4}"/>
              </a:ext>
            </a:extLst>
          </p:cNvPr>
          <p:cNvPicPr>
            <a:picLocks noChangeAspect="1"/>
          </p:cNvPicPr>
          <p:nvPr/>
        </p:nvPicPr>
        <p:blipFill>
          <a:blip r:embed="rId3"/>
          <a:stretch>
            <a:fillRect/>
          </a:stretch>
        </p:blipFill>
        <p:spPr>
          <a:xfrm>
            <a:off x="4761186" y="954060"/>
            <a:ext cx="3950843" cy="3717065"/>
          </a:xfrm>
          <a:prstGeom prst="rect">
            <a:avLst/>
          </a:prstGeom>
        </p:spPr>
      </p:pic>
      <p:sp>
        <p:nvSpPr>
          <p:cNvPr id="5" name="BlokTextu 4">
            <a:extLst>
              <a:ext uri="{FF2B5EF4-FFF2-40B4-BE49-F238E27FC236}">
                <a16:creationId xmlns:a16="http://schemas.microsoft.com/office/drawing/2014/main" id="{D6FCABF0-A4B2-3547-9EBF-505850DF7E32}"/>
              </a:ext>
            </a:extLst>
          </p:cNvPr>
          <p:cNvSpPr txBox="1"/>
          <p:nvPr/>
        </p:nvSpPr>
        <p:spPr>
          <a:xfrm>
            <a:off x="4761186" y="1812896"/>
            <a:ext cx="679994" cy="184666"/>
          </a:xfrm>
          <a:prstGeom prst="rect">
            <a:avLst/>
          </a:prstGeom>
          <a:solidFill>
            <a:schemeClr val="bg1"/>
          </a:solidFill>
        </p:spPr>
        <p:txBody>
          <a:bodyPr wrap="none" rtlCol="0">
            <a:spAutoFit/>
          </a:bodyPr>
          <a:lstStyle/>
          <a:p>
            <a:r>
              <a:rPr lang="sk-SK" sz="600" dirty="0"/>
              <a:t>192.168.10.11</a:t>
            </a:r>
          </a:p>
        </p:txBody>
      </p:sp>
    </p:spTree>
    <p:extLst>
      <p:ext uri="{BB962C8B-B14F-4D97-AF65-F5344CB8AC3E}">
        <p14:creationId xmlns:p14="http://schemas.microsoft.com/office/powerpoint/2010/main" val="334105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PAT</a:t>
            </a:r>
            <a:br>
              <a:rPr lang="en-US"/>
            </a:br>
            <a:r>
              <a:rPr lang="en-US" sz="2400"/>
              <a:t>Verify PAT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7913517" cy="1524809"/>
          </a:xfrm>
        </p:spPr>
        <p:txBody>
          <a:bodyPr/>
          <a:lstStyle/>
          <a:p>
            <a:pPr marL="0" indent="0" algn="l"/>
            <a:r>
              <a:rPr lang="en-US" sz="1600">
                <a:solidFill>
                  <a:srgbClr val="000000"/>
                </a:solidFill>
              </a:rPr>
              <a:t>The same commands used to verify static and dynamic NAT are used to verify PAT. The </a:t>
            </a:r>
            <a:r>
              <a:rPr lang="en-US" sz="1600" b="1">
                <a:solidFill>
                  <a:srgbClr val="000000"/>
                </a:solidFill>
              </a:rPr>
              <a:t>show ip nat translations</a:t>
            </a:r>
            <a:r>
              <a:rPr lang="en-US" sz="1600">
                <a:solidFill>
                  <a:srgbClr val="000000"/>
                </a:solidFill>
              </a:rPr>
              <a:t> command displays the translations from two different hosts to different web servers. Notice that two different inside hosts are allocated the same IPv4 address of 209.165.200.226 (inside global address). The source port numbers in the NAT table differentiate the two transactions.</a:t>
            </a:r>
          </a:p>
        </p:txBody>
      </p:sp>
      <p:sp>
        <p:nvSpPr>
          <p:cNvPr id="6" name="TextBox 5">
            <a:extLst>
              <a:ext uri="{FF2B5EF4-FFF2-40B4-BE49-F238E27FC236}">
                <a16:creationId xmlns:a16="http://schemas.microsoft.com/office/drawing/2014/main" id="{4542B632-CC48-439D-9988-47679C6115B5}"/>
              </a:ext>
            </a:extLst>
          </p:cNvPr>
          <p:cNvSpPr txBox="1"/>
          <p:nvPr/>
        </p:nvSpPr>
        <p:spPr>
          <a:xfrm>
            <a:off x="431971" y="2763272"/>
            <a:ext cx="8280058" cy="900246"/>
          </a:xfrm>
          <a:prstGeom prst="rect">
            <a:avLst/>
          </a:prstGeom>
          <a:solidFill>
            <a:srgbClr val="000000"/>
          </a:solidFill>
        </p:spPr>
        <p:txBody>
          <a:bodyPr wrap="square" rtlCol="0">
            <a:spAutoFit/>
          </a:bodyPr>
          <a:lstStyle/>
          <a:p>
            <a:r>
              <a:rPr lang="en-US" sz="1050">
                <a:solidFill>
                  <a:schemeClr val="bg1"/>
                </a:solidFill>
                <a:latin typeface="Courier New" panose="02070309020205020404" pitchFamily="49" charset="0"/>
                <a:cs typeface="Courier New" panose="02070309020205020404" pitchFamily="49" charset="0"/>
              </a:rPr>
              <a:t>R2# </a:t>
            </a:r>
            <a:r>
              <a:rPr lang="en-US" sz="1050" b="1">
                <a:solidFill>
                  <a:schemeClr val="bg1"/>
                </a:solidFill>
                <a:latin typeface="Courier New" panose="02070309020205020404" pitchFamily="49" charset="0"/>
                <a:cs typeface="Courier New" panose="02070309020205020404" pitchFamily="49" charset="0"/>
              </a:rPr>
              <a:t>show ip nat translations</a:t>
            </a:r>
          </a:p>
          <a:p>
            <a:r>
              <a:rPr lang="en-US" sz="1050">
                <a:solidFill>
                  <a:schemeClr val="bg1"/>
                </a:solidFill>
                <a:latin typeface="Courier New" panose="02070309020205020404" pitchFamily="49" charset="0"/>
                <a:cs typeface="Courier New" panose="02070309020205020404" pitchFamily="49" charset="0"/>
              </a:rPr>
              <a:t>Pro Inside global          Inside local         Outside local      Outside global</a:t>
            </a:r>
          </a:p>
          <a:p>
            <a:r>
              <a:rPr lang="en-US" sz="1050">
                <a:solidFill>
                  <a:schemeClr val="bg1"/>
                </a:solidFill>
                <a:latin typeface="Courier New" panose="02070309020205020404" pitchFamily="49" charset="0"/>
                <a:cs typeface="Courier New" panose="02070309020205020404" pitchFamily="49" charset="0"/>
              </a:rPr>
              <a:t>tcp </a:t>
            </a:r>
            <a:r>
              <a:rPr lang="en-US" sz="1050">
                <a:solidFill>
                  <a:schemeClr val="accent6">
                    <a:lumMod val="75000"/>
                  </a:schemeClr>
                </a:solidFill>
                <a:latin typeface="Courier New" panose="02070309020205020404" pitchFamily="49" charset="0"/>
                <a:cs typeface="Courier New" panose="02070309020205020404" pitchFamily="49" charset="0"/>
              </a:rPr>
              <a:t>209.165.200.225:1444</a:t>
            </a:r>
            <a:r>
              <a:rPr lang="en-US" sz="1050">
                <a:solidFill>
                  <a:schemeClr val="bg1"/>
                </a:solidFill>
                <a:latin typeface="Courier New" panose="02070309020205020404" pitchFamily="49" charset="0"/>
                <a:cs typeface="Courier New" panose="02070309020205020404" pitchFamily="49" charset="0"/>
              </a:rPr>
              <a:t>  192.168.10.10:1444  209.165.201.1:80   209.165.201.1:80</a:t>
            </a:r>
          </a:p>
          <a:p>
            <a:r>
              <a:rPr lang="en-US" sz="1050">
                <a:solidFill>
                  <a:schemeClr val="bg1"/>
                </a:solidFill>
                <a:latin typeface="Courier New" panose="02070309020205020404" pitchFamily="49" charset="0"/>
                <a:cs typeface="Courier New" panose="02070309020205020404" pitchFamily="49" charset="0"/>
              </a:rPr>
              <a:t>tcp </a:t>
            </a:r>
            <a:r>
              <a:rPr lang="en-US" sz="1050">
                <a:solidFill>
                  <a:schemeClr val="accent6">
                    <a:lumMod val="75000"/>
                  </a:schemeClr>
                </a:solidFill>
                <a:latin typeface="Courier New" panose="02070309020205020404" pitchFamily="49" charset="0"/>
                <a:cs typeface="Courier New" panose="02070309020205020404" pitchFamily="49" charset="0"/>
              </a:rPr>
              <a:t>209.165.200.225:1445</a:t>
            </a:r>
            <a:r>
              <a:rPr lang="en-US" sz="1050">
                <a:solidFill>
                  <a:schemeClr val="bg1"/>
                </a:solidFill>
                <a:latin typeface="Courier New" panose="02070309020205020404" pitchFamily="49" charset="0"/>
                <a:cs typeface="Courier New" panose="02070309020205020404" pitchFamily="49" charset="0"/>
              </a:rPr>
              <a:t>  192.168.11.10:1444  209.165.202.129:80 209.165.202.129:80</a:t>
            </a:r>
          </a:p>
          <a:p>
            <a:r>
              <a:rPr lang="en-US" sz="1050">
                <a:solidFill>
                  <a:schemeClr val="bg1"/>
                </a:solidFill>
                <a:latin typeface="Courier New" panose="02070309020205020404" pitchFamily="49" charset="0"/>
                <a:cs typeface="Courier New" panose="02070309020205020404" pitchFamily="49" charset="0"/>
              </a:rPr>
              <a:t>R2#</a:t>
            </a:r>
            <a:endParaRPr lang="en-US" sz="1050" b="1">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35267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PAT</a:t>
            </a:r>
            <a:br>
              <a:rPr lang="en-US"/>
            </a:br>
            <a:r>
              <a:rPr lang="en-US" sz="2400"/>
              <a:t>Verify PAT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10" y="593889"/>
            <a:ext cx="8166378" cy="993367"/>
          </a:xfrm>
        </p:spPr>
        <p:txBody>
          <a:bodyPr/>
          <a:lstStyle/>
          <a:p>
            <a:pPr marL="0" indent="0" algn="l"/>
            <a:r>
              <a:rPr lang="en-US" sz="1600">
                <a:solidFill>
                  <a:srgbClr val="000000"/>
                </a:solidFill>
              </a:rPr>
              <a:t>The </a:t>
            </a:r>
            <a:r>
              <a:rPr lang="en-US" sz="1600" b="1">
                <a:solidFill>
                  <a:srgbClr val="000000"/>
                </a:solidFill>
              </a:rPr>
              <a:t>show ip nat statistics</a:t>
            </a:r>
            <a:r>
              <a:rPr lang="en-US" sz="1600">
                <a:solidFill>
                  <a:srgbClr val="000000"/>
                </a:solidFill>
              </a:rPr>
              <a:t> command verifies that NAT-POOL2 has allocated a single address for both translations. Also shown are the number and type of active translations, NAT configuration parameters, the number of addresses in the pool, and how many have been allocated.</a:t>
            </a:r>
          </a:p>
        </p:txBody>
      </p:sp>
      <p:sp>
        <p:nvSpPr>
          <p:cNvPr id="6" name="TextBox 5">
            <a:extLst>
              <a:ext uri="{FF2B5EF4-FFF2-40B4-BE49-F238E27FC236}">
                <a16:creationId xmlns:a16="http://schemas.microsoft.com/office/drawing/2014/main" id="{4542B632-CC48-439D-9988-47679C6115B5}"/>
              </a:ext>
            </a:extLst>
          </p:cNvPr>
          <p:cNvSpPr txBox="1"/>
          <p:nvPr/>
        </p:nvSpPr>
        <p:spPr>
          <a:xfrm>
            <a:off x="431972" y="1656411"/>
            <a:ext cx="8280058" cy="3000821"/>
          </a:xfrm>
          <a:prstGeom prst="rect">
            <a:avLst/>
          </a:prstGeom>
          <a:solidFill>
            <a:srgbClr val="000000"/>
          </a:solidFill>
        </p:spPr>
        <p:txBody>
          <a:bodyPr wrap="square" rtlCol="0">
            <a:spAutoFit/>
          </a:bodyPr>
          <a:lstStyle/>
          <a:p>
            <a:r>
              <a:rPr lang="en-US" sz="1050">
                <a:solidFill>
                  <a:schemeClr val="bg1"/>
                </a:solidFill>
                <a:latin typeface="Courier New" panose="02070309020205020404" pitchFamily="49" charset="0"/>
                <a:cs typeface="Courier New" panose="02070309020205020404" pitchFamily="49" charset="0"/>
              </a:rPr>
              <a:t>R2# </a:t>
            </a:r>
            <a:r>
              <a:rPr lang="en-US" sz="1050" b="1">
                <a:solidFill>
                  <a:schemeClr val="bg1"/>
                </a:solidFill>
                <a:latin typeface="Courier New" panose="02070309020205020404" pitchFamily="49" charset="0"/>
                <a:cs typeface="Courier New" panose="02070309020205020404" pitchFamily="49" charset="0"/>
              </a:rPr>
              <a:t>show ip nat statistics </a:t>
            </a:r>
          </a:p>
          <a:p>
            <a:r>
              <a:rPr lang="en-US" sz="1050">
                <a:solidFill>
                  <a:schemeClr val="bg1"/>
                </a:solidFill>
                <a:latin typeface="Courier New" panose="02070309020205020404" pitchFamily="49" charset="0"/>
                <a:cs typeface="Courier New" panose="02070309020205020404" pitchFamily="49" charset="0"/>
              </a:rPr>
              <a:t>Total active translations: 4 (0 static, 2 dynamic; 2 extended)</a:t>
            </a:r>
          </a:p>
          <a:p>
            <a:r>
              <a:rPr lang="en-US" sz="1050">
                <a:solidFill>
                  <a:schemeClr val="bg1"/>
                </a:solidFill>
                <a:latin typeface="Courier New" panose="02070309020205020404" pitchFamily="49" charset="0"/>
                <a:cs typeface="Courier New" panose="02070309020205020404" pitchFamily="49" charset="0"/>
              </a:rPr>
              <a:t>Peak translations: 2, occurred 00:31:43 ago</a:t>
            </a:r>
          </a:p>
          <a:p>
            <a:r>
              <a:rPr lang="en-US" sz="1050">
                <a:solidFill>
                  <a:schemeClr val="bg1"/>
                </a:solidFill>
                <a:latin typeface="Courier New" panose="02070309020205020404" pitchFamily="49" charset="0"/>
                <a:cs typeface="Courier New" panose="02070309020205020404" pitchFamily="49" charset="0"/>
              </a:rPr>
              <a:t>Outside interfaces:</a:t>
            </a:r>
          </a:p>
          <a:p>
            <a:r>
              <a:rPr lang="en-US" sz="1050">
                <a:solidFill>
                  <a:schemeClr val="bg1"/>
                </a:solidFill>
                <a:latin typeface="Courier New" panose="02070309020205020404" pitchFamily="49" charset="0"/>
                <a:cs typeface="Courier New" panose="02070309020205020404" pitchFamily="49" charset="0"/>
              </a:rPr>
              <a:t>  Serial0/1/1</a:t>
            </a:r>
          </a:p>
          <a:p>
            <a:r>
              <a:rPr lang="en-US" sz="1050">
                <a:solidFill>
                  <a:schemeClr val="bg1"/>
                </a:solidFill>
                <a:latin typeface="Courier New" panose="02070309020205020404" pitchFamily="49" charset="0"/>
                <a:cs typeface="Courier New" panose="02070309020205020404" pitchFamily="49" charset="0"/>
              </a:rPr>
              <a:t>Inside interfaces: </a:t>
            </a:r>
          </a:p>
          <a:p>
            <a:r>
              <a:rPr lang="en-US" sz="1050">
                <a:solidFill>
                  <a:schemeClr val="bg1"/>
                </a:solidFill>
                <a:latin typeface="Courier New" panose="02070309020205020404" pitchFamily="49" charset="0"/>
                <a:cs typeface="Courier New" panose="02070309020205020404" pitchFamily="49" charset="0"/>
              </a:rPr>
              <a:t>  Serial0/1/0</a:t>
            </a:r>
          </a:p>
          <a:p>
            <a:r>
              <a:rPr lang="en-US" sz="1050">
                <a:solidFill>
                  <a:schemeClr val="bg1"/>
                </a:solidFill>
                <a:latin typeface="Courier New" panose="02070309020205020404" pitchFamily="49" charset="0"/>
                <a:cs typeface="Courier New" panose="02070309020205020404" pitchFamily="49" charset="0"/>
              </a:rPr>
              <a:t>Hits: 4  Misses: 0</a:t>
            </a:r>
          </a:p>
          <a:p>
            <a:r>
              <a:rPr lang="en-US" sz="1050">
                <a:solidFill>
                  <a:schemeClr val="bg1"/>
                </a:solidFill>
                <a:latin typeface="Courier New" panose="02070309020205020404" pitchFamily="49" charset="0"/>
                <a:cs typeface="Courier New" panose="02070309020205020404" pitchFamily="49" charset="0"/>
              </a:rPr>
              <a:t>CEF Translated packets: 47, CEF Punted packets: 0</a:t>
            </a:r>
          </a:p>
          <a:p>
            <a:r>
              <a:rPr lang="en-US" sz="1050">
                <a:solidFill>
                  <a:schemeClr val="bg1"/>
                </a:solidFill>
                <a:latin typeface="Courier New" panose="02070309020205020404" pitchFamily="49" charset="0"/>
                <a:cs typeface="Courier New" panose="02070309020205020404" pitchFamily="49" charset="0"/>
              </a:rPr>
              <a:t>Expired translations: 0</a:t>
            </a:r>
          </a:p>
          <a:p>
            <a:r>
              <a:rPr lang="en-US" sz="1050">
                <a:solidFill>
                  <a:schemeClr val="bg1"/>
                </a:solidFill>
                <a:latin typeface="Courier New" panose="02070309020205020404" pitchFamily="49" charset="0"/>
                <a:cs typeface="Courier New" panose="02070309020205020404" pitchFamily="49" charset="0"/>
              </a:rPr>
              <a:t>Dynamic mappings:</a:t>
            </a:r>
          </a:p>
          <a:p>
            <a:r>
              <a:rPr lang="en-US" sz="1050">
                <a:solidFill>
                  <a:schemeClr val="bg1"/>
                </a:solidFill>
                <a:latin typeface="Courier New" panose="02070309020205020404" pitchFamily="49" charset="0"/>
                <a:cs typeface="Courier New" panose="02070309020205020404" pitchFamily="49" charset="0"/>
              </a:rPr>
              <a:t>-- Inside Source</a:t>
            </a:r>
          </a:p>
          <a:p>
            <a:r>
              <a:rPr lang="en-US" sz="1050">
                <a:solidFill>
                  <a:schemeClr val="bg1"/>
                </a:solidFill>
                <a:latin typeface="Courier New" panose="02070309020205020404" pitchFamily="49" charset="0"/>
                <a:cs typeface="Courier New" panose="02070309020205020404" pitchFamily="49" charset="0"/>
              </a:rPr>
              <a:t>[Id: 3] access-list 1 pool NAT-POOL2 refcount 2</a:t>
            </a:r>
          </a:p>
          <a:p>
            <a:r>
              <a:rPr lang="en-US" sz="1050">
                <a:solidFill>
                  <a:schemeClr val="bg1"/>
                </a:solidFill>
                <a:latin typeface="Courier New" panose="02070309020205020404" pitchFamily="49" charset="0"/>
                <a:cs typeface="Courier New" panose="02070309020205020404" pitchFamily="49" charset="0"/>
              </a:rPr>
              <a:t> </a:t>
            </a:r>
            <a:r>
              <a:rPr lang="en-US" sz="1050">
                <a:solidFill>
                  <a:schemeClr val="accent6">
                    <a:lumMod val="75000"/>
                  </a:schemeClr>
                </a:solidFill>
                <a:latin typeface="Courier New" panose="02070309020205020404" pitchFamily="49" charset="0"/>
                <a:cs typeface="Courier New" panose="02070309020205020404" pitchFamily="49" charset="0"/>
              </a:rPr>
              <a:t>pool NAT-POOL2: netmask 255.255.255.224</a:t>
            </a:r>
          </a:p>
          <a:p>
            <a:r>
              <a:rPr lang="en-US" sz="1050">
                <a:solidFill>
                  <a:schemeClr val="accent6">
                    <a:lumMod val="75000"/>
                  </a:schemeClr>
                </a:solidFill>
                <a:latin typeface="Courier New" panose="02070309020205020404" pitchFamily="49" charset="0"/>
                <a:cs typeface="Courier New" panose="02070309020205020404" pitchFamily="49" charset="0"/>
              </a:rPr>
              <a:t>	start 209.165.200.225 end 209.165.200.240</a:t>
            </a:r>
          </a:p>
          <a:p>
            <a:r>
              <a:rPr lang="en-US" sz="1050">
                <a:solidFill>
                  <a:schemeClr val="accent6">
                    <a:lumMod val="75000"/>
                  </a:schemeClr>
                </a:solidFill>
                <a:latin typeface="Courier New" panose="02070309020205020404" pitchFamily="49" charset="0"/>
                <a:cs typeface="Courier New" panose="02070309020205020404" pitchFamily="49" charset="0"/>
              </a:rPr>
              <a:t>	type generic, total addresses 15, allocated 1 (6%), misses 0</a:t>
            </a:r>
          </a:p>
          <a:p>
            <a:r>
              <a:rPr lang="en-US" sz="1050">
                <a:solidFill>
                  <a:schemeClr val="bg1"/>
                </a:solidFill>
                <a:latin typeface="Courier New" panose="02070309020205020404" pitchFamily="49" charset="0"/>
                <a:cs typeface="Courier New" panose="02070309020205020404" pitchFamily="49" charset="0"/>
              </a:rPr>
              <a:t>(output omitted)</a:t>
            </a:r>
          </a:p>
          <a:p>
            <a:r>
              <a:rPr lang="en-US" sz="1050">
                <a:solidFill>
                  <a:schemeClr val="bg1"/>
                </a:solidFill>
                <a:latin typeface="Courier New" panose="02070309020205020404" pitchFamily="49" charset="0"/>
                <a:cs typeface="Courier New" panose="02070309020205020404" pitchFamily="49" charset="0"/>
              </a:rPr>
              <a:t>R2#</a:t>
            </a:r>
            <a:endParaRPr lang="en-US" sz="1050" b="1">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40749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a:solidFill>
                  <a:schemeClr val="accent5">
                    <a:lumMod val="40000"/>
                    <a:lumOff val="60000"/>
                  </a:schemeClr>
                </a:solidFill>
              </a:rPr>
              <a:t>6.7 NAT64</a:t>
            </a:r>
          </a:p>
        </p:txBody>
      </p:sp>
    </p:spTree>
    <p:custDataLst>
      <p:tags r:id="rId1"/>
    </p:custDataLst>
    <p:extLst>
      <p:ext uri="{BB962C8B-B14F-4D97-AF65-F5344CB8AC3E}">
        <p14:creationId xmlns:p14="http://schemas.microsoft.com/office/powerpoint/2010/main" val="991060594"/>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NAT64</a:t>
            </a:r>
            <a:br>
              <a:rPr lang="en-US"/>
            </a:br>
            <a:r>
              <a:rPr lang="en-US" sz="2400"/>
              <a:t>NAT for IPv6?</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007836" cy="2905876"/>
          </a:xfrm>
        </p:spPr>
        <p:txBody>
          <a:bodyPr/>
          <a:lstStyle/>
          <a:p>
            <a:pPr marL="0" indent="0" algn="l"/>
            <a:r>
              <a:rPr lang="en-US" sz="1600" dirty="0">
                <a:solidFill>
                  <a:srgbClr val="000000"/>
                </a:solidFill>
              </a:rPr>
              <a:t>IPv6 was developed with the intention of making NAT for IPv4 with translation between public and private IPv4 addresses unnecessary. </a:t>
            </a:r>
          </a:p>
          <a:p>
            <a:pPr marL="285750" indent="-285750" algn="l">
              <a:buFont typeface="Arial" panose="020B0604020202020204" pitchFamily="34" charset="0"/>
              <a:buChar char="•"/>
            </a:pPr>
            <a:r>
              <a:rPr lang="en-US" sz="1600" dirty="0">
                <a:solidFill>
                  <a:srgbClr val="000000"/>
                </a:solidFill>
              </a:rPr>
              <a:t>However, IPv6 does include its own IPv6 private address space, unique local addresses (ULAs).</a:t>
            </a:r>
          </a:p>
          <a:p>
            <a:pPr marL="285750" indent="-285750" algn="l">
              <a:buFont typeface="Arial" panose="020B0604020202020204" pitchFamily="34" charset="0"/>
              <a:buChar char="•"/>
            </a:pPr>
            <a:r>
              <a:rPr lang="en-US" sz="1600" dirty="0">
                <a:solidFill>
                  <a:srgbClr val="000000"/>
                </a:solidFill>
              </a:rPr>
              <a:t>IPv6 unique local addresses (ULA) are similar to RFC 1918 private addresses in IPv4 but have a different purpose. </a:t>
            </a:r>
          </a:p>
          <a:p>
            <a:pPr marL="285750" indent="-285750" algn="l">
              <a:buFont typeface="Arial" panose="020B0604020202020204" pitchFamily="34" charset="0"/>
              <a:buChar char="•"/>
            </a:pPr>
            <a:r>
              <a:rPr lang="en-US" sz="1600" dirty="0">
                <a:solidFill>
                  <a:srgbClr val="000000"/>
                </a:solidFill>
              </a:rPr>
              <a:t>ULA addresses are meant for only local communications within a site. ULA addresses are not meant to provide additional IPv6 address space, nor to provide a level of security.</a:t>
            </a:r>
          </a:p>
          <a:p>
            <a:pPr marL="285750" indent="-285750" algn="l">
              <a:buFont typeface="Arial" panose="020B0604020202020204" pitchFamily="34" charset="0"/>
              <a:buChar char="•"/>
            </a:pPr>
            <a:r>
              <a:rPr lang="en-US" sz="1600" b="1" dirty="0">
                <a:solidFill>
                  <a:srgbClr val="000000"/>
                </a:solidFill>
              </a:rPr>
              <a:t>IPv6 does provide for protocol translation between IPv4 and IPv6 known as NAT64</a:t>
            </a:r>
            <a:r>
              <a:rPr lang="en-US" sz="1600" dirty="0">
                <a:solidFill>
                  <a:srgbClr val="000000"/>
                </a:solidFill>
              </a:rPr>
              <a:t>.</a:t>
            </a:r>
          </a:p>
        </p:txBody>
      </p:sp>
    </p:spTree>
    <p:extLst>
      <p:ext uri="{BB962C8B-B14F-4D97-AF65-F5344CB8AC3E}">
        <p14:creationId xmlns:p14="http://schemas.microsoft.com/office/powerpoint/2010/main" val="1915781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NAT64</a:t>
            </a:r>
            <a:br>
              <a:rPr lang="en-US"/>
            </a:br>
            <a:r>
              <a:rPr lang="en-US" sz="2400"/>
              <a:t>NAT64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548415"/>
          </a:xfrm>
        </p:spPr>
        <p:txBody>
          <a:bodyPr/>
          <a:lstStyle/>
          <a:p>
            <a:pPr marL="285750" indent="-285750" algn="l">
              <a:buFont typeface="Arial" panose="020B0604020202020204" pitchFamily="34" charset="0"/>
              <a:buChar char="•"/>
            </a:pPr>
            <a:r>
              <a:rPr lang="en-US" sz="1600" dirty="0">
                <a:solidFill>
                  <a:srgbClr val="000000"/>
                </a:solidFill>
              </a:rPr>
              <a:t>NAT for IPv6 is used in a much different context than NAT for IPv4. </a:t>
            </a:r>
          </a:p>
          <a:p>
            <a:pPr marL="285750" indent="-285750" algn="l">
              <a:buFont typeface="Arial" panose="020B0604020202020204" pitchFamily="34" charset="0"/>
              <a:buChar char="•"/>
            </a:pPr>
            <a:r>
              <a:rPr lang="en-US" sz="1600" dirty="0">
                <a:solidFill>
                  <a:srgbClr val="000000"/>
                </a:solidFill>
              </a:rPr>
              <a:t>The varieties of NAT for IPv6 are used to transparently provide access between IPv6-only and IPv4-only networks, as shown. </a:t>
            </a:r>
            <a:r>
              <a:rPr lang="en-US" sz="1600" b="1" dirty="0">
                <a:solidFill>
                  <a:srgbClr val="000000"/>
                </a:solidFill>
              </a:rPr>
              <a:t>It is not used as a form of private IPv6 to global IPv6 translation.</a:t>
            </a:r>
          </a:p>
          <a:p>
            <a:pPr marL="285750" indent="-285750" algn="l">
              <a:buFont typeface="Arial" panose="020B0604020202020204" pitchFamily="34" charset="0"/>
              <a:buChar char="•"/>
            </a:pPr>
            <a:r>
              <a:rPr lang="en-US" sz="1600" dirty="0">
                <a:solidFill>
                  <a:srgbClr val="000000"/>
                </a:solidFill>
              </a:rPr>
              <a:t>NAT for IPv6 should not be used as a long-term strategy, but as a temporary mechanism to assist in the migration from IPv4 to IPv6. </a:t>
            </a:r>
          </a:p>
        </p:txBody>
      </p:sp>
      <p:pic>
        <p:nvPicPr>
          <p:cNvPr id="2" name="Picture 1">
            <a:extLst>
              <a:ext uri="{FF2B5EF4-FFF2-40B4-BE49-F238E27FC236}">
                <a16:creationId xmlns:a16="http://schemas.microsoft.com/office/drawing/2014/main" id="{1F20D9CC-F472-41F8-B2C2-BA1500CE2CD9}"/>
              </a:ext>
            </a:extLst>
          </p:cNvPr>
          <p:cNvPicPr>
            <a:picLocks noChangeAspect="1"/>
          </p:cNvPicPr>
          <p:nvPr/>
        </p:nvPicPr>
        <p:blipFill>
          <a:blip r:embed="rId3"/>
          <a:stretch>
            <a:fillRect/>
          </a:stretch>
        </p:blipFill>
        <p:spPr>
          <a:xfrm>
            <a:off x="4571506" y="1322825"/>
            <a:ext cx="4140523" cy="2497849"/>
          </a:xfrm>
          <a:prstGeom prst="rect">
            <a:avLst/>
          </a:prstGeom>
        </p:spPr>
      </p:pic>
    </p:spTree>
    <p:extLst>
      <p:ext uri="{BB962C8B-B14F-4D97-AF65-F5344CB8AC3E}">
        <p14:creationId xmlns:p14="http://schemas.microsoft.com/office/powerpoint/2010/main" val="20998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139</TotalTime>
  <Words>4738</Words>
  <Application>Microsoft Macintosh PowerPoint</Application>
  <PresentationFormat>Prezentácia na obrazovke (16:9)</PresentationFormat>
  <Paragraphs>526</Paragraphs>
  <Slides>45</Slides>
  <Notes>45</Notes>
  <HiddenSlides>0</HiddenSlides>
  <MMClips>0</MMClips>
  <ScaleCrop>false</ScaleCrop>
  <HeadingPairs>
    <vt:vector size="6" baseType="variant">
      <vt:variant>
        <vt:lpstr>Použité písma</vt:lpstr>
      </vt:variant>
      <vt:variant>
        <vt:i4>5</vt:i4>
      </vt:variant>
      <vt:variant>
        <vt:lpstr>Motív</vt:lpstr>
      </vt:variant>
      <vt:variant>
        <vt:i4>1</vt:i4>
      </vt:variant>
      <vt:variant>
        <vt:lpstr>Nadpisy snímok</vt:lpstr>
      </vt:variant>
      <vt:variant>
        <vt:i4>45</vt:i4>
      </vt:variant>
    </vt:vector>
  </HeadingPairs>
  <TitlesOfParts>
    <vt:vector size="51" baseType="lpstr">
      <vt:lpstr>Arial</vt:lpstr>
      <vt:lpstr>Calibri</vt:lpstr>
      <vt:lpstr>CiscoSans ExtraLight</vt:lpstr>
      <vt:lpstr>Courier New</vt:lpstr>
      <vt:lpstr>Wingdings</vt:lpstr>
      <vt:lpstr>Default Theme</vt:lpstr>
      <vt:lpstr>Module 6: NAT for IPv4</vt:lpstr>
      <vt:lpstr>Module Objectives</vt:lpstr>
      <vt:lpstr>6.1 NAT Characteristics</vt:lpstr>
      <vt:lpstr>NAT Characteristics IPv4 Address Space</vt:lpstr>
      <vt:lpstr>NAT Characteristics What is NAT</vt:lpstr>
      <vt:lpstr>NAT Characteristics How NAT Works</vt:lpstr>
      <vt:lpstr>NAT Characteristics NAT Terminology</vt:lpstr>
      <vt:lpstr>NAT Characteristics NAT Terminology (Cont.)</vt:lpstr>
      <vt:lpstr>6.2 Types of NAT</vt:lpstr>
      <vt:lpstr>Types of NAT Static NAT</vt:lpstr>
      <vt:lpstr>Types of NAT Dynamic NAT</vt:lpstr>
      <vt:lpstr>Types of NAT Port Address Translation</vt:lpstr>
      <vt:lpstr>Types of NAT Next Available Port</vt:lpstr>
      <vt:lpstr>Types of NAT NAT and PAT Comparison</vt:lpstr>
      <vt:lpstr>Types of NAT Packets without a Layer 4 Segment</vt:lpstr>
      <vt:lpstr>6.3 NAT Advantages and Disadvantages</vt:lpstr>
      <vt:lpstr>NAT Advantages and Disadvantages Advantages of NAT</vt:lpstr>
      <vt:lpstr>NAT Advantages and Disadvantages Disadvantages of NAT</vt:lpstr>
      <vt:lpstr>6.4 Static NAT</vt:lpstr>
      <vt:lpstr>Static NAT Static NAT Scenario</vt:lpstr>
      <vt:lpstr>Static NAT Configure Static NAT</vt:lpstr>
      <vt:lpstr>Static NAT Analyze Static NAT</vt:lpstr>
      <vt:lpstr>Static NAT Verify Static NAT</vt:lpstr>
      <vt:lpstr>Static NAT Verify Static NAT (Cont.)</vt:lpstr>
      <vt:lpstr>6.5 Dynamic NAT</vt:lpstr>
      <vt:lpstr>Static NAT Dynamic NAT Scenario</vt:lpstr>
      <vt:lpstr>Static NAT Configure Dynamic NAT</vt:lpstr>
      <vt:lpstr>Static NAT Analyze Dynamic NAT – Inside to Outside</vt:lpstr>
      <vt:lpstr>Static NAT Analyze Dynamic NAT – Outside to Inside</vt:lpstr>
      <vt:lpstr>Static NAT Analyze Dynamic NAT – Outside to Inside (Cont.)</vt:lpstr>
      <vt:lpstr>Static NAT Verify Dynamic NAT</vt:lpstr>
      <vt:lpstr>Static NAT Verify Dynamic NAT (Cont.)</vt:lpstr>
      <vt:lpstr>Static NAT Verify Dynamic NAT (Cont.)</vt:lpstr>
      <vt:lpstr>Static NAT Verify Dynamic NAT (Cont.)</vt:lpstr>
      <vt:lpstr>Static NAT Verify Dynamic NAT (Cont.)</vt:lpstr>
      <vt:lpstr>6.6 PAT</vt:lpstr>
      <vt:lpstr>PAT Configure PAT to Use a Single IPv4 Address</vt:lpstr>
      <vt:lpstr>PAT Configure PAT to Use an Address Pool</vt:lpstr>
      <vt:lpstr>PAT Analyze PAT – Server to PC</vt:lpstr>
      <vt:lpstr>PAT Verify PAT</vt:lpstr>
      <vt:lpstr>PAT Verify PAT (Cont.)</vt:lpstr>
      <vt:lpstr>6.7 NAT64</vt:lpstr>
      <vt:lpstr>NAT64 NAT for IPv6?</vt:lpstr>
      <vt:lpstr>NAT64 NAT64</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Július Baráth</cp:lastModifiedBy>
  <cp:revision>1</cp:revision>
  <dcterms:created xsi:type="dcterms:W3CDTF">2019-10-18T06:21:22Z</dcterms:created>
  <dcterms:modified xsi:type="dcterms:W3CDTF">2025-09-10T11:48:43Z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
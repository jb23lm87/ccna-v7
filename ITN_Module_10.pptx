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5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6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7.xml" ContentType="application/vnd.openxmlformats-officedocument.presentationml.tags+xml"/>
  <Override PartName="/ppt/notesSlides/notesSlide23.xml" ContentType="application/vnd.openxmlformats-officedocument.presentationml.notesSlide+xml"/>
  <Override PartName="/ppt/tags/tag8.xml" ContentType="application/vnd.openxmlformats-officedocument.presentationml.tags+xml"/>
  <Override PartName="/ppt/notesSlides/notesSlide24.xml" ContentType="application/vnd.openxmlformats-officedocument.presentationml.notesSlide+xml"/>
  <Override PartName="/ppt/tags/tag9.xml" ContentType="application/vnd.openxmlformats-officedocument.presentationml.tags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10.xml" ContentType="application/vnd.openxmlformats-officedocument.presentationml.tags+xml"/>
  <Override PartName="/ppt/notesSlides/notesSlide28.xml" ContentType="application/vnd.openxmlformats-officedocument.presentationml.notesSlide+xml"/>
  <Override PartName="/ppt/tags/tag11.xml" ContentType="application/vnd.openxmlformats-officedocument.presentationml.tags+xml"/>
  <Override PartName="/ppt/notesSlides/notesSlide29.xml" ContentType="application/vnd.openxmlformats-officedocument.presentationml.notesSlide+xml"/>
  <Override PartName="/ppt/tags/tag12.xml" ContentType="application/vnd.openxmlformats-officedocument.presentationml.tags+xml"/>
  <Override PartName="/ppt/notesSlides/notesSlide30.xml" ContentType="application/vnd.openxmlformats-officedocument.presentationml.notesSlide+xml"/>
  <Override PartName="/ppt/tags/tag13.xml" ContentType="application/vnd.openxmlformats-officedocument.presentationml.tags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33"/>
  </p:notesMasterIdLst>
  <p:sldIdLst>
    <p:sldId id="876" r:id="rId2"/>
    <p:sldId id="1090" r:id="rId3"/>
    <p:sldId id="759" r:id="rId4"/>
    <p:sldId id="1054" r:id="rId5"/>
    <p:sldId id="1091" r:id="rId6"/>
    <p:sldId id="1103" r:id="rId7"/>
    <p:sldId id="1056" r:id="rId8"/>
    <p:sldId id="1058" r:id="rId9"/>
    <p:sldId id="1092" r:id="rId10"/>
    <p:sldId id="1093" r:id="rId11"/>
    <p:sldId id="1094" r:id="rId12"/>
    <p:sldId id="1061" r:id="rId13"/>
    <p:sldId id="1095" r:id="rId14"/>
    <p:sldId id="1096" r:id="rId15"/>
    <p:sldId id="1097" r:id="rId16"/>
    <p:sldId id="1098" r:id="rId17"/>
    <p:sldId id="1099" r:id="rId18"/>
    <p:sldId id="1063" r:id="rId19"/>
    <p:sldId id="1064" r:id="rId20"/>
    <p:sldId id="1100" r:id="rId21"/>
    <p:sldId id="1104" r:id="rId22"/>
    <p:sldId id="1105" r:id="rId23"/>
    <p:sldId id="957" r:id="rId24"/>
    <p:sldId id="958" r:id="rId25"/>
    <p:sldId id="1102" r:id="rId26"/>
    <p:sldId id="1106" r:id="rId27"/>
    <p:sldId id="1107" r:id="rId28"/>
    <p:sldId id="1101" r:id="rId29"/>
    <p:sldId id="1089" r:id="rId30"/>
    <p:sldId id="874" r:id="rId31"/>
    <p:sldId id="291" r:id="rId32"/>
  </p:sldIdLst>
  <p:sldSz cx="9144000" cy="5143500" type="screen16x9"/>
  <p:notesSz cx="6858000" cy="9144000"/>
  <p:custDataLst>
    <p:tags r:id="rId34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336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Barbara Reif" initials="BR" lastIdx="3" clrIdx="0"/>
  <p:cmAuthor id="1" name="Jane Gibbons -X (jagibbon - DEL ORO CONSULTING INC at Cisco)" initials="JG-(-DOCIaC" lastIdx="28" clrIdx="1">
    <p:extLst>
      <p:ext uri="{19B8F6BF-5375-455C-9EA6-DF929625EA0E}">
        <p15:presenceInfo xmlns:p15="http://schemas.microsoft.com/office/powerpoint/2012/main" userId="S-1-5-21-1708537768-1303643608-725345543-200204" providerId="AD"/>
      </p:ext>
    </p:extLst>
  </p:cmAuthor>
  <p:cmAuthor id="2" name="Bob Vachon" initials="BV" lastIdx="24" clrIdx="2">
    <p:extLst>
      <p:ext uri="{19B8F6BF-5375-455C-9EA6-DF929625EA0E}">
        <p15:presenceInfo xmlns:p15="http://schemas.microsoft.com/office/powerpoint/2012/main" userId="c7abe87968a0b633" providerId="Windows Live"/>
      </p:ext>
    </p:extLst>
  </p:cmAuthor>
  <p:cmAuthor id="3" name="Sue Livingston -X (suliving - UNICON INC at Cisco)" initials="SL-(-UIaC" lastIdx="29" clrIdx="3">
    <p:extLst>
      <p:ext uri="{19B8F6BF-5375-455C-9EA6-DF929625EA0E}">
        <p15:presenceInfo xmlns:p15="http://schemas.microsoft.com/office/powerpoint/2012/main" userId="S::suliving@cisco.com::dc701d48-dd51-411a-9041-b7f1328f1486" providerId="AD"/>
      </p:ext>
    </p:extLst>
  </p:cmAuthor>
  <p:cmAuthor id="4" name="jagibbon" initials="jmg" lastIdx="8" clrIdx="4">
    <p:extLst>
      <p:ext uri="{19B8F6BF-5375-455C-9EA6-DF929625EA0E}">
        <p15:presenceInfo xmlns:p15="http://schemas.microsoft.com/office/powerpoint/2012/main" userId="jagibb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00CC"/>
    <a:srgbClr val="000099"/>
    <a:srgbClr val="CC99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70340" autoAdjust="0"/>
  </p:normalViewPr>
  <p:slideViewPr>
    <p:cSldViewPr snapToGrid="0" showGuides="1">
      <p:cViewPr varScale="1">
        <p:scale>
          <a:sx n="117" d="100"/>
          <a:sy n="117" d="100"/>
        </p:scale>
        <p:origin x="2024" y="176"/>
      </p:cViewPr>
      <p:guideLst>
        <p:guide orient="horz" pos="1620"/>
        <p:guide pos="336"/>
      </p:guideLst>
    </p:cSldViewPr>
  </p:slideViewPr>
  <p:outlineViewPr>
    <p:cViewPr>
      <p:scale>
        <a:sx n="33" d="100"/>
        <a:sy n="33" d="100"/>
      </p:scale>
      <p:origin x="0" y="-22670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1" d="100"/>
        <a:sy n="111" d="100"/>
      </p:scale>
      <p:origin x="0" y="-512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tags" Target="tags/tag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6337D9-3022-3D41-8D8A-BDF2F3B0DD8E}" type="datetimeFigureOut">
              <a:rPr lang="en-US" smtClean="0"/>
              <a:t>1/8/20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41018C-6CAF-B84E-B92C-ECB119457FB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564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/>
              <a:t>Cisco Networking Academy Program</a:t>
            </a:r>
          </a:p>
          <a:p>
            <a:pPr>
              <a:buFontTx/>
              <a:buNone/>
            </a:pPr>
            <a:r>
              <a:rPr lang="en-US" b="0" baseline="0" dirty="0"/>
              <a:t>Introduction to Networks v</a:t>
            </a:r>
            <a:r>
              <a:rPr lang="en-US" b="0" dirty="0"/>
              <a:t>7.0 (ITN)</a:t>
            </a:r>
          </a:p>
          <a:p>
            <a:r>
              <a:rPr lang="en-US" dirty="0"/>
              <a:t>Module 10: Basic Router Configuration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811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1"/>
          <p:cNvSpPr txBox="1">
            <a:spLocks noGrp="1" noChangeArrowheads="1"/>
          </p:cNvSpPr>
          <p:nvPr/>
        </p:nvSpPr>
        <p:spPr bwMode="auto">
          <a:xfrm>
            <a:off x="5929313" y="8680450"/>
            <a:ext cx="812800" cy="28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8819" tIns="0" rIns="18819" bIns="0" anchor="b"/>
          <a:lstStyle>
            <a:lvl1pPr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defTabSz="903288" eaLnBrk="0" hangingPunct="0"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903288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r"/>
            <a:fld id="{7C839C26-801B-42B6-A101-60F37FE2B0A8}" type="slidenum">
              <a:rPr lang="en-US" sz="800" b="0">
                <a:solidFill>
                  <a:prstClr val="black"/>
                </a:solidFill>
              </a:rPr>
              <a:pPr algn="r"/>
              <a:t>2</a:t>
            </a:fld>
            <a:endParaRPr lang="en-US" sz="800" b="0" dirty="0">
              <a:solidFill>
                <a:prstClr val="black"/>
              </a:solidFill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Tx/>
              <a:buNone/>
            </a:pPr>
            <a:r>
              <a:rPr lang="en-GB" dirty="0"/>
              <a:t>10 – Basic Router Configuration</a:t>
            </a:r>
          </a:p>
          <a:p>
            <a:pPr>
              <a:buFontTx/>
              <a:buNone/>
            </a:pPr>
            <a:r>
              <a:rPr lang="en-GB" dirty="0"/>
              <a:t>10.0.2- What will I learn in this module?</a:t>
            </a:r>
          </a:p>
          <a:p>
            <a:pPr>
              <a:buFontTx/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44456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10.1 Configure Initial Router Settings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296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10.1 – Configure Initial Router Settings</a:t>
            </a:r>
          </a:p>
          <a:p>
            <a:r>
              <a:rPr lang="en-US" dirty="0"/>
              <a:t>10.1.1 – Basic Routing Configuration Steps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312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10.1 – Configure Initial Router Settings</a:t>
            </a:r>
          </a:p>
          <a:p>
            <a:r>
              <a:rPr lang="en-US" dirty="0"/>
              <a:t>10.1.2 – Basic Routing Configuration Example</a:t>
            </a:r>
          </a:p>
          <a:p>
            <a:r>
              <a:rPr lang="en-US" dirty="0"/>
              <a:t>10.1.3 - Syntax Checker – Configure Initial Router Settings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6579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10.1 – Configure Initial Router Settings</a:t>
            </a:r>
          </a:p>
          <a:p>
            <a:r>
              <a:rPr lang="en-US" dirty="0"/>
              <a:t>10.1.4 – Packet Tracer – Configure Initial Router Settings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3041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Configure Interfaces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2910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10.2.1 – Configure Router Interfaces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0398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10.2.2 – Configure Router Interfaces Example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9030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10.2.2 – Configure Router Interfaces Example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1269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10.2.3 – Verify Interface Configuration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8833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0628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44293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569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7904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 (Cont.)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15794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10.2 – Configure Interfaces</a:t>
            </a:r>
          </a:p>
          <a:p>
            <a:r>
              <a:rPr lang="en-US" dirty="0"/>
              <a:t>10.2.4 – Configuration Verification Commands (Cont.)</a:t>
            </a:r>
          </a:p>
          <a:p>
            <a:r>
              <a:rPr lang="en-US" dirty="0"/>
              <a:t>10.2.5 Syntax Checker – Configure Interfaces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0744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10.3 Configure the Default Gateway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77554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10.3 – Configure the Default Gateway</a:t>
            </a:r>
          </a:p>
          <a:p>
            <a:r>
              <a:rPr lang="en-US" dirty="0"/>
              <a:t>10.3.1 – Default Gateway on a Host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557088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10.3 – Configure the Default Gateway</a:t>
            </a:r>
          </a:p>
          <a:p>
            <a:r>
              <a:rPr lang="en-US" dirty="0"/>
              <a:t>10.3.2 – Default Gateway on a Switch</a:t>
            </a:r>
          </a:p>
          <a:p>
            <a:r>
              <a:rPr lang="en-US" dirty="0"/>
              <a:t>10.3.3 – Syntax Checker – Configure the Default Gateway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3103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10.3– Configure the Default Gateway</a:t>
            </a:r>
          </a:p>
          <a:p>
            <a:r>
              <a:rPr lang="en-US" dirty="0"/>
              <a:t>10.3.4 – Packet Tracer – Connect a Router to a 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366494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10.3– Configure the Default Gateway</a:t>
            </a:r>
          </a:p>
          <a:p>
            <a:r>
              <a:rPr lang="en-US" dirty="0"/>
              <a:t>10.3.5 – Packet Tracer – Troubleshoot Default Gateway Issues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65198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10.4 Module Practice and Quiz</a:t>
            </a:r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714368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>
                <a:solidFill>
                  <a:prstClr val="black"/>
                </a:solidFill>
              </a:rPr>
              <a:pPr/>
              <a:t>24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10.4 – Module Practice and Quiz</a:t>
            </a:r>
          </a:p>
          <a:p>
            <a:r>
              <a:rPr lang="en-US" dirty="0"/>
              <a:t>10.4.1 – Video – Network Device Differences: Part 1</a:t>
            </a:r>
          </a:p>
        </p:txBody>
      </p:sp>
    </p:spTree>
    <p:extLst>
      <p:ext uri="{BB962C8B-B14F-4D97-AF65-F5344CB8AC3E}">
        <p14:creationId xmlns:p14="http://schemas.microsoft.com/office/powerpoint/2010/main" val="14768241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>
                <a:solidFill>
                  <a:prstClr val="black"/>
                </a:solidFill>
              </a:rPr>
              <a:pPr/>
              <a:t>25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10.4 – Module Practice and Quiz</a:t>
            </a:r>
          </a:p>
          <a:p>
            <a:r>
              <a:rPr lang="en-US" dirty="0"/>
              <a:t>10.4.2 – Video – Network Device Differences: Part 2</a:t>
            </a:r>
          </a:p>
        </p:txBody>
      </p:sp>
    </p:spTree>
    <p:extLst>
      <p:ext uri="{BB962C8B-B14F-4D97-AF65-F5344CB8AC3E}">
        <p14:creationId xmlns:p14="http://schemas.microsoft.com/office/powerpoint/2010/main" val="253370498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10.4– Configure the Default Gateway</a:t>
            </a:r>
          </a:p>
          <a:p>
            <a:r>
              <a:rPr lang="en-US" dirty="0"/>
              <a:t>10.4.3 – Packet Tracer – Basic Device Configuration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9733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10.4– Configure the Default Gateway</a:t>
            </a:r>
          </a:p>
          <a:p>
            <a:r>
              <a:rPr lang="en-US" dirty="0"/>
              <a:t>10.4.4 – Lab – Build a Switch and Router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2164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>
                <a:solidFill>
                  <a:prstClr val="black"/>
                </a:solidFill>
              </a:rPr>
              <a:pPr/>
              <a:t>28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10.4 – Module Practice and Quiz</a:t>
            </a:r>
          </a:p>
          <a:p>
            <a:r>
              <a:rPr lang="en-US" dirty="0"/>
              <a:t>10.4.5 – What did I learn in this module?</a:t>
            </a:r>
          </a:p>
        </p:txBody>
      </p:sp>
    </p:spTree>
    <p:extLst>
      <p:ext uri="{BB962C8B-B14F-4D97-AF65-F5344CB8AC3E}">
        <p14:creationId xmlns:p14="http://schemas.microsoft.com/office/powerpoint/2010/main" val="260616807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3997A419-355F-A04A-96E0-21643AF8E9FF}" type="slidenum">
              <a:rPr lang="en-US" sz="800">
                <a:solidFill>
                  <a:prstClr val="black"/>
                </a:solidFill>
              </a:rPr>
              <a:pPr/>
              <a:t>29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dirty="0"/>
              <a:t>10 – Basic Router Configuration</a:t>
            </a:r>
          </a:p>
          <a:p>
            <a:r>
              <a:rPr lang="en-US" dirty="0"/>
              <a:t>10.4 – Module Practice and Quiz</a:t>
            </a:r>
          </a:p>
          <a:p>
            <a:r>
              <a:rPr lang="en-US" dirty="0"/>
              <a:t>10.4.5 – What did I learn in this module (Cont.)?</a:t>
            </a:r>
          </a:p>
        </p:txBody>
      </p:sp>
    </p:spTree>
    <p:extLst>
      <p:ext uri="{BB962C8B-B14F-4D97-AF65-F5344CB8AC3E}">
        <p14:creationId xmlns:p14="http://schemas.microsoft.com/office/powerpoint/2010/main" val="27074346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03288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algn="ctr" defTabSz="903288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6C92755B-29FD-8743-9094-C0E3A734D22E}" type="slidenum">
              <a:rPr lang="en-US" sz="800">
                <a:solidFill>
                  <a:prstClr val="black"/>
                </a:solidFill>
              </a:rPr>
              <a:pPr/>
              <a:t>30</a:t>
            </a:fld>
            <a:endParaRPr lang="en-US" sz="800" dirty="0">
              <a:solidFill>
                <a:prstClr val="black"/>
              </a:solidFill>
            </a:endParaRPr>
          </a:p>
        </p:txBody>
      </p:sp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67429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1018C-6CAF-B84E-B92C-ECB119457FBA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394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0867255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1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1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rgbClr val="004C69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accent1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chemeClr val="accent1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042546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-animated gradi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Subtitle 2"/>
          <p:cNvSpPr>
            <a:spLocks noGrp="1"/>
          </p:cNvSpPr>
          <p:nvPr>
            <p:ph type="subTitle" idx="1"/>
          </p:nvPr>
        </p:nvSpPr>
        <p:spPr>
          <a:xfrm>
            <a:off x="469496" y="3809526"/>
            <a:ext cx="4319105" cy="288131"/>
          </a:xfrm>
          <a:prstGeom prst="rect">
            <a:avLst/>
          </a:prstGeom>
        </p:spPr>
        <p:txBody>
          <a:bodyPr lIns="91420" tIns="45710" rIns="91420" bIns="45710" anchor="b" anchorCtr="0">
            <a:noAutofit/>
          </a:bodyPr>
          <a:lstStyle>
            <a:lvl1pPr marL="0" indent="0" algn="l">
              <a:buNone/>
              <a:defRPr sz="1200" b="0" i="0">
                <a:solidFill>
                  <a:schemeClr val="accent5"/>
                </a:solidFill>
                <a:latin typeface="+mn-lt"/>
                <a:cs typeface="CiscoSans"/>
              </a:defRPr>
            </a:lvl1pPr>
            <a:lvl2pPr marL="3428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5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2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1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0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2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7" name="Text Placeholder 38"/>
          <p:cNvSpPr>
            <a:spLocks noGrp="1"/>
          </p:cNvSpPr>
          <p:nvPr>
            <p:ph type="body" sz="quarter" idx="11"/>
          </p:nvPr>
        </p:nvSpPr>
        <p:spPr>
          <a:xfrm>
            <a:off x="469496" y="4049523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0"/>
          <p:cNvSpPr>
            <a:spLocks noGrp="1"/>
          </p:cNvSpPr>
          <p:nvPr>
            <p:ph type="body" sz="quarter" idx="12"/>
          </p:nvPr>
        </p:nvSpPr>
        <p:spPr>
          <a:xfrm>
            <a:off x="469496" y="4289520"/>
            <a:ext cx="4319105" cy="28813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 algn="l">
              <a:buFontTx/>
              <a:buNone/>
              <a:defRPr lang="en-US" sz="1200" b="0" i="0" kern="1200" dirty="0" smtClean="0">
                <a:solidFill>
                  <a:schemeClr val="accent5"/>
                </a:solidFill>
                <a:latin typeface="+mn-lt"/>
                <a:ea typeface="+mn-ea"/>
                <a:cs typeface="CiscoSans ExtraLight" pitchFamily="34" charset="0"/>
              </a:defRPr>
            </a:lvl1pPr>
            <a:lvl2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buFontTx/>
              <a:buNone/>
              <a:defRPr lang="en-US" sz="15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492125" y="395288"/>
            <a:ext cx="796924" cy="423863"/>
            <a:chOff x="310" y="249"/>
            <a:chExt cx="502" cy="267"/>
          </a:xfrm>
          <a:solidFill>
            <a:schemeClr val="accent5"/>
          </a:solidFill>
        </p:grpSpPr>
        <p:sp>
          <p:nvSpPr>
            <p:cNvPr id="9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9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63292" y="2872236"/>
            <a:ext cx="5925246" cy="299001"/>
          </a:xfrm>
          <a:prstGeom prst="rect">
            <a:avLst/>
          </a:prstGeom>
        </p:spPr>
        <p:txBody>
          <a:bodyPr lIns="91420" tIns="45710" rIns="91420" bIns="45710"/>
          <a:lstStyle>
            <a:lvl1pPr marL="0" indent="0">
              <a:buFont typeface="Arial" panose="020B0604020202020204" pitchFamily="34" charset="0"/>
              <a:buNone/>
              <a:defRPr sz="2000" baseline="0">
                <a:solidFill>
                  <a:schemeClr val="bg2"/>
                </a:solidFill>
                <a:latin typeface="+mj-lt"/>
              </a:defRPr>
            </a:lvl1pPr>
            <a:lvl2pPr marL="304781" indent="0">
              <a:buNone/>
              <a:defRPr/>
            </a:lvl2pPr>
            <a:lvl3pPr marL="427401" indent="0">
              <a:buNone/>
              <a:defRPr/>
            </a:lvl3pPr>
            <a:lvl4pPr marL="516694" indent="0">
              <a:buNone/>
              <a:defRPr/>
            </a:lvl4pPr>
            <a:lvl5pPr marL="601221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itle 1"/>
          <p:cNvSpPr>
            <a:spLocks noGrp="1"/>
          </p:cNvSpPr>
          <p:nvPr>
            <p:ph type="ctrTitle"/>
          </p:nvPr>
        </p:nvSpPr>
        <p:spPr>
          <a:xfrm>
            <a:off x="425765" y="2300750"/>
            <a:ext cx="5955513" cy="644730"/>
          </a:xfrm>
          <a:prstGeom prst="rect">
            <a:avLst/>
          </a:prstGeom>
        </p:spPr>
        <p:txBody>
          <a:bodyPr anchor="b"/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3600" b="0" i="0" spc="0" baseline="0">
                <a:solidFill>
                  <a:srgbClr val="38C6F4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61784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orient="horz" pos="228" userDrawn="1">
          <p15:clr>
            <a:srgbClr val="FBAE40"/>
          </p15:clr>
        </p15:guide>
        <p15:guide id="2" pos="360" userDrawn="1">
          <p15:clr>
            <a:srgbClr val="FBAE40"/>
          </p15:clr>
        </p15:guide>
        <p15:guide id="3" orient="horz" pos="518" userDrawn="1">
          <p15:clr>
            <a:srgbClr val="FBAE40"/>
          </p15:clr>
        </p15:guide>
        <p15:guide id="4" pos="812" userDrawn="1">
          <p15:clr>
            <a:srgbClr val="FBAE40"/>
          </p15:clr>
        </p15:guide>
        <p15:guide id="5" pos="311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Seg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416425" y="915409"/>
            <a:ext cx="7598042" cy="2569946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buFont typeface="Arial" panose="020B0604020202020204" pitchFamily="34" charset="0"/>
              <a:buNone/>
              <a:defRPr sz="4600" b="0" i="0" spc="0" baseline="0">
                <a:solidFill>
                  <a:schemeClr val="accent5"/>
                </a:solidFill>
                <a:latin typeface="+mj-lt"/>
                <a:cs typeface="CiscoSans Thin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Rectangle 7"/>
          <p:cNvSpPr>
            <a:spLocks noChangeArrowheads="1"/>
          </p:cNvSpPr>
          <p:nvPr userDrawn="1"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5">
                  <a:lumMod val="50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9" name="Rectangle 4"/>
          <p:cNvSpPr>
            <a:spLocks noChangeArrowheads="1"/>
          </p:cNvSpPr>
          <p:nvPr userDrawn="1"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5">
                    <a:lumMod val="50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11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rgbClr val="086D8E"/>
          </a:solidFill>
        </p:grpSpPr>
        <p:sp>
          <p:nvSpPr>
            <p:cNvPr id="12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90854121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ulti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74662" y="1347788"/>
            <a:ext cx="8280057" cy="3073946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 b="0" i="0" baseline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Placeholder 5"/>
          <p:cNvSpPr>
            <a:spLocks noGrp="1"/>
          </p:cNvSpPr>
          <p:nvPr>
            <p:ph type="title"/>
          </p:nvPr>
        </p:nvSpPr>
        <p:spPr bwMode="auto">
          <a:xfrm>
            <a:off x="437766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296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9121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0" y="2552550"/>
            <a:ext cx="698624" cy="698624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FFFFFF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426607"/>
            <a:ext cx="698624" cy="698624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bg1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0" y="3653093"/>
            <a:ext cx="698624" cy="698624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solidFill>
                <a:srgbClr val="049FD9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365250" y="1432522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365250" y="25577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365250" y="3653093"/>
            <a:ext cx="5473700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0" y="2552550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1" y="3651140"/>
            <a:ext cx="698624" cy="693381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Text Placeholder 17"/>
          <p:cNvSpPr>
            <a:spLocks noGrp="1"/>
          </p:cNvSpPr>
          <p:nvPr>
            <p:ph type="body" sz="quarter" idx="19" hasCustomPrompt="1"/>
          </p:nvPr>
        </p:nvSpPr>
        <p:spPr>
          <a:xfrm>
            <a:off x="575610" y="1427248"/>
            <a:ext cx="698624" cy="693381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4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053872667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Oval 1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24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8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29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13" name="Oval 12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4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17" name="Oval 16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4000" dirty="0">
              <a:ln>
                <a:solidFill>
                  <a:schemeClr val="bg2"/>
                </a:solidFill>
              </a:ln>
              <a:solidFill>
                <a:schemeClr val="accent5"/>
              </a:solidFill>
              <a:cs typeface="Arial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5678748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2000" b="0" i="0" baseline="0">
                <a:solidFill>
                  <a:schemeClr val="accent1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20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62125011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ircled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4C6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2" name="Oval 41"/>
          <p:cNvSpPr/>
          <p:nvPr/>
        </p:nvSpPr>
        <p:spPr>
          <a:xfrm>
            <a:off x="575611" y="1979318"/>
            <a:ext cx="464815" cy="464815"/>
          </a:xfrm>
          <a:prstGeom prst="ellipse">
            <a:avLst/>
          </a:prstGeom>
          <a:solidFill>
            <a:srgbClr val="38C6F4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575610" y="1328927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rgbClr val="FFFFFF"/>
              </a:solidFill>
              <a:cs typeface="Arial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575611" y="2627446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45" name="Text Placeholder 17"/>
          <p:cNvSpPr>
            <a:spLocks noGrp="1"/>
          </p:cNvSpPr>
          <p:nvPr>
            <p:ph type="body" sz="quarter" idx="13"/>
          </p:nvPr>
        </p:nvSpPr>
        <p:spPr>
          <a:xfrm>
            <a:off x="1172384" y="133484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7"/>
          <p:cNvSpPr>
            <a:spLocks noGrp="1"/>
          </p:cNvSpPr>
          <p:nvPr>
            <p:ph type="body" sz="quarter" idx="14"/>
          </p:nvPr>
        </p:nvSpPr>
        <p:spPr>
          <a:xfrm>
            <a:off x="1172385" y="198456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7"/>
          <p:cNvSpPr>
            <a:spLocks noGrp="1"/>
          </p:cNvSpPr>
          <p:nvPr>
            <p:ph type="body" sz="quarter" idx="15"/>
          </p:nvPr>
        </p:nvSpPr>
        <p:spPr>
          <a:xfrm>
            <a:off x="1172385" y="262744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7"/>
          <p:cNvSpPr>
            <a:spLocks noGrp="1"/>
          </p:cNvSpPr>
          <p:nvPr>
            <p:ph type="body" sz="quarter" idx="16" hasCustomPrompt="1"/>
          </p:nvPr>
        </p:nvSpPr>
        <p:spPr>
          <a:xfrm>
            <a:off x="575611" y="1327521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49" name="Text Placeholder 17"/>
          <p:cNvSpPr>
            <a:spLocks noGrp="1"/>
          </p:cNvSpPr>
          <p:nvPr>
            <p:ph type="body" sz="quarter" idx="17" hasCustomPrompt="1"/>
          </p:nvPr>
        </p:nvSpPr>
        <p:spPr>
          <a:xfrm>
            <a:off x="575611" y="197931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2</a:t>
            </a:r>
          </a:p>
        </p:txBody>
      </p:sp>
      <p:sp>
        <p:nvSpPr>
          <p:cNvPr id="50" name="Text Placeholder 17"/>
          <p:cNvSpPr>
            <a:spLocks noGrp="1"/>
          </p:cNvSpPr>
          <p:nvPr>
            <p:ph type="body" sz="quarter" idx="18" hasCustomPrompt="1"/>
          </p:nvPr>
        </p:nvSpPr>
        <p:spPr>
          <a:xfrm>
            <a:off x="575612" y="262549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3</a:t>
            </a:r>
          </a:p>
        </p:txBody>
      </p:sp>
      <p:sp>
        <p:nvSpPr>
          <p:cNvPr id="51" name="Oval 50"/>
          <p:cNvSpPr/>
          <p:nvPr/>
        </p:nvSpPr>
        <p:spPr>
          <a:xfrm>
            <a:off x="575612" y="3274581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2" name="Text Placeholder 17"/>
          <p:cNvSpPr>
            <a:spLocks noGrp="1"/>
          </p:cNvSpPr>
          <p:nvPr>
            <p:ph type="body" sz="quarter" idx="19"/>
          </p:nvPr>
        </p:nvSpPr>
        <p:spPr>
          <a:xfrm>
            <a:off x="1172386" y="3274581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7"/>
          <p:cNvSpPr>
            <a:spLocks noGrp="1"/>
          </p:cNvSpPr>
          <p:nvPr>
            <p:ph type="body" sz="quarter" idx="20" hasCustomPrompt="1"/>
          </p:nvPr>
        </p:nvSpPr>
        <p:spPr>
          <a:xfrm>
            <a:off x="575613" y="3272628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4</a:t>
            </a:r>
          </a:p>
        </p:txBody>
      </p:sp>
      <p:sp>
        <p:nvSpPr>
          <p:cNvPr id="54" name="Oval 53"/>
          <p:cNvSpPr/>
          <p:nvPr/>
        </p:nvSpPr>
        <p:spPr>
          <a:xfrm>
            <a:off x="575613" y="3921716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5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172387" y="3921716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7"/>
          <p:cNvSpPr>
            <a:spLocks noGrp="1"/>
          </p:cNvSpPr>
          <p:nvPr>
            <p:ph type="body" sz="quarter" idx="22" hasCustomPrompt="1"/>
          </p:nvPr>
        </p:nvSpPr>
        <p:spPr>
          <a:xfrm>
            <a:off x="575614" y="3919763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5</a:t>
            </a:r>
          </a:p>
        </p:txBody>
      </p:sp>
      <p:sp>
        <p:nvSpPr>
          <p:cNvPr id="57" name="Oval 56"/>
          <p:cNvSpPr/>
          <p:nvPr/>
        </p:nvSpPr>
        <p:spPr>
          <a:xfrm>
            <a:off x="4414576" y="1983084"/>
            <a:ext cx="464815" cy="464815"/>
          </a:xfrm>
          <a:prstGeom prst="ellipse">
            <a:avLst/>
          </a:prstGeom>
          <a:solidFill>
            <a:schemeClr val="accent6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4414575" y="1332693"/>
            <a:ext cx="464815" cy="464815"/>
          </a:xfrm>
          <a:prstGeom prst="ellipse">
            <a:avLst/>
          </a:prstGeom>
          <a:solidFill>
            <a:srgbClr val="00394F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414576" y="2631212"/>
            <a:ext cx="464815" cy="464815"/>
          </a:xfrm>
          <a:prstGeom prst="ellipse">
            <a:avLst/>
          </a:prstGeom>
          <a:solidFill>
            <a:schemeClr val="accent5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0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011349" y="1338608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7"/>
          <p:cNvSpPr>
            <a:spLocks noGrp="1"/>
          </p:cNvSpPr>
          <p:nvPr>
            <p:ph type="body" sz="quarter" idx="24"/>
          </p:nvPr>
        </p:nvSpPr>
        <p:spPr>
          <a:xfrm>
            <a:off x="5011350" y="198832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7"/>
          <p:cNvSpPr>
            <a:spLocks noGrp="1"/>
          </p:cNvSpPr>
          <p:nvPr>
            <p:ph type="body" sz="quarter" idx="25"/>
          </p:nvPr>
        </p:nvSpPr>
        <p:spPr>
          <a:xfrm>
            <a:off x="5011350" y="263121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7"/>
          <p:cNvSpPr>
            <a:spLocks noGrp="1"/>
          </p:cNvSpPr>
          <p:nvPr>
            <p:ph type="body" sz="quarter" idx="26" hasCustomPrompt="1"/>
          </p:nvPr>
        </p:nvSpPr>
        <p:spPr>
          <a:xfrm>
            <a:off x="4414576" y="1331287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6</a:t>
            </a:r>
          </a:p>
        </p:txBody>
      </p:sp>
      <p:sp>
        <p:nvSpPr>
          <p:cNvPr id="64" name="Text Placeholder 17"/>
          <p:cNvSpPr>
            <a:spLocks noGrp="1"/>
          </p:cNvSpPr>
          <p:nvPr>
            <p:ph type="body" sz="quarter" idx="27" hasCustomPrompt="1"/>
          </p:nvPr>
        </p:nvSpPr>
        <p:spPr>
          <a:xfrm>
            <a:off x="4414576" y="198308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7</a:t>
            </a:r>
          </a:p>
        </p:txBody>
      </p:sp>
      <p:sp>
        <p:nvSpPr>
          <p:cNvPr id="65" name="Text Placeholder 17"/>
          <p:cNvSpPr>
            <a:spLocks noGrp="1"/>
          </p:cNvSpPr>
          <p:nvPr>
            <p:ph type="body" sz="quarter" idx="28" hasCustomPrompt="1"/>
          </p:nvPr>
        </p:nvSpPr>
        <p:spPr>
          <a:xfrm>
            <a:off x="4414577" y="262925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8</a:t>
            </a:r>
          </a:p>
        </p:txBody>
      </p:sp>
      <p:sp>
        <p:nvSpPr>
          <p:cNvPr id="66" name="Oval 65"/>
          <p:cNvSpPr/>
          <p:nvPr/>
        </p:nvSpPr>
        <p:spPr>
          <a:xfrm>
            <a:off x="4414577" y="3278347"/>
            <a:ext cx="464815" cy="464815"/>
          </a:xfrm>
          <a:prstGeom prst="ellipse">
            <a:avLst/>
          </a:prstGeom>
          <a:solidFill>
            <a:schemeClr val="bg2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67" name="Text Placeholder 17"/>
          <p:cNvSpPr>
            <a:spLocks noGrp="1"/>
          </p:cNvSpPr>
          <p:nvPr>
            <p:ph type="body" sz="quarter" idx="29"/>
          </p:nvPr>
        </p:nvSpPr>
        <p:spPr>
          <a:xfrm>
            <a:off x="5011351" y="3278347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7"/>
          <p:cNvSpPr>
            <a:spLocks noGrp="1"/>
          </p:cNvSpPr>
          <p:nvPr>
            <p:ph type="body" sz="quarter" idx="30" hasCustomPrompt="1"/>
          </p:nvPr>
        </p:nvSpPr>
        <p:spPr>
          <a:xfrm>
            <a:off x="4414578" y="3276394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9</a:t>
            </a:r>
          </a:p>
        </p:txBody>
      </p:sp>
      <p:sp>
        <p:nvSpPr>
          <p:cNvPr id="69" name="Oval 68"/>
          <p:cNvSpPr/>
          <p:nvPr/>
        </p:nvSpPr>
        <p:spPr>
          <a:xfrm>
            <a:off x="4414578" y="3925482"/>
            <a:ext cx="464815" cy="464815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" rtlCol="0" anchor="ctr" anchorCtr="0"/>
          <a:lstStyle/>
          <a:p>
            <a:pPr algn="ctr"/>
            <a:endParaRPr lang="en-US" sz="1800" dirty="0">
              <a:ln>
                <a:solidFill>
                  <a:schemeClr val="bg2"/>
                </a:solidFill>
              </a:ln>
              <a:solidFill>
                <a:schemeClr val="bg2"/>
              </a:solidFill>
              <a:cs typeface="Arial"/>
            </a:endParaRPr>
          </a:p>
        </p:txBody>
      </p:sp>
      <p:sp>
        <p:nvSpPr>
          <p:cNvPr id="70" name="Text Placeholder 17"/>
          <p:cNvSpPr>
            <a:spLocks noGrp="1"/>
          </p:cNvSpPr>
          <p:nvPr>
            <p:ph type="body" sz="quarter" idx="31"/>
          </p:nvPr>
        </p:nvSpPr>
        <p:spPr>
          <a:xfrm>
            <a:off x="5011352" y="3925482"/>
            <a:ext cx="2175886" cy="461327"/>
          </a:xfrm>
          <a:prstGeom prst="rect">
            <a:avLst/>
          </a:prstGeom>
        </p:spPr>
        <p:txBody>
          <a:bodyPr lIns="91420" tIns="45710" rIns="91420" bIns="45710" anchor="ctr" anchorCtr="0">
            <a:noAutofit/>
          </a:bodyPr>
          <a:lstStyle>
            <a:lvl1pPr marL="0" indent="0" algn="l">
              <a:buNone/>
              <a:defRPr sz="1800" b="0" i="0" baseline="0">
                <a:solidFill>
                  <a:srgbClr val="004C69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17"/>
          <p:cNvSpPr>
            <a:spLocks noGrp="1"/>
          </p:cNvSpPr>
          <p:nvPr>
            <p:ph type="body" sz="quarter" idx="32" hasCustomPrompt="1"/>
          </p:nvPr>
        </p:nvSpPr>
        <p:spPr>
          <a:xfrm>
            <a:off x="4414579" y="3923529"/>
            <a:ext cx="464815" cy="461327"/>
          </a:xfrm>
          <a:prstGeom prst="rect">
            <a:avLst/>
          </a:prstGeom>
          <a:noFill/>
          <a:ln>
            <a:noFill/>
          </a:ln>
        </p:spPr>
        <p:txBody>
          <a:bodyPr lIns="91420" tIns="45710" rIns="91420" bIns="45710" anchor="ctr" anchorCtr="0">
            <a:noAutofit/>
          </a:bodyPr>
          <a:lstStyle>
            <a:lvl1pPr marL="0" indent="0" algn="ctr">
              <a:buNone/>
              <a:defRPr sz="1800" b="0" i="0" baseline="0">
                <a:ln>
                  <a:solidFill>
                    <a:srgbClr val="FFFFFF"/>
                  </a:solidFill>
                </a:ln>
                <a:solidFill>
                  <a:srgbClr val="FFFFFF"/>
                </a:solidFill>
                <a:latin typeface="+mn-lt"/>
                <a:cs typeface="CiscoSans ExtraLight"/>
              </a:defRPr>
            </a:lvl1pPr>
            <a:lvl2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2pPr>
            <a:lvl3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3pPr>
            <a:lvl4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4pPr>
            <a:lvl5pPr>
              <a:defRPr b="0" i="0">
                <a:solidFill>
                  <a:srgbClr val="FFFFFF"/>
                </a:solidFill>
                <a:latin typeface="CiscoSans ExtraLight"/>
                <a:cs typeface="CiscoSans ExtraLight"/>
              </a:defRPr>
            </a:lvl5pPr>
          </a:lstStyle>
          <a:p>
            <a:pPr lvl="0"/>
            <a:r>
              <a:rPr lang="en-US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643099958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9143999" cy="5165874"/>
          </a:xfrm>
          <a:prstGeom prst="rect">
            <a:avLst/>
          </a:prstGeom>
        </p:spPr>
      </p:pic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884330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94F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5"/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7974899"/>
      </p:ext>
    </p:extLst>
  </p:cSld>
  <p:clrMapOvr>
    <a:masterClrMapping/>
  </p:clrMapOvr>
  <p:transition spd="slow">
    <p:wip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Closing Slide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>
            <a:grpSpLocks noChangeAspect="1"/>
          </p:cNvGrpSpPr>
          <p:nvPr userDrawn="1"/>
        </p:nvGrpSpPr>
        <p:grpSpPr bwMode="auto">
          <a:xfrm>
            <a:off x="3746294" y="2129856"/>
            <a:ext cx="1617944" cy="860542"/>
            <a:chOff x="310" y="249"/>
            <a:chExt cx="502" cy="267"/>
          </a:xfrm>
          <a:solidFill>
            <a:schemeClr val="accent1">
              <a:lumMod val="75000"/>
            </a:schemeClr>
          </a:solidFill>
        </p:grpSpPr>
        <p:sp>
          <p:nvSpPr>
            <p:cNvPr id="5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51544963"/>
      </p:ext>
    </p:extLst>
  </p:cSld>
  <p:clrMapOvr>
    <a:masterClrMapping/>
  </p:clrMapOvr>
  <p:transition spd="slow">
    <p:wip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6"/>
          <p:cNvSpPr>
            <a:spLocks noGrp="1"/>
          </p:cNvSpPr>
          <p:nvPr>
            <p:ph type="sldNum" sz="quarter" idx="4"/>
          </p:nvPr>
        </p:nvSpPr>
        <p:spPr>
          <a:xfrm>
            <a:off x="8473441" y="4954263"/>
            <a:ext cx="676910" cy="1892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25">
                <a:solidFill>
                  <a:schemeClr val="tx2"/>
                </a:solidFill>
              </a:defRPr>
            </a:lvl1pPr>
          </a:lstStyle>
          <a:p>
            <a:pPr defTabSz="385763">
              <a:defRPr/>
            </a:pPr>
            <a:fld id="{2F5CCB13-0A32-4557-88E9-079F0C330695}" type="slidenum">
              <a:rPr lang="en-US" kern="0" smtClean="0">
                <a:solidFill>
                  <a:srgbClr val="595959"/>
                </a:solidFill>
              </a:rPr>
              <a:pPr defTabSz="385763">
                <a:defRPr/>
              </a:pPr>
              <a:t>‹#›</a:t>
            </a:fld>
            <a:endParaRPr lang="en-US" kern="0" dirty="0">
              <a:solidFill>
                <a:srgbClr val="595959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idx="1"/>
          </p:nvPr>
        </p:nvSpPr>
        <p:spPr bwMode="auto">
          <a:xfrm>
            <a:off x="144065" y="798944"/>
            <a:ext cx="8853286" cy="4155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182880" bIns="45720" numCol="1" anchor="t" anchorCtr="0" compatLnSpc="1">
            <a:prstTxWarp prst="textNoShape">
              <a:avLst/>
            </a:prstTxWarp>
          </a:bodyPr>
          <a:lstStyle>
            <a:lvl1pPr marL="169863" indent="-169863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>
                <a:solidFill>
                  <a:srgbClr val="000000"/>
                </a:solidFill>
              </a:defRPr>
            </a:lvl4pPr>
          </a:lstStyle>
          <a:p>
            <a:pPr lvl="0"/>
            <a:r>
              <a:rPr lang="en-US">
                <a:sym typeface="Arial" pitchFamily="34" charset="0"/>
              </a:rPr>
              <a:t>Click to edit Master text styles</a:t>
            </a:r>
          </a:p>
          <a:p>
            <a:pPr lvl="1"/>
            <a:r>
              <a:rPr lang="en-US">
                <a:sym typeface="Arial" pitchFamily="34" charset="0"/>
              </a:rPr>
              <a:t>Second level</a:t>
            </a:r>
          </a:p>
          <a:p>
            <a:pPr lvl="2"/>
            <a:r>
              <a:rPr lang="en-US">
                <a:sym typeface="Arial" pitchFamily="34" charset="0"/>
              </a:rPr>
              <a:t>Third level</a:t>
            </a:r>
          </a:p>
          <a:p>
            <a:pPr lvl="3"/>
            <a:r>
              <a:rPr lang="en-US">
                <a:sym typeface="Arial" pitchFamily="34" charset="0"/>
              </a:rPr>
              <a:t>Fourth level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41393"/>
            <a:ext cx="9144000" cy="757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defRPr sz="2400"/>
            </a:lvl1pPr>
          </a:lstStyle>
          <a:p>
            <a:pPr lvl="0"/>
            <a:r>
              <a:rPr lang="en-US">
                <a:sym typeface="Arial" pitchFamily="34" charset="0"/>
              </a:rPr>
              <a:t>Click to edit Master title style</a:t>
            </a:r>
            <a:endParaRPr lang="en-US" dirty="0">
              <a:sym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996623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992501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5"/>
          <p:cNvSpPr>
            <a:spLocks noGrp="1"/>
          </p:cNvSpPr>
          <p:nvPr>
            <p:ph type="title"/>
          </p:nvPr>
        </p:nvSpPr>
        <p:spPr bwMode="auto">
          <a:xfrm>
            <a:off x="438150" y="341313"/>
            <a:ext cx="8345488" cy="731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4" tIns="45712" rIns="91424" bIns="4571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 dirty="0"/>
              <a:t>Title Goes Here</a:t>
            </a:r>
          </a:p>
        </p:txBody>
      </p:sp>
      <p:sp>
        <p:nvSpPr>
          <p:cNvPr id="12" name="Rectangle 7"/>
          <p:cNvSpPr>
            <a:spLocks noChangeArrowheads="1"/>
          </p:cNvSpPr>
          <p:nvPr/>
        </p:nvSpPr>
        <p:spPr bwMode="ltGray">
          <a:xfrm>
            <a:off x="8515707" y="4742907"/>
            <a:ext cx="218414" cy="15451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61586" tIns="30792" rIns="61586" bIns="30792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6A1E46DC-7EF6-4EA2-B285-14272867D133}" type="slidenum">
              <a:rPr lang="en-US" sz="60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600" dirty="0">
              <a:solidFill>
                <a:schemeClr val="accent3">
                  <a:lumMod val="85000"/>
                </a:schemeClr>
              </a:solidFill>
              <a:latin typeface="+mn-lt"/>
              <a:ea typeface="+mn-ea"/>
              <a:cs typeface="CiscoSans Thin"/>
            </a:endParaRPr>
          </a:p>
        </p:txBody>
      </p:sp>
      <p:sp>
        <p:nvSpPr>
          <p:cNvPr id="13" name="Rectangle 4"/>
          <p:cNvSpPr>
            <a:spLocks noChangeArrowheads="1"/>
          </p:cNvSpPr>
          <p:nvPr/>
        </p:nvSpPr>
        <p:spPr bwMode="ltGray">
          <a:xfrm>
            <a:off x="5867508" y="4741653"/>
            <a:ext cx="2658018" cy="1545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61586" tIns="30792" rIns="61586" bIns="30792" anchor="b">
            <a:spAutoFit/>
          </a:bodyPr>
          <a:lstStyle/>
          <a:p>
            <a:pPr defTabSz="610744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600" dirty="0">
                <a:solidFill>
                  <a:schemeClr val="accent3">
                    <a:lumMod val="85000"/>
                  </a:schemeClr>
                </a:solidFill>
                <a:latin typeface="+mn-lt"/>
                <a:ea typeface="+mn-ea"/>
                <a:cs typeface="CiscoSans Thin"/>
              </a:rPr>
              <a:t>© 2016  Cisco and/or its affiliates. All rights reserved.   Cisco Confidential</a:t>
            </a:r>
          </a:p>
        </p:txBody>
      </p:sp>
      <p:grpSp>
        <p:nvGrpSpPr>
          <p:cNvPr id="6" name="Group 4"/>
          <p:cNvGrpSpPr>
            <a:grpSpLocks noChangeAspect="1"/>
          </p:cNvGrpSpPr>
          <p:nvPr userDrawn="1"/>
        </p:nvGrpSpPr>
        <p:grpSpPr bwMode="auto">
          <a:xfrm>
            <a:off x="508039" y="4715197"/>
            <a:ext cx="340257" cy="180974"/>
            <a:chOff x="310" y="249"/>
            <a:chExt cx="502" cy="267"/>
          </a:xfrm>
          <a:solidFill>
            <a:schemeClr val="accent5"/>
          </a:solidFill>
        </p:grpSpPr>
        <p:sp>
          <p:nvSpPr>
            <p:cNvPr id="7" name="Rectangle 5"/>
            <p:cNvSpPr>
              <a:spLocks noChangeArrowheads="1"/>
            </p:cNvSpPr>
            <p:nvPr userDrawn="1"/>
          </p:nvSpPr>
          <p:spPr bwMode="auto">
            <a:xfrm>
              <a:off x="452" y="426"/>
              <a:ext cx="22" cy="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6"/>
            <p:cNvSpPr>
              <a:spLocks/>
            </p:cNvSpPr>
            <p:nvPr userDrawn="1"/>
          </p:nvSpPr>
          <p:spPr bwMode="auto">
            <a:xfrm>
              <a:off x="585" y="425"/>
              <a:ext cx="66" cy="91"/>
            </a:xfrm>
            <a:custGeom>
              <a:avLst/>
              <a:gdLst>
                <a:gd name="T0" fmla="*/ 51 w 51"/>
                <a:gd name="T1" fmla="*/ 20 h 69"/>
                <a:gd name="T2" fmla="*/ 37 w 51"/>
                <a:gd name="T3" fmla="*/ 16 h 69"/>
                <a:gd name="T4" fmla="*/ 18 w 51"/>
                <a:gd name="T5" fmla="*/ 34 h 69"/>
                <a:gd name="T6" fmla="*/ 37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7" y="16"/>
                  </a:cubicBezTo>
                  <a:cubicBezTo>
                    <a:pt x="26" y="16"/>
                    <a:pt x="18" y="24"/>
                    <a:pt x="18" y="34"/>
                  </a:cubicBezTo>
                  <a:cubicBezTo>
                    <a:pt x="18" y="44"/>
                    <a:pt x="25" y="52"/>
                    <a:pt x="37" y="52"/>
                  </a:cubicBezTo>
                  <a:cubicBezTo>
                    <a:pt x="45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355" y="425"/>
              <a:ext cx="67" cy="91"/>
            </a:xfrm>
            <a:custGeom>
              <a:avLst/>
              <a:gdLst>
                <a:gd name="T0" fmla="*/ 51 w 51"/>
                <a:gd name="T1" fmla="*/ 20 h 69"/>
                <a:gd name="T2" fmla="*/ 36 w 51"/>
                <a:gd name="T3" fmla="*/ 16 h 69"/>
                <a:gd name="T4" fmla="*/ 18 w 51"/>
                <a:gd name="T5" fmla="*/ 34 h 69"/>
                <a:gd name="T6" fmla="*/ 36 w 51"/>
                <a:gd name="T7" fmla="*/ 52 h 69"/>
                <a:gd name="T8" fmla="*/ 51 w 51"/>
                <a:gd name="T9" fmla="*/ 49 h 69"/>
                <a:gd name="T10" fmla="*/ 51 w 51"/>
                <a:gd name="T11" fmla="*/ 67 h 69"/>
                <a:gd name="T12" fmla="*/ 35 w 51"/>
                <a:gd name="T13" fmla="*/ 69 h 69"/>
                <a:gd name="T14" fmla="*/ 0 w 51"/>
                <a:gd name="T15" fmla="*/ 34 h 69"/>
                <a:gd name="T16" fmla="*/ 35 w 51"/>
                <a:gd name="T17" fmla="*/ 0 h 69"/>
                <a:gd name="T18" fmla="*/ 51 w 51"/>
                <a:gd name="T19" fmla="*/ 2 h 69"/>
                <a:gd name="T20" fmla="*/ 51 w 51"/>
                <a:gd name="T21" fmla="*/ 2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1" h="69">
                  <a:moveTo>
                    <a:pt x="51" y="20"/>
                  </a:moveTo>
                  <a:cubicBezTo>
                    <a:pt x="50" y="20"/>
                    <a:pt x="45" y="16"/>
                    <a:pt x="36" y="16"/>
                  </a:cubicBezTo>
                  <a:cubicBezTo>
                    <a:pt x="25" y="16"/>
                    <a:pt x="18" y="24"/>
                    <a:pt x="18" y="34"/>
                  </a:cubicBezTo>
                  <a:cubicBezTo>
                    <a:pt x="18" y="44"/>
                    <a:pt x="25" y="52"/>
                    <a:pt x="36" y="52"/>
                  </a:cubicBezTo>
                  <a:cubicBezTo>
                    <a:pt x="44" y="52"/>
                    <a:pt x="50" y="49"/>
                    <a:pt x="51" y="49"/>
                  </a:cubicBezTo>
                  <a:cubicBezTo>
                    <a:pt x="51" y="67"/>
                    <a:pt x="51" y="67"/>
                    <a:pt x="51" y="67"/>
                  </a:cubicBezTo>
                  <a:cubicBezTo>
                    <a:pt x="49" y="67"/>
                    <a:pt x="43" y="69"/>
                    <a:pt x="35" y="69"/>
                  </a:cubicBezTo>
                  <a:cubicBezTo>
                    <a:pt x="16" y="69"/>
                    <a:pt x="0" y="56"/>
                    <a:pt x="0" y="34"/>
                  </a:cubicBezTo>
                  <a:cubicBezTo>
                    <a:pt x="0" y="14"/>
                    <a:pt x="15" y="0"/>
                    <a:pt x="35" y="0"/>
                  </a:cubicBezTo>
                  <a:cubicBezTo>
                    <a:pt x="43" y="0"/>
                    <a:pt x="49" y="2"/>
                    <a:pt x="51" y="2"/>
                  </a:cubicBezTo>
                  <a:lnTo>
                    <a:pt x="51" y="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 noEditPoints="1"/>
            </p:cNvSpPr>
            <p:nvPr userDrawn="1"/>
          </p:nvSpPr>
          <p:spPr bwMode="auto">
            <a:xfrm>
              <a:off x="675" y="425"/>
              <a:ext cx="91" cy="91"/>
            </a:xfrm>
            <a:custGeom>
              <a:avLst/>
              <a:gdLst>
                <a:gd name="T0" fmla="*/ 70 w 70"/>
                <a:gd name="T1" fmla="*/ 34 h 69"/>
                <a:gd name="T2" fmla="*/ 35 w 70"/>
                <a:gd name="T3" fmla="*/ 69 h 69"/>
                <a:gd name="T4" fmla="*/ 0 w 70"/>
                <a:gd name="T5" fmla="*/ 34 h 69"/>
                <a:gd name="T6" fmla="*/ 35 w 70"/>
                <a:gd name="T7" fmla="*/ 0 h 69"/>
                <a:gd name="T8" fmla="*/ 70 w 70"/>
                <a:gd name="T9" fmla="*/ 34 h 69"/>
                <a:gd name="T10" fmla="*/ 35 w 70"/>
                <a:gd name="T11" fmla="*/ 17 h 69"/>
                <a:gd name="T12" fmla="*/ 18 w 70"/>
                <a:gd name="T13" fmla="*/ 34 h 69"/>
                <a:gd name="T14" fmla="*/ 35 w 70"/>
                <a:gd name="T15" fmla="*/ 52 h 69"/>
                <a:gd name="T16" fmla="*/ 52 w 70"/>
                <a:gd name="T17" fmla="*/ 34 h 69"/>
                <a:gd name="T18" fmla="*/ 35 w 70"/>
                <a:gd name="T19" fmla="*/ 17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0" h="69">
                  <a:moveTo>
                    <a:pt x="70" y="34"/>
                  </a:moveTo>
                  <a:cubicBezTo>
                    <a:pt x="70" y="53"/>
                    <a:pt x="56" y="69"/>
                    <a:pt x="35" y="69"/>
                  </a:cubicBezTo>
                  <a:cubicBezTo>
                    <a:pt x="14" y="69"/>
                    <a:pt x="0" y="53"/>
                    <a:pt x="0" y="34"/>
                  </a:cubicBezTo>
                  <a:cubicBezTo>
                    <a:pt x="0" y="15"/>
                    <a:pt x="14" y="0"/>
                    <a:pt x="35" y="0"/>
                  </a:cubicBezTo>
                  <a:cubicBezTo>
                    <a:pt x="56" y="0"/>
                    <a:pt x="70" y="15"/>
                    <a:pt x="70" y="34"/>
                  </a:cubicBezTo>
                  <a:close/>
                  <a:moveTo>
                    <a:pt x="35" y="17"/>
                  </a:moveTo>
                  <a:cubicBezTo>
                    <a:pt x="25" y="17"/>
                    <a:pt x="18" y="25"/>
                    <a:pt x="18" y="34"/>
                  </a:cubicBezTo>
                  <a:cubicBezTo>
                    <a:pt x="18" y="44"/>
                    <a:pt x="25" y="52"/>
                    <a:pt x="35" y="52"/>
                  </a:cubicBezTo>
                  <a:cubicBezTo>
                    <a:pt x="45" y="52"/>
                    <a:pt x="52" y="44"/>
                    <a:pt x="52" y="34"/>
                  </a:cubicBezTo>
                  <a:cubicBezTo>
                    <a:pt x="52" y="25"/>
                    <a:pt x="45" y="17"/>
                    <a:pt x="3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/>
            </p:cNvSpPr>
            <p:nvPr userDrawn="1"/>
          </p:nvSpPr>
          <p:spPr bwMode="auto">
            <a:xfrm>
              <a:off x="503" y="425"/>
              <a:ext cx="60" cy="91"/>
            </a:xfrm>
            <a:custGeom>
              <a:avLst/>
              <a:gdLst>
                <a:gd name="T0" fmla="*/ 42 w 46"/>
                <a:gd name="T1" fmla="*/ 16 h 69"/>
                <a:gd name="T2" fmla="*/ 29 w 46"/>
                <a:gd name="T3" fmla="*/ 14 h 69"/>
                <a:gd name="T4" fmla="*/ 18 w 46"/>
                <a:gd name="T5" fmla="*/ 20 h 69"/>
                <a:gd name="T6" fmla="*/ 26 w 46"/>
                <a:gd name="T7" fmla="*/ 26 h 69"/>
                <a:gd name="T8" fmla="*/ 30 w 46"/>
                <a:gd name="T9" fmla="*/ 27 h 69"/>
                <a:gd name="T10" fmla="*/ 46 w 46"/>
                <a:gd name="T11" fmla="*/ 47 h 69"/>
                <a:gd name="T12" fmla="*/ 19 w 46"/>
                <a:gd name="T13" fmla="*/ 69 h 69"/>
                <a:gd name="T14" fmla="*/ 1 w 46"/>
                <a:gd name="T15" fmla="*/ 67 h 69"/>
                <a:gd name="T16" fmla="*/ 1 w 46"/>
                <a:gd name="T17" fmla="*/ 52 h 69"/>
                <a:gd name="T18" fmla="*/ 16 w 46"/>
                <a:gd name="T19" fmla="*/ 54 h 69"/>
                <a:gd name="T20" fmla="*/ 29 w 46"/>
                <a:gd name="T21" fmla="*/ 48 h 69"/>
                <a:gd name="T22" fmla="*/ 21 w 46"/>
                <a:gd name="T23" fmla="*/ 41 h 69"/>
                <a:gd name="T24" fmla="*/ 18 w 46"/>
                <a:gd name="T25" fmla="*/ 40 h 69"/>
                <a:gd name="T26" fmla="*/ 0 w 46"/>
                <a:gd name="T27" fmla="*/ 21 h 69"/>
                <a:gd name="T28" fmla="*/ 25 w 46"/>
                <a:gd name="T29" fmla="*/ 0 h 69"/>
                <a:gd name="T30" fmla="*/ 42 w 46"/>
                <a:gd name="T31" fmla="*/ 2 h 69"/>
                <a:gd name="T32" fmla="*/ 42 w 46"/>
                <a:gd name="T33" fmla="*/ 1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46" h="69">
                  <a:moveTo>
                    <a:pt x="42" y="16"/>
                  </a:moveTo>
                  <a:cubicBezTo>
                    <a:pt x="41" y="16"/>
                    <a:pt x="34" y="14"/>
                    <a:pt x="29" y="14"/>
                  </a:cubicBezTo>
                  <a:cubicBezTo>
                    <a:pt x="22" y="14"/>
                    <a:pt x="18" y="16"/>
                    <a:pt x="18" y="20"/>
                  </a:cubicBezTo>
                  <a:cubicBezTo>
                    <a:pt x="18" y="24"/>
                    <a:pt x="23" y="25"/>
                    <a:pt x="26" y="26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41" y="31"/>
                    <a:pt x="46" y="38"/>
                    <a:pt x="46" y="47"/>
                  </a:cubicBezTo>
                  <a:cubicBezTo>
                    <a:pt x="46" y="63"/>
                    <a:pt x="32" y="69"/>
                    <a:pt x="19" y="69"/>
                  </a:cubicBezTo>
                  <a:cubicBezTo>
                    <a:pt x="10" y="69"/>
                    <a:pt x="1" y="67"/>
                    <a:pt x="1" y="67"/>
                  </a:cubicBezTo>
                  <a:cubicBezTo>
                    <a:pt x="1" y="52"/>
                    <a:pt x="1" y="52"/>
                    <a:pt x="1" y="52"/>
                  </a:cubicBezTo>
                  <a:cubicBezTo>
                    <a:pt x="2" y="52"/>
                    <a:pt x="9" y="54"/>
                    <a:pt x="16" y="54"/>
                  </a:cubicBezTo>
                  <a:cubicBezTo>
                    <a:pt x="25" y="54"/>
                    <a:pt x="29" y="52"/>
                    <a:pt x="29" y="48"/>
                  </a:cubicBezTo>
                  <a:cubicBezTo>
                    <a:pt x="29" y="45"/>
                    <a:pt x="25" y="43"/>
                    <a:pt x="21" y="41"/>
                  </a:cubicBezTo>
                  <a:cubicBezTo>
                    <a:pt x="20" y="41"/>
                    <a:pt x="19" y="41"/>
                    <a:pt x="18" y="40"/>
                  </a:cubicBezTo>
                  <a:cubicBezTo>
                    <a:pt x="8" y="37"/>
                    <a:pt x="0" y="32"/>
                    <a:pt x="0" y="21"/>
                  </a:cubicBezTo>
                  <a:cubicBezTo>
                    <a:pt x="0" y="8"/>
                    <a:pt x="10" y="0"/>
                    <a:pt x="25" y="0"/>
                  </a:cubicBezTo>
                  <a:cubicBezTo>
                    <a:pt x="34" y="0"/>
                    <a:pt x="41" y="2"/>
                    <a:pt x="42" y="2"/>
                  </a:cubicBezTo>
                  <a:lnTo>
                    <a:pt x="42" y="1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0"/>
            <p:cNvSpPr>
              <a:spLocks/>
            </p:cNvSpPr>
            <p:nvPr userDrawn="1"/>
          </p:nvSpPr>
          <p:spPr bwMode="auto">
            <a:xfrm>
              <a:off x="31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1"/>
            <p:cNvSpPr>
              <a:spLocks/>
            </p:cNvSpPr>
            <p:nvPr userDrawn="1"/>
          </p:nvSpPr>
          <p:spPr bwMode="auto">
            <a:xfrm>
              <a:off x="37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2"/>
            <p:cNvSpPr>
              <a:spLocks/>
            </p:cNvSpPr>
            <p:nvPr userDrawn="1"/>
          </p:nvSpPr>
          <p:spPr bwMode="auto">
            <a:xfrm>
              <a:off x="43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8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8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8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8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3"/>
            <p:cNvSpPr>
              <a:spLocks/>
            </p:cNvSpPr>
            <p:nvPr userDrawn="1"/>
          </p:nvSpPr>
          <p:spPr bwMode="auto">
            <a:xfrm>
              <a:off x="49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8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8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8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4"/>
            <p:cNvSpPr>
              <a:spLocks/>
            </p:cNvSpPr>
            <p:nvPr userDrawn="1"/>
          </p:nvSpPr>
          <p:spPr bwMode="auto">
            <a:xfrm>
              <a:off x="55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8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8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8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8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5"/>
            <p:cNvSpPr>
              <a:spLocks/>
            </p:cNvSpPr>
            <p:nvPr userDrawn="1"/>
          </p:nvSpPr>
          <p:spPr bwMode="auto">
            <a:xfrm>
              <a:off x="61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6"/>
            <p:cNvSpPr>
              <a:spLocks/>
            </p:cNvSpPr>
            <p:nvPr userDrawn="1"/>
          </p:nvSpPr>
          <p:spPr bwMode="auto">
            <a:xfrm>
              <a:off x="670" y="249"/>
              <a:ext cx="22" cy="139"/>
            </a:xfrm>
            <a:custGeom>
              <a:avLst/>
              <a:gdLst>
                <a:gd name="T0" fmla="*/ 17 w 17"/>
                <a:gd name="T1" fmla="*/ 8 h 106"/>
                <a:gd name="T2" fmla="*/ 9 w 17"/>
                <a:gd name="T3" fmla="*/ 0 h 106"/>
                <a:gd name="T4" fmla="*/ 0 w 17"/>
                <a:gd name="T5" fmla="*/ 8 h 106"/>
                <a:gd name="T6" fmla="*/ 0 w 17"/>
                <a:gd name="T7" fmla="*/ 97 h 106"/>
                <a:gd name="T8" fmla="*/ 9 w 17"/>
                <a:gd name="T9" fmla="*/ 106 h 106"/>
                <a:gd name="T10" fmla="*/ 17 w 17"/>
                <a:gd name="T11" fmla="*/ 97 h 106"/>
                <a:gd name="T12" fmla="*/ 17 w 17"/>
                <a:gd name="T13" fmla="*/ 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106">
                  <a:moveTo>
                    <a:pt x="17" y="8"/>
                  </a:moveTo>
                  <a:cubicBezTo>
                    <a:pt x="17" y="4"/>
                    <a:pt x="13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0" y="102"/>
                    <a:pt x="4" y="106"/>
                    <a:pt x="9" y="106"/>
                  </a:cubicBezTo>
                  <a:cubicBezTo>
                    <a:pt x="13" y="106"/>
                    <a:pt x="17" y="102"/>
                    <a:pt x="17" y="97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7"/>
            <p:cNvSpPr>
              <a:spLocks/>
            </p:cNvSpPr>
            <p:nvPr userDrawn="1"/>
          </p:nvSpPr>
          <p:spPr bwMode="auto">
            <a:xfrm>
              <a:off x="730" y="291"/>
              <a:ext cx="22" cy="75"/>
            </a:xfrm>
            <a:custGeom>
              <a:avLst/>
              <a:gdLst>
                <a:gd name="T0" fmla="*/ 17 w 17"/>
                <a:gd name="T1" fmla="*/ 8 h 57"/>
                <a:gd name="T2" fmla="*/ 9 w 17"/>
                <a:gd name="T3" fmla="*/ 0 h 57"/>
                <a:gd name="T4" fmla="*/ 0 w 17"/>
                <a:gd name="T5" fmla="*/ 8 h 57"/>
                <a:gd name="T6" fmla="*/ 0 w 17"/>
                <a:gd name="T7" fmla="*/ 49 h 57"/>
                <a:gd name="T8" fmla="*/ 9 w 17"/>
                <a:gd name="T9" fmla="*/ 57 h 57"/>
                <a:gd name="T10" fmla="*/ 17 w 17"/>
                <a:gd name="T11" fmla="*/ 49 h 57"/>
                <a:gd name="T12" fmla="*/ 17 w 17"/>
                <a:gd name="T13" fmla="*/ 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57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0" y="53"/>
                    <a:pt x="4" y="57"/>
                    <a:pt x="9" y="57"/>
                  </a:cubicBezTo>
                  <a:cubicBezTo>
                    <a:pt x="13" y="57"/>
                    <a:pt x="17" y="53"/>
                    <a:pt x="17" y="49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8"/>
            <p:cNvSpPr>
              <a:spLocks/>
            </p:cNvSpPr>
            <p:nvPr userDrawn="1"/>
          </p:nvSpPr>
          <p:spPr bwMode="auto">
            <a:xfrm>
              <a:off x="790" y="321"/>
              <a:ext cx="22" cy="45"/>
            </a:xfrm>
            <a:custGeom>
              <a:avLst/>
              <a:gdLst>
                <a:gd name="T0" fmla="*/ 17 w 17"/>
                <a:gd name="T1" fmla="*/ 8 h 34"/>
                <a:gd name="T2" fmla="*/ 9 w 17"/>
                <a:gd name="T3" fmla="*/ 0 h 34"/>
                <a:gd name="T4" fmla="*/ 0 w 17"/>
                <a:gd name="T5" fmla="*/ 8 h 34"/>
                <a:gd name="T6" fmla="*/ 0 w 17"/>
                <a:gd name="T7" fmla="*/ 26 h 34"/>
                <a:gd name="T8" fmla="*/ 9 w 17"/>
                <a:gd name="T9" fmla="*/ 34 h 34"/>
                <a:gd name="T10" fmla="*/ 17 w 17"/>
                <a:gd name="T11" fmla="*/ 26 h 34"/>
                <a:gd name="T12" fmla="*/ 17 w 17"/>
                <a:gd name="T13" fmla="*/ 8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7" h="34">
                  <a:moveTo>
                    <a:pt x="17" y="8"/>
                  </a:moveTo>
                  <a:cubicBezTo>
                    <a:pt x="17" y="3"/>
                    <a:pt x="13" y="0"/>
                    <a:pt x="9" y="0"/>
                  </a:cubicBezTo>
                  <a:cubicBezTo>
                    <a:pt x="4" y="0"/>
                    <a:pt x="0" y="3"/>
                    <a:pt x="0" y="8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0"/>
                    <a:pt x="4" y="34"/>
                    <a:pt x="9" y="34"/>
                  </a:cubicBezTo>
                  <a:cubicBezTo>
                    <a:pt x="13" y="34"/>
                    <a:pt x="17" y="30"/>
                    <a:pt x="17" y="26"/>
                  </a:cubicBezTo>
                  <a:lnTo>
                    <a:pt x="17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2" r:id="rId1"/>
    <p:sldLayoutId id="2147484013" r:id="rId2"/>
    <p:sldLayoutId id="2147484014" r:id="rId3"/>
    <p:sldLayoutId id="2147483965" r:id="rId4"/>
    <p:sldLayoutId id="2147483967" r:id="rId5"/>
    <p:sldLayoutId id="2147483995" r:id="rId6"/>
    <p:sldLayoutId id="2147484007" r:id="rId7"/>
    <p:sldLayoutId id="2147484010" r:id="rId8"/>
    <p:sldLayoutId id="2147484011" r:id="rId9"/>
    <p:sldLayoutId id="2147484015" r:id="rId10"/>
    <p:sldLayoutId id="2147483998" r:id="rId11"/>
    <p:sldLayoutId id="2147484027" r:id="rId12"/>
    <p:sldLayoutId id="2147484029" r:id="rId13"/>
    <p:sldLayoutId id="2147484031" r:id="rId14"/>
  </p:sldLayoutIdLst>
  <p:transition spd="slow">
    <p:wipe/>
  </p:transition>
  <p:txStyles>
    <p:titleStyle>
      <a:lvl1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lang="en-US" sz="3200" kern="1200" dirty="0">
          <a:solidFill>
            <a:schemeClr val="accent4"/>
          </a:solidFill>
          <a:latin typeface="+mj-lt"/>
          <a:ea typeface="ＭＳ Ｐゴシック" charset="0"/>
          <a:cs typeface="CiscoSans"/>
        </a:defRPr>
      </a:lvl1pPr>
      <a:lvl2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2pPr>
      <a:lvl3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3pPr>
      <a:lvl4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4pPr>
      <a:lvl5pPr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  <a:cs typeface="CiscoSans" pitchFamily="34" charset="0"/>
        </a:defRPr>
      </a:lvl5pPr>
      <a:lvl6pPr marL="4572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6pPr>
      <a:lvl7pPr marL="9144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7pPr>
      <a:lvl8pPr marL="13716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8pPr>
      <a:lvl9pPr marL="1828800" algn="l" defTabSz="684213" rtl="0" eaLnBrk="1" fontAlgn="base" hangingPunct="1">
        <a:lnSpc>
          <a:spcPct val="80000"/>
        </a:lnSpc>
        <a:spcBef>
          <a:spcPct val="0"/>
        </a:spcBef>
        <a:spcAft>
          <a:spcPct val="0"/>
        </a:spcAft>
        <a:defRPr sz="3200">
          <a:solidFill>
            <a:srgbClr val="676767"/>
          </a:solidFill>
          <a:latin typeface="Arial" charset="0"/>
          <a:ea typeface="ＭＳ Ｐゴシック" charset="0"/>
        </a:defRPr>
      </a:lvl9pPr>
    </p:titleStyle>
    <p:bodyStyle>
      <a:lvl1pPr marL="169863" indent="-169863" algn="l" defTabSz="684213" rtl="0" eaLnBrk="1" fontAlgn="base" hangingPunct="1">
        <a:lnSpc>
          <a:spcPct val="95000"/>
        </a:lnSpc>
        <a:spcBef>
          <a:spcPts val="1075"/>
        </a:spcBef>
        <a:spcAft>
          <a:spcPct val="0"/>
        </a:spcAft>
        <a:buClr>
          <a:schemeClr val="tx2"/>
        </a:buClr>
        <a:buSzPct val="90000"/>
        <a:buFont typeface="Arial" charset="0"/>
        <a:buChar char="•"/>
        <a:defRPr lang="en-US" sz="15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1pPr>
      <a:lvl2pPr marL="358775" indent="-215900" algn="l" defTabSz="684213" rtl="0" eaLnBrk="1" fontAlgn="base" hangingPunct="1">
        <a:lnSpc>
          <a:spcPct val="95000"/>
        </a:lnSpc>
        <a:spcBef>
          <a:spcPts val="600"/>
        </a:spcBef>
        <a:spcAft>
          <a:spcPct val="0"/>
        </a:spcAft>
        <a:buClr>
          <a:schemeClr val="tx2"/>
        </a:buClr>
        <a:buFont typeface="Arial" charset="0"/>
        <a:buChar char="•"/>
        <a:defRPr lang="en-US" sz="14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2pPr>
      <a:lvl3pPr marL="431800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2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3pPr>
      <a:lvl4pPr marL="503238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4pPr>
      <a:lvl5pPr marL="574675" indent="-169863" algn="l" defTabSz="684213" rtl="0" eaLnBrk="1" fontAlgn="base" hangingPunct="1">
        <a:lnSpc>
          <a:spcPct val="95000"/>
        </a:lnSpc>
        <a:spcBef>
          <a:spcPts val="625"/>
        </a:spcBef>
        <a:spcAft>
          <a:spcPct val="0"/>
        </a:spcAft>
        <a:buFont typeface="Arial" charset="0"/>
        <a:buChar char="•"/>
        <a:defRPr lang="en-US" sz="1100" kern="1200" dirty="0">
          <a:solidFill>
            <a:schemeClr val="tx1"/>
          </a:solidFill>
          <a:latin typeface="+mn-lt"/>
          <a:ea typeface="ＭＳ Ｐゴシック" charset="0"/>
          <a:cs typeface="CiscoSans"/>
        </a:defRPr>
      </a:lvl5pPr>
      <a:lvl6pPr marL="863856" indent="-171445" algn="l" defTabSz="685777" rtl="0" eaLnBrk="1" latinLnBrk="0" hangingPunct="1">
        <a:spcBef>
          <a:spcPts val="600"/>
        </a:spcBef>
        <a:buFont typeface="Arial" pitchFamily="34" charset="0"/>
        <a:buChar char="•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935844" indent="-171422" algn="l" defTabSz="685777" rtl="0" eaLnBrk="1" latinLnBrk="0" hangingPunct="1">
        <a:spcBef>
          <a:spcPts val="600"/>
        </a:spcBef>
        <a:buFont typeface="Arial" pitchFamily="34" charset="0"/>
        <a:buChar char="•"/>
        <a:defRPr sz="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400220" indent="0" algn="l" defTabSz="685777" rtl="0" eaLnBrk="1" latinLnBrk="0" hangingPunct="1">
        <a:spcBef>
          <a:spcPct val="20000"/>
        </a:spcBef>
        <a:buFont typeface="Arial" pitchFamily="34" charset="0"/>
        <a:buNone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53" indent="-171445" algn="l" defTabSz="685777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86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77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6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55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41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32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2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10" algn="l" defTabSz="685777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3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469497" y="3809526"/>
            <a:ext cx="2368954" cy="902174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Introduction to Networks v7.0 (ITN)</a:t>
            </a:r>
          </a:p>
          <a:p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469497" y="2316480"/>
            <a:ext cx="6672708" cy="1080143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Module 10: Basic Router Configuration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389863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3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Module Objectives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5758CB9-E7D6-4639-ACDC-3F86DC2D2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511" y="821755"/>
            <a:ext cx="8012573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Title: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Basic Router Configuration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lvl="0" defTabSz="914400" eaLnBrk="0" hangingPunct="0"/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Module Objective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altLang="en-US" sz="16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Implement initial settings on a router and end devices.</a:t>
            </a:r>
            <a:endParaRPr kumimoji="0" lang="en-US" altLang="en-US" sz="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974E1EB-2DBE-496F-B0B0-6C44227DA4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932762"/>
              </p:ext>
            </p:extLst>
          </p:nvPr>
        </p:nvGraphicFramePr>
        <p:xfrm>
          <a:off x="880345" y="2118939"/>
          <a:ext cx="6980904" cy="148622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90452">
                  <a:extLst>
                    <a:ext uri="{9D8B030D-6E8A-4147-A177-3AD203B41FA5}">
                      <a16:colId xmlns:a16="http://schemas.microsoft.com/office/drawing/2014/main" val="1523797708"/>
                    </a:ext>
                  </a:extLst>
                </a:gridCol>
                <a:gridCol w="3490452">
                  <a:extLst>
                    <a:ext uri="{9D8B030D-6E8A-4147-A177-3AD203B41FA5}">
                      <a16:colId xmlns:a16="http://schemas.microsoft.com/office/drawing/2014/main" val="2750207184"/>
                    </a:ext>
                  </a:extLst>
                </a:gridCol>
              </a:tblGrid>
              <a:tr h="216347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Title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Topic Objective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4061904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Configure Initial Router Settings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Configure initial settings on an IOS Cisco router.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46858405"/>
                  </a:ext>
                </a:extLst>
              </a:tr>
              <a:tr h="315930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Configure Interfaces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Configure two active interfaces on a Cisco IOS router.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35904258"/>
                  </a:ext>
                </a:extLst>
              </a:tr>
              <a:tr h="444151"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Configure the Default Gateway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Configure devices to use the default gateway.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737215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499389571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598042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10.1 Configure Initial Router Settings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09964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Initial Router Settings</a:t>
            </a:r>
            <a:br>
              <a:rPr lang="en-US" dirty="0"/>
            </a:br>
            <a:r>
              <a:rPr lang="en-US" sz="2400" dirty="0"/>
              <a:t>Basic Router Configuration Steps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367" y="855419"/>
            <a:ext cx="3265419" cy="3517076"/>
          </a:xfrm>
        </p:spPr>
        <p:txBody>
          <a:bodyPr/>
          <a:lstStyle/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Configure the device name.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Secure privileged EXEC mode.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Secure user EXEC mode.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Secure remote Telnet / SSH access.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Encrypt all plaintext passwords.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Provide legal notification and save the configuration.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C2C7B6-BFA0-4414-A9FD-310FB45A4012}"/>
              </a:ext>
            </a:extLst>
          </p:cNvPr>
          <p:cNvSpPr txBox="1"/>
          <p:nvPr/>
        </p:nvSpPr>
        <p:spPr>
          <a:xfrm>
            <a:off x="3798284" y="855419"/>
            <a:ext cx="4913744" cy="27699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hostname </a:t>
            </a:r>
            <a:r>
              <a:rPr lang="en-US" sz="12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8BC38-AC68-4E30-A757-4BD5691E2755}"/>
              </a:ext>
            </a:extLst>
          </p:cNvPr>
          <p:cNvSpPr txBox="1"/>
          <p:nvPr/>
        </p:nvSpPr>
        <p:spPr>
          <a:xfrm>
            <a:off x="3798284" y="1256000"/>
            <a:ext cx="4913744" cy="27699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 secret </a:t>
            </a:r>
            <a:r>
              <a:rPr lang="en-US" sz="12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C42215-AFFA-4B80-8518-0228983486B9}"/>
              </a:ext>
            </a:extLst>
          </p:cNvPr>
          <p:cNvSpPr txBox="1"/>
          <p:nvPr/>
        </p:nvSpPr>
        <p:spPr>
          <a:xfrm>
            <a:off x="3798284" y="1656581"/>
            <a:ext cx="4913744" cy="646331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console 0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password </a:t>
            </a:r>
            <a:r>
              <a:rPr lang="en-US" sz="12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login</a:t>
            </a:r>
            <a:endParaRPr lang="en-US" sz="1200" i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E2CA5BC-EB52-4F1C-9E7F-0082B26780ED}"/>
              </a:ext>
            </a:extLst>
          </p:cNvPr>
          <p:cNvSpPr txBox="1"/>
          <p:nvPr/>
        </p:nvSpPr>
        <p:spPr>
          <a:xfrm>
            <a:off x="3798284" y="2413242"/>
            <a:ext cx="4926349" cy="830997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vty 0 4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password </a:t>
            </a:r>
            <a:r>
              <a:rPr lang="en-US" sz="1200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login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Router(config-line)# transport input {ssh | telnet}</a:t>
            </a:r>
            <a:endParaRPr lang="en-US" sz="1200" i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17E84C-919C-4F49-B88F-D6C32C285E08}"/>
              </a:ext>
            </a:extLst>
          </p:cNvPr>
          <p:cNvSpPr txBox="1"/>
          <p:nvPr/>
        </p:nvSpPr>
        <p:spPr>
          <a:xfrm>
            <a:off x="3798284" y="3352472"/>
            <a:ext cx="4913744" cy="27699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 password encryption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CA1035-A981-4284-92B3-0FB302E7DAF6}"/>
              </a:ext>
            </a:extLst>
          </p:cNvPr>
          <p:cNvSpPr txBox="1"/>
          <p:nvPr/>
        </p:nvSpPr>
        <p:spPr>
          <a:xfrm>
            <a:off x="3798284" y="3737302"/>
            <a:ext cx="4913744" cy="646331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banner motd </a:t>
            </a:r>
            <a:r>
              <a:rPr lang="en-US" sz="1200" b="1" i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# message #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Router(config)# end</a:t>
            </a:r>
            <a:endParaRPr lang="en-US" sz="1200" i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Router# copy running-config startup-config</a:t>
            </a:r>
            <a:endParaRPr lang="en-US" sz="1200" i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1064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Initial Router Settings</a:t>
            </a:r>
            <a:br>
              <a:rPr lang="en-US" dirty="0"/>
            </a:br>
            <a:r>
              <a:rPr lang="en-US" sz="2400" dirty="0"/>
              <a:t>Basic Router Configuration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9"/>
            <a:ext cx="3135194" cy="611640"/>
          </a:xfrm>
        </p:spPr>
        <p:txBody>
          <a:bodyPr/>
          <a:lstStyle/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Commands for basic router configuration on R1.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500" dirty="0">
                <a:solidFill>
                  <a:srgbClr val="000000"/>
                </a:solidFill>
              </a:rPr>
              <a:t>Configuration is saved to NVRAM.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C2C7B6-BFA0-4414-A9FD-310FB45A4012}"/>
              </a:ext>
            </a:extLst>
          </p:cNvPr>
          <p:cNvSpPr txBox="1"/>
          <p:nvPr/>
        </p:nvSpPr>
        <p:spPr>
          <a:xfrm>
            <a:off x="3818374" y="855419"/>
            <a:ext cx="4893654" cy="3600986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hostname R1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enable secret class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console 0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 cisco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 vty 0 4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password cisco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login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transport input ssh telnet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R1(config-line)#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service password encryption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banner motd #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Enter TEXT message. End with a new line and the #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*********************************************** 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WARNING: Unauthorized access is prohibited!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**********************************************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r>
              <a:rPr lang="en-US" sz="12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12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copy running-config startup-config</a:t>
            </a:r>
          </a:p>
          <a:p>
            <a:endParaRPr lang="en-US" sz="12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3328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Initial Router Settings</a:t>
            </a:r>
            <a:br>
              <a:rPr lang="en-US" dirty="0"/>
            </a:br>
            <a:r>
              <a:rPr lang="en-US" sz="2400" dirty="0"/>
              <a:t>Packet Tracer – Configure Initial Router Settings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en-US" sz="1800" dirty="0">
                <a:solidFill>
                  <a:srgbClr val="000000"/>
                </a:solidFill>
              </a:rPr>
              <a:t>In this Packet Tracer, you will do the following: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Verify the default router configuration.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Configure and verify the initial router configuration.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Save the running configuration file.</a:t>
            </a:r>
          </a:p>
        </p:txBody>
      </p:sp>
    </p:spTree>
    <p:extLst>
      <p:ext uri="{BB962C8B-B14F-4D97-AF65-F5344CB8AC3E}">
        <p14:creationId xmlns:p14="http://schemas.microsoft.com/office/powerpoint/2010/main" val="1090195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10.2 Configure Interfaces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19359580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Router Interfaces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258" y="806335"/>
            <a:ext cx="8455461" cy="590204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Configuring a router interface includes issuing the following commands: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F3E17110-55CB-48EF-A414-A5E9B1617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2972" y="1571547"/>
            <a:ext cx="6578056" cy="1015663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Router(config)#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interface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type-and-number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description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description-text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 address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ipv4-address subnet-mask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ipv6 address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ipv6-address/prefix-length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Router(config-if)# </a:t>
            </a: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694B5632-F1A8-4FC1-AA4C-612027B45A69}"/>
              </a:ext>
            </a:extLst>
          </p:cNvPr>
          <p:cNvSpPr txBox="1">
            <a:spLocks/>
          </p:cNvSpPr>
          <p:nvPr/>
        </p:nvSpPr>
        <p:spPr>
          <a:xfrm>
            <a:off x="474661" y="2932333"/>
            <a:ext cx="8280057" cy="1175657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285690" marR="0" indent="-285690" algn="ctr" defTabSz="45710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000" b="0" i="0" kern="1200" baseline="0">
                <a:solidFill>
                  <a:schemeClr val="bg1"/>
                </a:solidFill>
                <a:latin typeface="+mn-lt"/>
                <a:ea typeface="ＭＳ Ｐゴシック" charset="0"/>
                <a:cs typeface="CiscoSans ExtraLight"/>
              </a:defRPr>
            </a:lvl1pPr>
            <a:lvl2pPr marL="358775" indent="-215900" algn="l" defTabSz="684213" rtl="0" eaLnBrk="1" fontAlgn="base" hangingPunct="1">
              <a:lnSpc>
                <a:spcPct val="95000"/>
              </a:lnSpc>
              <a:spcBef>
                <a:spcPts val="60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2pPr>
            <a:lvl3pPr marL="431800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2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3pPr>
            <a:lvl4pPr marL="503238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4pPr>
            <a:lvl5pPr marL="574675" indent="-169863" algn="l" defTabSz="684213" rtl="0" eaLnBrk="1" fontAlgn="base" hangingPunct="1">
              <a:lnSpc>
                <a:spcPct val="95000"/>
              </a:lnSpc>
              <a:spcBef>
                <a:spcPts val="625"/>
              </a:spcBef>
              <a:spcAft>
                <a:spcPct val="0"/>
              </a:spcAft>
              <a:buFont typeface="Arial" charset="0"/>
              <a:buChar char="•"/>
              <a:defRPr lang="en-US" sz="1100" kern="1200" dirty="0">
                <a:solidFill>
                  <a:schemeClr val="tx1"/>
                </a:solidFill>
                <a:latin typeface="+mn-lt"/>
                <a:ea typeface="ＭＳ Ｐゴシック" charset="0"/>
                <a:cs typeface="CiscoSans"/>
              </a:defRPr>
            </a:lvl5pPr>
            <a:lvl6pPr marL="863856" indent="-171445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9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935844" indent="-171422" algn="l" defTabSz="685777" rtl="0" eaLnBrk="1" latinLnBrk="0" hangingPunct="1">
              <a:spcBef>
                <a:spcPts val="600"/>
              </a:spcBef>
              <a:buFont typeface="Arial" pitchFamily="34" charset="0"/>
              <a:buChar char="•"/>
              <a:defRPr sz="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20" indent="0" algn="l" defTabSz="685777" rtl="0" eaLnBrk="1" latinLnBrk="0" hangingPunct="1">
              <a:spcBef>
                <a:spcPct val="20000"/>
              </a:spcBef>
              <a:buFont typeface="Arial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53" indent="-171445" algn="l" defTabSz="6857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It is a good practice to use the </a:t>
            </a:r>
            <a:r>
              <a:rPr lang="en-US" b="1" dirty="0">
                <a:solidFill>
                  <a:srgbClr val="000000"/>
                </a:solidFill>
              </a:rPr>
              <a:t>description</a:t>
            </a:r>
            <a:r>
              <a:rPr lang="en-US" dirty="0">
                <a:solidFill>
                  <a:srgbClr val="000000"/>
                </a:solidFill>
              </a:rPr>
              <a:t> command to add information about the network connected to the interface.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The </a:t>
            </a:r>
            <a:r>
              <a:rPr lang="en-US" b="1" dirty="0">
                <a:solidFill>
                  <a:srgbClr val="000000"/>
                </a:solidFill>
              </a:rPr>
              <a:t>no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b="1" dirty="0">
                <a:solidFill>
                  <a:srgbClr val="000000"/>
                </a:solidFill>
              </a:rPr>
              <a:t>shutdown </a:t>
            </a:r>
            <a:r>
              <a:rPr lang="en-US" dirty="0">
                <a:solidFill>
                  <a:srgbClr val="000000"/>
                </a:solidFill>
              </a:rPr>
              <a:t>command activates the interface.</a:t>
            </a:r>
          </a:p>
        </p:txBody>
      </p:sp>
    </p:spTree>
    <p:extLst>
      <p:ext uri="{BB962C8B-B14F-4D97-AF65-F5344CB8AC3E}">
        <p14:creationId xmlns:p14="http://schemas.microsoft.com/office/powerpoint/2010/main" val="2523690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Router Interfaces Example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7870825" cy="409279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The commands to configure interface G0/0/0 on R1 are shown here: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C10989-3D4F-45C9-BEEB-776028CA1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307" y="1338851"/>
            <a:ext cx="4998966" cy="15059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B97E3D-C6EF-4A93-B49A-A6755E6AE1C3}"/>
              </a:ext>
            </a:extLst>
          </p:cNvPr>
          <p:cNvSpPr txBox="1"/>
          <p:nvPr/>
        </p:nvSpPr>
        <p:spPr>
          <a:xfrm>
            <a:off x="958200" y="2930310"/>
            <a:ext cx="6903747" cy="1615827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gigabitEthernet 0/0/0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description Link to LAN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 address 192.168.10.1 255.255.255.0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ipv6 address 2001:db8:acad:10::1/64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01:43:53.435: %LINK-3-UPDOWN: Interface GigabitEthernet0/0/0, changed state to down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01:43:56.447: %LINK-3-UPDOWN: Interface GigabitEthernet0/0/0, changed state to up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01:43:57.447: %LINEPROTO-5-UPDOWN: Line protocol on Interface GigabitEthernet0/0/0, changed state to up</a:t>
            </a:r>
          </a:p>
        </p:txBody>
      </p:sp>
    </p:spTree>
    <p:extLst>
      <p:ext uri="{BB962C8B-B14F-4D97-AF65-F5344CB8AC3E}">
        <p14:creationId xmlns:p14="http://schemas.microsoft.com/office/powerpoint/2010/main" val="181678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Router Interfaces Example (Cont.)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7870825" cy="409279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The commands to configure interface G0/0/1 on R1 are shown here: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C10989-3D4F-45C9-BEEB-776028CA1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0307" y="1338851"/>
            <a:ext cx="4998966" cy="15059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7B97E3D-C6EF-4A93-B49A-A6755E6AE1C3}"/>
              </a:ext>
            </a:extLst>
          </p:cNvPr>
          <p:cNvSpPr txBox="1"/>
          <p:nvPr/>
        </p:nvSpPr>
        <p:spPr>
          <a:xfrm>
            <a:off x="958200" y="2930310"/>
            <a:ext cx="6903747" cy="1615827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gigabitEthernet 0/0/1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description Link to R2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 address 209.165.200.225 255.255.255.252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ipv6 address 2001:db8:feed:224::1/64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 shutdown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R1(config-if)#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R1(config)#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01:46:29.170: %LINK-3-UPDOWN: Interface GigabitEthernet0/0/1, changed state to down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01:46:32.171: %LINK-3-UPDOWN: Interface GigabitEthernet0/0/1, changed state to up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*Aug  1 01:46:33.171: %LINEPROTO-5-UPDOWN: Line protocol on Interface GigabitEthernet0/0/1, changed state to up</a:t>
            </a:r>
          </a:p>
        </p:txBody>
      </p:sp>
    </p:spTree>
    <p:extLst>
      <p:ext uri="{BB962C8B-B14F-4D97-AF65-F5344CB8AC3E}">
        <p14:creationId xmlns:p14="http://schemas.microsoft.com/office/powerpoint/2010/main" val="3827609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Verify Interface Configuration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E9E597-CDF1-0047-B112-C9FD7F790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662" y="844062"/>
            <a:ext cx="7870825" cy="884985"/>
          </a:xfrm>
        </p:spPr>
        <p:txBody>
          <a:bodyPr/>
          <a:lstStyle/>
          <a:p>
            <a:pPr marL="0" indent="0" algn="l"/>
            <a:r>
              <a:rPr lang="en-US" dirty="0">
                <a:solidFill>
                  <a:srgbClr val="000000"/>
                </a:solidFill>
              </a:rPr>
              <a:t>To verify interface configuration use the </a:t>
            </a:r>
            <a:r>
              <a:rPr lang="en-US" b="1" dirty="0">
                <a:solidFill>
                  <a:srgbClr val="000000"/>
                </a:solidFill>
              </a:rPr>
              <a:t>show ip interface brief </a:t>
            </a:r>
            <a:r>
              <a:rPr lang="en-US" dirty="0">
                <a:solidFill>
                  <a:srgbClr val="000000"/>
                </a:solidFill>
              </a:rPr>
              <a:t>and </a:t>
            </a:r>
            <a:r>
              <a:rPr lang="en-US" b="1" dirty="0">
                <a:solidFill>
                  <a:srgbClr val="000000"/>
                </a:solidFill>
              </a:rPr>
              <a:t>show ipv6 interface brief </a:t>
            </a:r>
            <a:r>
              <a:rPr lang="en-US" dirty="0">
                <a:solidFill>
                  <a:srgbClr val="000000"/>
                </a:solidFill>
              </a:rPr>
              <a:t>commands shown here: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FED6C1-89E0-4375-8477-F0EBA769203F}"/>
              </a:ext>
            </a:extLst>
          </p:cNvPr>
          <p:cNvSpPr txBox="1"/>
          <p:nvPr/>
        </p:nvSpPr>
        <p:spPr>
          <a:xfrm>
            <a:off x="2823587" y="55762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B97E3D-C6EF-4A93-B49A-A6755E6AE1C3}"/>
              </a:ext>
            </a:extLst>
          </p:cNvPr>
          <p:cNvSpPr txBox="1"/>
          <p:nvPr/>
        </p:nvSpPr>
        <p:spPr>
          <a:xfrm>
            <a:off x="1721391" y="1940923"/>
            <a:ext cx="5701218" cy="78483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interface brief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             IP-Address      OK? Method Status                Protocol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  192.168.10.1    YES manual up                    up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  209.165.200.225 YES manual up                    up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                 unassigned      YES unset  administratively down down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9205F4-B6F7-4CBB-9733-95EEED388FC7}"/>
              </a:ext>
            </a:extLst>
          </p:cNvPr>
          <p:cNvSpPr txBox="1"/>
          <p:nvPr/>
        </p:nvSpPr>
        <p:spPr>
          <a:xfrm>
            <a:off x="1721391" y="2907887"/>
            <a:ext cx="5701218" cy="1477328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ipv6 interface brief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      [up/up]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2001:DB8:ACAD:10::1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      [up/up]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FE80::201:C9FF:FE89:4502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2001:DB8:FEED:224::1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                     [administratively down/down]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unassigned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3025349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Verification Commands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8094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</a:rPr>
              <a:t>The table summarizes show commands used to verify interface configuration</a:t>
            </a:r>
            <a:r>
              <a:rPr lang="en-US" sz="1600" dirty="0">
                <a:solidFill>
                  <a:srgbClr val="000000"/>
                </a:solidFill>
              </a:rPr>
              <a:t>.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3BB6E86-62EB-2348-9F73-08093BACDA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56366291"/>
              </p:ext>
            </p:extLst>
          </p:nvPr>
        </p:nvGraphicFramePr>
        <p:xfrm>
          <a:off x="675861" y="1419402"/>
          <a:ext cx="7893708" cy="2921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56215">
                  <a:extLst>
                    <a:ext uri="{9D8B030D-6E8A-4147-A177-3AD203B41FA5}">
                      <a16:colId xmlns:a16="http://schemas.microsoft.com/office/drawing/2014/main" val="3729139006"/>
                    </a:ext>
                  </a:extLst>
                </a:gridCol>
                <a:gridCol w="4837493">
                  <a:extLst>
                    <a:ext uri="{9D8B030D-6E8A-4147-A177-3AD203B41FA5}">
                      <a16:colId xmlns:a16="http://schemas.microsoft.com/office/drawing/2014/main" val="1988913492"/>
                    </a:ext>
                  </a:extLst>
                </a:gridCol>
              </a:tblGrid>
              <a:tr h="455550">
                <a:tc>
                  <a:txBody>
                    <a:bodyPr/>
                    <a:lstStyle/>
                    <a:p>
                      <a:r>
                        <a:rPr lang="en-US" sz="1400" dirty="0"/>
                        <a:t>Commands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676789"/>
                  </a:ext>
                </a:extLst>
              </a:tr>
              <a:tr h="50547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interface brief</a:t>
                      </a: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interface brief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all interfaces, their IP addresses, and their current status.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654457"/>
                  </a:ext>
                </a:extLst>
              </a:tr>
              <a:tr h="505472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route</a:t>
                      </a:r>
                    </a:p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the contents of the IP routing tables stored in RAM.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35172"/>
                  </a:ext>
                </a:extLst>
              </a:tr>
              <a:tr h="45555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statistics for all interfaces on the device. Only displays the IPv4 addressing information.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468046"/>
                  </a:ext>
                </a:extLst>
              </a:tr>
              <a:tr h="45555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the IPv4 statistics for all interfaces on a router.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107787"/>
                  </a:ext>
                </a:extLst>
              </a:tr>
              <a:tr h="45555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show ipv6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Displays the IPv6 statistics for all interfaces on a router.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5454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7522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Verification Commands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8094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View status of all interfaces with the </a:t>
            </a:r>
            <a:r>
              <a:rPr lang="en-US" sz="1600" b="1" dirty="0">
                <a:solidFill>
                  <a:srgbClr val="000000"/>
                </a:solidFill>
              </a:rPr>
              <a:t>show ip interface brief </a:t>
            </a:r>
            <a:r>
              <a:rPr lang="en-US" sz="1600" dirty="0">
                <a:solidFill>
                  <a:srgbClr val="000000"/>
                </a:solidFill>
              </a:rPr>
              <a:t>and </a:t>
            </a:r>
            <a:r>
              <a:rPr lang="en-US" sz="1600" b="1" dirty="0">
                <a:solidFill>
                  <a:srgbClr val="000000"/>
                </a:solidFill>
              </a:rPr>
              <a:t>show ipv6 interface brief </a:t>
            </a:r>
            <a:r>
              <a:rPr lang="en-US" sz="1600" dirty="0">
                <a:solidFill>
                  <a:srgbClr val="000000"/>
                </a:solidFill>
              </a:rPr>
              <a:t>commands, shown here: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1721391" y="1785521"/>
            <a:ext cx="5701218" cy="92333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interface brief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              IP-Address      OK? Method Status                Protocol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  192.168.10.1    YES manual up                    up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  209.165.200.225 YES manual up                    up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                 unassigned      YES unset  administratively down down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345167-82FC-49E7-B10D-34FE13887791}"/>
              </a:ext>
            </a:extLst>
          </p:cNvPr>
          <p:cNvSpPr txBox="1"/>
          <p:nvPr/>
        </p:nvSpPr>
        <p:spPr>
          <a:xfrm>
            <a:off x="1721391" y="2929108"/>
            <a:ext cx="5701218" cy="1477328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ipv6 interface brief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      [up/up]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2001:DB8:ACAD:10::1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GigabitEthernet0/0/1       [up/up]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FE80::201:C9FF:FE89:4502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2001:DB8:FEED:224::1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Vlan1                      [administratively down/down]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unassigned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3048821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Verification Commands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80949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Display the contents of the IP routing tables with the </a:t>
            </a:r>
            <a:r>
              <a:rPr lang="en-US" sz="1600" b="1" dirty="0">
                <a:solidFill>
                  <a:srgbClr val="000000"/>
                </a:solidFill>
              </a:rPr>
              <a:t>show ip route </a:t>
            </a:r>
            <a:r>
              <a:rPr lang="en-US" sz="1600" dirty="0">
                <a:solidFill>
                  <a:srgbClr val="000000"/>
                </a:solidFill>
              </a:rPr>
              <a:t>and </a:t>
            </a:r>
            <a:r>
              <a:rPr lang="en-US" sz="1600" b="1" dirty="0">
                <a:solidFill>
                  <a:srgbClr val="000000"/>
                </a:solidFill>
              </a:rPr>
              <a:t>show ipv6 route </a:t>
            </a:r>
            <a:r>
              <a:rPr lang="en-US" sz="1600" dirty="0">
                <a:solidFill>
                  <a:srgbClr val="000000"/>
                </a:solidFill>
              </a:rPr>
              <a:t>commands as shown here: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1701233" y="1475729"/>
            <a:ext cx="5701218" cy="1477328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route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 output omitted&gt;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Gateway of last resort is not set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192.168.10.0/24 is variably subnetted, 2 subnets, 2 masks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       192.168.10.0/24 is directly connected, GigabitEthernet0/0/0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       192.168.10.1/32 is directly connected, GigabitEthernet0/0/0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209.165.200.0/24 is variably subnetted, 2 subnets, 2 masks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       209.165.200.224/30 is directly connected, GigabitEthernet0/0/1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       209.165.200.225/32 is directly connected, GigabitEthernet0/0/1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345167-82FC-49E7-B10D-34FE13887791}"/>
              </a:ext>
            </a:extLst>
          </p:cNvPr>
          <p:cNvSpPr txBox="1"/>
          <p:nvPr/>
        </p:nvSpPr>
        <p:spPr>
          <a:xfrm>
            <a:off x="1721391" y="3035889"/>
            <a:ext cx="5701218" cy="1892826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show ipv6 route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&lt;output omitted&gt;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  2001:DB8:ACAD:10::/64 [0/0]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GigabitEthernet0/0/0, directly connected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  2001:DB8:ACAD:10::1/128 [0/0]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GigabitEthernet0/0/0, receive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   2001:DB8:FEED:224::/64 [0/0]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GigabitEthernet0/0/1, directly connected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  2001:DB8:FEED:224::1/128 [0/0]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GigabitEthernet0/0/1, receive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   FF00::/8 [0/0]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via Null0, receive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246884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Verification Commands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2638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Display statistics for all interfaces with the </a:t>
            </a:r>
            <a:r>
              <a:rPr lang="en-US" sz="1600" b="1" dirty="0">
                <a:solidFill>
                  <a:srgbClr val="000000"/>
                </a:solidFill>
              </a:rPr>
              <a:t>show interfaces </a:t>
            </a:r>
            <a:r>
              <a:rPr lang="en-US" sz="1600" dirty="0">
                <a:solidFill>
                  <a:srgbClr val="000000"/>
                </a:solidFill>
              </a:rPr>
              <a:t>command, as shown here: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3320968" y="890954"/>
            <a:ext cx="5419440" cy="3693319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9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interfaces gig0/0/0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is up, line protocol is up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Hardware is ISR4321-2x1GE, address is a0e0.af0d.e140 (bia  a0e0.af0d.e140)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Description: Link to LAN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Internet address is 192.168.10.1/24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MTU 1500 bytes, BW 100000 Kbit/sec, DLY 100 usec,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reliability 255/255, txload 1/255, rxload 1/255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Encapsulation ARPA, loopback not set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Keepalive not supported 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Full Duplex, 100Mbps, link type is auto, media type is RJ45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output flow-control is off, input flow-control is off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ARP type: ARPA, ARP Timeout 04:00:00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Last input 00:00:01, output 00:00:35, output hang never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Last clearing of "show interface" counters never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Input queue: 0/375/0/0 (size/max/drops/flushes); Total output     drops: 0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Queueing strategy: fifo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Output queue: 0/40 (size/max)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5 minute input rate 0 bits/sec, 0 packets/sec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5 minute output rate 0 bits/sec, 0 packets/sec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1180 packets input, 109486 bytes, 0 no buffer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Received 84 broadcasts (0 IP multicasts)</a:t>
            </a: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0 runts, 0 giants, 0 throttles </a:t>
            </a:r>
          </a:p>
          <a:p>
            <a:endParaRPr lang="en-US" sz="9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&lt;output omitted&gt;</a:t>
            </a:r>
          </a:p>
          <a:p>
            <a:endParaRPr lang="en-US" sz="9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9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429997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Verification Commands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2638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Display IPv4 statistics for router interfaces with the </a:t>
            </a:r>
            <a:r>
              <a:rPr lang="en-US" sz="1600" b="1" dirty="0">
                <a:solidFill>
                  <a:srgbClr val="000000"/>
                </a:solidFill>
              </a:rPr>
              <a:t>show ip interface </a:t>
            </a:r>
            <a:r>
              <a:rPr lang="en-US" sz="1600" dirty="0">
                <a:solidFill>
                  <a:srgbClr val="000000"/>
                </a:solidFill>
              </a:rPr>
              <a:t>command, as shown here: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3553110" y="890954"/>
            <a:ext cx="4955156" cy="3939540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1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 interface g0/0/0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is up, line protocol is up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Internet address is 192.168.10.1/24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Broadcast address is 255.255.255.255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Address determined by setup command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MTU is 1500 bytes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Helper address is not set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Directed broadcast forwarding is disabled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Outgoing Common access list is not set 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Outgoing access list is not set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Inbound Common access list is not set 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Inbound  access list is not set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Proxy ARP is enabled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Local Proxy ARP is disabled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Security level is default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Split horizon is enabled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redirects are always sent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unreachables are always sent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mask replies are never sent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IP fast switching is enabled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IP Flow switching is disabled</a:t>
            </a:r>
          </a:p>
          <a:p>
            <a:endParaRPr lang="en-US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&lt;output omitted&gt;</a:t>
            </a:r>
          </a:p>
          <a:p>
            <a:endParaRPr lang="en-US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714707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Interfaces</a:t>
            </a:r>
            <a:br>
              <a:rPr lang="en-US" dirty="0"/>
            </a:br>
            <a:r>
              <a:rPr lang="en-US" sz="2400" dirty="0"/>
              <a:t>Configure Verification Commands (Cont.)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57A863-7491-0041-AF26-F779D70A7E36}"/>
              </a:ext>
            </a:extLst>
          </p:cNvPr>
          <p:cNvSpPr txBox="1"/>
          <p:nvPr/>
        </p:nvSpPr>
        <p:spPr>
          <a:xfrm>
            <a:off x="474662" y="890954"/>
            <a:ext cx="263865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</a:rPr>
              <a:t>Display IPv6 statistics for router interfaces with the </a:t>
            </a:r>
            <a:r>
              <a:rPr lang="en-US" sz="1600" b="1" dirty="0">
                <a:solidFill>
                  <a:srgbClr val="000000"/>
                </a:solidFill>
              </a:rPr>
              <a:t>show ipv6 interface </a:t>
            </a:r>
            <a:r>
              <a:rPr lang="en-US" sz="1600" dirty="0">
                <a:solidFill>
                  <a:srgbClr val="000000"/>
                </a:solidFill>
              </a:rPr>
              <a:t>command shown here: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07EA06-7465-4C52-AE81-CBACEDBD6441}"/>
              </a:ext>
            </a:extLst>
          </p:cNvPr>
          <p:cNvSpPr txBox="1"/>
          <p:nvPr/>
        </p:nvSpPr>
        <p:spPr>
          <a:xfrm>
            <a:off x="3553110" y="890954"/>
            <a:ext cx="4955156" cy="3323987"/>
          </a:xfrm>
          <a:prstGeom prst="rect">
            <a:avLst/>
          </a:prstGeom>
          <a:solidFill>
            <a:srgbClr val="000000"/>
          </a:solidFill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 </a:t>
            </a:r>
            <a:r>
              <a:rPr lang="en-US" sz="1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show ipv6 interface g0/0/0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GigabitEthernet0/0/0 is up, line protocol is up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IPv6 is enabled, link-local address is FE80::868A:8DFF:FE44:49B0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No Virtual link-local address(es):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Description: Link to LAN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Global unicast address(es):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2001:DB8:ACAD:10::1, subnet is 2001:DB8:ACAD:10::/64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Joined group address(es):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FF02::1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FF02::1:FF00:1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FF02::1:FF44:49B0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MTU is 1500 bytes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error messages limited to one every 100 milliseconds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redirects are enabled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ICMP unreachables are sent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ND DAD is enabled, number of DAD attempts: 1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ND reachable time is 30000 milliseconds (using 30000)</a:t>
            </a: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ND NS retransmit interval is 1000 milliseconds</a:t>
            </a:r>
          </a:p>
          <a:p>
            <a:endParaRPr lang="en-US" sz="1000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000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R1#</a:t>
            </a:r>
          </a:p>
        </p:txBody>
      </p:sp>
    </p:spTree>
    <p:extLst>
      <p:ext uri="{BB962C8B-B14F-4D97-AF65-F5344CB8AC3E}">
        <p14:creationId xmlns:p14="http://schemas.microsoft.com/office/powerpoint/2010/main" val="166186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88160"/>
            <a:ext cx="7848344" cy="92964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10.3 Configure the Default Gateway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3391011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the Default Gateway</a:t>
            </a:r>
            <a:br>
              <a:rPr lang="en-US" dirty="0"/>
            </a:br>
            <a:r>
              <a:rPr lang="en-US" sz="2400" dirty="0"/>
              <a:t>Default Gateway on a Host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718114-4447-471E-989F-8789EBF19550}"/>
              </a:ext>
            </a:extLst>
          </p:cNvPr>
          <p:cNvSpPr txBox="1"/>
          <p:nvPr/>
        </p:nvSpPr>
        <p:spPr>
          <a:xfrm>
            <a:off x="474662" y="890954"/>
            <a:ext cx="339248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default gateway is used when a host sends a packet to a device on another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The default gateway address is generally the router interface address attached to the local network of the host.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</a:rPr>
              <a:t>To reach PC3, PC1 addresses a packet with the IPv4 address of PC3, but forwards the packet to its default gateway, the G0/0/0 interface of R1.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6866AA-E301-488D-96AD-D9CEE8D1E785}"/>
              </a:ext>
            </a:extLst>
          </p:cNvPr>
          <p:cNvSpPr txBox="1"/>
          <p:nvPr/>
        </p:nvSpPr>
        <p:spPr>
          <a:xfrm>
            <a:off x="4258469" y="3770924"/>
            <a:ext cx="4443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0000"/>
                </a:solidFill>
              </a:rPr>
              <a:t>Note</a:t>
            </a:r>
            <a:r>
              <a:rPr lang="en-US" sz="1600" dirty="0">
                <a:solidFill>
                  <a:srgbClr val="000000"/>
                </a:solidFill>
              </a:rPr>
              <a:t>: The IP address of the host and the router interface must be in the same network.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4100A-4BDC-504D-85D6-01A2B41EE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4522" y="715554"/>
            <a:ext cx="3021496" cy="293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79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the Default Gateway</a:t>
            </a:r>
            <a:br>
              <a:rPr lang="en-US" dirty="0"/>
            </a:br>
            <a:r>
              <a:rPr lang="en-US" sz="2400" dirty="0"/>
              <a:t>Default Gateway on a Switch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718114-4447-471E-989F-8789EBF19550}"/>
              </a:ext>
            </a:extLst>
          </p:cNvPr>
          <p:cNvSpPr txBox="1"/>
          <p:nvPr/>
        </p:nvSpPr>
        <p:spPr>
          <a:xfrm>
            <a:off x="474662" y="890954"/>
            <a:ext cx="314483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A switch must have a default gateway address configured to remotely manage the switch from another network.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</a:rPr>
              <a:t>To configure an IPv4 default gateway on a switch, use the </a:t>
            </a:r>
            <a:r>
              <a:rPr lang="en-US" b="1" dirty="0">
                <a:solidFill>
                  <a:srgbClr val="000000"/>
                </a:solidFill>
              </a:rPr>
              <a:t>ip default-gateway</a:t>
            </a:r>
            <a:r>
              <a:rPr lang="en-US" dirty="0">
                <a:solidFill>
                  <a:srgbClr val="000000"/>
                </a:solidFill>
              </a:rPr>
              <a:t> </a:t>
            </a:r>
            <a:r>
              <a:rPr lang="en-US" i="1" dirty="0">
                <a:solidFill>
                  <a:srgbClr val="000000"/>
                </a:solidFill>
              </a:rPr>
              <a:t>ip-address </a:t>
            </a:r>
            <a:r>
              <a:rPr lang="en-US" dirty="0">
                <a:solidFill>
                  <a:srgbClr val="000000"/>
                </a:solidFill>
              </a:rPr>
              <a:t>global configuration command.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A1D5D00-3D9F-3E4A-B62C-66D13E5CE20B}"/>
              </a:ext>
            </a:extLst>
          </p:cNvPr>
          <p:cNvSpPr txBox="1"/>
          <p:nvPr/>
        </p:nvSpPr>
        <p:spPr>
          <a:xfrm>
            <a:off x="3829878" y="731837"/>
            <a:ext cx="44021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MEDIA IS WORKING ON A CORRECTED VERSION OF THE GRAPHIC FROM 10.3.2.</a:t>
            </a:r>
          </a:p>
          <a:p>
            <a:pPr algn="ctr"/>
            <a:r>
              <a:rPr lang="en-US" dirty="0">
                <a:solidFill>
                  <a:srgbClr val="C00000"/>
                </a:solidFill>
              </a:rPr>
              <a:t>IT IS WRONG ON AR, AND ON THE GLOBAL BUG LIST</a:t>
            </a:r>
          </a:p>
        </p:txBody>
      </p:sp>
      <p:sp>
        <p:nvSpPr>
          <p:cNvPr id="4" name="Octagon 3">
            <a:extLst>
              <a:ext uri="{FF2B5EF4-FFF2-40B4-BE49-F238E27FC236}">
                <a16:creationId xmlns:a16="http://schemas.microsoft.com/office/drawing/2014/main" id="{F983A9E2-6668-F24E-8A3A-4D0990AAC601}"/>
              </a:ext>
            </a:extLst>
          </p:cNvPr>
          <p:cNvSpPr/>
          <p:nvPr/>
        </p:nvSpPr>
        <p:spPr>
          <a:xfrm>
            <a:off x="5116546" y="2355952"/>
            <a:ext cx="1828800" cy="1830983"/>
          </a:xfrm>
          <a:prstGeom prst="octagon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STOP</a:t>
            </a:r>
          </a:p>
        </p:txBody>
      </p:sp>
    </p:spTree>
    <p:extLst>
      <p:ext uri="{BB962C8B-B14F-4D97-AF65-F5344CB8AC3E}">
        <p14:creationId xmlns:p14="http://schemas.microsoft.com/office/powerpoint/2010/main" val="3556750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Initial Router Settings</a:t>
            </a:r>
            <a:br>
              <a:rPr lang="en-US" dirty="0"/>
            </a:br>
            <a:r>
              <a:rPr lang="en-US" sz="2400" dirty="0"/>
              <a:t>Packet Tracer – Connect a Router to a LAN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en-US" sz="1800" dirty="0">
                <a:solidFill>
                  <a:srgbClr val="000000"/>
                </a:solidFill>
              </a:rPr>
              <a:t>In this Packet Tracer, you will do the following: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Display the router information.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Configure router interfaces. 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Verify the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335885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Initial Router Settings</a:t>
            </a:r>
            <a:br>
              <a:rPr lang="en-US" dirty="0"/>
            </a:br>
            <a:r>
              <a:rPr lang="en-US" sz="2400" dirty="0"/>
              <a:t>Packet Tracer – Troubleshoot Default Gateway Issues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en-US" sz="1800" dirty="0">
                <a:solidFill>
                  <a:srgbClr val="000000"/>
                </a:solidFill>
              </a:rPr>
              <a:t>In this Packet Tracer, you will do the following: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Verify the network documentation and use tests to isolate problems.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Determine an appropriate solution for a given problem.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Implement the solution.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Test to verify the problem is resolved.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Document the solution.</a:t>
            </a:r>
          </a:p>
        </p:txBody>
      </p:sp>
    </p:spTree>
    <p:extLst>
      <p:ext uri="{BB962C8B-B14F-4D97-AF65-F5344CB8AC3E}">
        <p14:creationId xmlns:p14="http://schemas.microsoft.com/office/powerpoint/2010/main" val="384817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425" y="1747520"/>
            <a:ext cx="8280314" cy="970280"/>
          </a:xfrm>
        </p:spPr>
        <p:txBody>
          <a:bodyPr/>
          <a:lstStyle/>
          <a:p>
            <a:r>
              <a:rPr lang="en-US" dirty="0">
                <a:solidFill>
                  <a:schemeClr val="accent5">
                    <a:lumMod val="40000"/>
                    <a:lumOff val="60000"/>
                  </a:schemeClr>
                </a:solidFill>
              </a:rPr>
              <a:t>10.4 Module Practice and Quiz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599242"/>
      </p:ext>
    </p:extLst>
  </p:cSld>
  <p:clrMapOvr>
    <a:masterClrMapping/>
  </p:clrMapOvr>
  <p:transition spd="slow">
    <p:wip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>
                <a:latin typeface="Arial" charset="0"/>
              </a:rPr>
              <a:t>Module Practice and Quiz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Video – Network Device Differences: Part 1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This video will cover the different physical characteristics of the following:</a:t>
            </a:r>
          </a:p>
          <a:p>
            <a:pPr marL="261937" lvl="2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Cisco 4000 Series Router.</a:t>
            </a:r>
          </a:p>
          <a:p>
            <a:pPr marL="261937" lvl="2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Cisco 2900 Series Router.</a:t>
            </a:r>
          </a:p>
          <a:p>
            <a:pPr marL="261937" lvl="2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Cisco 1900 Series Router.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8999575"/>
      </p:ext>
    </p:extLst>
  </p:cSld>
  <p:clrMapOvr>
    <a:masterClrMapping/>
  </p:clrMapOvr>
  <p:transition spd="slow">
    <p:wip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>
                <a:latin typeface="Arial" charset="0"/>
              </a:rPr>
              <a:t>Module Practice and Quiz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Video – Network Device Differences: Part 2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/>
              <a:t>This video will cover the different configurations of the following:</a:t>
            </a:r>
          </a:p>
          <a:p>
            <a:pPr marL="261937" lvl="2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Cisco 4000 Series Router.</a:t>
            </a:r>
          </a:p>
          <a:p>
            <a:pPr marL="261937" lvl="2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Cisco 2900 Series Router.</a:t>
            </a:r>
          </a:p>
          <a:p>
            <a:pPr marL="261937" lvl="2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Cisco 1900 Series Router.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18875856"/>
      </p:ext>
    </p:extLst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Initial Router Settings</a:t>
            </a:r>
            <a:br>
              <a:rPr lang="en-US" dirty="0"/>
            </a:br>
            <a:r>
              <a:rPr lang="en-US" sz="2400" dirty="0"/>
              <a:t>Packet Tracer – Basic Device Configuration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en-US" sz="1800" dirty="0">
                <a:solidFill>
                  <a:srgbClr val="000000"/>
                </a:solidFill>
              </a:rPr>
              <a:t>In this Packet Tracer, you will do the following: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Complete the network documentation.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Perform basic device configurations on a router and a switch.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Verify connectivity and troubleshoot any issues.</a:t>
            </a:r>
          </a:p>
        </p:txBody>
      </p:sp>
    </p:spTree>
    <p:extLst>
      <p:ext uri="{BB962C8B-B14F-4D97-AF65-F5344CB8AC3E}">
        <p14:creationId xmlns:p14="http://schemas.microsoft.com/office/powerpoint/2010/main" val="1122009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693879-5816-3444-9D50-A12F1F37F5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246" y="855418"/>
            <a:ext cx="7815004" cy="2478331"/>
          </a:xfrm>
        </p:spPr>
        <p:txBody>
          <a:bodyPr/>
          <a:lstStyle/>
          <a:p>
            <a:pPr marL="0" indent="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</a:pPr>
            <a:r>
              <a:rPr lang="en-US" sz="1800" dirty="0">
                <a:solidFill>
                  <a:srgbClr val="000000"/>
                </a:solidFill>
              </a:rPr>
              <a:t>In this Lab, you will complete the following objectives: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Set up the topology and initialize devices.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Configure devices and verify connectivity.</a:t>
            </a:r>
          </a:p>
          <a:p>
            <a:pPr marL="285750" indent="-285750" algn="l" defTabSz="684213" fontAlgn="base">
              <a:spcBef>
                <a:spcPts val="600"/>
              </a:spcBef>
              <a:spcAft>
                <a:spcPts val="600"/>
              </a:spcAft>
              <a:buClr>
                <a:schemeClr val="tx2"/>
              </a:buClr>
              <a:buSzPct val="90000"/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Display device information.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2AA8F8-1E43-384B-8982-C0BB94049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345488" cy="731837"/>
          </a:xfrm>
        </p:spPr>
        <p:txBody>
          <a:bodyPr/>
          <a:lstStyle/>
          <a:p>
            <a:r>
              <a:rPr lang="en-US" sz="1600" dirty="0"/>
              <a:t>Configure Initial Router Settings</a:t>
            </a:r>
            <a:br>
              <a:rPr lang="en-US" dirty="0"/>
            </a:br>
            <a:r>
              <a:rPr lang="en-US" sz="2400" dirty="0"/>
              <a:t>Lab – Build a Switch and Router Network</a:t>
            </a:r>
          </a:p>
        </p:txBody>
      </p:sp>
    </p:spTree>
    <p:extLst>
      <p:ext uri="{BB962C8B-B14F-4D97-AF65-F5344CB8AC3E}">
        <p14:creationId xmlns:p14="http://schemas.microsoft.com/office/powerpoint/2010/main" val="423652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>
                <a:latin typeface="Arial" charset="0"/>
              </a:rPr>
              <a:t>Module Practice and Quiz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What did I learn in this module?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tasks that should be completed when configuring initial settings on a router.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Configure the device name.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Secure privileged EXEC mode.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Secure user EXEC mode.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Secure remote Telnet / SSH access.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Secure all passwords in the config file.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Provide legal notification.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Save the configuration.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For routers to be reachable, the router interfaces must be configured.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Using the </a:t>
            </a:r>
            <a:r>
              <a:rPr lang="en-US" sz="1600" b="1" dirty="0"/>
              <a:t>no shutdown</a:t>
            </a:r>
            <a:r>
              <a:rPr lang="en-US" sz="1600" dirty="0"/>
              <a:t> command activates the interface. The interface must also be connected to another device, such as a switch or a router, for the physical layer to be active. There are several commands that can be used to verify interface configuration including the </a:t>
            </a:r>
            <a:r>
              <a:rPr lang="en-US" sz="1600" b="1" dirty="0"/>
              <a:t>show ip interface brief</a:t>
            </a:r>
            <a:r>
              <a:rPr lang="en-US" sz="1600" dirty="0"/>
              <a:t> and </a:t>
            </a:r>
            <a:r>
              <a:rPr lang="en-US" sz="1600" b="1" dirty="0"/>
              <a:t>show ipv6 interface brief</a:t>
            </a:r>
            <a:r>
              <a:rPr lang="en-US" sz="1600" dirty="0"/>
              <a:t>, the </a:t>
            </a:r>
            <a:r>
              <a:rPr lang="en-US" sz="1600" b="1" dirty="0"/>
              <a:t>show ip route</a:t>
            </a:r>
            <a:r>
              <a:rPr lang="en-US" sz="1600" dirty="0"/>
              <a:t> and </a:t>
            </a:r>
            <a:r>
              <a:rPr lang="en-US" sz="1600" b="1" dirty="0"/>
              <a:t>show ipv6 route</a:t>
            </a:r>
            <a:r>
              <a:rPr lang="en-US" sz="1600" dirty="0"/>
              <a:t>, as well as </a:t>
            </a:r>
            <a:r>
              <a:rPr lang="en-US" sz="1600" b="1" dirty="0"/>
              <a:t>show interfaces</a:t>
            </a:r>
            <a:r>
              <a:rPr lang="en-US" sz="1600" dirty="0"/>
              <a:t>, </a:t>
            </a:r>
            <a:r>
              <a:rPr lang="en-US" sz="1600" b="1" dirty="0"/>
              <a:t>show ip interface</a:t>
            </a:r>
            <a:r>
              <a:rPr lang="en-US" sz="1600" dirty="0"/>
              <a:t> and </a:t>
            </a:r>
            <a:r>
              <a:rPr lang="en-US" sz="1600" b="1" dirty="0"/>
              <a:t>show ipv6 interface.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55352519"/>
      </p:ext>
    </p:extLst>
  </p:cSld>
  <p:clrMapOvr>
    <a:masterClrMapping/>
  </p:clrMapOvr>
  <p:transition spd="slow">
    <p:wip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1400" dirty="0">
                <a:latin typeface="Arial" charset="0"/>
              </a:rPr>
              <a:t>Module Practice and Quiz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What did I learn in this module (Cont.)?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C22E0C-A8B9-7D4B-BC8E-95F594764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For an end device to reach other networks, a default gateway must be configured.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The IP address of the host device and the router interface address must be in the same network.</a:t>
            </a:r>
          </a:p>
          <a:p>
            <a:pPr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A switch must have a default gateway address configured to remotely manage the switch from another network.</a:t>
            </a:r>
          </a:p>
          <a:p>
            <a:pPr lvl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/>
              <a:t>To configure an IPv4 default gateway on a switch, use the </a:t>
            </a:r>
            <a:r>
              <a:rPr lang="en-US" sz="1800" b="1" dirty="0"/>
              <a:t>ip default-gateway </a:t>
            </a:r>
            <a:r>
              <a:rPr lang="en-US" sz="1800" i="1" dirty="0"/>
              <a:t>ip-address </a:t>
            </a:r>
            <a:r>
              <a:rPr lang="en-US" sz="1800" dirty="0"/>
              <a:t>global configuration command.</a:t>
            </a:r>
          </a:p>
          <a:p>
            <a:endParaRPr lang="en-US" sz="1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109726"/>
      </p:ext>
    </p:extLst>
  </p:cSld>
  <p:clrMapOvr>
    <a:masterClrMapping/>
  </p:clrMapOvr>
  <p:transition spd="slow">
    <p:wip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41394"/>
            <a:ext cx="9144000" cy="609056"/>
          </a:xfrm>
        </p:spPr>
        <p:txBody>
          <a:bodyPr/>
          <a:lstStyle/>
          <a:p>
            <a:pPr eaLnBrk="1" hangingPunct="1"/>
            <a:r>
              <a:rPr lang="en-US" sz="1400" dirty="0">
                <a:latin typeface="Arial" charset="0"/>
              </a:rPr>
              <a:t>Module 10: Basic Router Configuration</a:t>
            </a:r>
            <a:br>
              <a:rPr lang="en-US" dirty="0">
                <a:latin typeface="Arial" charset="0"/>
              </a:rPr>
            </a:br>
            <a:r>
              <a:rPr lang="en-US" dirty="0">
                <a:latin typeface="Arial" charset="0"/>
              </a:rPr>
              <a:t>New Terms and Commands</a:t>
            </a:r>
          </a:p>
        </p:txBody>
      </p:sp>
      <p:graphicFrame>
        <p:nvGraphicFramePr>
          <p:cNvPr id="6" name="Table 9">
            <a:extLst>
              <a:ext uri="{FF2B5EF4-FFF2-40B4-BE49-F238E27FC236}">
                <a16:creationId xmlns:a16="http://schemas.microsoft.com/office/drawing/2014/main" id="{C2187D21-D66C-4895-A65D-7270601A28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2989341"/>
              </p:ext>
            </p:extLst>
          </p:nvPr>
        </p:nvGraphicFramePr>
        <p:xfrm>
          <a:off x="144463" y="798513"/>
          <a:ext cx="8853486" cy="286512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853486">
                  <a:extLst>
                    <a:ext uri="{9D8B030D-6E8A-4147-A177-3AD203B41FA5}">
                      <a16:colId xmlns:a16="http://schemas.microsoft.com/office/drawing/2014/main" val="32708544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show ip interface brief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show ipv6 interface brief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show ip route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show ipv6 route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show interfaces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show ip interface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show ipv6 interface</a:t>
                      </a:r>
                    </a:p>
                    <a:p>
                      <a:pPr marL="285750" marR="0" lvl="0" indent="-285750" algn="l" defTabSz="685777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b="1" dirty="0">
                          <a:solidFill>
                            <a:srgbClr val="000000"/>
                          </a:solidFill>
                        </a:rPr>
                        <a:t>ip default-gateway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b="0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  <a:p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879670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271745509"/>
      </p:ext>
    </p:extLst>
  </p:cSld>
  <p:clrMapOvr>
    <a:masterClrMapping/>
  </p:clrMapOvr>
  <p:transition spd="slow">
    <p:wip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4190828277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65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Default Theme">
  <a:themeElements>
    <a:clrScheme name="Custom 6">
      <a:dk1>
        <a:srgbClr val="58585B"/>
      </a:dk1>
      <a:lt1>
        <a:srgbClr val="FFFFFF"/>
      </a:lt1>
      <a:dk2>
        <a:srgbClr val="58585B"/>
      </a:dk2>
      <a:lt2>
        <a:srgbClr val="81C569"/>
      </a:lt2>
      <a:accent1>
        <a:srgbClr val="004C69"/>
      </a:accent1>
      <a:accent2>
        <a:srgbClr val="9E0B0F"/>
      </a:accent2>
      <a:accent3>
        <a:srgbClr val="FFFFFF"/>
      </a:accent3>
      <a:accent4>
        <a:srgbClr val="367187"/>
      </a:accent4>
      <a:accent5>
        <a:srgbClr val="38C6F4"/>
      </a:accent5>
      <a:accent6>
        <a:srgbClr val="FBAB18"/>
      </a:accent6>
      <a:hlink>
        <a:srgbClr val="38C6F4"/>
      </a:hlink>
      <a:folHlink>
        <a:srgbClr val="81C569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36A4D7"/>
        </a:solidFill>
        <a:ln>
          <a:noFill/>
        </a:ln>
        <a:effectLst/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ITE7_Chp1_Example-1" id="{4A20ED44-3835-F149-9AE4-C332C230E09E}" vid="{AFB5BC48-58F8-AD45-912F-AE2AD65EB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5113</TotalTime>
  <Words>3125</Words>
  <Application>Microsoft Macintosh PowerPoint</Application>
  <PresentationFormat>Prezentácia na obrazovke (16:9)</PresentationFormat>
  <Paragraphs>433</Paragraphs>
  <Slides>31</Slides>
  <Notes>31</Notes>
  <HiddenSlides>1</HiddenSlides>
  <MMClips>0</MMClips>
  <ScaleCrop>false</ScaleCrop>
  <HeadingPairs>
    <vt:vector size="6" baseType="variant">
      <vt:variant>
        <vt:lpstr>Použité písma</vt:lpstr>
      </vt:variant>
      <vt:variant>
        <vt:i4>5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31</vt:i4>
      </vt:variant>
    </vt:vector>
  </HeadingPairs>
  <TitlesOfParts>
    <vt:vector size="37" baseType="lpstr">
      <vt:lpstr>Arial</vt:lpstr>
      <vt:lpstr>Calibri</vt:lpstr>
      <vt:lpstr>CiscoSans ExtraLight</vt:lpstr>
      <vt:lpstr>Courier New</vt:lpstr>
      <vt:lpstr>Wingdings</vt:lpstr>
      <vt:lpstr>Default Theme</vt:lpstr>
      <vt:lpstr>Module 10: Basic Router Configuration</vt:lpstr>
      <vt:lpstr>Module Objectives</vt:lpstr>
      <vt:lpstr>10.1 Configure Initial Router Settings</vt:lpstr>
      <vt:lpstr>Configure Initial Router Settings Basic Router Configuration Steps</vt:lpstr>
      <vt:lpstr>Configure Initial Router Settings Basic Router Configuration Example</vt:lpstr>
      <vt:lpstr>Configure Initial Router Settings Packet Tracer – Configure Initial Router Settings</vt:lpstr>
      <vt:lpstr>10.2 Configure Interfaces</vt:lpstr>
      <vt:lpstr>Configure Interfaces Configure Router Interfaces</vt:lpstr>
      <vt:lpstr>Configure Interfaces Configure Router Interfaces Example</vt:lpstr>
      <vt:lpstr>Configure Interfaces Configure Router Interfaces Example (Cont.)</vt:lpstr>
      <vt:lpstr>Configure Interfaces Verify Interface Configuration</vt:lpstr>
      <vt:lpstr>Configure Interfaces Configure Verification Commands</vt:lpstr>
      <vt:lpstr>Configure Interfaces Configure Verification Commands (Cont.)</vt:lpstr>
      <vt:lpstr>Configure Interfaces Configure Verification Commands (Cont.)</vt:lpstr>
      <vt:lpstr>Configure Interfaces Configure Verification Commands (Cont.)</vt:lpstr>
      <vt:lpstr>Configure Interfaces Configure Verification Commands (Cont.)</vt:lpstr>
      <vt:lpstr>Configure Interfaces Configure Verification Commands (Cont.)</vt:lpstr>
      <vt:lpstr>10.3 Configure the Default Gateway</vt:lpstr>
      <vt:lpstr>Configure the Default Gateway Default Gateway on a Host</vt:lpstr>
      <vt:lpstr>Configure the Default Gateway Default Gateway on a Switch</vt:lpstr>
      <vt:lpstr>Configure Initial Router Settings Packet Tracer – Connect a Router to a LAN</vt:lpstr>
      <vt:lpstr>Configure Initial Router Settings Packet Tracer – Troubleshoot Default Gateway Issues</vt:lpstr>
      <vt:lpstr>10.4 Module Practice and Quiz</vt:lpstr>
      <vt:lpstr>Module Practice and Quiz Video – Network Device Differences: Part 1</vt:lpstr>
      <vt:lpstr>Module Practice and Quiz Video – Network Device Differences: Part 2</vt:lpstr>
      <vt:lpstr>Configure Initial Router Settings Packet Tracer – Basic Device Configuration</vt:lpstr>
      <vt:lpstr>Configure Initial Router Settings Lab – Build a Switch and Router Network</vt:lpstr>
      <vt:lpstr>Module Practice and Quiz What did I learn in this module?</vt:lpstr>
      <vt:lpstr>Module Practice and Quiz What did I learn in this module (Cont.)?</vt:lpstr>
      <vt:lpstr>Module 10: Basic Router Configuration New Terms and Commands</vt:lpstr>
      <vt:lpstr>Prezentácia programu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2: Basic Switch and End Device Configuration</dc:title>
  <dc:creator>Stephanie Harvey</dc:creator>
  <cp:lastModifiedBy>Julius Barath</cp:lastModifiedBy>
  <cp:revision>222</cp:revision>
  <dcterms:created xsi:type="dcterms:W3CDTF">2019-10-18T06:21:22Z</dcterms:created>
  <dcterms:modified xsi:type="dcterms:W3CDTF">2020-01-08T12:08:22Z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sync_ProviderInitializationData">
    <vt:lpwstr>https://cisco.jiveon.com</vt:lpwstr>
  </property>
  <property fmtid="{D5CDD505-2E9C-101B-9397-08002B2CF9AE}" pid="3" name="Offisync_UpdateToken">
    <vt:lpwstr>1</vt:lpwstr>
  </property>
  <property fmtid="{D5CDD505-2E9C-101B-9397-08002B2CF9AE}" pid="4" name="Offisync_ServerID">
    <vt:lpwstr>07841bbc-cd3c-4a76-827f-75a2226890f4</vt:lpwstr>
  </property>
  <property fmtid="{D5CDD505-2E9C-101B-9397-08002B2CF9AE}" pid="5" name="Offisync_UniqueId">
    <vt:lpwstr>1702406</vt:lpwstr>
  </property>
  <property fmtid="{D5CDD505-2E9C-101B-9397-08002B2CF9AE}" pid="6" name="Jive_VersionGuid">
    <vt:lpwstr>fd96a0b3-f68d-4727-8e4f-2128d37ed30a</vt:lpwstr>
  </property>
  <property fmtid="{D5CDD505-2E9C-101B-9397-08002B2CF9AE}" pid="7" name="Jive_LatestUserAccountName">
    <vt:lpwstr>alljohns</vt:lpwstr>
  </property>
  <property fmtid="{D5CDD505-2E9C-101B-9397-08002B2CF9AE}" pid="8" name="ArticulateGUID">
    <vt:lpwstr>F9A496F7-57D7-4028-9572-D40DFDF3715A</vt:lpwstr>
  </property>
  <property fmtid="{D5CDD505-2E9C-101B-9397-08002B2CF9AE}" pid="9" name="ArticulatePath">
    <vt:lpwstr>ITE7_Chp9_by_jg</vt:lpwstr>
  </property>
</Properties>
</file>